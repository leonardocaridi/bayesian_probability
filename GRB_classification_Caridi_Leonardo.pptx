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0" r:id="rId4"/>
  </p:sldMasterIdLst>
  <p:notesMasterIdLst>
    <p:notesMasterId r:id="rId63"/>
  </p:notesMasterIdLst>
  <p:sldIdLst>
    <p:sldId id="256" r:id="rId5"/>
    <p:sldId id="313" r:id="rId6"/>
    <p:sldId id="257" r:id="rId7"/>
    <p:sldId id="258" r:id="rId8"/>
    <p:sldId id="259" r:id="rId9"/>
    <p:sldId id="261" r:id="rId10"/>
    <p:sldId id="260" r:id="rId11"/>
    <p:sldId id="263" r:id="rId12"/>
    <p:sldId id="264" r:id="rId13"/>
    <p:sldId id="265" r:id="rId14"/>
    <p:sldId id="262" r:id="rId15"/>
    <p:sldId id="266" r:id="rId16"/>
    <p:sldId id="267" r:id="rId17"/>
    <p:sldId id="268" r:id="rId18"/>
    <p:sldId id="281" r:id="rId19"/>
    <p:sldId id="269" r:id="rId20"/>
    <p:sldId id="270" r:id="rId21"/>
    <p:sldId id="271" r:id="rId22"/>
    <p:sldId id="272" r:id="rId23"/>
    <p:sldId id="273" r:id="rId24"/>
    <p:sldId id="274" r:id="rId25"/>
    <p:sldId id="275" r:id="rId26"/>
    <p:sldId id="282" r:id="rId27"/>
    <p:sldId id="276" r:id="rId28"/>
    <p:sldId id="277" r:id="rId29"/>
    <p:sldId id="278" r:id="rId30"/>
    <p:sldId id="279" r:id="rId31"/>
    <p:sldId id="280"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9" r:id="rId58"/>
    <p:sldId id="310" r:id="rId59"/>
    <p:sldId id="308" r:id="rId60"/>
    <p:sldId id="312" r:id="rId61"/>
    <p:sldId id="311"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161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69203D-078A-42EC-B738-7F898608AAE4}" v="1055" dt="2025-12-08T15:53:32.5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793" autoAdjust="0"/>
  </p:normalViewPr>
  <p:slideViewPr>
    <p:cSldViewPr snapToGrid="0">
      <p:cViewPr varScale="1">
        <p:scale>
          <a:sx n="122" d="100"/>
          <a:sy n="122" d="100"/>
        </p:scale>
        <p:origin x="108" y="12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BAA1BB-C992-4540-B8D4-3F1D66ECE6C3}" type="doc">
      <dgm:prSet loTypeId="urn:microsoft.com/office/officeart/2005/8/layout/chevron1" loCatId="process" qsTypeId="urn:microsoft.com/office/officeart/2005/8/quickstyle/simple1" qsCatId="simple" csTypeId="urn:microsoft.com/office/officeart/2005/8/colors/accent1_2" csCatId="accent1" phldr="1"/>
      <dgm:spPr/>
    </dgm:pt>
    <dgm:pt modelId="{8545D3E1-0B93-471E-ACE1-DEE390795C79}">
      <dgm:prSet phldrT="[Text]"/>
      <dgm:spPr>
        <a:solidFill>
          <a:schemeClr val="accent1"/>
        </a:solidFill>
      </dgm:spPr>
      <dgm:t>
        <a:bodyPr/>
        <a:lstStyle/>
        <a:p>
          <a:pPr>
            <a:buNone/>
          </a:pPr>
          <a:r>
            <a:rPr lang="en-US" b="1" dirty="0">
              <a:solidFill>
                <a:schemeClr val="bg1"/>
              </a:solidFill>
            </a:rPr>
            <a:t>Gibbs sampling</a:t>
          </a:r>
          <a:endParaRPr lang="it-IT" b="1" dirty="0"/>
        </a:p>
      </dgm:t>
    </dgm:pt>
    <dgm:pt modelId="{392B520D-4AB5-40CE-AF9F-C88BA126572C}" type="parTrans" cxnId="{08AFCEAA-23CD-432A-9FFF-A71F494C8008}">
      <dgm:prSet/>
      <dgm:spPr/>
      <dgm:t>
        <a:bodyPr/>
        <a:lstStyle/>
        <a:p>
          <a:endParaRPr lang="it-IT"/>
        </a:p>
      </dgm:t>
    </dgm:pt>
    <dgm:pt modelId="{00004E13-F041-4DFD-9C81-9E0C1992F87D}" type="sibTrans" cxnId="{08AFCEAA-23CD-432A-9FFF-A71F494C8008}">
      <dgm:prSet/>
      <dgm:spPr/>
      <dgm:t>
        <a:bodyPr/>
        <a:lstStyle/>
        <a:p>
          <a:endParaRPr lang="it-IT"/>
        </a:p>
      </dgm:t>
    </dgm:pt>
    <dgm:pt modelId="{4E5B1122-D3B1-4173-8EBF-C984B8F27FDF}">
      <dgm:prSet phldrT="[Text]"/>
      <dgm:spPr>
        <a:solidFill>
          <a:schemeClr val="accent1"/>
        </a:solidFill>
      </dgm:spPr>
      <dgm:t>
        <a:bodyPr/>
        <a:lstStyle/>
        <a:p>
          <a:pPr>
            <a:buNone/>
          </a:pPr>
          <a:r>
            <a:rPr lang="en-US" b="1" dirty="0">
              <a:solidFill>
                <a:schemeClr val="bg1"/>
              </a:solidFill>
            </a:rPr>
            <a:t>Collapsed Gibbs sampling</a:t>
          </a:r>
          <a:endParaRPr lang="it-IT" b="1" dirty="0"/>
        </a:p>
      </dgm:t>
    </dgm:pt>
    <dgm:pt modelId="{EADBA219-8C5B-4ED6-9951-92CA50D0F522}" type="parTrans" cxnId="{16A4D265-7F9B-46AC-95C3-674ED8E79C44}">
      <dgm:prSet/>
      <dgm:spPr/>
      <dgm:t>
        <a:bodyPr/>
        <a:lstStyle/>
        <a:p>
          <a:endParaRPr lang="it-IT"/>
        </a:p>
      </dgm:t>
    </dgm:pt>
    <dgm:pt modelId="{06231CB2-499A-4807-A4CE-ECC9E07C662C}" type="sibTrans" cxnId="{16A4D265-7F9B-46AC-95C3-674ED8E79C44}">
      <dgm:prSet/>
      <dgm:spPr/>
      <dgm:t>
        <a:bodyPr/>
        <a:lstStyle/>
        <a:p>
          <a:endParaRPr lang="it-IT"/>
        </a:p>
      </dgm:t>
    </dgm:pt>
    <dgm:pt modelId="{D5E8F3C7-942D-42B1-9EA3-B359EB5F3379}">
      <dgm:prSet phldrT="[Text]"/>
      <dgm:spPr>
        <a:solidFill>
          <a:schemeClr val="accent1"/>
        </a:solidFill>
      </dgm:spPr>
      <dgm:t>
        <a:bodyPr/>
        <a:lstStyle/>
        <a:p>
          <a:pPr>
            <a:buNone/>
          </a:pPr>
          <a:r>
            <a:rPr lang="en-US" b="1" dirty="0">
              <a:solidFill>
                <a:schemeClr val="bg1"/>
              </a:solidFill>
            </a:rPr>
            <a:t>Non-parametric collapsed Gibbs sampling</a:t>
          </a:r>
          <a:endParaRPr lang="it-IT" b="1" dirty="0"/>
        </a:p>
      </dgm:t>
    </dgm:pt>
    <dgm:pt modelId="{2F466F62-0C24-40AE-9719-F18A9AAF4449}" type="parTrans" cxnId="{F4C27339-FE19-485E-8938-0033E57DBA37}">
      <dgm:prSet/>
      <dgm:spPr/>
      <dgm:t>
        <a:bodyPr/>
        <a:lstStyle/>
        <a:p>
          <a:endParaRPr lang="it-IT"/>
        </a:p>
      </dgm:t>
    </dgm:pt>
    <dgm:pt modelId="{40A7A655-7232-4B82-A89E-14FA1A7CD5D5}" type="sibTrans" cxnId="{F4C27339-FE19-485E-8938-0033E57DBA37}">
      <dgm:prSet/>
      <dgm:spPr/>
      <dgm:t>
        <a:bodyPr/>
        <a:lstStyle/>
        <a:p>
          <a:endParaRPr lang="it-IT"/>
        </a:p>
      </dgm:t>
    </dgm:pt>
    <dgm:pt modelId="{65ED2CC6-6E0A-46E6-9072-560E97773A81}">
      <dgm:prSet phldrT="[Text]"/>
      <dgm:spPr>
        <a:solidFill>
          <a:schemeClr val="accent1"/>
        </a:solidFill>
      </dgm:spPr>
      <dgm:t>
        <a:bodyPr/>
        <a:lstStyle/>
        <a:p>
          <a:pPr>
            <a:buNone/>
          </a:pPr>
          <a:r>
            <a:rPr lang="en-US" b="1" dirty="0">
              <a:solidFill>
                <a:schemeClr val="bg1"/>
              </a:solidFill>
            </a:rPr>
            <a:t>Multidimensional generalization</a:t>
          </a:r>
          <a:endParaRPr lang="it-IT" b="1" dirty="0"/>
        </a:p>
      </dgm:t>
    </dgm:pt>
    <dgm:pt modelId="{41396370-A68F-4901-8B03-F13D3A061D62}" type="parTrans" cxnId="{E60E09AC-628E-4F36-8899-A12E6D53298B}">
      <dgm:prSet/>
      <dgm:spPr/>
      <dgm:t>
        <a:bodyPr/>
        <a:lstStyle/>
        <a:p>
          <a:endParaRPr lang="it-IT"/>
        </a:p>
      </dgm:t>
    </dgm:pt>
    <dgm:pt modelId="{53F4C09D-37A5-413F-83C6-B97EDE2D2005}" type="sibTrans" cxnId="{E60E09AC-628E-4F36-8899-A12E6D53298B}">
      <dgm:prSet/>
      <dgm:spPr/>
      <dgm:t>
        <a:bodyPr/>
        <a:lstStyle/>
        <a:p>
          <a:endParaRPr lang="it-IT"/>
        </a:p>
      </dgm:t>
    </dgm:pt>
    <dgm:pt modelId="{1D53EE52-A7E8-41CC-9107-0C80D7033742}" type="pres">
      <dgm:prSet presAssocID="{1FBAA1BB-C992-4540-B8D4-3F1D66ECE6C3}" presName="Name0" presStyleCnt="0">
        <dgm:presLayoutVars>
          <dgm:dir/>
          <dgm:animLvl val="lvl"/>
          <dgm:resizeHandles val="exact"/>
        </dgm:presLayoutVars>
      </dgm:prSet>
      <dgm:spPr/>
    </dgm:pt>
    <dgm:pt modelId="{7410B00E-4DE6-4625-905F-411F28CFA384}" type="pres">
      <dgm:prSet presAssocID="{8545D3E1-0B93-471E-ACE1-DEE390795C79}" presName="parTxOnly" presStyleLbl="node1" presStyleIdx="0" presStyleCnt="4" custLinFactNeighborX="12081" custLinFactNeighborY="1352">
        <dgm:presLayoutVars>
          <dgm:chMax val="0"/>
          <dgm:chPref val="0"/>
          <dgm:bulletEnabled val="1"/>
        </dgm:presLayoutVars>
      </dgm:prSet>
      <dgm:spPr/>
    </dgm:pt>
    <dgm:pt modelId="{B345A1C2-7982-4F97-93C2-CE19655CB4FB}" type="pres">
      <dgm:prSet presAssocID="{00004E13-F041-4DFD-9C81-9E0C1992F87D}" presName="parTxOnlySpace" presStyleCnt="0"/>
      <dgm:spPr/>
    </dgm:pt>
    <dgm:pt modelId="{6BD14035-604A-4A97-B864-6A5A7228CEF1}" type="pres">
      <dgm:prSet presAssocID="{4E5B1122-D3B1-4173-8EBF-C984B8F27FDF}" presName="parTxOnly" presStyleLbl="node1" presStyleIdx="1" presStyleCnt="4">
        <dgm:presLayoutVars>
          <dgm:chMax val="0"/>
          <dgm:chPref val="0"/>
          <dgm:bulletEnabled val="1"/>
        </dgm:presLayoutVars>
      </dgm:prSet>
      <dgm:spPr/>
    </dgm:pt>
    <dgm:pt modelId="{3031E7F0-A3D0-4864-91A1-B5409815F7BE}" type="pres">
      <dgm:prSet presAssocID="{06231CB2-499A-4807-A4CE-ECC9E07C662C}" presName="parTxOnlySpace" presStyleCnt="0"/>
      <dgm:spPr/>
    </dgm:pt>
    <dgm:pt modelId="{AEA89A5C-83CC-4608-851B-F26CA8D25F63}" type="pres">
      <dgm:prSet presAssocID="{D5E8F3C7-942D-42B1-9EA3-B359EB5F3379}" presName="parTxOnly" presStyleLbl="node1" presStyleIdx="2" presStyleCnt="4">
        <dgm:presLayoutVars>
          <dgm:chMax val="0"/>
          <dgm:chPref val="0"/>
          <dgm:bulletEnabled val="1"/>
        </dgm:presLayoutVars>
      </dgm:prSet>
      <dgm:spPr/>
    </dgm:pt>
    <dgm:pt modelId="{58FA8659-8505-4A9F-A409-730772076BC7}" type="pres">
      <dgm:prSet presAssocID="{40A7A655-7232-4B82-A89E-14FA1A7CD5D5}" presName="parTxOnlySpace" presStyleCnt="0"/>
      <dgm:spPr/>
    </dgm:pt>
    <dgm:pt modelId="{28674783-C877-4CD6-827E-9C0BF96CD45E}" type="pres">
      <dgm:prSet presAssocID="{65ED2CC6-6E0A-46E6-9072-560E97773A81}" presName="parTxOnly" presStyleLbl="node1" presStyleIdx="3" presStyleCnt="4" custScaleX="105313">
        <dgm:presLayoutVars>
          <dgm:chMax val="0"/>
          <dgm:chPref val="0"/>
          <dgm:bulletEnabled val="1"/>
        </dgm:presLayoutVars>
      </dgm:prSet>
      <dgm:spPr/>
    </dgm:pt>
  </dgm:ptLst>
  <dgm:cxnLst>
    <dgm:cxn modelId="{7430FE10-598B-464C-93DA-35FB86F05CA8}" type="presOf" srcId="{1FBAA1BB-C992-4540-B8D4-3F1D66ECE6C3}" destId="{1D53EE52-A7E8-41CC-9107-0C80D7033742}" srcOrd="0" destOrd="0" presId="urn:microsoft.com/office/officeart/2005/8/layout/chevron1"/>
    <dgm:cxn modelId="{EBD06513-ACFE-4105-837B-5138A07C420A}" type="presOf" srcId="{D5E8F3C7-942D-42B1-9EA3-B359EB5F3379}" destId="{AEA89A5C-83CC-4608-851B-F26CA8D25F63}" srcOrd="0" destOrd="0" presId="urn:microsoft.com/office/officeart/2005/8/layout/chevron1"/>
    <dgm:cxn modelId="{E73A5B36-D879-4018-8648-7FDAAE43B0FA}" type="presOf" srcId="{4E5B1122-D3B1-4173-8EBF-C984B8F27FDF}" destId="{6BD14035-604A-4A97-B864-6A5A7228CEF1}" srcOrd="0" destOrd="0" presId="urn:microsoft.com/office/officeart/2005/8/layout/chevron1"/>
    <dgm:cxn modelId="{F4C27339-FE19-485E-8938-0033E57DBA37}" srcId="{1FBAA1BB-C992-4540-B8D4-3F1D66ECE6C3}" destId="{D5E8F3C7-942D-42B1-9EA3-B359EB5F3379}" srcOrd="2" destOrd="0" parTransId="{2F466F62-0C24-40AE-9719-F18A9AAF4449}" sibTransId="{40A7A655-7232-4B82-A89E-14FA1A7CD5D5}"/>
    <dgm:cxn modelId="{0FB06163-C019-4A9F-8359-1F6D6DD2F800}" type="presOf" srcId="{8545D3E1-0B93-471E-ACE1-DEE390795C79}" destId="{7410B00E-4DE6-4625-905F-411F28CFA384}" srcOrd="0" destOrd="0" presId="urn:microsoft.com/office/officeart/2005/8/layout/chevron1"/>
    <dgm:cxn modelId="{16A4D265-7F9B-46AC-95C3-674ED8E79C44}" srcId="{1FBAA1BB-C992-4540-B8D4-3F1D66ECE6C3}" destId="{4E5B1122-D3B1-4173-8EBF-C984B8F27FDF}" srcOrd="1" destOrd="0" parTransId="{EADBA219-8C5B-4ED6-9951-92CA50D0F522}" sibTransId="{06231CB2-499A-4807-A4CE-ECC9E07C662C}"/>
    <dgm:cxn modelId="{08AFCEAA-23CD-432A-9FFF-A71F494C8008}" srcId="{1FBAA1BB-C992-4540-B8D4-3F1D66ECE6C3}" destId="{8545D3E1-0B93-471E-ACE1-DEE390795C79}" srcOrd="0" destOrd="0" parTransId="{392B520D-4AB5-40CE-AF9F-C88BA126572C}" sibTransId="{00004E13-F041-4DFD-9C81-9E0C1992F87D}"/>
    <dgm:cxn modelId="{E60E09AC-628E-4F36-8899-A12E6D53298B}" srcId="{1FBAA1BB-C992-4540-B8D4-3F1D66ECE6C3}" destId="{65ED2CC6-6E0A-46E6-9072-560E97773A81}" srcOrd="3" destOrd="0" parTransId="{41396370-A68F-4901-8B03-F13D3A061D62}" sibTransId="{53F4C09D-37A5-413F-83C6-B97EDE2D2005}"/>
    <dgm:cxn modelId="{7CA15AD4-8CAF-43E0-A899-AFFCB467FE05}" type="presOf" srcId="{65ED2CC6-6E0A-46E6-9072-560E97773A81}" destId="{28674783-C877-4CD6-827E-9C0BF96CD45E}" srcOrd="0" destOrd="0" presId="urn:microsoft.com/office/officeart/2005/8/layout/chevron1"/>
    <dgm:cxn modelId="{EFBBFD7C-F1AD-4163-A2B7-7C21178CFB16}" type="presParOf" srcId="{1D53EE52-A7E8-41CC-9107-0C80D7033742}" destId="{7410B00E-4DE6-4625-905F-411F28CFA384}" srcOrd="0" destOrd="0" presId="urn:microsoft.com/office/officeart/2005/8/layout/chevron1"/>
    <dgm:cxn modelId="{21B2212F-C0B1-4BE9-BFEC-739F6E0370C2}" type="presParOf" srcId="{1D53EE52-A7E8-41CC-9107-0C80D7033742}" destId="{B345A1C2-7982-4F97-93C2-CE19655CB4FB}" srcOrd="1" destOrd="0" presId="urn:microsoft.com/office/officeart/2005/8/layout/chevron1"/>
    <dgm:cxn modelId="{321A513A-7B23-4D7F-A9C4-A691F60C659F}" type="presParOf" srcId="{1D53EE52-A7E8-41CC-9107-0C80D7033742}" destId="{6BD14035-604A-4A97-B864-6A5A7228CEF1}" srcOrd="2" destOrd="0" presId="urn:microsoft.com/office/officeart/2005/8/layout/chevron1"/>
    <dgm:cxn modelId="{5FFCC5F5-C376-4323-B0DF-7F20DB722356}" type="presParOf" srcId="{1D53EE52-A7E8-41CC-9107-0C80D7033742}" destId="{3031E7F0-A3D0-4864-91A1-B5409815F7BE}" srcOrd="3" destOrd="0" presId="urn:microsoft.com/office/officeart/2005/8/layout/chevron1"/>
    <dgm:cxn modelId="{8680EA44-9CCB-49F8-B377-0E0A896DB38C}" type="presParOf" srcId="{1D53EE52-A7E8-41CC-9107-0C80D7033742}" destId="{AEA89A5C-83CC-4608-851B-F26CA8D25F63}" srcOrd="4" destOrd="0" presId="urn:microsoft.com/office/officeart/2005/8/layout/chevron1"/>
    <dgm:cxn modelId="{87850D8C-1AD1-4AC5-BCA7-F106D25F1CD0}" type="presParOf" srcId="{1D53EE52-A7E8-41CC-9107-0C80D7033742}" destId="{58FA8659-8505-4A9F-A409-730772076BC7}" srcOrd="5" destOrd="0" presId="urn:microsoft.com/office/officeart/2005/8/layout/chevron1"/>
    <dgm:cxn modelId="{28B54C5C-A0EB-421E-BB3A-5D5518DEC20D}" type="presParOf" srcId="{1D53EE52-A7E8-41CC-9107-0C80D7033742}" destId="{28674783-C877-4CD6-827E-9C0BF96CD45E}" srcOrd="6" destOrd="0" presId="urn:microsoft.com/office/officeart/2005/8/layout/chevron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10B00E-4DE6-4625-905F-411F28CFA384}">
      <dsp:nvSpPr>
        <dsp:cNvPr id="0" name=""/>
        <dsp:cNvSpPr/>
      </dsp:nvSpPr>
      <dsp:spPr>
        <a:xfrm>
          <a:off x="41012" y="1225671"/>
          <a:ext cx="2845087" cy="1138035"/>
        </a:xfrm>
        <a:prstGeom prst="chevron">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Gibbs sampling</a:t>
          </a:r>
          <a:endParaRPr lang="it-IT" sz="1700" b="1" kern="1200" dirty="0"/>
        </a:p>
      </dsp:txBody>
      <dsp:txXfrm>
        <a:off x="610030" y="1225671"/>
        <a:ext cx="1707052" cy="1138035"/>
      </dsp:txXfrm>
    </dsp:sp>
    <dsp:sp modelId="{6BD14035-604A-4A97-B864-6A5A7228CEF1}">
      <dsp:nvSpPr>
        <dsp:cNvPr id="0" name=""/>
        <dsp:cNvSpPr/>
      </dsp:nvSpPr>
      <dsp:spPr>
        <a:xfrm>
          <a:off x="2567219" y="1210285"/>
          <a:ext cx="2845087" cy="1138035"/>
        </a:xfrm>
        <a:prstGeom prst="chevron">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Collapsed Gibbs sampling</a:t>
          </a:r>
          <a:endParaRPr lang="it-IT" sz="1700" b="1" kern="1200" dirty="0"/>
        </a:p>
      </dsp:txBody>
      <dsp:txXfrm>
        <a:off x="3136237" y="1210285"/>
        <a:ext cx="1707052" cy="1138035"/>
      </dsp:txXfrm>
    </dsp:sp>
    <dsp:sp modelId="{AEA89A5C-83CC-4608-851B-F26CA8D25F63}">
      <dsp:nvSpPr>
        <dsp:cNvPr id="0" name=""/>
        <dsp:cNvSpPr/>
      </dsp:nvSpPr>
      <dsp:spPr>
        <a:xfrm>
          <a:off x="5127798" y="1210285"/>
          <a:ext cx="2845087" cy="1138035"/>
        </a:xfrm>
        <a:prstGeom prst="chevron">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Non-parametric collapsed Gibbs sampling</a:t>
          </a:r>
          <a:endParaRPr lang="it-IT" sz="1700" b="1" kern="1200" dirty="0"/>
        </a:p>
      </dsp:txBody>
      <dsp:txXfrm>
        <a:off x="5696816" y="1210285"/>
        <a:ext cx="1707052" cy="1138035"/>
      </dsp:txXfrm>
    </dsp:sp>
    <dsp:sp modelId="{28674783-C877-4CD6-827E-9C0BF96CD45E}">
      <dsp:nvSpPr>
        <dsp:cNvPr id="0" name=""/>
        <dsp:cNvSpPr/>
      </dsp:nvSpPr>
      <dsp:spPr>
        <a:xfrm>
          <a:off x="7688377" y="1210285"/>
          <a:ext cx="2996247" cy="1138035"/>
        </a:xfrm>
        <a:prstGeom prst="chevron">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Multidimensional generalization</a:t>
          </a:r>
          <a:endParaRPr lang="it-IT" sz="1700" b="1" kern="1200" dirty="0"/>
        </a:p>
      </dsp:txBody>
      <dsp:txXfrm>
        <a:off x="8257395" y="1210285"/>
        <a:ext cx="1858212" cy="113803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891D67-266A-4652-A594-21224D64BCA9}" type="datetimeFigureOut">
              <a:rPr lang="it-IT" smtClean="0"/>
              <a:t>15/12/2025</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92EC7-7948-4BBD-9DE4-D94ACEC643F8}" type="slidenum">
              <a:rPr lang="it-IT" smtClean="0"/>
              <a:t>‹#›</a:t>
            </a:fld>
            <a:endParaRPr lang="it-IT"/>
          </a:p>
        </p:txBody>
      </p:sp>
    </p:spTree>
    <p:extLst>
      <p:ext uri="{BB962C8B-B14F-4D97-AF65-F5344CB8AC3E}">
        <p14:creationId xmlns:p14="http://schemas.microsoft.com/office/powerpoint/2010/main" val="104858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Nel quarto punto il codice consiste nell’estrazione di un valore u da una distribuzione uniforme U(0,1). Se u&lt;</a:t>
            </a:r>
            <a:r>
              <a:rPr lang="it-IT" i="1" dirty="0"/>
              <a:t>a</a:t>
            </a:r>
            <a:r>
              <a:rPr lang="it-IT" dirty="0"/>
              <a:t> allora viene accettato, questo vuol dire che la probabilità di accettazione aumenta con l’aumentare di </a:t>
            </a:r>
            <a:r>
              <a:rPr lang="it-IT" i="1" dirty="0"/>
              <a:t>a</a:t>
            </a:r>
            <a:r>
              <a:rPr lang="it-IT" dirty="0"/>
              <a:t>.</a:t>
            </a:r>
          </a:p>
        </p:txBody>
      </p:sp>
      <p:sp>
        <p:nvSpPr>
          <p:cNvPr id="4" name="Slide Number Placeholder 3"/>
          <p:cNvSpPr>
            <a:spLocks noGrp="1"/>
          </p:cNvSpPr>
          <p:nvPr>
            <p:ph type="sldNum" sz="quarter" idx="5"/>
          </p:nvPr>
        </p:nvSpPr>
        <p:spPr/>
        <p:txBody>
          <a:bodyPr/>
          <a:lstStyle/>
          <a:p>
            <a:fld id="{82192EC7-7948-4BBD-9DE4-D94ACEC643F8}" type="slidenum">
              <a:rPr lang="it-IT" smtClean="0"/>
              <a:t>5</a:t>
            </a:fld>
            <a:endParaRPr lang="it-IT"/>
          </a:p>
        </p:txBody>
      </p:sp>
    </p:spTree>
    <p:extLst>
      <p:ext uri="{BB962C8B-B14F-4D97-AF65-F5344CB8AC3E}">
        <p14:creationId xmlns:p14="http://schemas.microsoft.com/office/powerpoint/2010/main" val="148234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E’ stata provata anche la matrice con valori sulla diagonale pari a 0.01, perché l’acceptance ratio era molto piccolo. Questo corrisponde ad un passo della catena che tende ad essere troppo grande rispetto alla parte principale della postirior, diminuendo il valori sulla diagonali si riduce il passo. Però non risolve il problema dell’autocorrelazione e l’acceptance ratio rimane basso.</a:t>
            </a:r>
          </a:p>
        </p:txBody>
      </p:sp>
      <p:sp>
        <p:nvSpPr>
          <p:cNvPr id="4" name="Slide Number Placeholder 3"/>
          <p:cNvSpPr>
            <a:spLocks noGrp="1"/>
          </p:cNvSpPr>
          <p:nvPr>
            <p:ph type="sldNum" sz="quarter" idx="5"/>
          </p:nvPr>
        </p:nvSpPr>
        <p:spPr/>
        <p:txBody>
          <a:bodyPr/>
          <a:lstStyle/>
          <a:p>
            <a:fld id="{82192EC7-7948-4BBD-9DE4-D94ACEC643F8}" type="slidenum">
              <a:rPr lang="it-IT" smtClean="0"/>
              <a:t>8</a:t>
            </a:fld>
            <a:endParaRPr lang="it-IT"/>
          </a:p>
        </p:txBody>
      </p:sp>
    </p:spTree>
    <p:extLst>
      <p:ext uri="{BB962C8B-B14F-4D97-AF65-F5344CB8AC3E}">
        <p14:creationId xmlns:p14="http://schemas.microsoft.com/office/powerpoint/2010/main" val="989409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Utilizzo il log determinante perché viene calcolato con la somma degli autovalori. Invece il determinante normale utilizza il prodotto; se uno degli autovalori è piccolo posso avere underflow</a:t>
            </a:r>
          </a:p>
        </p:txBody>
      </p:sp>
      <p:sp>
        <p:nvSpPr>
          <p:cNvPr id="4" name="Slide Number Placeholder 3"/>
          <p:cNvSpPr>
            <a:spLocks noGrp="1"/>
          </p:cNvSpPr>
          <p:nvPr>
            <p:ph type="sldNum" sz="quarter" idx="5"/>
          </p:nvPr>
        </p:nvSpPr>
        <p:spPr/>
        <p:txBody>
          <a:bodyPr/>
          <a:lstStyle/>
          <a:p>
            <a:fld id="{82192EC7-7948-4BBD-9DE4-D94ACEC643F8}" type="slidenum">
              <a:rPr lang="it-IT" smtClean="0"/>
              <a:t>9</a:t>
            </a:fld>
            <a:endParaRPr lang="it-IT"/>
          </a:p>
        </p:txBody>
      </p:sp>
    </p:spTree>
    <p:extLst>
      <p:ext uri="{BB962C8B-B14F-4D97-AF65-F5344CB8AC3E}">
        <p14:creationId xmlns:p14="http://schemas.microsoft.com/office/powerpoint/2010/main" val="3917216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6 catene salvate sono state concatenate dopo il thinning, quando posso assumere che i samples sono indipendenti tra di loro.</a:t>
            </a:r>
          </a:p>
        </p:txBody>
      </p:sp>
      <p:sp>
        <p:nvSpPr>
          <p:cNvPr id="4" name="Slide Number Placeholder 3"/>
          <p:cNvSpPr>
            <a:spLocks noGrp="1"/>
          </p:cNvSpPr>
          <p:nvPr>
            <p:ph type="sldNum" sz="quarter" idx="5"/>
          </p:nvPr>
        </p:nvSpPr>
        <p:spPr/>
        <p:txBody>
          <a:bodyPr/>
          <a:lstStyle/>
          <a:p>
            <a:fld id="{82192EC7-7948-4BBD-9DE4-D94ACEC643F8}" type="slidenum">
              <a:rPr lang="it-IT" smtClean="0"/>
              <a:t>12</a:t>
            </a:fld>
            <a:endParaRPr lang="it-IT"/>
          </a:p>
        </p:txBody>
      </p:sp>
    </p:spTree>
    <p:extLst>
      <p:ext uri="{BB962C8B-B14F-4D97-AF65-F5344CB8AC3E}">
        <p14:creationId xmlns:p14="http://schemas.microsoft.com/office/powerpoint/2010/main" val="705788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figura inferiore è sono i modelli creati dai samples nello spazio dei dati. Cioè per ogni samples è stato creato un modello (una matrice in cui ogni righa è un modello e le colonne indicano i valori dei dati: per esempio da -4 a 7). Per estrarre la fascia ho calcolato il 5, 50 e 95 percentile di ogni colonna.</a:t>
            </a:r>
          </a:p>
        </p:txBody>
      </p:sp>
      <p:sp>
        <p:nvSpPr>
          <p:cNvPr id="4" name="Slide Number Placeholder 3"/>
          <p:cNvSpPr>
            <a:spLocks noGrp="1"/>
          </p:cNvSpPr>
          <p:nvPr>
            <p:ph type="sldNum" sz="quarter" idx="5"/>
          </p:nvPr>
        </p:nvSpPr>
        <p:spPr/>
        <p:txBody>
          <a:bodyPr/>
          <a:lstStyle/>
          <a:p>
            <a:fld id="{82192EC7-7948-4BBD-9DE4-D94ACEC643F8}" type="slidenum">
              <a:rPr lang="it-IT" smtClean="0"/>
              <a:t>13</a:t>
            </a:fld>
            <a:endParaRPr lang="it-IT"/>
          </a:p>
        </p:txBody>
      </p:sp>
    </p:spTree>
    <p:extLst>
      <p:ext uri="{BB962C8B-B14F-4D97-AF65-F5344CB8AC3E}">
        <p14:creationId xmlns:p14="http://schemas.microsoft.com/office/powerpoint/2010/main" val="2105963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a14:m>
                  <m:oMath xmlns:m="http://schemas.openxmlformats.org/officeDocument/2006/math">
                    <m:r>
                      <a:rPr lang="it-IT" sz="1200" i="1" smtClean="0">
                        <a:latin typeface="Cambria Math" panose="02040503050406030204" pitchFamily="18" charset="0"/>
                      </a:rPr>
                      <m:t>𝑝</m:t>
                    </m:r>
                    <m:d>
                      <m:dPr>
                        <m:ctrlPr>
                          <a:rPr lang="it-IT" sz="1200" i="1">
                            <a:latin typeface="Cambria Math" panose="02040503050406030204" pitchFamily="18" charset="0"/>
                          </a:rPr>
                        </m:ctrlPr>
                      </m:dPr>
                      <m:e>
                        <m:sSub>
                          <m:sSubPr>
                            <m:ctrlPr>
                              <a:rPr lang="it-IT" sz="1200" i="1">
                                <a:latin typeface="Cambria Math" panose="02040503050406030204" pitchFamily="18" charset="0"/>
                              </a:rPr>
                            </m:ctrlPr>
                          </m:sSubPr>
                          <m:e>
                            <m:r>
                              <a:rPr lang="it-IT" sz="1200" i="1">
                                <a:latin typeface="Cambria Math" panose="02040503050406030204" pitchFamily="18" charset="0"/>
                              </a:rPr>
                              <m:t>𝑥</m:t>
                            </m:r>
                          </m:e>
                          <m:sub>
                            <m:r>
                              <a:rPr lang="it-IT" sz="1200" i="1">
                                <a:latin typeface="Cambria Math" panose="02040503050406030204" pitchFamily="18" charset="0"/>
                              </a:rPr>
                              <m:t>𝑜𝑏𝑠</m:t>
                            </m:r>
                          </m:sub>
                        </m:sSub>
                      </m:e>
                      <m:e>
                        <m:r>
                          <a:rPr lang="it-IT" sz="1200" i="1">
                            <a:latin typeface="Cambria Math" panose="02040503050406030204" pitchFamily="18" charset="0"/>
                          </a:rPr>
                          <m:t>𝜽</m:t>
                        </m:r>
                        <m:r>
                          <a:rPr lang="it-IT" sz="1200" i="1">
                            <a:latin typeface="Cambria Math" panose="02040503050406030204" pitchFamily="18" charset="0"/>
                          </a:rPr>
                          <m:t>,</m:t>
                        </m:r>
                        <m:sSub>
                          <m:sSubPr>
                            <m:ctrlPr>
                              <a:rPr lang="it-IT" sz="1200" i="1">
                                <a:latin typeface="Cambria Math" panose="02040503050406030204" pitchFamily="18" charset="0"/>
                              </a:rPr>
                            </m:ctrlPr>
                          </m:sSubPr>
                          <m:e>
                            <m:r>
                              <a:rPr lang="it-IT" sz="1200" i="1">
                                <a:latin typeface="Cambria Math" panose="02040503050406030204" pitchFamily="18" charset="0"/>
                              </a:rPr>
                              <m:t>𝜎</m:t>
                            </m:r>
                          </m:e>
                          <m:sub>
                            <m:r>
                              <a:rPr lang="it-IT" sz="1200" i="1">
                                <a:latin typeface="Cambria Math" panose="02040503050406030204" pitchFamily="18" charset="0"/>
                              </a:rPr>
                              <m:t>𝑜𝑏𝑠</m:t>
                            </m:r>
                          </m:sub>
                        </m:sSub>
                      </m:e>
                    </m:d>
                  </m:oMath>
                </a14:m>
                <a:r>
                  <a:rPr lang="it-IT" dirty="0"/>
                  <a:t> è la nuova distribuzione che vogliamo calcolare (non</a:t>
                </a:r>
                <a:r>
                  <a:rPr lang="it-IT" baseline="0" dirty="0"/>
                  <a:t> è la likelihood, per averla devo moltiplicare tutte le distribuzioni al variare degli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𝑥</m:t>
                        </m:r>
                      </m:e>
                      <m:sub>
                        <m:r>
                          <a:rPr lang="it-IT" sz="1200" i="1">
                            <a:latin typeface="Cambria Math" panose="02040503050406030204" pitchFamily="18" charset="0"/>
                          </a:rPr>
                          <m:t>𝑜𝑏𝑠</m:t>
                        </m:r>
                      </m:sub>
                    </m:sSub>
                  </m:oMath>
                </a14:m>
                <a:r>
                  <a:rPr lang="it-IT" dirty="0"/>
                  <a:t>, i quali sono assunti indipendenti).</a:t>
                </a:r>
              </a:p>
              <a:p>
                <a:r>
                  <a:rPr lang="it-IT" dirty="0"/>
                  <a:t>Secondo punto: è una marginalizzazione. </a:t>
                </a:r>
              </a:p>
              <a:p>
                <a:r>
                  <a:rPr lang="it-IT" dirty="0"/>
                  <a:t>Terzo punto: x è indipendente da sigma_obs, il risultato è la mistura di gaussiana già nota nel problema 1°</a:t>
                </a:r>
              </a:p>
              <a:p>
                <a:r>
                  <a:rPr lang="it-IT" dirty="0"/>
                  <a:t>Quarto punto: metto insieme il primo e terzo punto (il primo punto mi dice che x_obs è generato da una gaussiana con centro x e std sigma_obs</a:t>
                </a:r>
              </a:p>
            </p:txBody>
          </p:sp>
        </mc:Choice>
        <mc:Fallback>
          <p:sp>
            <p:nvSpPr>
              <p:cNvPr id="3" name="Notes Placeholder 2"/>
              <p:cNvSpPr>
                <a:spLocks noGrp="1"/>
              </p:cNvSpPr>
              <p:nvPr>
                <p:ph type="body" idx="1"/>
              </p:nvPr>
            </p:nvSpPr>
            <p:spPr/>
            <p:txBody>
              <a:bodyPr/>
              <a:lstStyle/>
              <a:p>
                <a:pPr/>
                <a:r>
                  <a:rPr lang="it-IT" sz="1200" i="0">
                    <a:latin typeface="Cambria Math" panose="02040503050406030204" pitchFamily="18" charset="0"/>
                  </a:rPr>
                  <a:t>𝑝(𝑥_𝑜𝑏𝑠│𝜽,𝜎_𝑜𝑏𝑠 )</a:t>
                </a:r>
                <a:r>
                  <a:rPr lang="it-IT" dirty="0"/>
                  <a:t> è la nuova distribuzione che vogliamo calcolare (non</a:t>
                </a:r>
                <a:r>
                  <a:rPr lang="it-IT" baseline="0" dirty="0"/>
                  <a:t> è la likelihood, per averla devo moltiplicare tutte le distribuzioni al variare degli </a:t>
                </a:r>
                <a:r>
                  <a:rPr lang="it-IT" sz="1200" i="0">
                    <a:latin typeface="Cambria Math" panose="02040503050406030204" pitchFamily="18" charset="0"/>
                  </a:rPr>
                  <a:t>𝑥_𝑜𝑏𝑠</a:t>
                </a:r>
                <a:r>
                  <a:rPr lang="it-IT" dirty="0"/>
                  <a:t>, i quali sono assunti indipendenti).</a:t>
                </a:r>
              </a:p>
              <a:p>
                <a:r>
                  <a:rPr lang="it-IT" dirty="0"/>
                  <a:t>Secondo punto: è una marginalizzazione. </a:t>
                </a:r>
              </a:p>
              <a:p>
                <a:r>
                  <a:rPr lang="it-IT" dirty="0"/>
                  <a:t>Terzo punto: x è indipendente da sigma_obs, il risultato è la mistura di gaussiana già nota nel problema 1°</a:t>
                </a:r>
              </a:p>
              <a:p>
                <a:r>
                  <a:rPr lang="it-IT" dirty="0"/>
                  <a:t>Quarto punto: metto insieme il primo e terzo punto (il primo punto mi dice che x_obs è generato da una gaussiana con centro x e std sigma_obs</a:t>
                </a:r>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16</a:t>
            </a:fld>
            <a:endParaRPr lang="it-IT"/>
          </a:p>
        </p:txBody>
      </p:sp>
    </p:spTree>
    <p:extLst>
      <p:ext uri="{BB962C8B-B14F-4D97-AF65-F5344CB8AC3E}">
        <p14:creationId xmlns:p14="http://schemas.microsoft.com/office/powerpoint/2010/main" val="763898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Immagine a sinistra: distribuzioni create con i parametri medi, la threshold corrisponde al punto di contatto tra le due distribuzioni (quando la loro differenza cambia segno)</a:t>
            </a:r>
          </a:p>
          <a:p>
            <a:r>
              <a:rPr lang="it-IT" dirty="0"/>
              <a:t>Immagine a destra: distribuzioni create con i percentili dei modelli (il modello medio NON corriponde al modello creato con i paramenti medi). Le bande contengono il 90% della probabilità di avere il modello, è stato possibile trovare una banda per la threshold utilizzando l’intersezione delle bande.</a:t>
            </a:r>
          </a:p>
          <a:p>
            <a:r>
              <a:rPr lang="it-IT" dirty="0"/>
              <a:t>Il calcolo della threshold è solo una stima, il secondo caso contiene più informazione, ma avere una threshold non definita non è molto utile, per esempio se ho un valore all’interno della banda come viene classificato?</a:t>
            </a:r>
          </a:p>
          <a:p>
            <a:r>
              <a:rPr lang="it-IT" dirty="0"/>
              <a:t>La linea a 2s contiene la threshold usata in letteratura, come si vede nelle figure non è compatibile con nessuna delle due threshold stimate (non è neanche all’interno della banda). Questa threshold è stata calcolata per la prima volta in un articolo del 1993 ("</a:t>
            </a:r>
            <a:r>
              <a:rPr lang="it-IT" dirty="0" err="1"/>
              <a:t>Identification</a:t>
            </a:r>
            <a:r>
              <a:rPr lang="it-IT" dirty="0"/>
              <a:t> of </a:t>
            </a:r>
            <a:r>
              <a:rPr lang="it-IT" dirty="0" err="1"/>
              <a:t>two</a:t>
            </a:r>
            <a:r>
              <a:rPr lang="it-IT" dirty="0"/>
              <a:t> classes of gamma-ray </a:t>
            </a:r>
            <a:r>
              <a:rPr lang="it-IT" dirty="0" err="1"/>
              <a:t>burts</a:t>
            </a:r>
            <a:r>
              <a:rPr lang="it-IT" dirty="0"/>
              <a:t>") nel quale utilizzando circa 200 GRB presi da BATSE hanno calcolato la </a:t>
            </a:r>
            <a:r>
              <a:rPr lang="it-IT" dirty="0" err="1"/>
              <a:t>threshold</a:t>
            </a:r>
            <a:r>
              <a:rPr lang="it-IT" dirty="0"/>
              <a:t> eseguendo un </a:t>
            </a:r>
            <a:r>
              <a:rPr lang="it-IT" dirty="0" err="1"/>
              <a:t>fit</a:t>
            </a:r>
            <a:r>
              <a:rPr lang="it-IT" dirty="0"/>
              <a:t> parabolico tra i due picchi.</a:t>
            </a:r>
          </a:p>
        </p:txBody>
      </p:sp>
      <p:sp>
        <p:nvSpPr>
          <p:cNvPr id="4" name="Slide Number Placeholder 3"/>
          <p:cNvSpPr>
            <a:spLocks noGrp="1"/>
          </p:cNvSpPr>
          <p:nvPr>
            <p:ph type="sldNum" sz="quarter" idx="5"/>
          </p:nvPr>
        </p:nvSpPr>
        <p:spPr/>
        <p:txBody>
          <a:bodyPr/>
          <a:lstStyle/>
          <a:p>
            <a:fld id="{82192EC7-7948-4BBD-9DE4-D94ACEC643F8}" type="slidenum">
              <a:rPr lang="it-IT" smtClean="0"/>
              <a:t>24</a:t>
            </a:fld>
            <a:endParaRPr lang="it-IT"/>
          </a:p>
        </p:txBody>
      </p:sp>
    </p:spTree>
    <p:extLst>
      <p:ext uri="{BB962C8B-B14F-4D97-AF65-F5344CB8AC3E}">
        <p14:creationId xmlns:p14="http://schemas.microsoft.com/office/powerpoint/2010/main" val="2031102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it-IT" dirty="0"/>
                  <a:t>x_obs è diverso da prima: nelle slides precedenti era uno dei dati disponibili, apparteneva a D. Invece adesso può essere un valore esterno, il quale può non avere un’incertezza (in questo caso basta imporre sigma_obs=0).</a:t>
                </a:r>
              </a:p>
              <a:p>
                <a:r>
                  <a:rPr lang="it-IT" dirty="0"/>
                  <a:t>- Nel quarto punto (Montecarlo) ho utilizzato il fatto che </a:t>
                </a:r>
                <a14:m>
                  <m:oMath xmlns:m="http://schemas.openxmlformats.org/officeDocument/2006/math">
                    <m:r>
                      <a:rPr lang="it-IT" sz="1200" i="1" smtClean="0">
                        <a:latin typeface="Cambria Math" panose="02040503050406030204" pitchFamily="18" charset="0"/>
                      </a:rPr>
                      <m:t>𝜽</m:t>
                    </m:r>
                  </m:oMath>
                </a14:m>
                <a:r>
                  <a:rPr lang="it-IT" dirty="0"/>
                  <a:t> è indipendente da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𝑥</m:t>
                        </m:r>
                      </m:e>
                      <m:sub>
                        <m:r>
                          <a:rPr lang="it-IT" sz="1200" i="1">
                            <a:latin typeface="Cambria Math" panose="02040503050406030204" pitchFamily="18" charset="0"/>
                          </a:rPr>
                          <m:t>𝑜𝑏𝑠</m:t>
                        </m:r>
                      </m:sub>
                    </m:sSub>
                  </m:oMath>
                </a14:m>
                <a:r>
                  <a:rPr lang="it-IT" dirty="0"/>
                  <a:t>, in quanto i parametri </a:t>
                </a:r>
                <a14:m>
                  <m:oMath xmlns:m="http://schemas.openxmlformats.org/officeDocument/2006/math">
                    <m:r>
                      <a:rPr lang="it-IT" sz="1200" i="1" smtClean="0">
                        <a:latin typeface="Cambria Math" panose="02040503050406030204" pitchFamily="18" charset="0"/>
                      </a:rPr>
                      <m:t>𝜽</m:t>
                    </m:r>
                  </m:oMath>
                </a14:m>
                <a:r>
                  <a:rPr lang="it-IT" dirty="0"/>
                  <a:t> vengono estratti utilizzando solo </a:t>
                </a:r>
                <a14:m>
                  <m:oMath xmlns:m="http://schemas.openxmlformats.org/officeDocument/2006/math">
                    <m:r>
                      <a:rPr lang="it-IT" sz="1200" b="1" i="1" dirty="0" smtClean="0">
                        <a:latin typeface="Cambria Math" panose="02040503050406030204" pitchFamily="18" charset="0"/>
                      </a:rPr>
                      <m:t>𝑫</m:t>
                    </m:r>
                    <m:r>
                      <a:rPr lang="it-IT" sz="1200" b="0" i="0" dirty="0" smtClean="0">
                        <a:latin typeface="Cambria Math" panose="02040503050406030204" pitchFamily="18" charset="0"/>
                      </a:rPr>
                      <m:t>.</m:t>
                    </m:r>
                  </m:oMath>
                </a14:m>
                <a:r>
                  <a:rPr lang="it-IT" dirty="0"/>
                  <a:t>  </a:t>
                </a:r>
                <a14:m>
                  <m:oMath xmlns:m="http://schemas.openxmlformats.org/officeDocument/2006/math">
                    <m:r>
                      <a:rPr lang="it-IT" sz="1200" b="0" i="1" smtClean="0">
                        <a:latin typeface="Cambria Math" panose="02040503050406030204" pitchFamily="18" charset="0"/>
                      </a:rPr>
                      <m:t>⇒</m:t>
                    </m:r>
                    <m:r>
                      <a:rPr lang="it-IT" sz="1200" i="1" smtClean="0">
                        <a:latin typeface="Cambria Math" panose="02040503050406030204" pitchFamily="18" charset="0"/>
                      </a:rPr>
                      <m:t>𝑝</m:t>
                    </m:r>
                    <m:d>
                      <m:dPr>
                        <m:ctrlPr>
                          <a:rPr lang="it-IT" sz="1200" i="1">
                            <a:latin typeface="Cambria Math" panose="02040503050406030204" pitchFamily="18" charset="0"/>
                          </a:rPr>
                        </m:ctrlPr>
                      </m:dPr>
                      <m:e>
                        <m:r>
                          <a:rPr lang="it-IT" sz="1200" i="1">
                            <a:latin typeface="Cambria Math" panose="02040503050406030204" pitchFamily="18" charset="0"/>
                          </a:rPr>
                          <m:t>𝜽</m:t>
                        </m:r>
                      </m:e>
                      <m:e>
                        <m:sSub>
                          <m:sSubPr>
                            <m:ctrlPr>
                              <a:rPr lang="it-IT" sz="1200" i="1" smtClean="0">
                                <a:latin typeface="Cambria Math" panose="02040503050406030204" pitchFamily="18" charset="0"/>
                              </a:rPr>
                            </m:ctrlPr>
                          </m:sSubPr>
                          <m:e>
                            <m:r>
                              <a:rPr lang="it-IT" sz="1200" i="1">
                                <a:latin typeface="Cambria Math" panose="02040503050406030204" pitchFamily="18" charset="0"/>
                              </a:rPr>
                              <m:t>𝑥</m:t>
                            </m:r>
                          </m:e>
                          <m:sub>
                            <m:r>
                              <a:rPr lang="it-IT" sz="1200" i="1">
                                <a:latin typeface="Cambria Math" panose="02040503050406030204" pitchFamily="18" charset="0"/>
                              </a:rPr>
                              <m:t>𝑜𝑏𝑠</m:t>
                            </m:r>
                          </m:sub>
                        </m:sSub>
                        <m:r>
                          <a:rPr lang="it-IT" sz="1200" b="0" i="1" smtClean="0">
                            <a:latin typeface="Cambria Math" panose="02040503050406030204" pitchFamily="18" charset="0"/>
                          </a:rPr>
                          <m:t>,</m:t>
                        </m:r>
                        <m:r>
                          <a:rPr lang="it-IT" sz="1200" i="1">
                            <a:latin typeface="Cambria Math" panose="02040503050406030204" pitchFamily="18" charset="0"/>
                          </a:rPr>
                          <m:t>𝑫</m:t>
                        </m:r>
                      </m:e>
                    </m:d>
                    <m:r>
                      <a:rPr lang="it-IT" sz="1200" b="0" i="1" smtClean="0">
                        <a:latin typeface="Cambria Math" panose="02040503050406030204" pitchFamily="18" charset="0"/>
                      </a:rPr>
                      <m:t>=</m:t>
                    </m:r>
                    <m:r>
                      <a:rPr lang="it-IT" sz="1200" i="1" smtClean="0">
                        <a:latin typeface="Cambria Math" panose="02040503050406030204" pitchFamily="18" charset="0"/>
                      </a:rPr>
                      <m:t>𝑝</m:t>
                    </m:r>
                    <m:d>
                      <m:dPr>
                        <m:ctrlPr>
                          <a:rPr lang="it-IT" sz="1200" i="1">
                            <a:latin typeface="Cambria Math" panose="02040503050406030204" pitchFamily="18" charset="0"/>
                          </a:rPr>
                        </m:ctrlPr>
                      </m:dPr>
                      <m:e>
                        <m:r>
                          <a:rPr lang="it-IT" sz="1200" i="1">
                            <a:latin typeface="Cambria Math" panose="02040503050406030204" pitchFamily="18" charset="0"/>
                          </a:rPr>
                          <m:t>𝜽</m:t>
                        </m:r>
                      </m:e>
                      <m:e>
                        <m:r>
                          <a:rPr lang="it-IT" sz="1200" i="1">
                            <a:latin typeface="Cambria Math" panose="02040503050406030204" pitchFamily="18" charset="0"/>
                          </a:rPr>
                          <m:t>𝑫</m:t>
                        </m:r>
                      </m:e>
                    </m:d>
                  </m:oMath>
                </a14:m>
                <a:r>
                  <a:rPr lang="it-IT" dirty="0"/>
                  <a:t>.</a:t>
                </a:r>
              </a:p>
            </p:txBody>
          </p:sp>
        </mc:Choice>
        <mc:Fallback>
          <p:sp>
            <p:nvSpPr>
              <p:cNvPr id="3" name="Notes Placeholder 2"/>
              <p:cNvSpPr>
                <a:spLocks noGrp="1"/>
              </p:cNvSpPr>
              <p:nvPr>
                <p:ph type="body" idx="1"/>
              </p:nvPr>
            </p:nvSpPr>
            <p:spPr/>
            <p:txBody>
              <a:bodyPr/>
              <a:lstStyle/>
              <a:p>
                <a:r>
                  <a:rPr lang="it-IT" dirty="0"/>
                  <a:t>x_obs è diverso da prima: nelle slides precedenti era uno dei dati disponibili, apparteneva a D. Invece adesso può essere un valore esterno, il quale può non avere un’incertezza (in questo caso basta imporre sigma_obs=0).</a:t>
                </a:r>
              </a:p>
              <a:p>
                <a:r>
                  <a:rPr lang="it-IT" dirty="0"/>
                  <a:t>- Nel quarto punto (Montecarlo) ho utilizzato il fatto che </a:t>
                </a:r>
                <a:r>
                  <a:rPr lang="it-IT" sz="1200" i="0">
                    <a:latin typeface="Cambria Math" panose="02040503050406030204" pitchFamily="18" charset="0"/>
                  </a:rPr>
                  <a:t>𝜽</a:t>
                </a:r>
                <a:r>
                  <a:rPr lang="it-IT" dirty="0"/>
                  <a:t> è indipendente da </a:t>
                </a:r>
                <a:r>
                  <a:rPr lang="it-IT" sz="1200" i="0">
                    <a:latin typeface="Cambria Math" panose="02040503050406030204" pitchFamily="18" charset="0"/>
                  </a:rPr>
                  <a:t>𝑥_𝑜𝑏𝑠</a:t>
                </a:r>
                <a:r>
                  <a:rPr lang="it-IT" dirty="0"/>
                  <a:t>, in quanto i parametri </a:t>
                </a:r>
                <a:r>
                  <a:rPr lang="it-IT" sz="1200" i="0">
                    <a:latin typeface="Cambria Math" panose="02040503050406030204" pitchFamily="18" charset="0"/>
                  </a:rPr>
                  <a:t>𝜽</a:t>
                </a:r>
                <a:r>
                  <a:rPr lang="it-IT" dirty="0"/>
                  <a:t> vengono estratti utilizzando solo </a:t>
                </a:r>
                <a:r>
                  <a:rPr lang="it-IT" sz="1200" b="1" i="0" dirty="0">
                    <a:latin typeface="Cambria Math" panose="02040503050406030204" pitchFamily="18" charset="0"/>
                  </a:rPr>
                  <a:t>𝑫</a:t>
                </a:r>
                <a:r>
                  <a:rPr lang="it-IT" sz="1200" b="0" i="0" dirty="0">
                    <a:latin typeface="Cambria Math" panose="02040503050406030204" pitchFamily="18" charset="0"/>
                  </a:rPr>
                  <a:t>.</a:t>
                </a:r>
                <a:r>
                  <a:rPr lang="it-IT" dirty="0"/>
                  <a:t>  </a:t>
                </a:r>
                <a:r>
                  <a:rPr lang="it-IT" sz="1200" b="0" i="0">
                    <a:latin typeface="Cambria Math" panose="02040503050406030204" pitchFamily="18" charset="0"/>
                  </a:rPr>
                  <a:t>⇒</a:t>
                </a:r>
                <a:r>
                  <a:rPr lang="it-IT" sz="1200" i="0">
                    <a:latin typeface="Cambria Math" panose="02040503050406030204" pitchFamily="18" charset="0"/>
                  </a:rPr>
                  <a:t>𝑝(𝜽│𝑥_𝑜𝑏𝑠</a:t>
                </a:r>
                <a:r>
                  <a:rPr lang="it-IT" sz="1200" b="0" i="0">
                    <a:latin typeface="Cambria Math" panose="02040503050406030204" pitchFamily="18" charset="0"/>
                  </a:rPr>
                  <a:t>,</a:t>
                </a:r>
                <a:r>
                  <a:rPr lang="it-IT" sz="1200" i="0">
                    <a:latin typeface="Cambria Math" panose="02040503050406030204" pitchFamily="18" charset="0"/>
                  </a:rPr>
                  <a:t>𝑫)</a:t>
                </a:r>
                <a:r>
                  <a:rPr lang="it-IT" sz="1200" b="0" i="0">
                    <a:latin typeface="Cambria Math" panose="02040503050406030204" pitchFamily="18" charset="0"/>
                  </a:rPr>
                  <a:t>=</a:t>
                </a:r>
                <a:r>
                  <a:rPr lang="it-IT" sz="1200" i="0">
                    <a:latin typeface="Cambria Math" panose="02040503050406030204" pitchFamily="18" charset="0"/>
                  </a:rPr>
                  <a:t>𝑝(𝜽│𝑫)</a:t>
                </a:r>
                <a:r>
                  <a:rPr lang="it-IT" dirty="0"/>
                  <a:t>.</a:t>
                </a:r>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25</a:t>
            </a:fld>
            <a:endParaRPr lang="it-IT"/>
          </a:p>
        </p:txBody>
      </p:sp>
    </p:spTree>
    <p:extLst>
      <p:ext uri="{BB962C8B-B14F-4D97-AF65-F5344CB8AC3E}">
        <p14:creationId xmlns:p14="http://schemas.microsoft.com/office/powerpoint/2010/main" val="349248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 plot rappresentano la distribuzione di probabilità della probabilità di essere uno short (o long) GRB .</a:t>
            </a:r>
          </a:p>
          <a:p>
            <a:r>
              <a:rPr lang="it-IT" dirty="0"/>
              <a:t>Immagine in alto a sinistra è la distribuzione per </a:t>
            </a:r>
            <a:r>
              <a:rPr lang="en-US" b="0" dirty="0">
                <a:solidFill>
                  <a:srgbClr val="FF0000"/>
                </a:solidFill>
              </a:rPr>
              <a:t>GRB170817A senza un </a:t>
            </a:r>
            <a:r>
              <a:rPr lang="en-US" b="0" dirty="0" err="1">
                <a:solidFill>
                  <a:srgbClr val="FF0000"/>
                </a:solidFill>
              </a:rPr>
              <a:t>errore</a:t>
            </a:r>
            <a:r>
              <a:rPr lang="en-US" b="0" dirty="0">
                <a:solidFill>
                  <a:srgbClr val="FF0000"/>
                </a:solidFill>
              </a:rPr>
              <a:t> di </a:t>
            </a:r>
            <a:r>
              <a:rPr lang="en-US" b="0" dirty="0" err="1">
                <a:solidFill>
                  <a:srgbClr val="FF0000"/>
                </a:solidFill>
              </a:rPr>
              <a:t>misura</a:t>
            </a:r>
            <a:r>
              <a:rPr lang="en-US" b="0" dirty="0">
                <a:solidFill>
                  <a:srgbClr val="FF0000"/>
                </a:solidFill>
              </a:rPr>
              <a:t>. </a:t>
            </a:r>
            <a:r>
              <a:rPr lang="en-US" b="0" dirty="0" err="1">
                <a:solidFill>
                  <a:srgbClr val="FF0000"/>
                </a:solidFill>
              </a:rPr>
              <a:t>Invece</a:t>
            </a:r>
            <a:r>
              <a:rPr lang="en-US" b="0" dirty="0">
                <a:solidFill>
                  <a:srgbClr val="FF0000"/>
                </a:solidFill>
              </a:rPr>
              <a:t> in alto a Destra è </a:t>
            </a:r>
            <a:r>
              <a:rPr lang="en-US" b="0" dirty="0" err="1">
                <a:solidFill>
                  <a:srgbClr val="FF0000"/>
                </a:solidFill>
              </a:rPr>
              <a:t>stato</a:t>
            </a:r>
            <a:r>
              <a:rPr lang="en-US" b="0" dirty="0">
                <a:solidFill>
                  <a:srgbClr val="FF0000"/>
                </a:solidFill>
              </a:rPr>
              <a:t> </a:t>
            </a:r>
            <a:r>
              <a:rPr lang="en-US" b="0" dirty="0" err="1">
                <a:solidFill>
                  <a:srgbClr val="FF0000"/>
                </a:solidFill>
              </a:rPr>
              <a:t>stimato</a:t>
            </a:r>
            <a:r>
              <a:rPr lang="en-US" b="0" dirty="0">
                <a:solidFill>
                  <a:srgbClr val="FF0000"/>
                </a:solidFill>
              </a:rPr>
              <a:t> </a:t>
            </a:r>
            <a:r>
              <a:rPr lang="en-US" b="0" dirty="0" err="1">
                <a:solidFill>
                  <a:srgbClr val="FF0000"/>
                </a:solidFill>
              </a:rPr>
              <a:t>grossolanamente</a:t>
            </a:r>
            <a:r>
              <a:rPr lang="en-US" b="0" dirty="0">
                <a:solidFill>
                  <a:srgbClr val="FF0000"/>
                </a:solidFill>
              </a:rPr>
              <a:t> </a:t>
            </a:r>
            <a:r>
              <a:rPr lang="en-US" b="0" dirty="0" err="1">
                <a:solidFill>
                  <a:srgbClr val="FF0000"/>
                </a:solidFill>
              </a:rPr>
              <a:t>l’errore</a:t>
            </a:r>
            <a:r>
              <a:rPr lang="en-US" b="0" dirty="0">
                <a:solidFill>
                  <a:srgbClr val="FF0000"/>
                </a:solidFill>
              </a:rPr>
              <a:t> di </a:t>
            </a:r>
            <a:r>
              <a:rPr lang="en-US" b="0" dirty="0" err="1">
                <a:solidFill>
                  <a:srgbClr val="FF0000"/>
                </a:solidFill>
              </a:rPr>
              <a:t>misura</a:t>
            </a:r>
            <a:r>
              <a:rPr lang="en-US" b="0" dirty="0">
                <a:solidFill>
                  <a:srgbClr val="FF0000"/>
                </a:solidFill>
              </a:rPr>
              <a:t> </a:t>
            </a:r>
            <a:r>
              <a:rPr lang="en-US" b="0" dirty="0" err="1">
                <a:solidFill>
                  <a:srgbClr val="FF0000"/>
                </a:solidFill>
              </a:rPr>
              <a:t>prendendo</a:t>
            </a:r>
            <a:r>
              <a:rPr lang="en-US" b="0" dirty="0">
                <a:solidFill>
                  <a:srgbClr val="FF0000"/>
                </a:solidFill>
              </a:rPr>
              <a:t> dlogT90 </a:t>
            </a:r>
            <a:r>
              <a:rPr lang="en-US" b="0" dirty="0" err="1">
                <a:solidFill>
                  <a:srgbClr val="FF0000"/>
                </a:solidFill>
              </a:rPr>
              <a:t>corrispondente</a:t>
            </a:r>
            <a:r>
              <a:rPr lang="en-US" b="0" dirty="0">
                <a:solidFill>
                  <a:srgbClr val="FF0000"/>
                </a:solidFill>
              </a:rPr>
              <a:t> al </a:t>
            </a:r>
            <a:r>
              <a:rPr lang="en-US" b="0" dirty="0" err="1">
                <a:solidFill>
                  <a:srgbClr val="FF0000"/>
                </a:solidFill>
              </a:rPr>
              <a:t>valore</a:t>
            </a:r>
            <a:r>
              <a:rPr lang="en-US" b="0" dirty="0">
                <a:solidFill>
                  <a:srgbClr val="FF0000"/>
                </a:solidFill>
              </a:rPr>
              <a:t> di logT90 </a:t>
            </a:r>
            <a:r>
              <a:rPr lang="en-US" b="0" dirty="0" err="1">
                <a:solidFill>
                  <a:srgbClr val="FF0000"/>
                </a:solidFill>
              </a:rPr>
              <a:t>più</a:t>
            </a:r>
            <a:r>
              <a:rPr lang="en-US" b="0" dirty="0">
                <a:solidFill>
                  <a:srgbClr val="FF0000"/>
                </a:solidFill>
              </a:rPr>
              <a:t> </a:t>
            </a:r>
            <a:r>
              <a:rPr lang="en-US" b="0" dirty="0" err="1">
                <a:solidFill>
                  <a:srgbClr val="FF0000"/>
                </a:solidFill>
              </a:rPr>
              <a:t>vicino</a:t>
            </a:r>
            <a:r>
              <a:rPr lang="en-US" b="0" dirty="0">
                <a:solidFill>
                  <a:srgbClr val="FF0000"/>
                </a:solidFill>
              </a:rPr>
              <a:t> a ln(2).</a:t>
            </a:r>
          </a:p>
          <a:p>
            <a:r>
              <a:rPr lang="en-US" b="0" dirty="0">
                <a:solidFill>
                  <a:srgbClr val="FF0000"/>
                </a:solidFill>
              </a:rPr>
              <a:t>In basso </a:t>
            </a:r>
            <a:r>
              <a:rPr lang="en-US" b="0" dirty="0" err="1">
                <a:solidFill>
                  <a:srgbClr val="FF0000"/>
                </a:solidFill>
              </a:rPr>
              <a:t>sono</a:t>
            </a:r>
            <a:r>
              <a:rPr lang="en-US" b="0" dirty="0">
                <a:solidFill>
                  <a:srgbClr val="FF0000"/>
                </a:solidFill>
              </a:rPr>
              <a:t> </a:t>
            </a:r>
            <a:r>
              <a:rPr lang="en-US" b="0" dirty="0" err="1">
                <a:solidFill>
                  <a:srgbClr val="FF0000"/>
                </a:solidFill>
              </a:rPr>
              <a:t>rappresentate</a:t>
            </a:r>
            <a:r>
              <a:rPr lang="en-US" b="0" dirty="0">
                <a:solidFill>
                  <a:srgbClr val="FF0000"/>
                </a:solidFill>
              </a:rPr>
              <a:t> </a:t>
            </a:r>
            <a:r>
              <a:rPr lang="en-US" b="0" dirty="0" err="1">
                <a:solidFill>
                  <a:srgbClr val="FF0000"/>
                </a:solidFill>
              </a:rPr>
              <a:t>nello</a:t>
            </a:r>
            <a:r>
              <a:rPr lang="en-US" b="0" dirty="0">
                <a:solidFill>
                  <a:srgbClr val="FF0000"/>
                </a:solidFill>
              </a:rPr>
              <a:t> </a:t>
            </a:r>
            <a:r>
              <a:rPr lang="en-US" b="0" dirty="0" err="1">
                <a:solidFill>
                  <a:srgbClr val="FF0000"/>
                </a:solidFill>
              </a:rPr>
              <a:t>stesso</a:t>
            </a:r>
            <a:r>
              <a:rPr lang="en-US" b="0" dirty="0">
                <a:solidFill>
                  <a:srgbClr val="FF0000"/>
                </a:solidFill>
              </a:rPr>
              <a:t> plot le </a:t>
            </a:r>
            <a:r>
              <a:rPr lang="en-US" b="0" dirty="0" err="1">
                <a:solidFill>
                  <a:srgbClr val="FF0000"/>
                </a:solidFill>
              </a:rPr>
              <a:t>distribuzioni</a:t>
            </a:r>
            <a:r>
              <a:rPr lang="en-US" b="0" dirty="0">
                <a:solidFill>
                  <a:srgbClr val="FF0000"/>
                </a:solidFill>
              </a:rPr>
              <a:t> per la </a:t>
            </a:r>
            <a:r>
              <a:rPr lang="en-US" b="0" dirty="0" err="1">
                <a:solidFill>
                  <a:srgbClr val="FF0000"/>
                </a:solidFill>
              </a:rPr>
              <a:t>probabilità</a:t>
            </a:r>
            <a:r>
              <a:rPr lang="en-US" b="0" dirty="0">
                <a:solidFill>
                  <a:srgbClr val="FF0000"/>
                </a:solidFill>
              </a:rPr>
              <a:t> di </a:t>
            </a:r>
            <a:r>
              <a:rPr lang="en-US" b="0" dirty="0" err="1">
                <a:solidFill>
                  <a:srgbClr val="FF0000"/>
                </a:solidFill>
              </a:rPr>
              <a:t>essere</a:t>
            </a:r>
            <a:r>
              <a:rPr lang="en-US" b="0" dirty="0">
                <a:solidFill>
                  <a:srgbClr val="FF0000"/>
                </a:solidFill>
              </a:rPr>
              <a:t> short e </a:t>
            </a:r>
            <a:r>
              <a:rPr lang="en-US" b="0" dirty="0" err="1">
                <a:solidFill>
                  <a:srgbClr val="FF0000"/>
                </a:solidFill>
              </a:rPr>
              <a:t>quella</a:t>
            </a:r>
            <a:r>
              <a:rPr lang="en-US" b="0" dirty="0">
                <a:solidFill>
                  <a:srgbClr val="FF0000"/>
                </a:solidFill>
              </a:rPr>
              <a:t> di </a:t>
            </a:r>
            <a:r>
              <a:rPr lang="en-US" b="0" dirty="0" err="1">
                <a:solidFill>
                  <a:srgbClr val="FF0000"/>
                </a:solidFill>
              </a:rPr>
              <a:t>essere</a:t>
            </a:r>
            <a:r>
              <a:rPr lang="en-US" b="0" dirty="0">
                <a:solidFill>
                  <a:srgbClr val="FF0000"/>
                </a:solidFill>
              </a:rPr>
              <a:t> long. Come </a:t>
            </a:r>
            <a:r>
              <a:rPr lang="en-US" b="0" dirty="0" err="1">
                <a:solidFill>
                  <a:srgbClr val="FF0000"/>
                </a:solidFill>
              </a:rPr>
              <a:t>si</a:t>
            </a:r>
            <a:r>
              <a:rPr lang="en-US" b="0" dirty="0">
                <a:solidFill>
                  <a:srgbClr val="FF0000"/>
                </a:solidFill>
              </a:rPr>
              <a:t> nota la </a:t>
            </a:r>
            <a:r>
              <a:rPr lang="en-US" b="0" dirty="0" err="1">
                <a:solidFill>
                  <a:srgbClr val="FF0000"/>
                </a:solidFill>
              </a:rPr>
              <a:t>probabilità</a:t>
            </a:r>
            <a:r>
              <a:rPr lang="en-US" b="0" dirty="0">
                <a:solidFill>
                  <a:srgbClr val="FF0000"/>
                </a:solidFill>
              </a:rPr>
              <a:t> di </a:t>
            </a:r>
            <a:r>
              <a:rPr lang="en-US" b="0" dirty="0" err="1">
                <a:solidFill>
                  <a:srgbClr val="FF0000"/>
                </a:solidFill>
              </a:rPr>
              <a:t>essere</a:t>
            </a:r>
            <a:r>
              <a:rPr lang="en-US" b="0" dirty="0">
                <a:solidFill>
                  <a:srgbClr val="FF0000"/>
                </a:solidFill>
              </a:rPr>
              <a:t> short (circa 94%) è molto Maggiore a </a:t>
            </a:r>
            <a:r>
              <a:rPr lang="en-US" b="0" dirty="0" err="1">
                <a:solidFill>
                  <a:srgbClr val="FF0000"/>
                </a:solidFill>
              </a:rPr>
              <a:t>quella</a:t>
            </a:r>
            <a:r>
              <a:rPr lang="en-US" b="0" dirty="0">
                <a:solidFill>
                  <a:srgbClr val="FF0000"/>
                </a:solidFill>
              </a:rPr>
              <a:t> di </a:t>
            </a:r>
            <a:r>
              <a:rPr lang="en-US" b="0" dirty="0" err="1">
                <a:solidFill>
                  <a:srgbClr val="FF0000"/>
                </a:solidFill>
              </a:rPr>
              <a:t>essere</a:t>
            </a:r>
            <a:r>
              <a:rPr lang="en-US" b="0" dirty="0">
                <a:solidFill>
                  <a:srgbClr val="FF0000"/>
                </a:solidFill>
              </a:rPr>
              <a:t> long (circa 6%), </a:t>
            </a:r>
            <a:r>
              <a:rPr lang="en-US" b="0" dirty="0" err="1">
                <a:solidFill>
                  <a:srgbClr val="FF0000"/>
                </a:solidFill>
              </a:rPr>
              <a:t>quindi</a:t>
            </a:r>
            <a:r>
              <a:rPr lang="en-US" b="0" dirty="0">
                <a:solidFill>
                  <a:srgbClr val="FF0000"/>
                </a:solidFill>
              </a:rPr>
              <a:t> GRB170817A </a:t>
            </a:r>
            <a:r>
              <a:rPr lang="en-US" b="0" dirty="0" err="1">
                <a:solidFill>
                  <a:srgbClr val="FF0000"/>
                </a:solidFill>
              </a:rPr>
              <a:t>viene</a:t>
            </a:r>
            <a:r>
              <a:rPr lang="en-US" b="0" dirty="0">
                <a:solidFill>
                  <a:srgbClr val="FF0000"/>
                </a:solidFill>
              </a:rPr>
              <a:t> </a:t>
            </a:r>
            <a:r>
              <a:rPr lang="en-US" b="0" dirty="0" err="1">
                <a:solidFill>
                  <a:srgbClr val="FF0000"/>
                </a:solidFill>
              </a:rPr>
              <a:t>classificato</a:t>
            </a:r>
            <a:r>
              <a:rPr lang="en-US" b="0" dirty="0">
                <a:solidFill>
                  <a:srgbClr val="FF0000"/>
                </a:solidFill>
              </a:rPr>
              <a:t> come short. </a:t>
            </a:r>
            <a:r>
              <a:rPr lang="en-US" b="0" dirty="0" err="1">
                <a:solidFill>
                  <a:srgbClr val="FF0000"/>
                </a:solidFill>
              </a:rPr>
              <a:t>Inoltre</a:t>
            </a:r>
            <a:r>
              <a:rPr lang="en-US" b="0" dirty="0">
                <a:solidFill>
                  <a:srgbClr val="FF0000"/>
                </a:solidFill>
              </a:rPr>
              <a:t> il plot </a:t>
            </a:r>
            <a:r>
              <a:rPr lang="en-US" b="0" dirty="0" err="1">
                <a:solidFill>
                  <a:srgbClr val="FF0000"/>
                </a:solidFill>
              </a:rPr>
              <a:t>mostra</a:t>
            </a:r>
            <a:r>
              <a:rPr lang="en-US" b="0" dirty="0">
                <a:solidFill>
                  <a:srgbClr val="FF0000"/>
                </a:solidFill>
              </a:rPr>
              <a:t> </a:t>
            </a:r>
            <a:r>
              <a:rPr lang="en-US" b="0" dirty="0" err="1">
                <a:solidFill>
                  <a:srgbClr val="FF0000"/>
                </a:solidFill>
              </a:rPr>
              <a:t>che</a:t>
            </a:r>
            <a:r>
              <a:rPr lang="en-US" b="0" dirty="0">
                <a:solidFill>
                  <a:srgbClr val="FF0000"/>
                </a:solidFill>
              </a:rPr>
              <a:t> la threshold a 2s, </a:t>
            </a:r>
            <a:r>
              <a:rPr lang="en-US" b="0" dirty="0" err="1">
                <a:solidFill>
                  <a:srgbClr val="FF0000"/>
                </a:solidFill>
              </a:rPr>
              <a:t>usata</a:t>
            </a:r>
            <a:r>
              <a:rPr lang="en-US" b="0" dirty="0">
                <a:solidFill>
                  <a:srgbClr val="FF0000"/>
                </a:solidFill>
              </a:rPr>
              <a:t> in </a:t>
            </a:r>
            <a:r>
              <a:rPr lang="en-US" b="0" dirty="0" err="1">
                <a:solidFill>
                  <a:srgbClr val="FF0000"/>
                </a:solidFill>
              </a:rPr>
              <a:t>letteratura</a:t>
            </a:r>
            <a:r>
              <a:rPr lang="en-US" b="0" dirty="0">
                <a:solidFill>
                  <a:srgbClr val="FF0000"/>
                </a:solidFill>
              </a:rPr>
              <a:t>, non è </a:t>
            </a:r>
            <a:r>
              <a:rPr lang="en-US" b="0" dirty="0" err="1">
                <a:solidFill>
                  <a:srgbClr val="FF0000"/>
                </a:solidFill>
              </a:rPr>
              <a:t>affidabile</a:t>
            </a:r>
            <a:r>
              <a:rPr lang="en-US" b="0" dirty="0">
                <a:solidFill>
                  <a:srgbClr val="FF0000"/>
                </a:solidFill>
              </a:rPr>
              <a:t>, </a:t>
            </a:r>
            <a:r>
              <a:rPr lang="en-US" b="0" dirty="0" err="1">
                <a:solidFill>
                  <a:srgbClr val="FF0000"/>
                </a:solidFill>
              </a:rPr>
              <a:t>essendo</a:t>
            </a:r>
            <a:r>
              <a:rPr lang="en-US" b="0" dirty="0">
                <a:solidFill>
                  <a:srgbClr val="FF0000"/>
                </a:solidFill>
              </a:rPr>
              <a:t> </a:t>
            </a:r>
            <a:r>
              <a:rPr lang="en-US" b="0" dirty="0" err="1">
                <a:solidFill>
                  <a:srgbClr val="FF0000"/>
                </a:solidFill>
              </a:rPr>
              <a:t>gli</a:t>
            </a:r>
            <a:r>
              <a:rPr lang="en-US" b="0" dirty="0">
                <a:solidFill>
                  <a:srgbClr val="FF0000"/>
                </a:solidFill>
              </a:rPr>
              <a:t> short GRB molto </a:t>
            </a:r>
            <a:r>
              <a:rPr lang="en-US" b="0" dirty="0" err="1">
                <a:solidFill>
                  <a:srgbClr val="FF0000"/>
                </a:solidFill>
              </a:rPr>
              <a:t>più</a:t>
            </a:r>
            <a:r>
              <a:rPr lang="en-US" b="0" dirty="0">
                <a:solidFill>
                  <a:srgbClr val="FF0000"/>
                </a:solidFill>
              </a:rPr>
              <a:t> </a:t>
            </a:r>
            <a:r>
              <a:rPr lang="en-US" b="0" dirty="0" err="1">
                <a:solidFill>
                  <a:srgbClr val="FF0000"/>
                </a:solidFill>
              </a:rPr>
              <a:t>probabili</a:t>
            </a:r>
            <a:r>
              <a:rPr lang="en-US" b="0" dirty="0">
                <a:solidFill>
                  <a:srgbClr val="FF0000"/>
                </a:solidFill>
              </a:rPr>
              <a:t>. Per </a:t>
            </a:r>
            <a:r>
              <a:rPr lang="en-US" b="0" dirty="0" err="1">
                <a:solidFill>
                  <a:srgbClr val="FF0000"/>
                </a:solidFill>
              </a:rPr>
              <a:t>essere</a:t>
            </a:r>
            <a:r>
              <a:rPr lang="en-US" b="0" dirty="0">
                <a:solidFill>
                  <a:srgbClr val="FF0000"/>
                </a:solidFill>
              </a:rPr>
              <a:t> </a:t>
            </a:r>
            <a:r>
              <a:rPr lang="en-US" b="0" dirty="0" err="1">
                <a:solidFill>
                  <a:srgbClr val="FF0000"/>
                </a:solidFill>
              </a:rPr>
              <a:t>una</a:t>
            </a:r>
            <a:r>
              <a:rPr lang="en-US" b="0" dirty="0">
                <a:solidFill>
                  <a:srgbClr val="FF0000"/>
                </a:solidFill>
              </a:rPr>
              <a:t> threshold la media della </a:t>
            </a:r>
            <a:r>
              <a:rPr lang="en-US" b="0" dirty="0" err="1">
                <a:solidFill>
                  <a:srgbClr val="FF0000"/>
                </a:solidFill>
              </a:rPr>
              <a:t>distribuzione</a:t>
            </a:r>
            <a:r>
              <a:rPr lang="en-US" b="0" dirty="0">
                <a:solidFill>
                  <a:srgbClr val="FF0000"/>
                </a:solidFill>
              </a:rPr>
              <a:t> </a:t>
            </a:r>
            <a:r>
              <a:rPr lang="en-US" b="0" dirty="0" err="1">
                <a:solidFill>
                  <a:srgbClr val="FF0000"/>
                </a:solidFill>
              </a:rPr>
              <a:t>deve</a:t>
            </a:r>
            <a:r>
              <a:rPr lang="en-US" b="0" dirty="0">
                <a:solidFill>
                  <a:srgbClr val="FF0000"/>
                </a:solidFill>
              </a:rPr>
              <a:t> </a:t>
            </a:r>
            <a:r>
              <a:rPr lang="en-US" b="0" dirty="0" err="1">
                <a:solidFill>
                  <a:srgbClr val="FF0000"/>
                </a:solidFill>
              </a:rPr>
              <a:t>essere</a:t>
            </a:r>
            <a:r>
              <a:rPr lang="en-US" b="0" dirty="0">
                <a:solidFill>
                  <a:srgbClr val="FF0000"/>
                </a:solidFill>
              </a:rPr>
              <a:t> 0.5 e le due </a:t>
            </a:r>
            <a:r>
              <a:rPr lang="en-US" b="0" dirty="0" err="1">
                <a:solidFill>
                  <a:srgbClr val="FF0000"/>
                </a:solidFill>
              </a:rPr>
              <a:t>distribuzioni</a:t>
            </a:r>
            <a:r>
              <a:rPr lang="en-US" b="0" dirty="0">
                <a:solidFill>
                  <a:srgbClr val="FF0000"/>
                </a:solidFill>
              </a:rPr>
              <a:t>, short e long, </a:t>
            </a:r>
            <a:r>
              <a:rPr lang="en-US" b="0" dirty="0" err="1">
                <a:solidFill>
                  <a:srgbClr val="FF0000"/>
                </a:solidFill>
              </a:rPr>
              <a:t>devono</a:t>
            </a:r>
            <a:r>
              <a:rPr lang="en-US" b="0" dirty="0">
                <a:solidFill>
                  <a:srgbClr val="FF0000"/>
                </a:solidFill>
              </a:rPr>
              <a:t> </a:t>
            </a:r>
            <a:r>
              <a:rPr lang="en-US" b="0" dirty="0" err="1">
                <a:solidFill>
                  <a:srgbClr val="FF0000"/>
                </a:solidFill>
              </a:rPr>
              <a:t>essere</a:t>
            </a:r>
            <a:r>
              <a:rPr lang="en-US" b="0" dirty="0">
                <a:solidFill>
                  <a:srgbClr val="FF0000"/>
                </a:solidFill>
              </a:rPr>
              <a:t> </a:t>
            </a:r>
            <a:r>
              <a:rPr lang="en-US" b="0" dirty="0" err="1">
                <a:solidFill>
                  <a:srgbClr val="FF0000"/>
                </a:solidFill>
              </a:rPr>
              <a:t>sovrapposte</a:t>
            </a:r>
            <a:endParaRPr lang="it-IT" b="0" dirty="0"/>
          </a:p>
        </p:txBody>
      </p:sp>
      <p:sp>
        <p:nvSpPr>
          <p:cNvPr id="4" name="Slide Number Placeholder 3"/>
          <p:cNvSpPr>
            <a:spLocks noGrp="1"/>
          </p:cNvSpPr>
          <p:nvPr>
            <p:ph type="sldNum" sz="quarter" idx="5"/>
          </p:nvPr>
        </p:nvSpPr>
        <p:spPr/>
        <p:txBody>
          <a:bodyPr/>
          <a:lstStyle/>
          <a:p>
            <a:fld id="{82192EC7-7948-4BBD-9DE4-D94ACEC643F8}" type="slidenum">
              <a:rPr lang="it-IT" smtClean="0"/>
              <a:t>26</a:t>
            </a:fld>
            <a:endParaRPr lang="it-IT"/>
          </a:p>
        </p:txBody>
      </p:sp>
    </p:spTree>
    <p:extLst>
      <p:ext uri="{BB962C8B-B14F-4D97-AF65-F5344CB8AC3E}">
        <p14:creationId xmlns:p14="http://schemas.microsoft.com/office/powerpoint/2010/main" val="2611203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media di h è sui sample theta, cioè ricavo il risultato del Monte Carlo scritto due slides fa.</a:t>
            </a:r>
          </a:p>
        </p:txBody>
      </p:sp>
      <p:sp>
        <p:nvSpPr>
          <p:cNvPr id="4" name="Slide Number Placeholder 3"/>
          <p:cNvSpPr>
            <a:spLocks noGrp="1"/>
          </p:cNvSpPr>
          <p:nvPr>
            <p:ph type="sldNum" sz="quarter" idx="5"/>
          </p:nvPr>
        </p:nvSpPr>
        <p:spPr/>
        <p:txBody>
          <a:bodyPr/>
          <a:lstStyle/>
          <a:p>
            <a:fld id="{82192EC7-7948-4BBD-9DE4-D94ACEC643F8}" type="slidenum">
              <a:rPr lang="it-IT" smtClean="0"/>
              <a:t>27</a:t>
            </a:fld>
            <a:endParaRPr lang="it-IT"/>
          </a:p>
        </p:txBody>
      </p:sp>
    </p:spTree>
    <p:extLst>
      <p:ext uri="{BB962C8B-B14F-4D97-AF65-F5344CB8AC3E}">
        <p14:creationId xmlns:p14="http://schemas.microsoft.com/office/powerpoint/2010/main" val="224311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h è una matrice, il valore h_j(x) corrisponde alla p(short|x,theta_j) con j e x fissi.</a:t>
            </a:r>
          </a:p>
          <a:p>
            <a:r>
              <a:rPr lang="it-IT" dirty="0"/>
              <a:t>Fissato solo il sample j, h_j(x) diventa una funzione di x (vettore)</a:t>
            </a:r>
          </a:p>
          <a:p>
            <a:r>
              <a:rPr lang="it-IT" dirty="0"/>
              <a:t>Diversamente da prima dove h era preso come media e quindi bar h era un vettore in funzione di x.</a:t>
            </a:r>
          </a:p>
          <a:p>
            <a:r>
              <a:rPr lang="it-IT" dirty="0"/>
              <a:t>Il valore di thr è scritto come mediana +- 68 percentile, e nella parentesi è contenuto il 90% della probabilità [5, 95] percentile</a:t>
            </a:r>
          </a:p>
        </p:txBody>
      </p:sp>
      <p:sp>
        <p:nvSpPr>
          <p:cNvPr id="4" name="Slide Number Placeholder 3"/>
          <p:cNvSpPr>
            <a:spLocks noGrp="1"/>
          </p:cNvSpPr>
          <p:nvPr>
            <p:ph type="sldNum" sz="quarter" idx="5"/>
          </p:nvPr>
        </p:nvSpPr>
        <p:spPr/>
        <p:txBody>
          <a:bodyPr/>
          <a:lstStyle/>
          <a:p>
            <a:fld id="{82192EC7-7948-4BBD-9DE4-D94ACEC643F8}" type="slidenum">
              <a:rPr lang="it-IT" smtClean="0"/>
              <a:t>28</a:t>
            </a:fld>
            <a:endParaRPr lang="it-IT"/>
          </a:p>
        </p:txBody>
      </p:sp>
    </p:spTree>
    <p:extLst>
      <p:ext uri="{BB962C8B-B14F-4D97-AF65-F5344CB8AC3E}">
        <p14:creationId xmlns:p14="http://schemas.microsoft.com/office/powerpoint/2010/main" val="461563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 l’Occam’s razor voglio sottolineare che:</a:t>
            </a:r>
          </a:p>
          <a:p>
            <a:r>
              <a:rPr lang="it-IT" dirty="0"/>
              <a:t>nell’istogramma del logT90 è possibile vedere un picco tra i due picchi principali, questo è dovuto ad un modello più complesso (tre componenti) oppure no? Supponendo che la likelihood di H1 sia maggiore in quanto riesce a fittare il picco centrale, questo guadagno riesce a compensare la perdita di evidenza dovuta a passare da uno spazio in 5D a uno in 8D? Se Bayes Factor è positivo la risposta è Sì, se è negativo è No (Spoiler: è negativo)</a:t>
            </a:r>
          </a:p>
        </p:txBody>
      </p:sp>
      <p:sp>
        <p:nvSpPr>
          <p:cNvPr id="4" name="Slide Number Placeholder 3"/>
          <p:cNvSpPr>
            <a:spLocks noGrp="1"/>
          </p:cNvSpPr>
          <p:nvPr>
            <p:ph type="sldNum" sz="quarter" idx="5"/>
          </p:nvPr>
        </p:nvSpPr>
        <p:spPr/>
        <p:txBody>
          <a:bodyPr/>
          <a:lstStyle/>
          <a:p>
            <a:fld id="{82192EC7-7948-4BBD-9DE4-D94ACEC643F8}" type="slidenum">
              <a:rPr lang="it-IT" smtClean="0"/>
              <a:t>29</a:t>
            </a:fld>
            <a:endParaRPr lang="it-IT"/>
          </a:p>
        </p:txBody>
      </p:sp>
    </p:spTree>
    <p:extLst>
      <p:ext uri="{BB962C8B-B14F-4D97-AF65-F5344CB8AC3E}">
        <p14:creationId xmlns:p14="http://schemas.microsoft.com/office/powerpoint/2010/main" val="806185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-Se </a:t>
            </a:r>
            <a:r>
              <a:rPr lang="el-GR" dirty="0"/>
              <a:t>ξ</a:t>
            </a:r>
            <a:r>
              <a:rPr lang="it-IT" dirty="0"/>
              <a:t> = 0, vuol dire che </a:t>
            </a:r>
            <a:r>
              <a:rPr lang="el-GR" dirty="0"/>
              <a:t>λ</a:t>
            </a:r>
            <a:r>
              <a:rPr lang="it-IT" dirty="0"/>
              <a:t> = L_max (il valore di </a:t>
            </a:r>
            <a:r>
              <a:rPr lang="el-GR" dirty="0"/>
              <a:t>λ</a:t>
            </a:r>
            <a:r>
              <a:rPr lang="it-IT" dirty="0"/>
              <a:t> è tangente alla cima della gaussiana e quindi non viene proiettata nessuna area).</a:t>
            </a:r>
          </a:p>
          <a:p>
            <a:r>
              <a:rPr lang="it-IT" dirty="0"/>
              <a:t>-Se </a:t>
            </a:r>
            <a:r>
              <a:rPr lang="el-GR" dirty="0"/>
              <a:t>ξ</a:t>
            </a:r>
            <a:r>
              <a:rPr lang="it-IT" dirty="0"/>
              <a:t> = 1, vuol dire che </a:t>
            </a:r>
            <a:r>
              <a:rPr lang="el-GR" dirty="0"/>
              <a:t>λ</a:t>
            </a:r>
            <a:r>
              <a:rPr lang="it-IT" dirty="0"/>
              <a:t> = 0 (oppure </a:t>
            </a:r>
            <a:r>
              <a:rPr lang="el-GR" dirty="0"/>
              <a:t>λ</a:t>
            </a:r>
            <a:r>
              <a:rPr lang="it-IT" dirty="0"/>
              <a:t> = L_min), cioè tutta la likelihood è sopra </a:t>
            </a:r>
            <a:r>
              <a:rPr lang="el-GR" dirty="0"/>
              <a:t>λ</a:t>
            </a:r>
            <a:r>
              <a:rPr lang="it-IT" dirty="0"/>
              <a:t> (nell’immagine </a:t>
            </a:r>
            <a:r>
              <a:rPr lang="el-GR" dirty="0"/>
              <a:t>λ</a:t>
            </a:r>
            <a:r>
              <a:rPr lang="it-IT" dirty="0"/>
              <a:t> è ai piedi della gaussiana e quindi viene presa tutta l’area della prior).</a:t>
            </a:r>
          </a:p>
          <a:p>
            <a:r>
              <a:rPr lang="it-IT" dirty="0"/>
              <a:t>-Essendo L(</a:t>
            </a:r>
            <a:r>
              <a:rPr lang="el-GR" dirty="0"/>
              <a:t>ξ</a:t>
            </a:r>
            <a:r>
              <a:rPr lang="it-IT" dirty="0"/>
              <a:t>) monodimensionale l’integrale per ricavare Z diventa semplice da calcolare, precedentemente era un integrale sullo sapzio dei parametri (nel nostro caso 5D e 8D).</a:t>
            </a:r>
          </a:p>
          <a:p>
            <a:r>
              <a:rPr lang="it-IT" dirty="0"/>
              <a:t>-{</a:t>
            </a:r>
            <a:r>
              <a:rPr lang="el-GR" dirty="0"/>
              <a:t>ξ</a:t>
            </a:r>
            <a:r>
              <a:rPr lang="it-IT" dirty="0"/>
              <a:t>}^i indica l’insieme di tutti gli </a:t>
            </a:r>
            <a:r>
              <a:rPr lang="el-GR" dirty="0"/>
              <a:t>ξ</a:t>
            </a:r>
            <a:r>
              <a:rPr lang="it-IT" dirty="0"/>
              <a:t> all’iterazione i, mentre </a:t>
            </a:r>
            <a:r>
              <a:rPr lang="el-GR" dirty="0"/>
              <a:t>ξ</a:t>
            </a:r>
            <a:r>
              <a:rPr lang="it-IT" dirty="0"/>
              <a:t>_i-1 indica il valore estratto all’iterazione i-1</a:t>
            </a:r>
          </a:p>
          <a:p>
            <a:r>
              <a:rPr lang="it-IT" dirty="0"/>
              <a:t>-t indica la frazione di contarzione della prior mass </a:t>
            </a:r>
            <a:r>
              <a:rPr lang="el-GR" dirty="0"/>
              <a:t>ξ</a:t>
            </a:r>
            <a:r>
              <a:rPr lang="it-IT" dirty="0"/>
              <a:t> (è una normalizzazione ottenuta dai </a:t>
            </a:r>
            <a:r>
              <a:rPr lang="el-GR" dirty="0"/>
              <a:t>ξ</a:t>
            </a:r>
            <a:r>
              <a:rPr lang="it-IT" dirty="0"/>
              <a:t> per avere sempre l’intervallo tra 0 e 1)</a:t>
            </a:r>
            <a:br>
              <a:rPr lang="it-IT" dirty="0"/>
            </a:br>
            <a:r>
              <a:rPr lang="it-IT" dirty="0"/>
              <a:t>-N_L a moltiplicare nella Beta(N_L, 1) è la costante di normalizzazione ottenuta integrando t^N-1 nell’intervallo (0,1) e ponendo il risultato uguale a 1.</a:t>
            </a:r>
          </a:p>
          <a:p>
            <a:r>
              <a:rPr lang="it-IT" dirty="0"/>
              <a:t>-</a:t>
            </a:r>
            <a:r>
              <a:rPr lang="el-GR" dirty="0"/>
              <a:t>ξ</a:t>
            </a:r>
            <a:r>
              <a:rPr lang="it-IT" dirty="0"/>
              <a:t>_i = </a:t>
            </a:r>
            <a:r>
              <a:rPr lang="el-GR" dirty="0"/>
              <a:t>ξ</a:t>
            </a:r>
            <a:r>
              <a:rPr lang="it-IT" dirty="0"/>
              <a:t>_i-1*t_i =&gt;  log</a:t>
            </a:r>
            <a:r>
              <a:rPr lang="el-GR" dirty="0"/>
              <a:t>ξ</a:t>
            </a:r>
            <a:r>
              <a:rPr lang="it-IT" dirty="0"/>
              <a:t>_i = log</a:t>
            </a:r>
            <a:r>
              <a:rPr lang="el-GR" dirty="0"/>
              <a:t>ξ</a:t>
            </a:r>
            <a:r>
              <a:rPr lang="it-IT" dirty="0"/>
              <a:t>_i-1 + logt_i</a:t>
            </a:r>
          </a:p>
          <a:p>
            <a:r>
              <a:rPr lang="it-IT" dirty="0"/>
              <a:t>- In realtà non è stata usata esattamente l’equazione sopra perché viene usato il valore di aspettazione di t_i, quindi il calcolo non è esatto</a:t>
            </a:r>
          </a:p>
        </p:txBody>
      </p:sp>
      <p:sp>
        <p:nvSpPr>
          <p:cNvPr id="4" name="Slide Number Placeholder 3"/>
          <p:cNvSpPr>
            <a:spLocks noGrp="1"/>
          </p:cNvSpPr>
          <p:nvPr>
            <p:ph type="sldNum" sz="quarter" idx="5"/>
          </p:nvPr>
        </p:nvSpPr>
        <p:spPr/>
        <p:txBody>
          <a:bodyPr/>
          <a:lstStyle/>
          <a:p>
            <a:fld id="{82192EC7-7948-4BBD-9DE4-D94ACEC643F8}" type="slidenum">
              <a:rPr lang="it-IT" smtClean="0"/>
              <a:t>30</a:t>
            </a:fld>
            <a:endParaRPr lang="it-IT"/>
          </a:p>
        </p:txBody>
      </p:sp>
    </p:spTree>
    <p:extLst>
      <p:ext uri="{BB962C8B-B14F-4D97-AF65-F5344CB8AC3E}">
        <p14:creationId xmlns:p14="http://schemas.microsoft.com/office/powerpoint/2010/main" val="3251665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-Calcolo Z come somma di Riemann, dove L_min,i è l’altezza del rettangolo e w_i è la base del rettagolo.</a:t>
            </a:r>
          </a:p>
          <a:p>
            <a:r>
              <a:rPr lang="it-IT" dirty="0"/>
              <a:t>-Lmax*</a:t>
            </a:r>
            <a:r>
              <a:rPr lang="el-GR" dirty="0"/>
              <a:t>ξ</a:t>
            </a:r>
            <a:r>
              <a:rPr lang="it-IT" dirty="0"/>
              <a:t>i sta approssimando il rimanente Z con un rettangolo con base pari alla prior mass rimanente e altezza uguale alla likelihood massima tra i live points, quindi è un upper bound di </a:t>
            </a:r>
            <a:r>
              <a:rPr lang="el-GR" dirty="0"/>
              <a:t>Δ</a:t>
            </a:r>
            <a:r>
              <a:rPr lang="it-IT" dirty="0"/>
              <a:t>Z (se si assume che non sono presenti picchi nella likelihood non identificati).</a:t>
            </a:r>
          </a:p>
          <a:p>
            <a:pPr marL="171450" indent="-171450">
              <a:buFontTx/>
              <a:buChar char="-"/>
            </a:pPr>
            <a:r>
              <a:rPr lang="it-IT" dirty="0"/>
              <a:t>Dopo che la condizione di stop è stata raggiunta, invece di buttare la prior mass rimanente, approssimo i valori rimanenti con un rettangolo di base uguale alla prior mass rimanente ed altezza pari alla likelihhod media sui live points rimanenti.</a:t>
            </a:r>
          </a:p>
          <a:p>
            <a:pPr marL="171450" indent="-171450">
              <a:buFontTx/>
              <a:buChar char="-"/>
            </a:pPr>
            <a:r>
              <a:rPr lang="it-IT" dirty="0"/>
              <a:t>w_i dei residuals corrispondono a </a:t>
            </a:r>
            <a:r>
              <a:rPr lang="el-GR" dirty="0"/>
              <a:t>ξ</a:t>
            </a:r>
            <a:r>
              <a:rPr lang="it-IT" dirty="0"/>
              <a:t>_K/N_L, cioè sto dividendo il rettangolo finale in parti uguali</a:t>
            </a:r>
          </a:p>
          <a:p>
            <a:pPr marL="171450" indent="-171450">
              <a:buFontTx/>
              <a:buChar char="-"/>
            </a:pPr>
            <a:r>
              <a:rPr lang="it-IT" dirty="0"/>
              <a:t> choise deve avere replace=True</a:t>
            </a:r>
          </a:p>
        </p:txBody>
      </p:sp>
      <p:sp>
        <p:nvSpPr>
          <p:cNvPr id="4" name="Slide Number Placeholder 3"/>
          <p:cNvSpPr>
            <a:spLocks noGrp="1"/>
          </p:cNvSpPr>
          <p:nvPr>
            <p:ph type="sldNum" sz="quarter" idx="5"/>
          </p:nvPr>
        </p:nvSpPr>
        <p:spPr/>
        <p:txBody>
          <a:bodyPr/>
          <a:lstStyle/>
          <a:p>
            <a:fld id="{82192EC7-7948-4BBD-9DE4-D94ACEC643F8}" type="slidenum">
              <a:rPr lang="it-IT" smtClean="0"/>
              <a:t>31</a:t>
            </a:fld>
            <a:endParaRPr lang="it-IT"/>
          </a:p>
        </p:txBody>
      </p:sp>
    </p:spTree>
    <p:extLst>
      <p:ext uri="{BB962C8B-B14F-4D97-AF65-F5344CB8AC3E}">
        <p14:creationId xmlns:p14="http://schemas.microsoft.com/office/powerpoint/2010/main" val="907270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it-IT" dirty="0"/>
              <a:t>In realtà v1 e v2 non vengono estratti direttamente dalla Beta(2,2), ma vengono prima estratti uniformemente da un cubo unitario e successivamente viene applicata la ppf della beta function (point probability function) per trasformare la distribuzione uniforme in Beta(2,2). La ppf è la funzione inversa della CDF (cumulante); preso un punto in (0,1) restituisce il valore corrispondnete di probabilità.</a:t>
            </a:r>
          </a:p>
          <a:p>
            <a:pPr marL="171450" indent="-171450">
              <a:buFontTx/>
              <a:buChar char="-"/>
            </a:pPr>
            <a:r>
              <a:rPr lang="it-IT" dirty="0"/>
              <a:t>Preso un valore u estratto uniformemente da un intervallo unitario, se voglio una variabile estratta sempre in modo unitario ma con intervallo diverso [a,b] basta applicare a+u*(b-a)</a:t>
            </a:r>
          </a:p>
          <a:p>
            <a:pPr marL="171450" indent="-171450">
              <a:buFontTx/>
              <a:buChar char="-"/>
            </a:pPr>
            <a:r>
              <a:rPr lang="it-IT" dirty="0"/>
              <a:t>Se invece devo trasformare in una distribuzione diversa da quella unitaria basta usare la ppf (fornita da scipy)</a:t>
            </a:r>
          </a:p>
        </p:txBody>
      </p:sp>
      <p:sp>
        <p:nvSpPr>
          <p:cNvPr id="4" name="Slide Number Placeholder 3"/>
          <p:cNvSpPr>
            <a:spLocks noGrp="1"/>
          </p:cNvSpPr>
          <p:nvPr>
            <p:ph type="sldNum" sz="quarter" idx="5"/>
          </p:nvPr>
        </p:nvSpPr>
        <p:spPr/>
        <p:txBody>
          <a:bodyPr/>
          <a:lstStyle/>
          <a:p>
            <a:fld id="{82192EC7-7948-4BBD-9DE4-D94ACEC643F8}" type="slidenum">
              <a:rPr lang="it-IT" smtClean="0"/>
              <a:t>33</a:t>
            </a:fld>
            <a:endParaRPr lang="it-IT"/>
          </a:p>
        </p:txBody>
      </p:sp>
    </p:spTree>
    <p:extLst>
      <p:ext uri="{BB962C8B-B14F-4D97-AF65-F5344CB8AC3E}">
        <p14:creationId xmlns:p14="http://schemas.microsoft.com/office/powerpoint/2010/main" val="1474230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it-IT" dirty="0"/>
              <a:t>Bound indica lo spazio dove posso estrarre i live points (devo estrarre un live points ad ogni iterazione)</a:t>
            </a:r>
          </a:p>
          <a:p>
            <a:pPr marL="171450" indent="-171450">
              <a:buFontTx/>
              <a:buChar char="-"/>
            </a:pPr>
            <a:r>
              <a:rPr lang="it-IT" dirty="0"/>
              <a:t>L’ellisse viene moltiplicata per un fattore di default 1.25, in modo da essere sicuri di includere tutti i live points</a:t>
            </a:r>
          </a:p>
          <a:p>
            <a:pPr marL="171450" indent="-171450">
              <a:buFontTx/>
              <a:buChar char="-"/>
            </a:pPr>
            <a:r>
              <a:rPr lang="it-IT" dirty="0"/>
              <a:t>K-means:</a:t>
            </a:r>
          </a:p>
          <a:p>
            <a:pPr marL="628650" lvl="1" indent="-171450">
              <a:buFontTx/>
              <a:buChar char="-"/>
            </a:pPr>
            <a:r>
              <a:rPr lang="it-IT" dirty="0"/>
              <a:t>Parto da k centri iniziali (preferibilmente ben distanziati)</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it-IT" dirty="0"/>
              <a:t>Per ogni punti calcolo la distanza dai k centri ed assegno il punto al centro più vicino (una volta assegnati tutti i punti ottengo k cluster)</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it-IT" dirty="0"/>
              <a:t>Sostituisci k centri con la media dei cluster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it-IT" dirty="0"/>
              <a:t>Calcola la SSE (sum square error) come la somma delle distanze euclidee dei punti rispetto ai centri più vicini</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it-IT" dirty="0"/>
              <a:t>Se la variazione di SSE è sotto una certa soglia interrompe l’algoritmo; altrimenti riparto dal punto 2 con i nuovi centri</a:t>
            </a:r>
          </a:p>
          <a:p>
            <a:pPr marL="171450" lvl="0" indent="-171450">
              <a:buFontTx/>
              <a:buChar char="-"/>
            </a:pPr>
            <a:r>
              <a:rPr lang="it-IT" dirty="0"/>
              <a:t>Nell’immagine in viola sono rappresentati i live points, invece in grigio sono rappresentati dei possibili draws</a:t>
            </a:r>
          </a:p>
        </p:txBody>
      </p:sp>
      <p:sp>
        <p:nvSpPr>
          <p:cNvPr id="4" name="Slide Number Placeholder 3"/>
          <p:cNvSpPr>
            <a:spLocks noGrp="1"/>
          </p:cNvSpPr>
          <p:nvPr>
            <p:ph type="sldNum" sz="quarter" idx="5"/>
          </p:nvPr>
        </p:nvSpPr>
        <p:spPr/>
        <p:txBody>
          <a:bodyPr/>
          <a:lstStyle/>
          <a:p>
            <a:fld id="{82192EC7-7948-4BBD-9DE4-D94ACEC643F8}" type="slidenum">
              <a:rPr lang="it-IT" smtClean="0"/>
              <a:t>34</a:t>
            </a:fld>
            <a:endParaRPr lang="it-IT"/>
          </a:p>
        </p:txBody>
      </p:sp>
    </p:spTree>
    <p:extLst>
      <p:ext uri="{BB962C8B-B14F-4D97-AF65-F5344CB8AC3E}">
        <p14:creationId xmlns:p14="http://schemas.microsoft.com/office/powerpoint/2010/main" val="365410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Tx/>
                  <a:buChar char="-"/>
                </a:pPr>
                <a:r>
                  <a:rPr lang="it-IT" b="1" dirty="0"/>
                  <a:t>rejection sampling</a:t>
                </a:r>
                <a:r>
                  <a:rPr lang="it-IT" dirty="0"/>
                  <a:t> è eseguito in base alla condizione L_i &gt; L_min,i</a:t>
                </a:r>
              </a:p>
              <a:p>
                <a:pPr marL="171450" indent="-171450">
                  <a:buFontTx/>
                  <a:buChar char="-"/>
                </a:pPr>
                <a:r>
                  <a:rPr lang="it-IT" dirty="0"/>
                  <a:t>Ogni iterazione ha 25 chiamate di likelihood (una chiamata per ogni passo) =&gt; 4500/25 = 180</a:t>
                </a:r>
              </a:p>
              <a:p>
                <a:pPr marL="171450" indent="-171450">
                  <a:buFontTx/>
                  <a:buChar char="-"/>
                </a:pPr>
                <a:r>
                  <a:rPr lang="it-IT" dirty="0"/>
                  <a:t>Visto che i bound si aggiornano e la forma della proposal dipende dai bound, la proposal è variabile, ma la variazione è molto lenta perché avviene ogni 180 iterazioni, quindi non rischio di avere una catena non makaroviana (come invece succede in MH adaptive senza warm-up)</a:t>
                </a:r>
              </a:p>
              <a:p>
                <a:pPr marL="171450" indent="-171450">
                  <a:buFontTx/>
                  <a:buChar char="-"/>
                </a:pPr>
                <a:r>
                  <a:rPr lang="it-IT" dirty="0"/>
                  <a:t>La forma in logaritmo della scala della proposal sembra un gradient descend con learning rate </a:t>
                </a:r>
                <a14:m>
                  <m:oMath xmlns:m="http://schemas.openxmlformats.org/officeDocument/2006/math">
                    <m:r>
                      <a:rPr lang="it-IT" b="0" i="1" smtClean="0">
                        <a:latin typeface="Cambria Math" panose="02040503050406030204" pitchFamily="18" charset="0"/>
                      </a:rPr>
                      <m:t>𝜂</m:t>
                    </m:r>
                  </m:oMath>
                </a14:m>
                <a:r>
                  <a:rPr lang="it-IT" dirty="0"/>
                  <a:t> fisso</a:t>
                </a:r>
              </a:p>
              <a:p>
                <a:pPr marL="171450" indent="-171450">
                  <a:buFontTx/>
                  <a:buChar char="-"/>
                </a:pPr>
                <a:r>
                  <a:rPr lang="it-IT" b="0" dirty="0"/>
                  <a:t>non prendi il punto 25 se quel punto non soddisfa il vincolo di likelihood, </a:t>
                </a:r>
                <a:r>
                  <a:rPr lang="it-IT" dirty="0"/>
                  <a:t>il campionatore prende l’ultimo punto del walk che </a:t>
                </a:r>
                <a:r>
                  <a:rPr lang="it-IT" i="1" dirty="0"/>
                  <a:t>soddisfa</a:t>
                </a:r>
                <a:r>
                  <a:rPr lang="it-IT" dirty="0"/>
                  <a:t> il vincolo (cioè l’ultimo punto accettato valido). Se durante tutto il walk non si trova nessun punto valido allora si ripete l’iterazione con nuovi 25 passi e aggiornando la scala della proposal come in slide</a:t>
                </a:r>
              </a:p>
              <a:p>
                <a:pPr marL="171450" indent="-171450">
                  <a:buFontTx/>
                  <a:buChar char="-"/>
                </a:pPr>
                <a:r>
                  <a:rPr lang="it-IT" sz="1200" b="0" i="0" kern="1200" dirty="0">
                    <a:solidFill>
                      <a:schemeClr val="tx1"/>
                    </a:solidFill>
                    <a:effectLst/>
                    <a:latin typeface="+mn-lt"/>
                    <a:ea typeface="+mn-ea"/>
                    <a:cs typeface="+mn-cs"/>
                  </a:rPr>
                  <a:t>ratio &gt; target: vuol dire che sto accettando troppo, quindi la proposal è troppo piccola -&gt;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𝑖</m:t>
                        </m:r>
                        <m:r>
                          <a:rPr lang="it-IT" b="0" i="1" smtClean="0">
                            <a:latin typeface="Cambria Math" panose="02040503050406030204" pitchFamily="18" charset="0"/>
                          </a:rPr>
                          <m:t>+</m:t>
                        </m:r>
                        <m:r>
                          <a:rPr lang="it-IT" b="0" i="1" smtClean="0">
                            <a:latin typeface="Cambria Math" panose="02040503050406030204" pitchFamily="18" charset="0"/>
                          </a:rPr>
                          <m:t>1</m:t>
                        </m:r>
                      </m:sub>
                    </m:sSub>
                    <m:r>
                      <a:rPr lang="it-IT" b="0" i="1" smtClean="0">
                        <a:latin typeface="Cambria Math" panose="02040503050406030204" pitchFamily="18" charset="0"/>
                      </a:rPr>
                      <m:t>&gt;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𝑖</m:t>
                        </m:r>
                      </m:sub>
                    </m:sSub>
                  </m:oMath>
                </a14:m>
                <a:endParaRPr lang="it-IT" dirty="0"/>
              </a:p>
              <a:p>
                <a:pPr marL="171450" indent="-171450">
                  <a:buFontTx/>
                  <a:buChar char="-"/>
                </a:pPr>
                <a:r>
                  <a:rPr lang="it-IT" sz="1200" b="0" i="0" kern="1200" dirty="0">
                    <a:solidFill>
                      <a:schemeClr val="tx1"/>
                    </a:solidFill>
                    <a:effectLst/>
                    <a:latin typeface="+mn-lt"/>
                    <a:ea typeface="+mn-ea"/>
                    <a:cs typeface="+mn-cs"/>
                  </a:rPr>
                  <a:t>ratio &lt; target: vuol dire che sto rifiutando troppo, quindi la proposal è troppo grande   -&gt;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𝑖</m:t>
                        </m:r>
                        <m:r>
                          <a:rPr lang="it-IT" b="0" i="1" smtClean="0">
                            <a:latin typeface="Cambria Math" panose="02040503050406030204" pitchFamily="18" charset="0"/>
                          </a:rPr>
                          <m:t>+</m:t>
                        </m:r>
                        <m:r>
                          <a:rPr lang="it-IT" b="0" i="1" smtClean="0">
                            <a:latin typeface="Cambria Math" panose="02040503050406030204" pitchFamily="18" charset="0"/>
                          </a:rPr>
                          <m:t>1</m:t>
                        </m:r>
                      </m:sub>
                    </m:sSub>
                    <m:r>
                      <a:rPr lang="it-IT" b="0" i="1" smtClean="0">
                        <a:latin typeface="Cambria Math" panose="02040503050406030204" pitchFamily="18" charset="0"/>
                      </a:rPr>
                      <m:t>&lt;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𝑖</m:t>
                        </m:r>
                      </m:sub>
                    </m:sSub>
                  </m:oMath>
                </a14:m>
                <a:br>
                  <a:rPr lang="it-IT" dirty="0"/>
                </a:br>
                <a:endParaRPr lang="it-IT" dirty="0"/>
              </a:p>
            </p:txBody>
          </p:sp>
        </mc:Choice>
        <mc:Fallback xmlns="">
          <p:sp>
            <p:nvSpPr>
              <p:cNvPr id="3" name="Notes Placeholder 2"/>
              <p:cNvSpPr>
                <a:spLocks noGrp="1"/>
              </p:cNvSpPr>
              <p:nvPr>
                <p:ph type="body" idx="1"/>
              </p:nvPr>
            </p:nvSpPr>
            <p:spPr/>
            <p:txBody>
              <a:bodyPr/>
              <a:lstStyle/>
              <a:p>
                <a:pPr marL="171450" indent="-171450">
                  <a:buFontTx/>
                  <a:buChar char="-"/>
                </a:pPr>
                <a:r>
                  <a:rPr lang="it-IT" b="1" dirty="0"/>
                  <a:t>rejection sampling</a:t>
                </a:r>
                <a:r>
                  <a:rPr lang="it-IT" dirty="0"/>
                  <a:t> è eseguito in base alla condizione L_i &gt; L_min,i</a:t>
                </a:r>
              </a:p>
              <a:p>
                <a:pPr marL="171450" indent="-171450">
                  <a:buFontTx/>
                  <a:buChar char="-"/>
                </a:pPr>
                <a:r>
                  <a:rPr lang="it-IT" dirty="0"/>
                  <a:t>Ogni iterazione ha 25 chiamate di likelihood (una chiamata per ogni passo) =&gt; 4500/25 = 180</a:t>
                </a:r>
              </a:p>
              <a:p>
                <a:pPr marL="171450" indent="-171450">
                  <a:buFontTx/>
                  <a:buChar char="-"/>
                </a:pPr>
                <a:r>
                  <a:rPr lang="it-IT" dirty="0"/>
                  <a:t>Visto che i bound si aggiornano e la forma della proposal dipende dai bound, la proposal è variabile, ma la variazione è molto lenta perché avviene ogni 180 iterazioni, quindi non rischio di avere una catena non makaroviana (come invece succede in MH adaptive senza warm-up)</a:t>
                </a:r>
              </a:p>
              <a:p>
                <a:pPr marL="171450" indent="-171450">
                  <a:buFontTx/>
                  <a:buChar char="-"/>
                </a:pPr>
                <a:r>
                  <a:rPr lang="it-IT" dirty="0"/>
                  <a:t>La forma in logaritmo della scala della proposal sembra un gradient descend con learning rate </a:t>
                </a:r>
                <a:r>
                  <a:rPr lang="it-IT" b="0" i="0">
                    <a:latin typeface="Cambria Math" panose="02040503050406030204" pitchFamily="18" charset="0"/>
                  </a:rPr>
                  <a:t>𝜂</a:t>
                </a:r>
                <a:r>
                  <a:rPr lang="it-IT" dirty="0"/>
                  <a:t> fisso</a:t>
                </a:r>
              </a:p>
              <a:p>
                <a:pPr marL="171450" indent="-171450">
                  <a:buFontTx/>
                  <a:buChar char="-"/>
                </a:pPr>
                <a:r>
                  <a:rPr lang="it-IT" b="0" dirty="0"/>
                  <a:t>non prendi il punto 25 se quel punto non soddisfa il vincolo di likelihood, </a:t>
                </a:r>
                <a:r>
                  <a:rPr lang="it-IT" dirty="0"/>
                  <a:t>il campionatore prende l’ultimo punto del walk che </a:t>
                </a:r>
                <a:r>
                  <a:rPr lang="it-IT" i="1" dirty="0"/>
                  <a:t>soddisfa</a:t>
                </a:r>
                <a:r>
                  <a:rPr lang="it-IT" dirty="0"/>
                  <a:t> il vincolo (cioè l’ultimo punto accettato valido). Se durante tutto il walk non si trova nessun punto valido allora si ripete l’iterazione con nuovi 25 passi e aggiornando la scala della proposal come in slide</a:t>
                </a:r>
              </a:p>
              <a:p>
                <a:pPr marL="171450" indent="-171450">
                  <a:buFontTx/>
                  <a:buChar char="-"/>
                </a:pPr>
                <a:r>
                  <a:rPr lang="it-IT" sz="1200" b="0" i="0" kern="1200" dirty="0">
                    <a:solidFill>
                      <a:schemeClr val="tx1"/>
                    </a:solidFill>
                    <a:effectLst/>
                    <a:latin typeface="+mn-lt"/>
                    <a:ea typeface="+mn-ea"/>
                    <a:cs typeface="+mn-cs"/>
                  </a:rPr>
                  <a:t>ratio &gt; target: vuol dire che sto accettando troppo, quindi la proposal è troppo piccola -&gt; </a:t>
                </a:r>
                <a:r>
                  <a:rPr lang="it-IT" b="0" i="0">
                    <a:latin typeface="Cambria Math" panose="02040503050406030204" pitchFamily="18" charset="0"/>
                  </a:rPr>
                  <a:t>𝑠_(𝑖+1)&gt;𝑠_𝑖</a:t>
                </a:r>
                <a:endParaRPr lang="it-IT" dirty="0"/>
              </a:p>
              <a:p>
                <a:pPr marL="171450" indent="-171450">
                  <a:buFontTx/>
                  <a:buChar char="-"/>
                </a:pPr>
                <a:r>
                  <a:rPr lang="it-IT" sz="1200" b="0" i="0" kern="1200" dirty="0">
                    <a:solidFill>
                      <a:schemeClr val="tx1"/>
                    </a:solidFill>
                    <a:effectLst/>
                    <a:latin typeface="+mn-lt"/>
                    <a:ea typeface="+mn-ea"/>
                    <a:cs typeface="+mn-cs"/>
                  </a:rPr>
                  <a:t>ratio &lt; target: vuol dire che sto rifiutando troppo, quindi la proposal è troppo grande   -&gt; </a:t>
                </a:r>
                <a:r>
                  <a:rPr lang="it-IT" b="0" i="0">
                    <a:latin typeface="Cambria Math" panose="02040503050406030204" pitchFamily="18" charset="0"/>
                  </a:rPr>
                  <a:t>𝑠_(𝑖+1)&lt;𝑠_𝑖</a:t>
                </a:r>
                <a:br>
                  <a:rPr lang="it-IT" dirty="0"/>
                </a:br>
                <a:endParaRPr lang="it-IT" dirty="0"/>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35</a:t>
            </a:fld>
            <a:endParaRPr lang="it-IT"/>
          </a:p>
        </p:txBody>
      </p:sp>
    </p:spTree>
    <p:extLst>
      <p:ext uri="{BB962C8B-B14F-4D97-AF65-F5344CB8AC3E}">
        <p14:creationId xmlns:p14="http://schemas.microsoft.com/office/powerpoint/2010/main" val="4133738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it-IT" dirty="0"/>
              <a:t>Per creare i plot è stato prima effettuato un merge tra le 5 runs (in modo da tenere conto di tutti i parametri disponibili), succesivamente sono estratti M=4349 samples con estrazione pesata</a:t>
            </a:r>
          </a:p>
          <a:p>
            <a:pPr marL="171450" indent="-171450">
              <a:buFontTx/>
              <a:buChar char="-"/>
            </a:pPr>
            <a:r>
              <a:rPr lang="it-IT" dirty="0"/>
              <a:t>Il merge è stato effettuato dalla funzione interna di dynesty</a:t>
            </a:r>
          </a:p>
          <a:p>
            <a:pPr marL="171450" indent="-171450">
              <a:buFontTx/>
              <a:buChar char="-"/>
            </a:pPr>
            <a:r>
              <a:rPr lang="it-IT" dirty="0"/>
              <a:t>L’errore su Z ha due componenti: </a:t>
            </a:r>
            <a:br>
              <a:rPr lang="it-IT" dirty="0"/>
            </a:br>
            <a:r>
              <a:rPr lang="it-IT" dirty="0"/>
              <a:t>-- una dovuta all’approssimazione di riemann (stiamo approssimando l’aria di una funzione continua L(</a:t>
            </a:r>
            <a:r>
              <a:rPr lang="el-GR" dirty="0"/>
              <a:t>ξ</a:t>
            </a:r>
            <a:r>
              <a:rPr lang="it-IT" dirty="0"/>
              <a:t>) con una somma di rettangoli). All’aumentare di live points i rettangoli aumentano e l’approssimazione è più accurata</a:t>
            </a:r>
          </a:p>
          <a:p>
            <a:pPr marL="0" indent="0">
              <a:buFontTx/>
              <a:buNone/>
            </a:pPr>
            <a:r>
              <a:rPr lang="it-IT" dirty="0"/>
              <a:t>  -- l’altra è dovuta al calcolo di t_i in quanto viene usato il valore di aspettazione da una distribuzione casuale, il valore    diventa più accurato con l’aumentare dei live points</a:t>
            </a:r>
          </a:p>
          <a:p>
            <a:pPr marL="0" indent="0">
              <a:buFontTx/>
              <a:buNone/>
            </a:pPr>
            <a:r>
              <a:rPr lang="it-IT" dirty="0"/>
              <a:t>  -- Inoltre c’è un terzo errore dovuto alla causualità della scelta dei live points (la loro posizione è estratta randomicamente dalla prior). Questo errore può essere tenuto conto costruendo un ensemble di Z ed estraendo media e std </a:t>
            </a:r>
          </a:p>
          <a:p>
            <a:pPr marL="0" indent="0">
              <a:buFontTx/>
              <a:buNone/>
            </a:pPr>
            <a:endParaRPr lang="it-IT" dirty="0"/>
          </a:p>
        </p:txBody>
      </p:sp>
      <p:sp>
        <p:nvSpPr>
          <p:cNvPr id="4" name="Slide Number Placeholder 3"/>
          <p:cNvSpPr>
            <a:spLocks noGrp="1"/>
          </p:cNvSpPr>
          <p:nvPr>
            <p:ph type="sldNum" sz="quarter" idx="5"/>
          </p:nvPr>
        </p:nvSpPr>
        <p:spPr/>
        <p:txBody>
          <a:bodyPr/>
          <a:lstStyle/>
          <a:p>
            <a:fld id="{82192EC7-7948-4BBD-9DE4-D94ACEC643F8}" type="slidenum">
              <a:rPr lang="it-IT" smtClean="0"/>
              <a:t>36</a:t>
            </a:fld>
            <a:endParaRPr lang="it-IT"/>
          </a:p>
        </p:txBody>
      </p:sp>
    </p:spTree>
    <p:extLst>
      <p:ext uri="{BB962C8B-B14F-4D97-AF65-F5344CB8AC3E}">
        <p14:creationId xmlns:p14="http://schemas.microsoft.com/office/powerpoint/2010/main" val="3214786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82192EC7-7948-4BBD-9DE4-D94ACEC643F8}" type="slidenum">
              <a:rPr lang="it-IT" smtClean="0"/>
              <a:t>37</a:t>
            </a:fld>
            <a:endParaRPr lang="it-IT"/>
          </a:p>
        </p:txBody>
      </p:sp>
    </p:spTree>
    <p:extLst>
      <p:ext uri="{BB962C8B-B14F-4D97-AF65-F5344CB8AC3E}">
        <p14:creationId xmlns:p14="http://schemas.microsoft.com/office/powerpoint/2010/main" val="174392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Tx/>
                  <a:buChar char="-"/>
                </a:pPr>
                <a:r>
                  <a:rPr lang="it-IT" sz="1200" i="0" dirty="0">
                    <a:latin typeface="Cambria Math" panose="02040503050406030204" pitchFamily="18" charset="0"/>
                  </a:rPr>
                  <a:t>Il Gibbs sampling consiste nell’aggiornare un parametro alla  volta mentre tendo fissi tutti i restanti parametri. Una volta aggiornati tutti i parametri ho un nuovo sample (mi muovo parallelamente agli assi dello spazio dei parametri).</a:t>
                </a:r>
              </a:p>
              <a:p>
                <a:pPr marL="171450" indent="-171450">
                  <a:buFontTx/>
                  <a:buChar char="-"/>
                </a:pPr>
                <a:r>
                  <a:rPr lang="it-IT" sz="1200" i="0" dirty="0">
                    <a:latin typeface="Cambria Math" panose="02040503050406030204" pitchFamily="18" charset="0"/>
                  </a:rPr>
                  <a:t>Per estrarre il valore da aggiornare tenendo fissi gli altri devo calcolare </a:t>
                </a:r>
                <a14:m>
                  <m:oMath xmlns:m="http://schemas.openxmlformats.org/officeDocument/2006/math">
                    <m:r>
                      <a:rPr lang="it-IT" sz="1200" i="1" dirty="0" smtClean="0">
                        <a:latin typeface="Cambria Math" panose="02040503050406030204" pitchFamily="18" charset="0"/>
                      </a:rPr>
                      <m:t>𝑝</m:t>
                    </m:r>
                    <m:d>
                      <m:dPr>
                        <m:ctrlPr>
                          <a:rPr lang="it-IT" sz="1200" i="1" dirty="0" smtClean="0">
                            <a:latin typeface="Cambria Math" panose="02040503050406030204" pitchFamily="18" charset="0"/>
                          </a:rPr>
                        </m:ctrlPr>
                      </m:dPr>
                      <m:e>
                        <m:sSub>
                          <m:sSubPr>
                            <m:ctrlPr>
                              <a:rPr lang="it-IT" sz="1200" i="1" dirty="0" smtClean="0">
                                <a:latin typeface="Cambria Math" panose="02040503050406030204" pitchFamily="18" charset="0"/>
                              </a:rPr>
                            </m:ctrlPr>
                          </m:sSubPr>
                          <m:e>
                            <m:r>
                              <a:rPr lang="it-IT" sz="1200" i="1" dirty="0" smtClean="0">
                                <a:latin typeface="Cambria Math" panose="02040503050406030204" pitchFamily="18" charset="0"/>
                              </a:rPr>
                              <m:t>𝛾</m:t>
                            </m:r>
                          </m:e>
                          <m:sub>
                            <m:r>
                              <a:rPr lang="it-IT" sz="1200" i="1" dirty="0" smtClean="0">
                                <a:latin typeface="Cambria Math" panose="02040503050406030204" pitchFamily="18" charset="0"/>
                              </a:rPr>
                              <m:t>𝑗</m:t>
                            </m:r>
                          </m:sub>
                        </m:sSub>
                      </m:e>
                      <m:e>
                        <m:sSub>
                          <m:sSubPr>
                            <m:ctrlPr>
                              <a:rPr lang="it-IT" sz="1200" i="1" dirty="0" smtClean="0">
                                <a:latin typeface="Cambria Math" panose="02040503050406030204" pitchFamily="18" charset="0"/>
                              </a:rPr>
                            </m:ctrlPr>
                          </m:sSubPr>
                          <m:e>
                            <m:r>
                              <a:rPr lang="it-IT" sz="1200" i="1" dirty="0" smtClean="0">
                                <a:latin typeface="Cambria Math" panose="02040503050406030204" pitchFamily="18" charset="0"/>
                              </a:rPr>
                              <m:t>𝛾</m:t>
                            </m:r>
                          </m:e>
                          <m:sub>
                            <m:r>
                              <a:rPr lang="it-IT" sz="1200" i="1" dirty="0" smtClean="0">
                                <a:latin typeface="Cambria Math" panose="02040503050406030204" pitchFamily="18" charset="0"/>
                              </a:rPr>
                              <m:t>¬</m:t>
                            </m:r>
                            <m:r>
                              <a:rPr lang="it-IT" sz="1200" i="1" dirty="0" smtClean="0">
                                <a:latin typeface="Cambria Math" panose="02040503050406030204" pitchFamily="18" charset="0"/>
                              </a:rPr>
                              <m:t>𝑗</m:t>
                            </m:r>
                          </m:sub>
                        </m:sSub>
                        <m:r>
                          <a:rPr lang="it-IT" sz="1200" b="0" i="1" dirty="0" smtClean="0">
                            <a:latin typeface="Cambria Math" panose="02040503050406030204" pitchFamily="18" charset="0"/>
                          </a:rPr>
                          <m:t>,</m:t>
                        </m:r>
                        <m:r>
                          <a:rPr lang="it-IT" sz="1200" i="1" dirty="0">
                            <a:latin typeface="Cambria Math" panose="02040503050406030204" pitchFamily="18" charset="0"/>
                          </a:rPr>
                          <m:t>𝒙</m:t>
                        </m:r>
                      </m:e>
                    </m:d>
                  </m:oMath>
                </a14:m>
                <a:r>
                  <a:rPr lang="it-IT" sz="1200" i="0" dirty="0">
                    <a:latin typeface="Cambria Math" panose="02040503050406030204" pitchFamily="18" charset="0"/>
                  </a:rPr>
                  <a:t>, il quale è proporzionale alla postirior (mostrato nella slides)</a:t>
                </a:r>
              </a:p>
              <a:p>
                <a:pPr marL="171450" indent="-171450">
                  <a:buFontTx/>
                  <a:buChar char="-"/>
                </a:pPr>
                <a14:m>
                  <m:oMath xmlns:m="http://schemas.openxmlformats.org/officeDocument/2006/math">
                    <m:r>
                      <a:rPr lang="it-IT" sz="1200" i="1" dirty="0" smtClean="0">
                        <a:latin typeface="Cambria Math" panose="02040503050406030204" pitchFamily="18" charset="0"/>
                      </a:rPr>
                      <m:t>𝜸</m:t>
                    </m:r>
                    <m:r>
                      <a:rPr lang="it-IT" sz="1200" b="0" i="1" dirty="0" smtClean="0">
                        <a:latin typeface="Cambria Math" panose="02040503050406030204" pitchFamily="18" charset="0"/>
                      </a:rPr>
                      <m:t>=(</m:t>
                    </m:r>
                    <m:r>
                      <a:rPr lang="it-IT" i="1" dirty="0" smtClean="0">
                        <a:latin typeface="Cambria Math" panose="02040503050406030204" pitchFamily="18" charset="0"/>
                      </a:rPr>
                      <m:t>𝜽</m:t>
                    </m:r>
                    <m:r>
                      <a:rPr lang="it-IT" i="1" dirty="0" smtClean="0">
                        <a:latin typeface="Cambria Math" panose="02040503050406030204" pitchFamily="18" charset="0"/>
                      </a:rPr>
                      <m:t>,</m:t>
                    </m:r>
                    <m:r>
                      <a:rPr lang="it-IT" i="1" dirty="0" smtClean="0">
                        <a:latin typeface="Cambria Math" panose="02040503050406030204" pitchFamily="18" charset="0"/>
                      </a:rPr>
                      <m:t>𝒘</m:t>
                    </m:r>
                    <m:r>
                      <a:rPr lang="it-IT" i="1" dirty="0" smtClean="0">
                        <a:latin typeface="Cambria Math" panose="02040503050406030204" pitchFamily="18" charset="0"/>
                      </a:rPr>
                      <m:t>,</m:t>
                    </m:r>
                    <m:r>
                      <a:rPr lang="it-IT" i="1" dirty="0" smtClean="0">
                        <a:latin typeface="Cambria Math" panose="02040503050406030204" pitchFamily="18" charset="0"/>
                      </a:rPr>
                      <m:t>𝒛</m:t>
                    </m:r>
                    <m:r>
                      <a:rPr lang="it-IT" b="0" i="1" dirty="0" smtClean="0">
                        <a:latin typeface="Cambria Math" panose="02040503050406030204" pitchFamily="18" charset="0"/>
                      </a:rPr>
                      <m:t>)</m:t>
                    </m:r>
                  </m:oMath>
                </a14:m>
                <a:r>
                  <a:rPr lang="it-IT" dirty="0"/>
                  <a:t>, il pedice </a:t>
                </a:r>
                <a14:m>
                  <m:oMath xmlns:m="http://schemas.openxmlformats.org/officeDocument/2006/math">
                    <m:r>
                      <a:rPr lang="it-IT" sz="1200" i="1" dirty="0" smtClean="0">
                        <a:latin typeface="Cambria Math" panose="02040503050406030204" pitchFamily="18" charset="0"/>
                      </a:rPr>
                      <m:t>¬</m:t>
                    </m:r>
                  </m:oMath>
                </a14:m>
                <a:r>
                  <a:rPr lang="it-IT" dirty="0"/>
                  <a:t>j indica tutti i valori tranne j</a:t>
                </a:r>
              </a:p>
              <a:p>
                <a:pPr marL="171450" indent="-171450">
                  <a:buFontTx/>
                  <a:buChar char="-"/>
                </a:pPr>
                <a:r>
                  <a:rPr lang="it-IT" dirty="0"/>
                  <a:t>Il calcolo delle condizionali consiste nel selezionare il parametro j da aggiornare e calcolare la posterior rimuovendo tutti i termini che dipendono non dal parametro j. Posso rimuovere tutti i valori non dipendenti da j perché vengono tenuti fissi, quindi essendo delle costanti vengono eliminati dalla normalizzazione.</a:t>
                </a:r>
              </a:p>
              <a:p>
                <a:pPr marL="0" indent="0">
                  <a:buFontTx/>
                  <a:buNone/>
                </a:pPr>
                <a:endParaRPr lang="it-IT" dirty="0"/>
              </a:p>
            </p:txBody>
          </p:sp>
        </mc:Choice>
        <mc:Fallback xmlns="">
          <p:sp>
            <p:nvSpPr>
              <p:cNvPr id="3" name="Notes Placeholder 2"/>
              <p:cNvSpPr>
                <a:spLocks noGrp="1"/>
              </p:cNvSpPr>
              <p:nvPr>
                <p:ph type="body" idx="1"/>
              </p:nvPr>
            </p:nvSpPr>
            <p:spPr/>
            <p:txBody>
              <a:bodyPr/>
              <a:lstStyle/>
              <a:p>
                <a:pPr marL="171450" indent="-171450">
                  <a:buFontTx/>
                  <a:buChar char="-"/>
                </a:pPr>
                <a:r>
                  <a:rPr lang="it-IT" sz="1200" i="0" dirty="0">
                    <a:latin typeface="Cambria Math" panose="02040503050406030204" pitchFamily="18" charset="0"/>
                  </a:rPr>
                  <a:t>Il Gibbs sampling consiste nell’aggiornare un parametro alla  volta mentre tendo fissi tutti i restanti parametri. Una volta aggiornati tutti i parametri ho un nuovo sample (mi muovo parallelamente agli assi dello spazio dei parametri).</a:t>
                </a:r>
              </a:p>
              <a:p>
                <a:pPr marL="171450" indent="-171450">
                  <a:buFontTx/>
                  <a:buChar char="-"/>
                </a:pPr>
                <a:r>
                  <a:rPr lang="it-IT" sz="1200" i="0" dirty="0">
                    <a:latin typeface="Cambria Math" panose="02040503050406030204" pitchFamily="18" charset="0"/>
                  </a:rPr>
                  <a:t>Per estrarre il valore da aggiornare tenendo fissi gli altri devo calcolare 𝑝(𝛾_𝑗│𝛾_(¬𝑗)</a:t>
                </a:r>
                <a:r>
                  <a:rPr lang="it-IT" sz="1200" b="0" i="0" dirty="0">
                    <a:latin typeface="Cambria Math" panose="02040503050406030204" pitchFamily="18" charset="0"/>
                  </a:rPr>
                  <a:t>,</a:t>
                </a:r>
                <a:r>
                  <a:rPr lang="it-IT" sz="1200" i="0" dirty="0">
                    <a:latin typeface="Cambria Math" panose="02040503050406030204" pitchFamily="18" charset="0"/>
                  </a:rPr>
                  <a:t>𝒙), il quale è proporzionale alla postirior (mostrato nella slides)</a:t>
                </a:r>
              </a:p>
              <a:p>
                <a:pPr marL="171450" indent="-171450">
                  <a:buFontTx/>
                  <a:buChar char="-"/>
                </a:pPr>
                <a:r>
                  <a:rPr lang="it-IT" sz="1200" i="0" dirty="0">
                    <a:latin typeface="Cambria Math" panose="02040503050406030204" pitchFamily="18" charset="0"/>
                  </a:rPr>
                  <a:t>𝜸</a:t>
                </a:r>
                <a:r>
                  <a:rPr lang="it-IT" sz="1200" b="0" i="0" dirty="0">
                    <a:latin typeface="Cambria Math" panose="02040503050406030204" pitchFamily="18" charset="0"/>
                  </a:rPr>
                  <a:t>=(</a:t>
                </a:r>
                <a:r>
                  <a:rPr lang="it-IT" i="0" dirty="0">
                    <a:latin typeface="Cambria Math" panose="02040503050406030204" pitchFamily="18" charset="0"/>
                  </a:rPr>
                  <a:t>𝜽,𝒘,𝒛</a:t>
                </a:r>
                <a:r>
                  <a:rPr lang="it-IT" b="0" i="0" dirty="0">
                    <a:latin typeface="Cambria Math" panose="02040503050406030204" pitchFamily="18" charset="0"/>
                  </a:rPr>
                  <a:t>)</a:t>
                </a:r>
                <a:r>
                  <a:rPr lang="it-IT" dirty="0"/>
                  <a:t>, il pedice </a:t>
                </a:r>
                <a:r>
                  <a:rPr lang="it-IT" sz="1200" i="0" dirty="0">
                    <a:latin typeface="Cambria Math" panose="02040503050406030204" pitchFamily="18" charset="0"/>
                  </a:rPr>
                  <a:t>¬</a:t>
                </a:r>
                <a:r>
                  <a:rPr lang="it-IT" dirty="0"/>
                  <a:t>j indica tutti i valori tranne j</a:t>
                </a:r>
              </a:p>
              <a:p>
                <a:pPr marL="171450" indent="-171450">
                  <a:buFontTx/>
                  <a:buChar char="-"/>
                </a:pPr>
                <a:r>
                  <a:rPr lang="it-IT" dirty="0"/>
                  <a:t>Il calcolo delle condizionali consiste nel selezionare il parametro j da aggiornare e calcolare la posterior rimuovendo tutti i termini che dipendono non dal parametro j. Posso rimuovere tutti i valori non dipendenti da j perché vengono tenuti fissi, quindi essendo delle costanti vengono eliminati dalla normalizzazione.</a:t>
                </a:r>
              </a:p>
              <a:p>
                <a:pPr marL="0" indent="0">
                  <a:buFontTx/>
                  <a:buNone/>
                </a:pPr>
                <a:endParaRPr lang="it-IT" dirty="0"/>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39</a:t>
            </a:fld>
            <a:endParaRPr lang="it-IT"/>
          </a:p>
        </p:txBody>
      </p:sp>
    </p:spTree>
    <p:extLst>
      <p:ext uri="{BB962C8B-B14F-4D97-AF65-F5344CB8AC3E}">
        <p14:creationId xmlns:p14="http://schemas.microsoft.com/office/powerpoint/2010/main" val="4290395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t-IT" dirty="0"/>
                  <a:t>-Sia </a:t>
                </a:r>
                <a14:m>
                  <m:oMath xmlns:m="http://schemas.openxmlformats.org/officeDocument/2006/math">
                    <m:r>
                      <a:rPr lang="it-IT" b="0" i="1" smtClean="0">
                        <a:latin typeface="Cambria Math" panose="02040503050406030204" pitchFamily="18" charset="0"/>
                      </a:rPr>
                      <m:t>𝒘</m:t>
                    </m:r>
                  </m:oMath>
                </a14:m>
                <a:r>
                  <a:rPr lang="it-IT" dirty="0"/>
                  <a:t> che (</a:t>
                </a:r>
                <a14:m>
                  <m:oMath xmlns:m="http://schemas.openxmlformats.org/officeDocument/2006/math">
                    <m:sSub>
                      <m:sSubPr>
                        <m:ctrlPr>
                          <a:rPr lang="it-IT" b="0" i="1" dirty="0" smtClean="0">
                            <a:latin typeface="Cambria Math" panose="02040503050406030204" pitchFamily="18" charset="0"/>
                          </a:rPr>
                        </m:ctrlPr>
                      </m:sSubPr>
                      <m:e>
                        <m:r>
                          <a:rPr lang="it-IT" b="0" i="1" dirty="0" smtClean="0">
                            <a:latin typeface="Cambria Math" panose="02040503050406030204" pitchFamily="18" charset="0"/>
                          </a:rPr>
                          <m:t>𝜇</m:t>
                        </m:r>
                      </m:e>
                      <m:sub>
                        <m:r>
                          <a:rPr lang="it-IT" b="0" i="1" dirty="0" smtClean="0">
                            <a:latin typeface="Cambria Math" panose="02040503050406030204" pitchFamily="18" charset="0"/>
                          </a:rPr>
                          <m:t>𝑘</m:t>
                        </m:r>
                      </m:sub>
                    </m:sSub>
                    <m:r>
                      <a:rPr lang="it-IT" b="0" i="1" dirty="0" smtClean="0">
                        <a:latin typeface="Cambria Math" panose="02040503050406030204" pitchFamily="18" charset="0"/>
                      </a:rPr>
                      <m:t>,</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oMath>
                </a14:m>
                <a:r>
                  <a:rPr lang="it-IT" dirty="0"/>
                  <a:t>) vengono aggiornati in blocco</a:t>
                </a:r>
              </a:p>
              <a:p>
                <a:pPr marL="171450" indent="-171450">
                  <a:buFontTx/>
                  <a:buChar char="-"/>
                </a:pPr>
                <a:r>
                  <a:rPr lang="it-IT" dirty="0"/>
                  <a:t>Il valore </a:t>
                </a:r>
                <a14:m>
                  <m:oMath xmlns:m="http://schemas.openxmlformats.org/officeDocument/2006/math">
                    <m:sSup>
                      <m:sSupPr>
                        <m:ctrlPr>
                          <a:rPr lang="it-IT" b="0" i="1" smtClean="0">
                            <a:latin typeface="Cambria Math" panose="02040503050406030204" pitchFamily="18" charset="0"/>
                          </a:rPr>
                        </m:ctrlPr>
                      </m:sSupPr>
                      <m:e>
                        <m:r>
                          <a:rPr lang="it-IT" b="0" i="1" smtClean="0">
                            <a:latin typeface="Cambria Math" panose="02040503050406030204" pitchFamily="18" charset="0"/>
                          </a:rPr>
                          <m:t>𝒛</m:t>
                        </m:r>
                      </m:e>
                      <m:sup>
                        <m:d>
                          <m:dPr>
                            <m:ctrlPr>
                              <a:rPr lang="it-IT" i="1" smtClean="0">
                                <a:latin typeface="Cambria Math" panose="02040503050406030204" pitchFamily="18" charset="0"/>
                              </a:rPr>
                            </m:ctrlPr>
                          </m:dPr>
                          <m:e>
                            <m:r>
                              <a:rPr lang="it-IT" b="0" i="1" smtClean="0">
                                <a:latin typeface="Cambria Math" panose="02040503050406030204" pitchFamily="18" charset="0"/>
                              </a:rPr>
                              <m:t>𝑡</m:t>
                            </m:r>
                          </m:e>
                        </m:d>
                      </m:sup>
                    </m:sSup>
                  </m:oMath>
                </a14:m>
                <a:r>
                  <a:rPr lang="it-IT" dirty="0"/>
                  <a:t> è il vettore ottenuto dopo aver calcolato tutti i </a:t>
                </a:r>
                <a14:m>
                  <m:oMath xmlns:m="http://schemas.openxmlformats.org/officeDocument/2006/math">
                    <m:sSubSup>
                      <m:sSubSupPr>
                        <m:ctrlPr>
                          <a:rPr lang="it-IT" b="0" i="1" smtClean="0">
                            <a:latin typeface="Cambria Math" panose="02040503050406030204" pitchFamily="18" charset="0"/>
                          </a:rPr>
                        </m:ctrlPr>
                      </m:sSubSupPr>
                      <m:e>
                        <m:r>
                          <a:rPr lang="it-IT" b="0" i="0" smtClean="0">
                            <a:latin typeface="Cambria Math" panose="02040503050406030204" pitchFamily="18" charset="0"/>
                          </a:rPr>
                          <m:t>𝑧</m:t>
                        </m:r>
                      </m:e>
                      <m:sub>
                        <m:r>
                          <a:rPr lang="it-IT" b="0" i="0" smtClean="0">
                            <a:latin typeface="Cambria Math" panose="02040503050406030204" pitchFamily="18" charset="0"/>
                          </a:rPr>
                          <m:t>𝑖</m:t>
                        </m:r>
                      </m:sub>
                      <m:sup>
                        <m:d>
                          <m:dPr>
                            <m:ctrlPr>
                              <a:rPr lang="it-IT" b="0" i="1" smtClean="0">
                                <a:latin typeface="Cambria Math" panose="02040503050406030204" pitchFamily="18" charset="0"/>
                              </a:rPr>
                            </m:ctrlPr>
                          </m:dPr>
                          <m:e>
                            <m:r>
                              <a:rPr lang="it-IT" b="0" i="0" smtClean="0">
                                <a:latin typeface="Cambria Math" panose="02040503050406030204" pitchFamily="18" charset="0"/>
                              </a:rPr>
                              <m:t>𝑡</m:t>
                            </m:r>
                          </m:e>
                        </m:d>
                      </m:sup>
                    </m:sSubSup>
                  </m:oMath>
                </a14:m>
                <a:endParaRPr lang="it-IT" dirty="0"/>
              </a:p>
              <a:p>
                <a:pPr marL="171450" indent="-171450">
                  <a:buFontTx/>
                  <a:buChar char="-"/>
                </a:pPr>
                <a:r>
                  <a:rPr lang="it-IT" dirty="0"/>
                  <a:t>Gli </a:t>
                </a:r>
                <a14:m>
                  <m:oMath xmlns:m="http://schemas.openxmlformats.org/officeDocument/2006/math">
                    <m:sSub>
                      <m:sSubPr>
                        <m:ctrlPr>
                          <a:rPr lang="it-IT" b="0" i="1" dirty="0" smtClean="0">
                            <a:latin typeface="Cambria Math" panose="02040503050406030204" pitchFamily="18" charset="0"/>
                          </a:rPr>
                        </m:ctrlPr>
                      </m:sSubPr>
                      <m:e>
                        <m:r>
                          <a:rPr lang="it-IT" b="1" i="1" dirty="0" smtClean="0">
                            <a:latin typeface="Cambria Math" panose="02040503050406030204" pitchFamily="18" charset="0"/>
                          </a:rPr>
                          <m:t>𝒙</m:t>
                        </m:r>
                      </m:e>
                      <m:sub>
                        <m:r>
                          <a:rPr lang="it-IT" b="0" i="1" dirty="0" smtClean="0">
                            <a:latin typeface="Cambria Math" panose="02040503050406030204" pitchFamily="18" charset="0"/>
                          </a:rPr>
                          <m:t>𝑘</m:t>
                        </m:r>
                      </m:sub>
                    </m:sSub>
                  </m:oMath>
                </a14:m>
                <a:r>
                  <a:rPr lang="it-IT" dirty="0"/>
                  <a:t> sono tutti i punti che appartengono alla componente k (vengono selezionati da </a:t>
                </a:r>
                <a14:m>
                  <m:oMath xmlns:m="http://schemas.openxmlformats.org/officeDocument/2006/math">
                    <m:sSubSup>
                      <m:sSubSupPr>
                        <m:ctrlPr>
                          <a:rPr lang="it-IT" b="0" i="1" smtClean="0">
                            <a:latin typeface="Cambria Math" panose="02040503050406030204" pitchFamily="18" charset="0"/>
                          </a:rPr>
                        </m:ctrlPr>
                      </m:sSubSupPr>
                      <m:e>
                        <m:r>
                          <a:rPr lang="it-IT" b="0" i="0" smtClean="0">
                            <a:latin typeface="Cambria Math" panose="02040503050406030204" pitchFamily="18" charset="0"/>
                          </a:rPr>
                          <m:t>𝑧</m:t>
                        </m:r>
                      </m:e>
                      <m:sub>
                        <m:r>
                          <a:rPr lang="it-IT" b="0" i="0" smtClean="0">
                            <a:latin typeface="Cambria Math" panose="02040503050406030204" pitchFamily="18" charset="0"/>
                          </a:rPr>
                          <m:t>𝑖</m:t>
                        </m:r>
                      </m:sub>
                      <m:sup>
                        <m:d>
                          <m:dPr>
                            <m:ctrlPr>
                              <a:rPr lang="it-IT" b="0" i="1" smtClean="0">
                                <a:latin typeface="Cambria Math" panose="02040503050406030204" pitchFamily="18" charset="0"/>
                              </a:rPr>
                            </m:ctrlPr>
                          </m:dPr>
                          <m:e>
                            <m:r>
                              <a:rPr lang="it-IT" b="0" i="0" smtClean="0">
                                <a:latin typeface="Cambria Math" panose="02040503050406030204" pitchFamily="18" charset="0"/>
                              </a:rPr>
                              <m:t>𝑡</m:t>
                            </m:r>
                          </m:e>
                        </m:d>
                      </m:sup>
                    </m:sSubSup>
                    <m:r>
                      <a:rPr lang="it-IT" b="0" i="1" smtClean="0">
                        <a:latin typeface="Cambria Math" panose="02040503050406030204" pitchFamily="18" charset="0"/>
                      </a:rPr>
                      <m:t>)</m:t>
                    </m:r>
                  </m:oMath>
                </a14:m>
                <a:endParaRPr lang="it-IT" dirty="0"/>
              </a:p>
              <a:p>
                <a:pPr marL="171450" indent="-171450">
                  <a:buFontTx/>
                  <a:buChar char="-"/>
                </a:pPr>
                <a:r>
                  <a:rPr lang="it-IT" dirty="0"/>
                  <a:t>Nelle varie condizionali riportate sono stati già levati i parametri che non ifluiscono con il parametro selezionato, per esempio z</a:t>
                </a:r>
                <a14:m>
                  <m:oMath xmlns:m="http://schemas.openxmlformats.org/officeDocument/2006/math">
                    <m:r>
                      <a:rPr lang="it-IT" sz="1200" i="1" dirty="0" smtClean="0">
                        <a:latin typeface="Cambria Math" panose="02040503050406030204" pitchFamily="18" charset="0"/>
                      </a:rPr>
                      <m:t>¬</m:t>
                    </m:r>
                    <m:r>
                      <m:rPr>
                        <m:sty m:val="p"/>
                      </m:rPr>
                      <a:rPr lang="it-IT" sz="1200" b="0" i="0" dirty="0" smtClean="0">
                        <a:latin typeface="Cambria Math" panose="02040503050406030204" pitchFamily="18" charset="0"/>
                      </a:rPr>
                      <m:t>i</m:t>
                    </m:r>
                  </m:oMath>
                </a14:m>
                <a:r>
                  <a:rPr lang="it-IT" dirty="0"/>
                  <a:t> non influisce con z_i</a:t>
                </a:r>
              </a:p>
            </p:txBody>
          </p:sp>
        </mc:Choice>
        <mc:Fallback xmlns="">
          <p:sp>
            <p:nvSpPr>
              <p:cNvPr id="3" name="Notes Placeholder 2"/>
              <p:cNvSpPr>
                <a:spLocks noGrp="1"/>
              </p:cNvSpPr>
              <p:nvPr>
                <p:ph type="body" idx="1"/>
              </p:nvPr>
            </p:nvSpPr>
            <p:spPr/>
            <p:txBody>
              <a:bodyPr/>
              <a:lstStyle/>
              <a:p>
                <a:r>
                  <a:rPr lang="it-IT" dirty="0"/>
                  <a:t>-Sia </a:t>
                </a:r>
                <a:r>
                  <a:rPr lang="it-IT" b="0" i="0">
                    <a:latin typeface="Cambria Math" panose="02040503050406030204" pitchFamily="18" charset="0"/>
                  </a:rPr>
                  <a:t>𝒘</a:t>
                </a:r>
                <a:r>
                  <a:rPr lang="it-IT" dirty="0"/>
                  <a:t> che (</a:t>
                </a:r>
                <a:r>
                  <a:rPr lang="it-IT" b="0" i="0" dirty="0">
                    <a:latin typeface="Cambria Math" panose="02040503050406030204" pitchFamily="18" charset="0"/>
                  </a:rPr>
                  <a:t>𝜇_𝑘,</a:t>
                </a:r>
                <a:r>
                  <a:rPr lang="it-IT" i="0" dirty="0">
                    <a:latin typeface="Cambria Math" panose="02040503050406030204" pitchFamily="18" charset="0"/>
                  </a:rPr>
                  <a:t>𝜎_𝑘^2</a:t>
                </a:r>
                <a:r>
                  <a:rPr lang="it-IT" dirty="0"/>
                  <a:t>) vengono aggiornati in blocco</a:t>
                </a:r>
              </a:p>
              <a:p>
                <a:pPr marL="171450" indent="-171450">
                  <a:buFontTx/>
                  <a:buChar char="-"/>
                </a:pPr>
                <a:r>
                  <a:rPr lang="it-IT" dirty="0"/>
                  <a:t>Il valore </a:t>
                </a:r>
                <a:r>
                  <a:rPr lang="it-IT" b="0" i="0">
                    <a:latin typeface="Cambria Math" panose="02040503050406030204" pitchFamily="18" charset="0"/>
                  </a:rPr>
                  <a:t>𝒛^((𝑡) )</a:t>
                </a:r>
                <a:r>
                  <a:rPr lang="it-IT" dirty="0"/>
                  <a:t> è il vettore ottenuto dopo aver calcolato tutti i </a:t>
                </a:r>
                <a:r>
                  <a:rPr lang="it-IT" b="0" i="0">
                    <a:latin typeface="Cambria Math" panose="02040503050406030204" pitchFamily="18" charset="0"/>
                  </a:rPr>
                  <a:t>𝑧_𝑖^((𝑡) )</a:t>
                </a:r>
                <a:endParaRPr lang="it-IT" dirty="0"/>
              </a:p>
              <a:p>
                <a:pPr marL="171450" indent="-171450">
                  <a:buFontTx/>
                  <a:buChar char="-"/>
                </a:pPr>
                <a:r>
                  <a:rPr lang="it-IT" dirty="0"/>
                  <a:t>Gli </a:t>
                </a:r>
                <a:r>
                  <a:rPr lang="it-IT" b="1" i="0" dirty="0">
                    <a:latin typeface="Cambria Math" panose="02040503050406030204" pitchFamily="18" charset="0"/>
                  </a:rPr>
                  <a:t>𝒙</a:t>
                </a:r>
                <a:r>
                  <a:rPr lang="it-IT" b="0" i="0" dirty="0">
                    <a:latin typeface="Cambria Math" panose="02040503050406030204" pitchFamily="18" charset="0"/>
                  </a:rPr>
                  <a:t>_𝑘</a:t>
                </a:r>
                <a:r>
                  <a:rPr lang="it-IT" dirty="0"/>
                  <a:t> sono tutti i punti che appartengono alla componente k (vengono selezionati da </a:t>
                </a:r>
                <a:r>
                  <a:rPr lang="it-IT" b="0" i="0">
                    <a:latin typeface="Cambria Math" panose="02040503050406030204" pitchFamily="18" charset="0"/>
                  </a:rPr>
                  <a:t>𝑧_𝑖^((𝑡) ))</a:t>
                </a:r>
                <a:endParaRPr lang="it-IT" dirty="0"/>
              </a:p>
              <a:p>
                <a:pPr marL="171450" indent="-171450">
                  <a:buFontTx/>
                  <a:buChar char="-"/>
                </a:pPr>
                <a:r>
                  <a:rPr lang="it-IT" dirty="0"/>
                  <a:t>Nelle varie condizionali riportate sono stati già levati i parametri che non ifluiscono con il parametro selezionato, per esempio z</a:t>
                </a:r>
                <a:r>
                  <a:rPr lang="it-IT" sz="1200" i="0" dirty="0">
                    <a:latin typeface="Cambria Math" panose="02040503050406030204" pitchFamily="18" charset="0"/>
                  </a:rPr>
                  <a:t>¬</a:t>
                </a:r>
                <a:r>
                  <a:rPr lang="it-IT" sz="1200" b="0" i="0" dirty="0">
                    <a:latin typeface="Cambria Math" panose="02040503050406030204" pitchFamily="18" charset="0"/>
                  </a:rPr>
                  <a:t>i</a:t>
                </a:r>
                <a:r>
                  <a:rPr lang="it-IT" dirty="0"/>
                  <a:t> non influisce con z_i</a:t>
                </a:r>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40</a:t>
            </a:fld>
            <a:endParaRPr lang="it-IT"/>
          </a:p>
        </p:txBody>
      </p:sp>
    </p:spTree>
    <p:extLst>
      <p:ext uri="{BB962C8B-B14F-4D97-AF65-F5344CB8AC3E}">
        <p14:creationId xmlns:p14="http://schemas.microsoft.com/office/powerpoint/2010/main" val="3461189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Tx/>
                  <a:buChar char="-"/>
                </a:pPr>
                <a14:m>
                  <m:oMath xmlns:m="http://schemas.openxmlformats.org/officeDocument/2006/math">
                    <m:r>
                      <a:rPr lang="it-IT" i="1" smtClean="0">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b="0" i="1" smtClean="0">
                            <a:latin typeface="Cambria Math" panose="02040503050406030204" pitchFamily="18" charset="0"/>
                          </a:rPr>
                          <m:t>=</m:t>
                        </m:r>
                        <m:r>
                          <m:rPr>
                            <m:sty m:val="p"/>
                          </m:rPr>
                          <a:rPr lang="it-IT" b="0" i="1" smtClean="0">
                            <a:latin typeface="Cambria Math" panose="02040503050406030204" pitchFamily="18" charset="0"/>
                          </a:rPr>
                          <m:t>k</m:t>
                        </m:r>
                      </m:e>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𝒘</m:t>
                        </m:r>
                        <m:r>
                          <a:rPr lang="it-IT" i="1">
                            <a:latin typeface="Cambria Math" panose="02040503050406030204" pitchFamily="18" charset="0"/>
                          </a:rPr>
                          <m:t>,</m:t>
                        </m:r>
                        <m:r>
                          <a:rPr lang="it-IT" i="1">
                            <a:latin typeface="Cambria Math" panose="02040503050406030204" pitchFamily="18" charset="0"/>
                          </a:rPr>
                          <m:t>𝜽</m:t>
                        </m:r>
                      </m:e>
                    </m:d>
                  </m:oMath>
                </a14:m>
                <a:r>
                  <a:rPr lang="it-IT" dirty="0"/>
                  <a:t> corrisponde</a:t>
                </a:r>
                <a:r>
                  <a:rPr lang="it-IT" baseline="0" dirty="0"/>
                  <a:t> a </a:t>
                </a:r>
                <a14:m>
                  <m:oMath xmlns:m="http://schemas.openxmlformats.org/officeDocument/2006/math">
                    <m:r>
                      <a:rPr lang="it-IT" sz="1200" i="1" smtClean="0">
                        <a:latin typeface="Cambria Math" panose="02040503050406030204" pitchFamily="18" charset="0"/>
                      </a:rPr>
                      <m:t>𝑝</m:t>
                    </m:r>
                    <m:d>
                      <m:dPr>
                        <m:ctrlPr>
                          <a:rPr lang="it-IT" sz="1200" i="1" smtClean="0">
                            <a:latin typeface="Cambria Math" panose="02040503050406030204" pitchFamily="18" charset="0"/>
                          </a:rPr>
                        </m:ctrlPr>
                      </m:dPr>
                      <m:e>
                        <m:r>
                          <a:rPr lang="it-IT" sz="1200" i="1" smtClean="0">
                            <a:latin typeface="Cambria Math" panose="02040503050406030204" pitchFamily="18" charset="0"/>
                          </a:rPr>
                          <m:t>𝑠h𝑜𝑟𝑡</m:t>
                        </m:r>
                      </m:e>
                      <m:e>
                        <m:r>
                          <a:rPr lang="it-IT" sz="1200" i="1" smtClean="0">
                            <a:latin typeface="Cambria Math" panose="02040503050406030204" pitchFamily="18" charset="0"/>
                          </a:rPr>
                          <m:t>𝑥</m:t>
                        </m:r>
                        <m:r>
                          <a:rPr lang="it-IT" sz="1200" i="1" smtClean="0">
                            <a:latin typeface="Cambria Math" panose="02040503050406030204" pitchFamily="18" charset="0"/>
                          </a:rPr>
                          <m:t>,</m:t>
                        </m:r>
                        <m:r>
                          <a:rPr lang="it-IT" sz="1200" i="1" smtClean="0">
                            <a:latin typeface="Cambria Math" panose="02040503050406030204" pitchFamily="18" charset="0"/>
                          </a:rPr>
                          <m:t>𝜽</m:t>
                        </m:r>
                      </m:e>
                    </m:d>
                  </m:oMath>
                </a14:m>
                <a:r>
                  <a:rPr lang="it-IT" dirty="0"/>
                  <a:t> calcolato precedentemente dove k=short</a:t>
                </a:r>
              </a:p>
              <a:p>
                <a:pPr marL="171450" indent="-171450">
                  <a:buFontTx/>
                  <a:buChar char="-"/>
                </a:pPr>
                <a:r>
                  <a:rPr lang="it-IT" dirty="0"/>
                  <a:t>Quando scrivo «Draw one component» si intende per ogni i, non una componente complessiva per tutti gli i. Il calcolo va iterato per tutti gli i; in pratica sto calcolando una matrice NxK.</a:t>
                </a:r>
              </a:p>
              <a:p>
                <a:pPr marL="171450" indent="-171450">
                  <a:buFontTx/>
                  <a:buChar char="-"/>
                </a:pPr>
                <a:r>
                  <a:rPr lang="it-IT" dirty="0"/>
                  <a:t>Come prior dei pesi è stata scelta la Dirichlet essendo un prior coniugata alla multinomiale</a:t>
                </a:r>
                <a:r>
                  <a:rPr lang="it-IT" baseline="0" dirty="0"/>
                  <a:t> (</a:t>
                </a:r>
                <a:r>
                  <a:rPr lang="it-IT" dirty="0"/>
                  <a:t> </a:t>
                </a:r>
                <a14:m>
                  <m:oMath xmlns:m="http://schemas.openxmlformats.org/officeDocument/2006/math">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𝒛</m:t>
                        </m:r>
                      </m:e>
                      <m:e>
                        <m:r>
                          <a:rPr lang="it-IT" b="0" i="1" smtClean="0">
                            <a:latin typeface="Cambria Math" panose="02040503050406030204" pitchFamily="18" charset="0"/>
                          </a:rPr>
                          <m:t>𝒘</m:t>
                        </m:r>
                      </m:e>
                    </m:d>
                  </m:oMath>
                </a14:m>
                <a:r>
                  <a:rPr lang="it-IT" dirty="0"/>
                  <a:t> è proporzionale ad una multinomiale)</a:t>
                </a:r>
              </a:p>
              <a:p>
                <a:pPr marL="171450" indent="-171450">
                  <a:buFontTx/>
                  <a:buChar char="-"/>
                </a:pPr>
                <a:r>
                  <a:rPr lang="it-IT" dirty="0"/>
                  <a:t>Il valore di </a:t>
                </a:r>
                <a14:m>
                  <m:oMath xmlns:m="http://schemas.openxmlformats.org/officeDocument/2006/math">
                    <m:r>
                      <a:rPr lang="it-IT" i="1" dirty="0" smtClean="0">
                        <a:latin typeface="Cambria Math" panose="02040503050406030204" pitchFamily="18" charset="0"/>
                      </a:rPr>
                      <m:t>𝛼</m:t>
                    </m:r>
                  </m:oMath>
                </a14:m>
                <a:r>
                  <a:rPr lang="it-IT" dirty="0"/>
                  <a:t> non è importante in questo</a:t>
                </a:r>
                <a:r>
                  <a:rPr lang="it-IT" baseline="0" dirty="0"/>
                  <a:t> caso perché è uguale per tutte le categorie</a:t>
                </a:r>
                <a:endParaRPr lang="it-IT" dirty="0"/>
              </a:p>
            </p:txBody>
          </p:sp>
        </mc:Choice>
        <mc:Fallback xmlns="">
          <p:sp>
            <p:nvSpPr>
              <p:cNvPr id="3" name="Notes Placeholder 2"/>
              <p:cNvSpPr>
                <a:spLocks noGrp="1"/>
              </p:cNvSpPr>
              <p:nvPr>
                <p:ph type="body" idx="1"/>
              </p:nvPr>
            </p:nvSpPr>
            <p:spPr/>
            <p:txBody>
              <a:bodyPr/>
              <a:lstStyle/>
              <a:p>
                <a:pPr marL="171450" indent="-171450">
                  <a:buFontTx/>
                  <a:buChar char="-"/>
                </a:pPr>
                <a:r>
                  <a:rPr lang="it-IT" i="0">
                    <a:latin typeface="Cambria Math" panose="02040503050406030204" pitchFamily="18" charset="0"/>
                  </a:rPr>
                  <a:t>𝑝(𝑧_𝑖</a:t>
                </a:r>
                <a:r>
                  <a:rPr lang="it-IT" b="0" i="0">
                    <a:latin typeface="Cambria Math" panose="02040503050406030204" pitchFamily="18" charset="0"/>
                  </a:rPr>
                  <a:t>=k│</a:t>
                </a:r>
                <a:r>
                  <a:rPr lang="it-IT" i="0">
                    <a:latin typeface="Cambria Math" panose="02040503050406030204" pitchFamily="18" charset="0"/>
                  </a:rPr>
                  <a:t>𝑥_𝑖,𝒘,𝜽)</a:t>
                </a:r>
                <a:r>
                  <a:rPr lang="it-IT" dirty="0"/>
                  <a:t> corrisponde</a:t>
                </a:r>
                <a:r>
                  <a:rPr lang="it-IT" baseline="0" dirty="0"/>
                  <a:t> a </a:t>
                </a:r>
                <a:r>
                  <a:rPr lang="it-IT" sz="1200" i="0">
                    <a:latin typeface="Cambria Math" panose="02040503050406030204" pitchFamily="18" charset="0"/>
                  </a:rPr>
                  <a:t>𝑝(𝑠ℎ𝑜𝑟𝑡│𝑥,𝜽)</a:t>
                </a:r>
                <a:r>
                  <a:rPr lang="it-IT" dirty="0"/>
                  <a:t> calcolato precedentemente dove k=short</a:t>
                </a:r>
              </a:p>
              <a:p>
                <a:pPr marL="171450" indent="-171450">
                  <a:buFontTx/>
                  <a:buChar char="-"/>
                </a:pPr>
                <a:r>
                  <a:rPr lang="it-IT" dirty="0"/>
                  <a:t>Quando scrivo «Draw one component» si intende per ogni i, non una componente complessiva per tutti gli i. Il calcolo va iterato per tutti gli i; in pratica sto calcolando una matrice NxK.</a:t>
                </a:r>
              </a:p>
              <a:p>
                <a:pPr marL="171450" indent="-171450">
                  <a:buFontTx/>
                  <a:buChar char="-"/>
                </a:pPr>
                <a:r>
                  <a:rPr lang="it-IT" dirty="0"/>
                  <a:t>Come prior dei pesi è stata scelta la Dirichlet essendo un prior coniugata alla multinomiale</a:t>
                </a:r>
                <a:r>
                  <a:rPr lang="it-IT" baseline="0" dirty="0"/>
                  <a:t> (</a:t>
                </a:r>
                <a:r>
                  <a:rPr lang="it-IT" dirty="0"/>
                  <a:t> </a:t>
                </a:r>
                <a:r>
                  <a:rPr lang="it-IT" b="0" i="0">
                    <a:latin typeface="Cambria Math" panose="02040503050406030204" pitchFamily="18" charset="0"/>
                  </a:rPr>
                  <a:t>𝑝(𝒛│𝒘)</a:t>
                </a:r>
                <a:r>
                  <a:rPr lang="it-IT" dirty="0"/>
                  <a:t> è proporzionale ad una multinomiale)</a:t>
                </a:r>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41</a:t>
            </a:fld>
            <a:endParaRPr lang="it-IT"/>
          </a:p>
        </p:txBody>
      </p:sp>
    </p:spTree>
    <p:extLst>
      <p:ext uri="{BB962C8B-B14F-4D97-AF65-F5344CB8AC3E}">
        <p14:creationId xmlns:p14="http://schemas.microsoft.com/office/powerpoint/2010/main" val="41112825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t-IT" dirty="0"/>
                  <a:t>-Inv-Gamma</a:t>
                </a:r>
                <a14:m>
                  <m:oMath xmlns:m="http://schemas.openxmlformats.org/officeDocument/2006/math">
                    <m:r>
                      <a:rPr lang="it-IT" b="0" i="1" smtClean="0">
                        <a:latin typeface="Cambria Math" panose="02040503050406030204" pitchFamily="18" charset="0"/>
                      </a:rPr>
                      <m:t>(</m:t>
                    </m:r>
                    <m:r>
                      <m:rPr>
                        <m:sty m:val="p"/>
                      </m:rPr>
                      <a:rPr lang="it-IT" b="0" i="1" smtClean="0">
                        <a:latin typeface="Cambria Math" panose="02040503050406030204" pitchFamily="18" charset="0"/>
                      </a:rPr>
                      <m:t>x</m:t>
                    </m:r>
                    <m:r>
                      <a:rPr lang="it-IT" b="0" i="1" smtClean="0">
                        <a:latin typeface="Cambria Math" panose="02040503050406030204" pitchFamily="18" charset="0"/>
                      </a:rPr>
                      <m:t>|</m:t>
                    </m:r>
                    <m:r>
                      <m:rPr>
                        <m:sty m:val="p"/>
                      </m:rPr>
                      <a:rPr lang="it-IT" b="0" i="1" smtClean="0">
                        <a:latin typeface="Cambria Math" panose="02040503050406030204" pitchFamily="18" charset="0"/>
                      </a:rPr>
                      <m:t>α</m:t>
                    </m:r>
                    <m:r>
                      <a:rPr lang="it-IT" b="0" i="1" smtClean="0">
                        <a:latin typeface="Cambria Math" panose="02040503050406030204" pitchFamily="18" charset="0"/>
                      </a:rPr>
                      <m:t>,</m:t>
                    </m:r>
                    <m:r>
                      <m:rPr>
                        <m:sty m:val="p"/>
                      </m:rPr>
                      <a:rPr lang="it-IT" b="0" i="1" smtClean="0">
                        <a:latin typeface="Cambria Math" panose="02040503050406030204" pitchFamily="18" charset="0"/>
                      </a:rPr>
                      <m:t>β</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m:t>
                        </m:r>
                        <m:d>
                          <m:dPr>
                            <m:ctrlPr>
                              <a:rPr lang="it-IT" b="0" i="1" smtClean="0">
                                <a:latin typeface="Cambria Math" panose="02040503050406030204" pitchFamily="18" charset="0"/>
                              </a:rPr>
                            </m:ctrlPr>
                          </m:dPr>
                          <m:e>
                            <m:r>
                              <a:rPr lang="it-IT" b="0" i="1" smtClean="0">
                                <a:latin typeface="Cambria Math" panose="02040503050406030204" pitchFamily="18" charset="0"/>
                              </a:rPr>
                              <m:t>𝛼</m:t>
                            </m:r>
                            <m:r>
                              <a:rPr lang="it-IT" b="0" i="1" smtClean="0">
                                <a:latin typeface="Cambria Math" panose="02040503050406030204" pitchFamily="18" charset="0"/>
                              </a:rPr>
                              <m:t>+</m:t>
                            </m:r>
                            <m:r>
                              <a:rPr lang="it-IT" b="0" i="1" smtClean="0">
                                <a:latin typeface="Cambria Math" panose="02040503050406030204" pitchFamily="18" charset="0"/>
                              </a:rPr>
                              <m:t>1</m:t>
                            </m:r>
                          </m:e>
                        </m:d>
                      </m:sup>
                    </m:sSup>
                    <m:sSup>
                      <m:sSupPr>
                        <m:ctrlPr>
                          <a:rPr lang="it-IT" b="0" i="1" smtClean="0">
                            <a:latin typeface="Cambria Math" panose="02040503050406030204" pitchFamily="18" charset="0"/>
                          </a:rPr>
                        </m:ctrlPr>
                      </m:sSupPr>
                      <m:e>
                        <m:r>
                          <a:rPr lang="it-IT" b="0" i="1" smtClean="0">
                            <a:latin typeface="Cambria Math" panose="02040503050406030204" pitchFamily="18" charset="0"/>
                          </a:rPr>
                          <m:t>𝑒</m:t>
                        </m:r>
                      </m:e>
                      <m:sup>
                        <m:r>
                          <a:rPr lang="it-IT" b="0" i="1" smtClean="0">
                            <a:latin typeface="Cambria Math" panose="02040503050406030204" pitchFamily="18" charset="0"/>
                          </a:rPr>
                          <m:t>−</m:t>
                        </m:r>
                        <m:r>
                          <a:rPr lang="it-IT" b="0" i="1" smtClean="0">
                            <a:latin typeface="Cambria Math" panose="02040503050406030204" pitchFamily="18" charset="0"/>
                          </a:rPr>
                          <m:t>𝛽</m:t>
                        </m:r>
                        <m:r>
                          <m:rPr>
                            <m:lit/>
                          </m:rPr>
                          <a:rPr lang="it-IT" b="0" i="1" smtClean="0">
                            <a:latin typeface="Cambria Math" panose="02040503050406030204" pitchFamily="18" charset="0"/>
                          </a:rPr>
                          <m:t>/</m:t>
                        </m:r>
                        <m:r>
                          <a:rPr lang="it-IT" b="0" i="1" smtClean="0">
                            <a:latin typeface="Cambria Math" panose="02040503050406030204" pitchFamily="18" charset="0"/>
                          </a:rPr>
                          <m:t>𝑥</m:t>
                        </m:r>
                      </m:sup>
                    </m:sSup>
                  </m:oMath>
                </a14:m>
                <a:endParaRPr lang="it-IT" dirty="0"/>
              </a:p>
              <a:p>
                <a:r>
                  <a:rPr lang="it-IT" dirty="0"/>
                  <a:t>-Per ottenere </a:t>
                </a:r>
                <a14:m>
                  <m:oMath xmlns:m="http://schemas.openxmlformats.org/officeDocument/2006/math">
                    <m:r>
                      <a:rPr lang="it-IT" i="1" smtClean="0">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𝑘</m:t>
                            </m:r>
                          </m:sub>
                        </m:sSub>
                      </m:e>
                      <m:e>
                        <m:sSubSup>
                          <m:sSubSupPr>
                            <m:ctrlPr>
                              <a:rPr lang="it-IT" i="1">
                                <a:latin typeface="Cambria Math" panose="02040503050406030204" pitchFamily="18" charset="0"/>
                              </a:rPr>
                            </m:ctrlPr>
                          </m:sSubSupPr>
                          <m:e>
                            <m:r>
                              <a:rPr lang="it-IT" i="1">
                                <a:latin typeface="Cambria Math" panose="02040503050406030204" pitchFamily="18" charset="0"/>
                              </a:rPr>
                              <m:t>𝜎</m:t>
                            </m:r>
                          </m:e>
                          <m:sub>
                            <m:r>
                              <a:rPr lang="it-IT" i="1">
                                <a:latin typeface="Cambria Math" panose="02040503050406030204" pitchFamily="18" charset="0"/>
                              </a:rPr>
                              <m:t>𝑘</m:t>
                            </m:r>
                          </m:sub>
                          <m:sup>
                            <m:r>
                              <a:rPr lang="it-IT" i="1">
                                <a:latin typeface="Cambria Math" panose="02040503050406030204" pitchFamily="18" charset="0"/>
                              </a:rPr>
                              <m:t>2</m:t>
                            </m:r>
                          </m:sup>
                        </m:sSubSup>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𝒙</m:t>
                            </m:r>
                          </m:e>
                          <m:sub>
                            <m:r>
                              <a:rPr lang="it-IT" i="1">
                                <a:latin typeface="Cambria Math" panose="02040503050406030204" pitchFamily="18" charset="0"/>
                              </a:rPr>
                              <m:t>𝒌</m:t>
                            </m:r>
                          </m:sub>
                        </m:sSub>
                      </m:e>
                    </m:d>
                  </m:oMath>
                </a14:m>
                <a:r>
                  <a:rPr lang="it-IT" dirty="0"/>
                  <a:t> si fanno gli stessi passaggi di </a:t>
                </a:r>
                <a14:m>
                  <m:oMath xmlns:m="http://schemas.openxmlformats.org/officeDocument/2006/math">
                    <m:r>
                      <a:rPr lang="it-IT" sz="1200" i="1" dirty="0" smtClean="0">
                        <a:latin typeface="Cambria Math" panose="02040503050406030204" pitchFamily="18" charset="0"/>
                      </a:rPr>
                      <m:t>𝑝</m:t>
                    </m:r>
                    <m:d>
                      <m:dPr>
                        <m:ctrlPr>
                          <a:rPr lang="it-IT" sz="1200" i="1" dirty="0">
                            <a:latin typeface="Cambria Math" panose="02040503050406030204" pitchFamily="18" charset="0"/>
                          </a:rPr>
                        </m:ctrlPr>
                      </m:dPr>
                      <m:e>
                        <m:sSubSup>
                          <m:sSubSupPr>
                            <m:ctrlPr>
                              <a:rPr lang="it-IT" sz="1200" i="1" dirty="0">
                                <a:latin typeface="Cambria Math" panose="02040503050406030204" pitchFamily="18" charset="0"/>
                              </a:rPr>
                            </m:ctrlPr>
                          </m:sSubSupPr>
                          <m:e>
                            <m:r>
                              <a:rPr lang="it-IT" sz="1200" i="1" dirty="0">
                                <a:latin typeface="Cambria Math" panose="02040503050406030204" pitchFamily="18" charset="0"/>
                              </a:rPr>
                              <m:t>𝜎</m:t>
                            </m:r>
                          </m:e>
                          <m:sub>
                            <m:r>
                              <a:rPr lang="it-IT" sz="1200" i="1" dirty="0">
                                <a:latin typeface="Cambria Math" panose="02040503050406030204" pitchFamily="18" charset="0"/>
                              </a:rPr>
                              <m:t>𝑘</m:t>
                            </m:r>
                          </m:sub>
                          <m:sup>
                            <m:r>
                              <a:rPr lang="it-IT" sz="1200" i="1" dirty="0">
                                <a:latin typeface="Cambria Math" panose="02040503050406030204" pitchFamily="18" charset="0"/>
                              </a:rPr>
                              <m:t>2</m:t>
                            </m:r>
                          </m:sup>
                        </m:sSubSup>
                      </m:e>
                      <m:e>
                        <m:sSub>
                          <m:sSubPr>
                            <m:ctrlPr>
                              <a:rPr lang="it-IT" sz="1200" i="1" dirty="0">
                                <a:latin typeface="Cambria Math" panose="02040503050406030204" pitchFamily="18" charset="0"/>
                              </a:rPr>
                            </m:ctrlPr>
                          </m:sSubPr>
                          <m:e>
                            <m:r>
                              <a:rPr lang="it-IT" sz="1200" i="1" dirty="0">
                                <a:latin typeface="Cambria Math" panose="02040503050406030204" pitchFamily="18" charset="0"/>
                              </a:rPr>
                              <m:t>𝒙</m:t>
                            </m:r>
                          </m:e>
                          <m:sub>
                            <m:r>
                              <a:rPr lang="it-IT" sz="1200" i="1" dirty="0">
                                <a:latin typeface="Cambria Math" panose="02040503050406030204" pitchFamily="18" charset="0"/>
                              </a:rPr>
                              <m:t>𝒌</m:t>
                            </m:r>
                          </m:sub>
                        </m:sSub>
                      </m:e>
                    </m:d>
                  </m:oMath>
                </a14:m>
                <a:r>
                  <a:rPr lang="it-IT" dirty="0"/>
                  <a:t> ma senza l’integrale, successivamente si levano tutti i pezzi non dipendenti da </a:t>
                </a:r>
                <a14:m>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𝑘</m:t>
                        </m:r>
                      </m:sub>
                    </m:sSub>
                  </m:oMath>
                </a14:m>
                <a:r>
                  <a:rPr lang="it-IT" dirty="0"/>
                  <a:t> </a:t>
                </a:r>
              </a:p>
              <a:p>
                <a:r>
                  <a:rPr lang="it-IT" dirty="0"/>
                  <a:t>- La media campionaria </a:t>
                </a:r>
                <a14:m>
                  <m:oMath xmlns:m="http://schemas.openxmlformats.org/officeDocument/2006/math">
                    <m:sSub>
                      <m:sSubPr>
                        <m:ctrlPr>
                          <a:rPr lang="it-IT" sz="1200" i="1" dirty="0" smtClean="0">
                            <a:latin typeface="Cambria Math" panose="02040503050406030204" pitchFamily="18" charset="0"/>
                          </a:rPr>
                        </m:ctrlPr>
                      </m:sSubPr>
                      <m:e>
                        <m:bar>
                          <m:barPr>
                            <m:pos m:val="top"/>
                            <m:ctrlPr>
                              <a:rPr lang="it-IT" sz="1200" i="1" dirty="0">
                                <a:latin typeface="Cambria Math" panose="02040503050406030204" pitchFamily="18" charset="0"/>
                              </a:rPr>
                            </m:ctrlPr>
                          </m:barPr>
                          <m:e>
                            <m:r>
                              <a:rPr lang="it-IT" sz="1200" i="1" dirty="0">
                                <a:latin typeface="Cambria Math" panose="02040503050406030204" pitchFamily="18" charset="0"/>
                              </a:rPr>
                              <m:t>𝑥</m:t>
                            </m:r>
                          </m:e>
                        </m:bar>
                      </m:e>
                      <m:sub>
                        <m:r>
                          <a:rPr lang="it-IT" sz="1200" i="1" dirty="0">
                            <a:latin typeface="Cambria Math" panose="02040503050406030204" pitchFamily="18" charset="0"/>
                          </a:rPr>
                          <m:t>𝑘</m:t>
                        </m:r>
                      </m:sub>
                    </m:sSub>
                  </m:oMath>
                </a14:m>
                <a:r>
                  <a:rPr lang="it-IT" dirty="0"/>
                  <a:t> non è in generale uguale alla media della gaussiana </a:t>
                </a:r>
                <a14:m>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𝑘</m:t>
                        </m:r>
                      </m:sub>
                    </m:sSub>
                  </m:oMath>
                </a14:m>
                <a:r>
                  <a:rPr lang="it-IT" dirty="0"/>
                  <a:t>, l’uguaglianza è vera solo nel caso ideale in cui i campioni nella</a:t>
                </a:r>
                <a:r>
                  <a:rPr lang="it-IT" baseline="0" dirty="0"/>
                  <a:t> componenete k sono distribuiti perfettamente come la gaussiana centrata in k, il quale è il risultato stazionario che vogliamo raggiungere</a:t>
                </a:r>
                <a:endParaRPr lang="it-IT" dirty="0"/>
              </a:p>
            </p:txBody>
          </p:sp>
        </mc:Choice>
        <mc:Fallback xmlns="">
          <p:sp>
            <p:nvSpPr>
              <p:cNvPr id="3" name="Notes Placeholder 2"/>
              <p:cNvSpPr>
                <a:spLocks noGrp="1"/>
              </p:cNvSpPr>
              <p:nvPr>
                <p:ph type="body" idx="1"/>
              </p:nvPr>
            </p:nvSpPr>
            <p:spPr/>
            <p:txBody>
              <a:bodyPr/>
              <a:lstStyle/>
              <a:p>
                <a:r>
                  <a:rPr lang="it-IT" dirty="0"/>
                  <a:t>-Inv-Gamma</a:t>
                </a:r>
                <a:r>
                  <a:rPr lang="it-IT" b="0" i="0">
                    <a:latin typeface="Cambria Math" panose="02040503050406030204" pitchFamily="18" charset="0"/>
                  </a:rPr>
                  <a:t>(x|α,β)∝𝑥^(−(𝛼+1) ) 𝑒^(−𝛽\/𝑥)</a:t>
                </a:r>
                <a:endParaRPr lang="it-IT" i="0" dirty="0">
                  <a:latin typeface="Cambria Math" panose="02040503050406030204" pitchFamily="18" charset="0"/>
                </a:endParaRPr>
              </a:p>
              <a:p>
                <a:r>
                  <a:rPr lang="it-IT" dirty="0"/>
                  <a:t>-Per ottenere </a:t>
                </a:r>
                <a:r>
                  <a:rPr lang="it-IT" i="0">
                    <a:latin typeface="Cambria Math" panose="02040503050406030204" pitchFamily="18" charset="0"/>
                  </a:rPr>
                  <a:t>𝑝(𝜇_𝑘│𝜎_𝑘^2,𝒙_𝒌 )</a:t>
                </a:r>
                <a:r>
                  <a:rPr lang="it-IT" dirty="0"/>
                  <a:t> si fanno gli stessi passaggi di </a:t>
                </a:r>
                <a:r>
                  <a:rPr lang="it-IT" sz="1200" i="0" dirty="0">
                    <a:latin typeface="Cambria Math" panose="02040503050406030204" pitchFamily="18" charset="0"/>
                  </a:rPr>
                  <a:t>𝑝(𝜎_𝑘^2│𝒙_𝒌 )</a:t>
                </a:r>
                <a:r>
                  <a:rPr lang="it-IT" dirty="0"/>
                  <a:t> ma senza l’integrale, successivamente si levano tutti i pezzi non dipendenti da </a:t>
                </a:r>
                <a:r>
                  <a:rPr lang="it-IT" i="0">
                    <a:latin typeface="Cambria Math" panose="02040503050406030204" pitchFamily="18" charset="0"/>
                  </a:rPr>
                  <a:t>𝜇_𝑘</a:t>
                </a:r>
                <a:r>
                  <a:rPr lang="it-IT" dirty="0"/>
                  <a:t> </a:t>
                </a:r>
              </a:p>
              <a:p>
                <a:r>
                  <a:rPr lang="it-IT" dirty="0"/>
                  <a:t>- La media campionaria </a:t>
                </a:r>
                <a:r>
                  <a:rPr lang="it-IT" sz="1200" i="0" dirty="0">
                    <a:latin typeface="Cambria Math" panose="02040503050406030204" pitchFamily="18" charset="0"/>
                  </a:rPr>
                  <a:t>¯𝑥_𝑘</a:t>
                </a:r>
                <a:r>
                  <a:rPr lang="it-IT" dirty="0"/>
                  <a:t> non è in generale uguale alla media della gaussiana </a:t>
                </a:r>
                <a:r>
                  <a:rPr lang="it-IT" i="0">
                    <a:latin typeface="Cambria Math" panose="02040503050406030204" pitchFamily="18" charset="0"/>
                  </a:rPr>
                  <a:t>𝜇_𝑘</a:t>
                </a:r>
                <a:r>
                  <a:rPr lang="it-IT" dirty="0"/>
                  <a:t>, l’uguaglianza è vera solo nel caso ideale in cui i campioni nella</a:t>
                </a:r>
                <a:r>
                  <a:rPr lang="it-IT" baseline="0" dirty="0"/>
                  <a:t> componenete k sono distribuiti perfettamente come la gaussiana centrata in k, il quale è il risultato stazionario che vogliamo raggiungere</a:t>
                </a:r>
                <a:endParaRPr lang="it-IT" dirty="0"/>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42</a:t>
            </a:fld>
            <a:endParaRPr lang="it-IT"/>
          </a:p>
        </p:txBody>
      </p:sp>
    </p:spTree>
    <p:extLst>
      <p:ext uri="{BB962C8B-B14F-4D97-AF65-F5344CB8AC3E}">
        <p14:creationId xmlns:p14="http://schemas.microsoft.com/office/powerpoint/2010/main" val="2267042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t-IT" dirty="0"/>
                  <a:t>-</a:t>
                </a:r>
                <a14:m>
                  <m:oMath xmlns:m="http://schemas.openxmlformats.org/officeDocument/2006/math">
                    <m:r>
                      <m:rPr>
                        <m:lit/>
                      </m:rPr>
                      <a:rPr lang="it-IT"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𝑗</m:t>
                        </m:r>
                      </m:sub>
                    </m:sSub>
                    <m:r>
                      <a:rPr lang="it-IT" i="1">
                        <a:latin typeface="Cambria Math" panose="02040503050406030204" pitchFamily="18" charset="0"/>
                      </a:rPr>
                      <m:t>: </m:t>
                    </m:r>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𝑗</m:t>
                        </m:r>
                      </m:sub>
                    </m:sSub>
                    <m:r>
                      <a:rPr lang="it-IT" i="1">
                        <a:latin typeface="Cambria Math" panose="02040503050406030204" pitchFamily="18" charset="0"/>
                      </a:rPr>
                      <m:t>=</m:t>
                    </m:r>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rPr>
                      <m:t>≠</m:t>
                    </m:r>
                    <m:r>
                      <a:rPr lang="it-IT" i="1">
                        <a:latin typeface="Cambria Math" panose="02040503050406030204" pitchFamily="18" charset="0"/>
                      </a:rPr>
                      <m:t>𝑖</m:t>
                    </m:r>
                    <m:r>
                      <m:rPr>
                        <m:lit/>
                      </m:rPr>
                      <a:rPr lang="it-IT" i="1">
                        <a:latin typeface="Cambria Math" panose="02040503050406030204" pitchFamily="18" charset="0"/>
                      </a:rPr>
                      <m:t>}</m:t>
                    </m:r>
                  </m:oMath>
                </a14:m>
                <a:r>
                  <a:rPr lang="it-IT" dirty="0"/>
                  <a:t> sono tutti gli x_j</a:t>
                </a:r>
                <a:r>
                  <a:rPr lang="it-IT" baseline="0" dirty="0"/>
                  <a:t> che appartengono alla componente k, tranne il punto i.</a:t>
                </a:r>
              </a:p>
              <a:p>
                <a:r>
                  <a:rPr lang="it-IT" baseline="0" dirty="0"/>
                  <a:t>- La barra sui valori vuol dire che non influisce sul calcolo del risultato; per esempio </a:t>
                </a:r>
                <a14:m>
                  <m:oMath xmlns:m="http://schemas.openxmlformats.org/officeDocument/2006/math">
                    <m:sSub>
                      <m:sSubPr>
                        <m:ctrlPr>
                          <a:rPr lang="it-IT" sz="1200" i="1" dirty="0" smtClean="0">
                            <a:latin typeface="Cambria Math" panose="02040503050406030204" pitchFamily="18" charset="0"/>
                          </a:rPr>
                        </m:ctrlPr>
                      </m:sSubPr>
                      <m:e>
                        <m:r>
                          <a:rPr lang="it-IT" sz="1200" i="1" dirty="0" smtClean="0">
                            <a:latin typeface="Cambria Math" panose="02040503050406030204" pitchFamily="18" charset="0"/>
                          </a:rPr>
                          <m:t>𝑧</m:t>
                        </m:r>
                      </m:e>
                      <m:sub>
                        <m:r>
                          <a:rPr lang="it-IT" sz="1200" i="1" dirty="0" smtClean="0">
                            <a:latin typeface="Cambria Math" panose="02040503050406030204" pitchFamily="18" charset="0"/>
                          </a:rPr>
                          <m:t>𝑖</m:t>
                        </m:r>
                      </m:sub>
                    </m:sSub>
                    <m:r>
                      <a:rPr lang="it-IT" sz="1200" i="1" dirty="0" smtClean="0">
                        <a:latin typeface="Cambria Math" panose="02040503050406030204" pitchFamily="18" charset="0"/>
                      </a:rPr>
                      <m:t>=</m:t>
                    </m:r>
                    <m:r>
                      <a:rPr lang="it-IT" sz="1200" i="1" dirty="0" smtClean="0">
                        <a:latin typeface="Cambria Math" panose="02040503050406030204" pitchFamily="18" charset="0"/>
                      </a:rPr>
                      <m:t>𝑘</m:t>
                    </m:r>
                  </m:oMath>
                </a14:m>
                <a:r>
                  <a:rPr lang="it-IT" dirty="0"/>
                  <a:t> è indipendente da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𝑧</m:t>
                        </m:r>
                      </m:e>
                      <m:sub>
                        <m:r>
                          <a:rPr lang="it-IT" sz="1200" i="1">
                            <a:latin typeface="Cambria Math" panose="02040503050406030204" pitchFamily="18" charset="0"/>
                          </a:rPr>
                          <m:t>¬</m:t>
                        </m:r>
                        <m:r>
                          <a:rPr lang="it-IT" sz="1200" i="1">
                            <a:latin typeface="Cambria Math" panose="02040503050406030204" pitchFamily="18" charset="0"/>
                          </a:rPr>
                          <m:t>𝑖</m:t>
                        </m:r>
                      </m:sub>
                    </m:sSub>
                  </m:oMath>
                </a14:m>
                <a:r>
                  <a:rPr lang="it-IT" dirty="0"/>
                  <a:t>, quindi lo barro </a:t>
                </a:r>
                <a14:m>
                  <m:oMath xmlns:m="http://schemas.openxmlformats.org/officeDocument/2006/math">
                    <m:borderBox>
                      <m:borderBoxPr>
                        <m:hideTop m:val="on"/>
                        <m:hideBot m:val="on"/>
                        <m:hideLeft m:val="on"/>
                        <m:hideRight m:val="on"/>
                        <m:strikeBLTR m:val="on"/>
                        <m:ctrlPr>
                          <a:rPr lang="it-IT" sz="1200" i="1" dirty="0" smtClean="0">
                            <a:latin typeface="Cambria Math" panose="02040503050406030204" pitchFamily="18" charset="0"/>
                          </a:rPr>
                        </m:ctrlPr>
                      </m:borderBoxPr>
                      <m:e>
                        <m:sSub>
                          <m:sSubPr>
                            <m:ctrlPr>
                              <a:rPr lang="it-IT" sz="1200" i="1" dirty="0" smtClean="0">
                                <a:latin typeface="Cambria Math" panose="02040503050406030204" pitchFamily="18" charset="0"/>
                              </a:rPr>
                            </m:ctrlPr>
                          </m:sSubPr>
                          <m:e>
                            <m:r>
                              <a:rPr lang="it-IT" sz="1200" i="1" dirty="0" smtClean="0">
                                <a:latin typeface="Cambria Math" panose="02040503050406030204" pitchFamily="18" charset="0"/>
                              </a:rPr>
                              <m:t>𝑧</m:t>
                            </m:r>
                          </m:e>
                          <m:sub>
                            <m:r>
                              <a:rPr lang="it-IT" sz="1200" i="1" dirty="0" smtClean="0">
                                <a:latin typeface="Cambria Math" panose="02040503050406030204" pitchFamily="18" charset="0"/>
                              </a:rPr>
                              <m:t>¬</m:t>
                            </m:r>
                            <m:r>
                              <a:rPr lang="it-IT" sz="1200" i="1" dirty="0" smtClean="0">
                                <a:latin typeface="Cambria Math" panose="02040503050406030204" pitchFamily="18" charset="0"/>
                              </a:rPr>
                              <m:t>𝑖</m:t>
                            </m:r>
                          </m:sub>
                        </m:sSub>
                      </m:e>
                    </m:borderBox>
                  </m:oMath>
                </a14:m>
                <a:r>
                  <a:rPr lang="it-IT" dirty="0"/>
                  <a:t>.</a:t>
                </a:r>
              </a:p>
            </p:txBody>
          </p:sp>
        </mc:Choice>
        <mc:Fallback xmlns="">
          <p:sp>
            <p:nvSpPr>
              <p:cNvPr id="3" name="Notes Placeholder 2"/>
              <p:cNvSpPr>
                <a:spLocks noGrp="1"/>
              </p:cNvSpPr>
              <p:nvPr>
                <p:ph type="body" idx="1"/>
              </p:nvPr>
            </p:nvSpPr>
            <p:spPr/>
            <p:txBody>
              <a:bodyPr/>
              <a:lstStyle/>
              <a:p>
                <a:r>
                  <a:rPr lang="it-IT" dirty="0"/>
                  <a:t>-</a:t>
                </a:r>
                <a:r>
                  <a:rPr lang="it-IT" i="0">
                    <a:latin typeface="Cambria Math" panose="02040503050406030204" pitchFamily="18" charset="0"/>
                  </a:rPr>
                  <a:t>\{𝑥_𝑗: 𝑧_𝑗=𝑘,𝑗≠𝑖\}</a:t>
                </a:r>
                <a:r>
                  <a:rPr lang="it-IT" dirty="0"/>
                  <a:t> sono tutti gli x_j</a:t>
                </a:r>
                <a:r>
                  <a:rPr lang="it-IT" baseline="0" dirty="0"/>
                  <a:t> che appartengono alla componente k, tranne il punto i.</a:t>
                </a:r>
              </a:p>
              <a:p>
                <a:r>
                  <a:rPr lang="it-IT" baseline="0" dirty="0"/>
                  <a:t>- La barra sui valori vuol dire che non influisce sul calcolo del risultato; per esempio </a:t>
                </a:r>
                <a:r>
                  <a:rPr lang="it-IT" sz="1200" i="0" dirty="0">
                    <a:latin typeface="Cambria Math" panose="02040503050406030204" pitchFamily="18" charset="0"/>
                  </a:rPr>
                  <a:t>𝑧_𝑖=𝑘</a:t>
                </a:r>
                <a:r>
                  <a:rPr lang="it-IT" dirty="0"/>
                  <a:t> è indipendente da </a:t>
                </a:r>
                <a:r>
                  <a:rPr lang="it-IT" sz="1200" i="0">
                    <a:latin typeface="Cambria Math" panose="02040503050406030204" pitchFamily="18" charset="0"/>
                  </a:rPr>
                  <a:t>𝑧_(¬𝑖)</a:t>
                </a:r>
                <a:r>
                  <a:rPr lang="it-IT" dirty="0"/>
                  <a:t>, quindi lo barro </a:t>
                </a:r>
                <a:r>
                  <a:rPr lang="it-IT" sz="1200" i="0" dirty="0">
                    <a:latin typeface="Cambria Math" panose="02040503050406030204" pitchFamily="18" charset="0"/>
                  </a:rPr>
                  <a:t>▭(143&amp;𝑧_(¬𝑖) )</a:t>
                </a:r>
                <a:r>
                  <a:rPr lang="it-IT" dirty="0"/>
                  <a:t>.</a:t>
                </a:r>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44</a:t>
            </a:fld>
            <a:endParaRPr lang="it-IT"/>
          </a:p>
        </p:txBody>
      </p:sp>
    </p:spTree>
    <p:extLst>
      <p:ext uri="{BB962C8B-B14F-4D97-AF65-F5344CB8AC3E}">
        <p14:creationId xmlns:p14="http://schemas.microsoft.com/office/powerpoint/2010/main" val="31546100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Tx/>
                  <a:buChar char="-"/>
                </a:pPr>
                <a:r>
                  <a:rPr lang="it-IT" dirty="0"/>
                  <a:t>Il calcolo di </a:t>
                </a:r>
                <a14:m>
                  <m:oMath xmlns:m="http://schemas.openxmlformats.org/officeDocument/2006/math">
                    <m:r>
                      <a:rPr lang="it-IT" sz="1200" i="1" smtClean="0">
                        <a:latin typeface="Cambria Math" panose="02040503050406030204" pitchFamily="18" charset="0"/>
                      </a:rPr>
                      <m:t>𝑝</m:t>
                    </m:r>
                    <m:d>
                      <m:dPr>
                        <m:ctrlPr>
                          <a:rPr lang="it-IT" sz="1200" i="1">
                            <a:latin typeface="Cambria Math" panose="02040503050406030204" pitchFamily="18" charset="0"/>
                          </a:rPr>
                        </m:ctrlPr>
                      </m:dPr>
                      <m:e>
                        <m:r>
                          <a:rPr lang="it-IT" sz="1200" i="1">
                            <a:latin typeface="Cambria Math" panose="02040503050406030204" pitchFamily="18" charset="0"/>
                          </a:rPr>
                          <m:t>𝒛</m:t>
                        </m:r>
                      </m:e>
                      <m:e>
                        <m:r>
                          <a:rPr lang="it-IT" sz="1200" i="1">
                            <a:latin typeface="Cambria Math" panose="02040503050406030204" pitchFamily="18" charset="0"/>
                          </a:rPr>
                          <m:t>𝛼</m:t>
                        </m:r>
                      </m:e>
                    </m:d>
                  </m:oMath>
                </a14:m>
                <a:r>
                  <a:rPr lang="it-IT" dirty="0"/>
                  <a:t> è analogo al</a:t>
                </a:r>
                <a:r>
                  <a:rPr lang="it-IT" baseline="0" dirty="0"/>
                  <a:t> precedente calcolo di </a:t>
                </a:r>
                <a14:m>
                  <m:oMath xmlns:m="http://schemas.openxmlformats.org/officeDocument/2006/math">
                    <m:r>
                      <a:rPr lang="it-IT" i="1" smtClean="0">
                        <a:latin typeface="Cambria Math" panose="02040503050406030204" pitchFamily="18" charset="0"/>
                      </a:rPr>
                      <m:t>𝑝</m:t>
                    </m:r>
                    <m:d>
                      <m:dPr>
                        <m:ctrlPr>
                          <a:rPr lang="it-IT" i="1">
                            <a:latin typeface="Cambria Math" panose="02040503050406030204" pitchFamily="18" charset="0"/>
                          </a:rPr>
                        </m:ctrlPr>
                      </m:dPr>
                      <m:e>
                        <m:r>
                          <a:rPr lang="it-IT" i="1">
                            <a:latin typeface="Cambria Math" panose="02040503050406030204" pitchFamily="18" charset="0"/>
                          </a:rPr>
                          <m:t>𝒘</m:t>
                        </m:r>
                      </m:e>
                      <m:e>
                        <m:r>
                          <a:rPr lang="it-IT" i="1">
                            <a:latin typeface="Cambria Math" panose="02040503050406030204" pitchFamily="18" charset="0"/>
                          </a:rPr>
                          <m:t>𝒛</m:t>
                        </m:r>
                      </m:e>
                    </m:d>
                  </m:oMath>
                </a14:m>
                <a:r>
                  <a:rPr lang="it-IT" dirty="0"/>
                  <a:t>, però adesso stiamo usando gli ugauli e non il proporzionale quindi devo esplicitare la normalizzazione</a:t>
                </a:r>
              </a:p>
              <a:p>
                <a:pPr marL="171450" indent="-171450">
                  <a:buFontTx/>
                  <a:buChar char="-"/>
                </a:pPr>
                <a:r>
                  <a:rPr lang="it-IT" dirty="0"/>
                  <a:t>La </a:t>
                </a:r>
                <a14:m>
                  <m:oMath xmlns:m="http://schemas.openxmlformats.org/officeDocument/2006/math">
                    <m:r>
                      <m:rPr>
                        <m:sty m:val="p"/>
                      </m:rPr>
                      <a:rPr lang="en-US" sz="1200" i="0" dirty="0" smtClean="0">
                        <a:latin typeface="Cambria Math" panose="02040503050406030204" pitchFamily="18" charset="0"/>
                      </a:rPr>
                      <m:t>Γ</m:t>
                    </m:r>
                    <m:r>
                      <a:rPr lang="it-IT" sz="1200" b="0" i="0" dirty="0" smtClean="0">
                        <a:latin typeface="Cambria Math" panose="02040503050406030204" pitchFamily="18" charset="0"/>
                      </a:rPr>
                      <m:t>(</m:t>
                    </m:r>
                    <m:r>
                      <m:rPr>
                        <m:sty m:val="p"/>
                      </m:rPr>
                      <a:rPr lang="it-IT" sz="1200" b="0" i="0" dirty="0" smtClean="0">
                        <a:latin typeface="Cambria Math" panose="02040503050406030204" pitchFamily="18" charset="0"/>
                      </a:rPr>
                      <m:t>x</m:t>
                    </m:r>
                    <m:r>
                      <a:rPr lang="it-IT" sz="1200" b="0" i="0" dirty="0" smtClean="0">
                        <a:latin typeface="Cambria Math" panose="02040503050406030204" pitchFamily="18" charset="0"/>
                      </a:rPr>
                      <m:t>)</m:t>
                    </m:r>
                  </m:oMath>
                </a14:m>
                <a:r>
                  <a:rPr lang="it-IT" dirty="0"/>
                  <a:t> ha le stessa proprietà del fattoriale: </a:t>
                </a:r>
                <a14:m>
                  <m:oMath xmlns:m="http://schemas.openxmlformats.org/officeDocument/2006/math">
                    <m:r>
                      <m:rPr>
                        <m:sty m:val="p"/>
                      </m:rPr>
                      <a:rPr lang="en-US" sz="1200" i="0" dirty="0" smtClean="0">
                        <a:latin typeface="Cambria Math" panose="02040503050406030204" pitchFamily="18" charset="0"/>
                      </a:rPr>
                      <m:t>Γ</m:t>
                    </m:r>
                    <m:r>
                      <a:rPr lang="it-IT" sz="1200" b="0" i="0" dirty="0" smtClean="0">
                        <a:latin typeface="Cambria Math" panose="02040503050406030204" pitchFamily="18" charset="0"/>
                      </a:rPr>
                      <m:t>(</m:t>
                    </m:r>
                    <m:r>
                      <m:rPr>
                        <m:sty m:val="p"/>
                      </m:rPr>
                      <a:rPr lang="it-IT" sz="1200" b="0" i="0" dirty="0" smtClean="0">
                        <a:latin typeface="Cambria Math" panose="02040503050406030204" pitchFamily="18" charset="0"/>
                      </a:rPr>
                      <m:t>x</m:t>
                    </m:r>
                    <m:r>
                      <a:rPr lang="it-IT" sz="1200" b="0" i="0" dirty="0" smtClean="0">
                        <a:latin typeface="Cambria Math" panose="02040503050406030204" pitchFamily="18" charset="0"/>
                      </a:rPr>
                      <m:t>+</m:t>
                    </m:r>
                    <m:r>
                      <a:rPr lang="it-IT" sz="1200" b="0" i="0" dirty="0" smtClean="0">
                        <a:latin typeface="Cambria Math" panose="02040503050406030204" pitchFamily="18" charset="0"/>
                      </a:rPr>
                      <m:t>1</m:t>
                    </m:r>
                    <m:r>
                      <a:rPr lang="it-IT" sz="1200" b="0" i="0" dirty="0" smtClean="0">
                        <a:latin typeface="Cambria Math" panose="02040503050406030204" pitchFamily="18" charset="0"/>
                      </a:rPr>
                      <m:t>)=</m:t>
                    </m:r>
                    <m:r>
                      <m:rPr>
                        <m:sty m:val="p"/>
                      </m:rPr>
                      <a:rPr lang="it-IT" sz="1200" b="0" i="0" dirty="0" smtClean="0">
                        <a:latin typeface="Cambria Math" panose="02040503050406030204" pitchFamily="18" charset="0"/>
                      </a:rPr>
                      <m:t>x</m:t>
                    </m:r>
                    <m:r>
                      <a:rPr lang="it-IT" sz="1200" b="0" i="1" dirty="0" smtClean="0">
                        <a:latin typeface="Cambria Math" panose="02040503050406030204" pitchFamily="18" charset="0"/>
                      </a:rPr>
                      <m:t>⋅</m:t>
                    </m:r>
                    <m:r>
                      <m:rPr>
                        <m:sty m:val="p"/>
                      </m:rPr>
                      <a:rPr lang="en-US" sz="1200" i="0" dirty="0" smtClean="0">
                        <a:latin typeface="Cambria Math" panose="02040503050406030204" pitchFamily="18" charset="0"/>
                      </a:rPr>
                      <m:t>Γ</m:t>
                    </m:r>
                    <m:r>
                      <a:rPr lang="it-IT" sz="1200" b="0" i="0" dirty="0" smtClean="0">
                        <a:latin typeface="Cambria Math" panose="02040503050406030204" pitchFamily="18" charset="0"/>
                      </a:rPr>
                      <m:t>(</m:t>
                    </m:r>
                    <m:r>
                      <m:rPr>
                        <m:sty m:val="p"/>
                      </m:rPr>
                      <a:rPr lang="it-IT" sz="1200" b="0" i="0" dirty="0" smtClean="0">
                        <a:latin typeface="Cambria Math" panose="02040503050406030204" pitchFamily="18" charset="0"/>
                      </a:rPr>
                      <m:t>x</m:t>
                    </m:r>
                    <m:r>
                      <a:rPr lang="it-IT" sz="1200" b="0" i="0" dirty="0" smtClean="0">
                        <a:latin typeface="Cambria Math" panose="02040503050406030204" pitchFamily="18" charset="0"/>
                      </a:rPr>
                      <m:t>)</m:t>
                    </m:r>
                  </m:oMath>
                </a14:m>
                <a:endParaRPr lang="it-IT" dirty="0"/>
              </a:p>
              <a:p>
                <a:pPr marL="171450" indent="-171450">
                  <a:buFontTx/>
                  <a:buChar char="-"/>
                </a:pPr>
                <a:r>
                  <a:rPr lang="it-IT" dirty="0"/>
                  <a:t>I passaggi che sono stati saltati nell’ultima formula consistono nell’usare la formula di </a:t>
                </a:r>
                <a14:m>
                  <m:oMath xmlns:m="http://schemas.openxmlformats.org/officeDocument/2006/math">
                    <m:r>
                      <a:rPr lang="en-US" sz="1200" i="1" dirty="0" smtClean="0">
                        <a:latin typeface="Cambria Math" panose="02040503050406030204" pitchFamily="18" charset="0"/>
                      </a:rPr>
                      <m:t>𝐵</m:t>
                    </m:r>
                    <m:d>
                      <m:dPr>
                        <m:ctrlPr>
                          <a:rPr lang="en-US" sz="1200" i="1" dirty="0" smtClean="0">
                            <a:latin typeface="Cambria Math" panose="02040503050406030204" pitchFamily="18" charset="0"/>
                          </a:rPr>
                        </m:ctrlPr>
                      </m:dPr>
                      <m:e>
                        <m:r>
                          <a:rPr lang="en-US" sz="1200" i="1" dirty="0">
                            <a:latin typeface="Cambria Math" panose="02040503050406030204" pitchFamily="18" charset="0"/>
                          </a:rPr>
                          <m:t>𝜶</m:t>
                        </m:r>
                      </m:e>
                    </m:d>
                  </m:oMath>
                </a14:m>
                <a:r>
                  <a:rPr lang="it-IT" dirty="0"/>
                  <a:t>, la proprietà della </a:t>
                </a:r>
                <a14:m>
                  <m:oMath xmlns:m="http://schemas.openxmlformats.org/officeDocument/2006/math">
                    <m:r>
                      <m:rPr>
                        <m:sty m:val="p"/>
                      </m:rPr>
                      <a:rPr lang="en-US" sz="1200" i="0" dirty="0" smtClean="0">
                        <a:latin typeface="Cambria Math" panose="02040503050406030204" pitchFamily="18" charset="0"/>
                      </a:rPr>
                      <m:t>Γ</m:t>
                    </m:r>
                    <m:r>
                      <a:rPr lang="it-IT" sz="1200" b="0" i="0" dirty="0" smtClean="0">
                        <a:latin typeface="Cambria Math" panose="02040503050406030204" pitchFamily="18" charset="0"/>
                      </a:rPr>
                      <m:t>(</m:t>
                    </m:r>
                    <m:r>
                      <m:rPr>
                        <m:sty m:val="p"/>
                      </m:rPr>
                      <a:rPr lang="it-IT" sz="1200" b="0" i="0" dirty="0" smtClean="0">
                        <a:latin typeface="Cambria Math" panose="02040503050406030204" pitchFamily="18" charset="0"/>
                      </a:rPr>
                      <m:t>x</m:t>
                    </m:r>
                    <m:r>
                      <a:rPr lang="it-IT" sz="1200" b="0" i="0" dirty="0" smtClean="0">
                        <a:latin typeface="Cambria Math" panose="02040503050406030204" pitchFamily="18" charset="0"/>
                      </a:rPr>
                      <m:t>)</m:t>
                    </m:r>
                  </m:oMath>
                </a14:m>
                <a:r>
                  <a:rPr lang="it-IT" dirty="0"/>
                  <a:t> scritta sopra e il fatto che il</a:t>
                </a:r>
                <a:r>
                  <a:rPr lang="it-IT" baseline="0" dirty="0"/>
                  <a:t> punto </a:t>
                </a:r>
                <a:r>
                  <a:rPr lang="it-IT" i="1" baseline="0" dirty="0"/>
                  <a:t>i </a:t>
                </a:r>
                <a:r>
                  <a:rPr lang="it-IT" baseline="0" dirty="0"/>
                  <a:t>appartiene alla componente </a:t>
                </a:r>
                <a:r>
                  <a:rPr lang="it-IT" i="1" baseline="0" dirty="0"/>
                  <a:t>k.</a:t>
                </a:r>
                <a:endParaRPr lang="it-IT" i="1" dirty="0"/>
              </a:p>
            </p:txBody>
          </p:sp>
        </mc:Choice>
        <mc:Fallback xmlns="">
          <p:sp>
            <p:nvSpPr>
              <p:cNvPr id="3" name="Notes Placeholder 2"/>
              <p:cNvSpPr>
                <a:spLocks noGrp="1"/>
              </p:cNvSpPr>
              <p:nvPr>
                <p:ph type="body" idx="1"/>
              </p:nvPr>
            </p:nvSpPr>
            <p:spPr/>
            <p:txBody>
              <a:bodyPr/>
              <a:lstStyle/>
              <a:p>
                <a:pPr marL="171450" indent="-171450">
                  <a:buFontTx/>
                  <a:buChar char="-"/>
                </a:pPr>
                <a:r>
                  <a:rPr lang="it-IT" dirty="0"/>
                  <a:t>Il calcolo di </a:t>
                </a:r>
                <a:r>
                  <a:rPr lang="it-IT" sz="1200" i="0">
                    <a:latin typeface="Cambria Math" panose="02040503050406030204" pitchFamily="18" charset="0"/>
                  </a:rPr>
                  <a:t>𝑝(𝒛│𝛼)</a:t>
                </a:r>
                <a:r>
                  <a:rPr lang="it-IT" dirty="0"/>
                  <a:t> è analogo al</a:t>
                </a:r>
                <a:r>
                  <a:rPr lang="it-IT" baseline="0" dirty="0"/>
                  <a:t> precedente calcolo di </a:t>
                </a:r>
                <a:r>
                  <a:rPr lang="it-IT" i="0">
                    <a:latin typeface="Cambria Math" panose="02040503050406030204" pitchFamily="18" charset="0"/>
                  </a:rPr>
                  <a:t>𝑝(𝒘│𝒛)</a:t>
                </a:r>
                <a:r>
                  <a:rPr lang="it-IT" dirty="0"/>
                  <a:t>, però adesso stiamo usando gli ugauli e non il proporzionale quindi devo esplicitare la normalizzazione</a:t>
                </a:r>
              </a:p>
              <a:p>
                <a:pPr marL="171450" indent="-171450">
                  <a:buFontTx/>
                  <a:buChar char="-"/>
                </a:pPr>
                <a:r>
                  <a:rPr lang="it-IT" dirty="0"/>
                  <a:t>La </a:t>
                </a:r>
                <a:r>
                  <a:rPr lang="en-US" sz="1200" i="0" dirty="0">
                    <a:latin typeface="Cambria Math" panose="02040503050406030204" pitchFamily="18" charset="0"/>
                  </a:rPr>
                  <a:t>Γ</a:t>
                </a:r>
                <a:r>
                  <a:rPr lang="it-IT" sz="1200" b="0" i="0" dirty="0">
                    <a:latin typeface="Cambria Math" panose="02040503050406030204" pitchFamily="18" charset="0"/>
                  </a:rPr>
                  <a:t>(x)</a:t>
                </a:r>
                <a:r>
                  <a:rPr lang="it-IT" dirty="0"/>
                  <a:t> ha le stessa proprietà del fattoriale: </a:t>
                </a:r>
                <a:r>
                  <a:rPr lang="en-US" sz="1200" i="0" dirty="0">
                    <a:latin typeface="Cambria Math" panose="02040503050406030204" pitchFamily="18" charset="0"/>
                  </a:rPr>
                  <a:t>Γ</a:t>
                </a:r>
                <a:r>
                  <a:rPr lang="it-IT" sz="1200" b="0" i="0" dirty="0">
                    <a:latin typeface="Cambria Math" panose="02040503050406030204" pitchFamily="18" charset="0"/>
                  </a:rPr>
                  <a:t>(x+1)=x⋅</a:t>
                </a:r>
                <a:r>
                  <a:rPr lang="en-US" sz="1200" i="0" dirty="0">
                    <a:latin typeface="Cambria Math" panose="02040503050406030204" pitchFamily="18" charset="0"/>
                  </a:rPr>
                  <a:t>Γ</a:t>
                </a:r>
                <a:r>
                  <a:rPr lang="it-IT" sz="1200" b="0" i="0" dirty="0">
                    <a:latin typeface="Cambria Math" panose="02040503050406030204" pitchFamily="18" charset="0"/>
                  </a:rPr>
                  <a:t>(x)</a:t>
                </a:r>
                <a:endParaRPr lang="it-IT" dirty="0"/>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45</a:t>
            </a:fld>
            <a:endParaRPr lang="it-IT"/>
          </a:p>
        </p:txBody>
      </p:sp>
    </p:spTree>
    <p:extLst>
      <p:ext uri="{BB962C8B-B14F-4D97-AF65-F5344CB8AC3E}">
        <p14:creationId xmlns:p14="http://schemas.microsoft.com/office/powerpoint/2010/main" val="3444294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t-IT" dirty="0"/>
                  <a:t>-L’intervallo </a:t>
                </a:r>
                <a14:m>
                  <m:oMath xmlns:m="http://schemas.openxmlformats.org/officeDocument/2006/math">
                    <m:sSubSup>
                      <m:sSubSupPr>
                        <m:ctrlPr>
                          <a:rPr lang="it-IT" sz="1200" i="1" smtClean="0">
                            <a:latin typeface="Cambria Math" panose="02040503050406030204" pitchFamily="18" charset="0"/>
                          </a:rPr>
                        </m:ctrlPr>
                      </m:sSubSupPr>
                      <m:e>
                        <m:r>
                          <a:rPr lang="it-IT" sz="1200" i="1">
                            <a:latin typeface="Cambria Math" panose="02040503050406030204" pitchFamily="18" charset="0"/>
                          </a:rPr>
                          <m:t>𝜎</m:t>
                        </m:r>
                      </m:e>
                      <m:sub>
                        <m:r>
                          <a:rPr lang="it-IT" sz="1200" i="1">
                            <a:latin typeface="Cambria Math" panose="02040503050406030204" pitchFamily="18" charset="0"/>
                          </a:rPr>
                          <m:t>𝑘</m:t>
                        </m:r>
                      </m:sub>
                      <m:sup>
                        <m:r>
                          <a:rPr lang="it-IT" sz="1200" i="1">
                            <a:latin typeface="Cambria Math" panose="02040503050406030204" pitchFamily="18" charset="0"/>
                          </a:rPr>
                          <m:t>2</m:t>
                        </m:r>
                      </m:sup>
                    </m:sSubSup>
                    <m:r>
                      <a:rPr lang="it-IT" sz="1200" b="0" i="1" smtClean="0">
                        <a:latin typeface="Cambria Math" panose="02040503050406030204" pitchFamily="18" charset="0"/>
                      </a:rPr>
                      <m:t>∈</m:t>
                    </m:r>
                    <m:d>
                      <m:dPr>
                        <m:begChr m:val="["/>
                        <m:endChr m:val="]"/>
                        <m:ctrlPr>
                          <a:rPr lang="it-IT" sz="1200" b="0" i="1" smtClean="0">
                            <a:latin typeface="Cambria Math" panose="02040503050406030204" pitchFamily="18" charset="0"/>
                          </a:rPr>
                        </m:ctrlPr>
                      </m:dPr>
                      <m:e>
                        <m:r>
                          <a:rPr lang="it-IT" sz="1200" b="0" i="1" smtClean="0">
                            <a:latin typeface="Cambria Math" panose="02040503050406030204" pitchFamily="18" charset="0"/>
                          </a:rPr>
                          <m:t>1</m:t>
                        </m:r>
                        <m:r>
                          <a:rPr lang="it-IT" sz="1200" b="0" i="1" smtClean="0">
                            <a:latin typeface="Cambria Math" panose="02040503050406030204" pitchFamily="18" charset="0"/>
                          </a:rPr>
                          <m:t>,</m:t>
                        </m:r>
                        <m:r>
                          <a:rPr lang="it-IT" sz="1200" b="0" i="1" smtClean="0">
                            <a:latin typeface="Cambria Math" panose="02040503050406030204" pitchFamily="18" charset="0"/>
                          </a:rPr>
                          <m:t>4</m:t>
                        </m:r>
                      </m:e>
                    </m:d>
                  </m:oMath>
                </a14:m>
                <a:r>
                  <a:rPr lang="it-IT" dirty="0"/>
                  <a:t> contiene i risultati ottenuti dal metropolis </a:t>
                </a:r>
                <a14:m>
                  <m:oMath xmlns:m="http://schemas.openxmlformats.org/officeDocument/2006/math">
                    <m:sSubSup>
                      <m:sSubSupPr>
                        <m:ctrlPr>
                          <a:rPr lang="it-IT" sz="1200" i="1" smtClean="0">
                            <a:latin typeface="Cambria Math" panose="02040503050406030204" pitchFamily="18" charset="0"/>
                          </a:rPr>
                        </m:ctrlPr>
                      </m:sSubSupPr>
                      <m:e>
                        <m:r>
                          <a:rPr lang="it-IT" sz="1200" i="1">
                            <a:latin typeface="Cambria Math" panose="02040503050406030204" pitchFamily="18" charset="0"/>
                          </a:rPr>
                          <m:t>𝜎</m:t>
                        </m:r>
                      </m:e>
                      <m:sub>
                        <m:r>
                          <a:rPr lang="it-IT" sz="1200" b="0" i="1" smtClean="0">
                            <a:latin typeface="Cambria Math" panose="02040503050406030204" pitchFamily="18" charset="0"/>
                          </a:rPr>
                          <m:t>1</m:t>
                        </m:r>
                      </m:sub>
                      <m:sup>
                        <m:r>
                          <a:rPr lang="it-IT" sz="1200" i="1">
                            <a:latin typeface="Cambria Math" panose="02040503050406030204" pitchFamily="18" charset="0"/>
                          </a:rPr>
                          <m:t>2</m:t>
                        </m:r>
                      </m:sup>
                    </m:sSubSup>
                    <m:r>
                      <a:rPr lang="it-IT" sz="1200" b="0" i="1" smtClean="0">
                        <a:latin typeface="Cambria Math" panose="02040503050406030204" pitchFamily="18" charset="0"/>
                      </a:rPr>
                      <m:t>≈</m:t>
                    </m:r>
                    <m:r>
                      <a:rPr lang="it-IT" sz="1200" b="0" i="1" smtClean="0">
                        <a:latin typeface="Cambria Math" panose="02040503050406030204" pitchFamily="18" charset="0"/>
                      </a:rPr>
                      <m:t>1</m:t>
                    </m:r>
                  </m:oMath>
                </a14:m>
                <a:r>
                  <a:rPr lang="it-IT" dirty="0"/>
                  <a:t>, </a:t>
                </a:r>
                <a14:m>
                  <m:oMath xmlns:m="http://schemas.openxmlformats.org/officeDocument/2006/math">
                    <m:sSubSup>
                      <m:sSubSupPr>
                        <m:ctrlPr>
                          <a:rPr lang="it-IT" sz="1200" i="1" smtClean="0">
                            <a:latin typeface="Cambria Math" panose="02040503050406030204" pitchFamily="18" charset="0"/>
                          </a:rPr>
                        </m:ctrlPr>
                      </m:sSubSupPr>
                      <m:e>
                        <m:r>
                          <a:rPr lang="it-IT" sz="1200" i="1">
                            <a:latin typeface="Cambria Math" panose="02040503050406030204" pitchFamily="18" charset="0"/>
                          </a:rPr>
                          <m:t>𝜎</m:t>
                        </m:r>
                      </m:e>
                      <m:sub>
                        <m:r>
                          <a:rPr lang="it-IT" sz="1200" b="0" i="1" smtClean="0">
                            <a:latin typeface="Cambria Math" panose="02040503050406030204" pitchFamily="18" charset="0"/>
                          </a:rPr>
                          <m:t>2</m:t>
                        </m:r>
                      </m:sub>
                      <m:sup>
                        <m:r>
                          <a:rPr lang="it-IT" sz="1200" i="1">
                            <a:latin typeface="Cambria Math" panose="02040503050406030204" pitchFamily="18" charset="0"/>
                          </a:rPr>
                          <m:t>2</m:t>
                        </m:r>
                      </m:sup>
                    </m:sSubSup>
                    <m:r>
                      <a:rPr lang="it-IT" sz="1200" b="0" i="1" smtClean="0">
                        <a:latin typeface="Cambria Math" panose="02040503050406030204" pitchFamily="18" charset="0"/>
                      </a:rPr>
                      <m:t>≈</m:t>
                    </m:r>
                    <m:r>
                      <a:rPr lang="it-IT" sz="1200" b="0" i="1" smtClean="0">
                        <a:latin typeface="Cambria Math" panose="02040503050406030204" pitchFamily="18" charset="0"/>
                      </a:rPr>
                      <m:t>2</m:t>
                    </m:r>
                  </m:oMath>
                </a14:m>
                <a:r>
                  <a:rPr lang="it-IT" dirty="0"/>
                  <a:t>.</a:t>
                </a:r>
              </a:p>
            </p:txBody>
          </p:sp>
        </mc:Choice>
        <mc:Fallback xmlns="">
          <p:sp>
            <p:nvSpPr>
              <p:cNvPr id="3" name="Notes Placeholder 2"/>
              <p:cNvSpPr>
                <a:spLocks noGrp="1"/>
              </p:cNvSpPr>
              <p:nvPr>
                <p:ph type="body" idx="1"/>
              </p:nvPr>
            </p:nvSpPr>
            <p:spPr/>
            <p:txBody>
              <a:bodyPr/>
              <a:lstStyle/>
              <a:p>
                <a:r>
                  <a:rPr lang="it-IT" dirty="0"/>
                  <a:t>-L’intervallo </a:t>
                </a:r>
                <a:r>
                  <a:rPr lang="it-IT" sz="1200" i="0">
                    <a:latin typeface="Cambria Math" panose="02040503050406030204" pitchFamily="18" charset="0"/>
                  </a:rPr>
                  <a:t>𝜎_𝑘^2</a:t>
                </a:r>
                <a:r>
                  <a:rPr lang="it-IT" sz="1200" b="0" i="0">
                    <a:latin typeface="Cambria Math" panose="02040503050406030204" pitchFamily="18" charset="0"/>
                  </a:rPr>
                  <a:t>∈[1,4]</a:t>
                </a:r>
                <a:r>
                  <a:rPr lang="it-IT" dirty="0"/>
                  <a:t> contiene i risultati ottenuti dal metropolis </a:t>
                </a:r>
                <a:r>
                  <a:rPr lang="it-IT" sz="1200" i="0">
                    <a:latin typeface="Cambria Math" panose="02040503050406030204" pitchFamily="18" charset="0"/>
                  </a:rPr>
                  <a:t>𝜎_</a:t>
                </a:r>
                <a:r>
                  <a:rPr lang="it-IT" sz="1200" b="0" i="0">
                    <a:latin typeface="Cambria Math" panose="02040503050406030204" pitchFamily="18" charset="0"/>
                  </a:rPr>
                  <a:t>1^</a:t>
                </a:r>
                <a:r>
                  <a:rPr lang="it-IT" sz="1200" i="0">
                    <a:latin typeface="Cambria Math" panose="02040503050406030204" pitchFamily="18" charset="0"/>
                  </a:rPr>
                  <a:t>2</a:t>
                </a:r>
                <a:r>
                  <a:rPr lang="it-IT" sz="1200" b="0" i="0">
                    <a:latin typeface="Cambria Math" panose="02040503050406030204" pitchFamily="18" charset="0"/>
                  </a:rPr>
                  <a:t>≈1</a:t>
                </a:r>
                <a:r>
                  <a:rPr lang="it-IT" dirty="0"/>
                  <a:t>, </a:t>
                </a:r>
                <a:r>
                  <a:rPr lang="it-IT" sz="1200" i="0">
                    <a:latin typeface="Cambria Math" panose="02040503050406030204" pitchFamily="18" charset="0"/>
                  </a:rPr>
                  <a:t>𝜎_</a:t>
                </a:r>
                <a:r>
                  <a:rPr lang="it-IT" sz="1200" b="0" i="0">
                    <a:latin typeface="Cambria Math" panose="02040503050406030204" pitchFamily="18" charset="0"/>
                  </a:rPr>
                  <a:t>2^</a:t>
                </a:r>
                <a:r>
                  <a:rPr lang="it-IT" sz="1200" i="0">
                    <a:latin typeface="Cambria Math" panose="02040503050406030204" pitchFamily="18" charset="0"/>
                  </a:rPr>
                  <a:t>2</a:t>
                </a:r>
                <a:r>
                  <a:rPr lang="it-IT" sz="1200" b="0" i="0">
                    <a:latin typeface="Cambria Math" panose="02040503050406030204" pitchFamily="18" charset="0"/>
                  </a:rPr>
                  <a:t>≈2</a:t>
                </a:r>
                <a:r>
                  <a:rPr lang="it-IT" dirty="0"/>
                  <a:t>.</a:t>
                </a:r>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46</a:t>
            </a:fld>
            <a:endParaRPr lang="it-IT"/>
          </a:p>
        </p:txBody>
      </p:sp>
    </p:spTree>
    <p:extLst>
      <p:ext uri="{BB962C8B-B14F-4D97-AF65-F5344CB8AC3E}">
        <p14:creationId xmlns:p14="http://schemas.microsoft.com/office/powerpoint/2010/main" val="34392205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t-IT" dirty="0"/>
                  <a:t>- Grazie a questa nuova prior, </a:t>
                </a:r>
                <a14:m>
                  <m:oMath xmlns:m="http://schemas.openxmlformats.org/officeDocument/2006/math">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𝛼</m:t>
                        </m:r>
                      </m:e>
                      <m:sub>
                        <m:r>
                          <a:rPr lang="it-IT" sz="1200" b="0" i="1" smtClean="0">
                            <a:latin typeface="Cambria Math" panose="02040503050406030204" pitchFamily="18" charset="0"/>
                          </a:rPr>
                          <m:t>𝑛</m:t>
                        </m:r>
                      </m:sub>
                    </m:sSub>
                  </m:oMath>
                </a14:m>
                <a:r>
                  <a:rPr lang="it-IT" dirty="0"/>
                  <a:t> ha come limite inferiore </a:t>
                </a:r>
                <a14:m>
                  <m:oMath xmlns:m="http://schemas.openxmlformats.org/officeDocument/2006/math">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𝛼</m:t>
                        </m:r>
                      </m:e>
                      <m:sub>
                        <m:r>
                          <a:rPr lang="it-IT" sz="1200" b="0" i="1" smtClean="0">
                            <a:latin typeface="Cambria Math" panose="02040503050406030204" pitchFamily="18" charset="0"/>
                          </a:rPr>
                          <m:t>0</m:t>
                        </m:r>
                      </m:sub>
                    </m:sSub>
                  </m:oMath>
                </a14:m>
                <a:r>
                  <a:rPr lang="it-IT" dirty="0"/>
                  <a:t>, quindi se </a:t>
                </a:r>
                <a14:m>
                  <m:oMath xmlns:m="http://schemas.openxmlformats.org/officeDocument/2006/math">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𝛼</m:t>
                        </m:r>
                      </m:e>
                      <m:sub>
                        <m:r>
                          <a:rPr lang="it-IT" sz="1200" b="0" i="1" smtClean="0">
                            <a:latin typeface="Cambria Math" panose="02040503050406030204" pitchFamily="18" charset="0"/>
                          </a:rPr>
                          <m:t>0</m:t>
                        </m:r>
                      </m:sub>
                    </m:sSub>
                    <m:r>
                      <a:rPr lang="it-IT" sz="1200" b="0" i="0" smtClean="0">
                        <a:latin typeface="Cambria Math" panose="02040503050406030204" pitchFamily="18" charset="0"/>
                      </a:rPr>
                      <m:t>&gt;</m:t>
                    </m:r>
                    <m:r>
                      <a:rPr lang="it-IT" sz="1200" b="0" i="0" smtClean="0">
                        <a:latin typeface="Cambria Math" panose="02040503050406030204" pitchFamily="18" charset="0"/>
                      </a:rPr>
                      <m:t>0</m:t>
                    </m:r>
                    <m:r>
                      <a:rPr lang="it-IT" sz="1200" b="0" i="1" smtClean="0">
                        <a:latin typeface="Cambria Math" panose="02040503050406030204" pitchFamily="18" charset="0"/>
                      </a:rPr>
                      <m:t>⇒</m:t>
                    </m:r>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𝛼</m:t>
                        </m:r>
                      </m:e>
                      <m:sub>
                        <m:r>
                          <a:rPr lang="it-IT" sz="1200" b="0" i="1" smtClean="0">
                            <a:latin typeface="Cambria Math" panose="02040503050406030204" pitchFamily="18" charset="0"/>
                          </a:rPr>
                          <m:t>𝑛</m:t>
                        </m:r>
                      </m:sub>
                    </m:sSub>
                    <m:r>
                      <a:rPr lang="it-IT" sz="1200" b="0" i="1" smtClean="0">
                        <a:latin typeface="Cambria Math" panose="02040503050406030204" pitchFamily="18" charset="0"/>
                      </a:rPr>
                      <m:t>&gt;</m:t>
                    </m:r>
                    <m:r>
                      <a:rPr lang="it-IT" sz="1200" b="0" i="1" smtClean="0">
                        <a:latin typeface="Cambria Math" panose="02040503050406030204" pitchFamily="18" charset="0"/>
                      </a:rPr>
                      <m:t>0</m:t>
                    </m:r>
                  </m:oMath>
                </a14:m>
                <a:r>
                  <a:rPr lang="it-IT" dirty="0"/>
                  <a:t>, quindi non diverge se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𝑛</m:t>
                        </m:r>
                      </m:e>
                      <m:sub>
                        <m:r>
                          <a:rPr lang="it-IT" sz="1200" i="1">
                            <a:latin typeface="Cambria Math" panose="02040503050406030204" pitchFamily="18" charset="0"/>
                          </a:rPr>
                          <m:t>𝑘</m:t>
                        </m:r>
                        <m:r>
                          <a:rPr lang="it-IT" sz="1200" i="1">
                            <a:latin typeface="Cambria Math" panose="02040503050406030204" pitchFamily="18" charset="0"/>
                          </a:rPr>
                          <m:t>¬</m:t>
                        </m:r>
                        <m:r>
                          <a:rPr lang="it-IT" sz="1200" i="1">
                            <a:latin typeface="Cambria Math" panose="02040503050406030204" pitchFamily="18" charset="0"/>
                          </a:rPr>
                          <m:t>𝑖</m:t>
                        </m:r>
                      </m:sub>
                    </m:sSub>
                    <m:r>
                      <a:rPr lang="it-IT" sz="1200" b="0" i="1" smtClean="0">
                        <a:latin typeface="Cambria Math" panose="02040503050406030204" pitchFamily="18" charset="0"/>
                      </a:rPr>
                      <m:t>&lt;</m:t>
                    </m:r>
                    <m:r>
                      <a:rPr lang="it-IT" sz="1200" b="0" i="1" smtClean="0">
                        <a:latin typeface="Cambria Math" panose="02040503050406030204" pitchFamily="18" charset="0"/>
                      </a:rPr>
                      <m:t>1</m:t>
                    </m:r>
                  </m:oMath>
                </a14:m>
                <a:r>
                  <a:rPr lang="it-IT" dirty="0"/>
                  <a:t>.</a:t>
                </a:r>
              </a:p>
              <a:p>
                <a:r>
                  <a:rPr lang="it-IT" dirty="0"/>
                  <a:t>- </a:t>
                </a:r>
                <a14:m>
                  <m:oMath xmlns:m="http://schemas.openxmlformats.org/officeDocument/2006/math">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𝜇</m:t>
                        </m:r>
                      </m:e>
                      <m:sub>
                        <m:r>
                          <a:rPr lang="it-IT" sz="1200" b="0" i="1" smtClean="0">
                            <a:latin typeface="Cambria Math" panose="02040503050406030204" pitchFamily="18" charset="0"/>
                          </a:rPr>
                          <m:t>𝑛</m:t>
                        </m:r>
                      </m:sub>
                    </m:sSub>
                  </m:oMath>
                </a14:m>
                <a:r>
                  <a:rPr lang="it-IT" dirty="0"/>
                  <a:t> è una media pesata tra la media della prior </a:t>
                </a:r>
                <a14:m>
                  <m:oMath xmlns:m="http://schemas.openxmlformats.org/officeDocument/2006/math">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𝜇</m:t>
                        </m:r>
                      </m:e>
                      <m:sub>
                        <m:r>
                          <a:rPr lang="it-IT" sz="1200" b="0" i="1" smtClean="0">
                            <a:latin typeface="Cambria Math" panose="02040503050406030204" pitchFamily="18" charset="0"/>
                          </a:rPr>
                          <m:t>0</m:t>
                        </m:r>
                      </m:sub>
                    </m:sSub>
                  </m:oMath>
                </a14:m>
                <a:r>
                  <a:rPr lang="it-IT" dirty="0"/>
                  <a:t> e la media campionaria </a:t>
                </a:r>
                <a14:m>
                  <m:oMath xmlns:m="http://schemas.openxmlformats.org/officeDocument/2006/math">
                    <m:sSub>
                      <m:sSubPr>
                        <m:ctrlPr>
                          <a:rPr lang="it-IT" sz="1200" i="1" smtClean="0">
                            <a:latin typeface="Cambria Math" panose="02040503050406030204" pitchFamily="18" charset="0"/>
                          </a:rPr>
                        </m:ctrlPr>
                      </m:sSubPr>
                      <m:e>
                        <m:bar>
                          <m:barPr>
                            <m:pos m:val="top"/>
                            <m:ctrlPr>
                              <a:rPr lang="it-IT" sz="1200" i="1">
                                <a:latin typeface="Cambria Math" panose="02040503050406030204" pitchFamily="18" charset="0"/>
                              </a:rPr>
                            </m:ctrlPr>
                          </m:barPr>
                          <m:e>
                            <m:r>
                              <a:rPr lang="it-IT" sz="1200" i="1">
                                <a:latin typeface="Cambria Math" panose="02040503050406030204" pitchFamily="18" charset="0"/>
                              </a:rPr>
                              <m:t>𝑥</m:t>
                            </m:r>
                          </m:e>
                        </m:bar>
                      </m:e>
                      <m:sub>
                        <m:r>
                          <a:rPr lang="it-IT" sz="1200" i="1">
                            <a:latin typeface="Cambria Math" panose="02040503050406030204" pitchFamily="18" charset="0"/>
                          </a:rPr>
                          <m:t>𝑘</m:t>
                        </m:r>
                        <m:r>
                          <a:rPr lang="it-IT" sz="1200" b="0" i="1" smtClean="0">
                            <a:latin typeface="Cambria Math" panose="02040503050406030204" pitchFamily="18" charset="0"/>
                          </a:rPr>
                          <m:t>¬</m:t>
                        </m:r>
                        <m:r>
                          <m:rPr>
                            <m:sty m:val="p"/>
                          </m:rPr>
                          <a:rPr lang="it-IT" sz="1200" b="0" i="1" smtClean="0">
                            <a:latin typeface="Cambria Math" panose="02040503050406030204" pitchFamily="18" charset="0"/>
                          </a:rPr>
                          <m:t>i</m:t>
                        </m:r>
                      </m:sub>
                    </m:sSub>
                  </m:oMath>
                </a14:m>
                <a:endParaRPr lang="it-IT" dirty="0"/>
              </a:p>
              <a:p>
                <a:pPr marL="171450" indent="-171450">
                  <a:buFontTx/>
                  <a:buChar char="-"/>
                </a:pPr>
                <a14:m>
                  <m:oMath xmlns:m="http://schemas.openxmlformats.org/officeDocument/2006/math">
                    <m:sSub>
                      <m:sSubPr>
                        <m:ctrlPr>
                          <a:rPr lang="it-IT" sz="1200" i="1" smtClean="0">
                            <a:latin typeface="Cambria Math" panose="02040503050406030204" pitchFamily="18" charset="0"/>
                          </a:rPr>
                        </m:ctrlPr>
                      </m:sSubPr>
                      <m:e>
                        <m:bar>
                          <m:barPr>
                            <m:pos m:val="top"/>
                            <m:ctrlPr>
                              <a:rPr lang="it-IT" sz="1200" i="1">
                                <a:latin typeface="Cambria Math" panose="02040503050406030204" pitchFamily="18" charset="0"/>
                              </a:rPr>
                            </m:ctrlPr>
                          </m:barPr>
                          <m:e>
                            <m:r>
                              <a:rPr lang="it-IT" sz="1200" i="1">
                                <a:latin typeface="Cambria Math" panose="02040503050406030204" pitchFamily="18" charset="0"/>
                              </a:rPr>
                              <m:t>𝑥</m:t>
                            </m:r>
                          </m:e>
                        </m:bar>
                      </m:e>
                      <m:sub>
                        <m:r>
                          <a:rPr lang="it-IT" sz="1200" i="1">
                            <a:latin typeface="Cambria Math" panose="02040503050406030204" pitchFamily="18" charset="0"/>
                          </a:rPr>
                          <m:t>𝑘</m:t>
                        </m:r>
                        <m:r>
                          <a:rPr lang="it-IT" sz="1200" b="0" i="1" smtClean="0">
                            <a:latin typeface="Cambria Math" panose="02040503050406030204" pitchFamily="18" charset="0"/>
                          </a:rPr>
                          <m:t>¬</m:t>
                        </m:r>
                        <m:r>
                          <m:rPr>
                            <m:sty m:val="p"/>
                          </m:rPr>
                          <a:rPr lang="it-IT" sz="1200" b="0" i="1" smtClean="0">
                            <a:latin typeface="Cambria Math" panose="02040503050406030204" pitchFamily="18" charset="0"/>
                          </a:rPr>
                          <m:t>i</m:t>
                        </m:r>
                      </m:sub>
                    </m:sSub>
                  </m:oMath>
                </a14:m>
                <a:r>
                  <a:rPr lang="it-IT" dirty="0"/>
                  <a:t> e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𝑆</m:t>
                        </m:r>
                      </m:e>
                      <m:sub>
                        <m:r>
                          <a:rPr lang="it-IT" sz="1200" i="1">
                            <a:latin typeface="Cambria Math" panose="02040503050406030204" pitchFamily="18" charset="0"/>
                          </a:rPr>
                          <m:t>𝑘</m:t>
                        </m:r>
                        <m:r>
                          <a:rPr lang="it-IT" sz="1200" i="1">
                            <a:latin typeface="Cambria Math" panose="02040503050406030204" pitchFamily="18" charset="0"/>
                          </a:rPr>
                          <m:t>¬</m:t>
                        </m:r>
                        <m:r>
                          <a:rPr lang="it-IT" sz="1200" i="1">
                            <a:latin typeface="Cambria Math" panose="02040503050406030204" pitchFamily="18" charset="0"/>
                          </a:rPr>
                          <m:t>𝑖</m:t>
                        </m:r>
                      </m:sub>
                    </m:sSub>
                  </m:oMath>
                </a14:m>
                <a:r>
                  <a:rPr lang="it-IT" dirty="0"/>
                  <a:t> non sono stati definiti perché sono analoghi al caso gibbs sampling ma escludento il</a:t>
                </a:r>
                <a:r>
                  <a:rPr lang="it-IT" baseline="0" dirty="0"/>
                  <a:t> punto </a:t>
                </a:r>
                <a:r>
                  <a:rPr lang="it-IT" i="1" baseline="0" dirty="0"/>
                  <a:t>i </a:t>
                </a:r>
                <a:r>
                  <a:rPr lang="it-IT" i="0" baseline="0" dirty="0"/>
                  <a:t>dalle sommatorie</a:t>
                </a:r>
                <a:r>
                  <a:rPr lang="it-IT" baseline="0" dirty="0"/>
                  <a:t>.</a:t>
                </a:r>
              </a:p>
              <a:p>
                <a:pPr marL="171450" indent="-171450">
                  <a:buFontTx/>
                  <a:buChar char="-"/>
                </a:pPr>
                <a14:m>
                  <m:oMath xmlns:m="http://schemas.openxmlformats.org/officeDocument/2006/math">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𝛽</m:t>
                        </m:r>
                      </m:e>
                      <m:sub>
                        <m:r>
                          <a:rPr lang="it-IT" sz="1200" b="0" i="1" smtClean="0">
                            <a:latin typeface="Cambria Math" panose="02040503050406030204" pitchFamily="18" charset="0"/>
                          </a:rPr>
                          <m:t>𝑛</m:t>
                        </m:r>
                      </m:sub>
                    </m:sSub>
                  </m:oMath>
                </a14:m>
                <a:r>
                  <a:rPr lang="it-IT" dirty="0"/>
                  <a:t> tiene sia conto delle distanze dalla media campionaria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𝑆</m:t>
                        </m:r>
                      </m:e>
                      <m:sub>
                        <m:r>
                          <a:rPr lang="it-IT" sz="1200" i="1">
                            <a:latin typeface="Cambria Math" panose="02040503050406030204" pitchFamily="18" charset="0"/>
                          </a:rPr>
                          <m:t>𝑘</m:t>
                        </m:r>
                        <m:r>
                          <a:rPr lang="it-IT" sz="1200" i="1">
                            <a:latin typeface="Cambria Math" panose="02040503050406030204" pitchFamily="18" charset="0"/>
                          </a:rPr>
                          <m:t>¬</m:t>
                        </m:r>
                        <m:r>
                          <a:rPr lang="it-IT" sz="1200" i="1">
                            <a:latin typeface="Cambria Math" panose="02040503050406030204" pitchFamily="18" charset="0"/>
                          </a:rPr>
                          <m:t>𝑖</m:t>
                        </m:r>
                      </m:sub>
                    </m:sSub>
                  </m:oMath>
                </a14:m>
                <a:r>
                  <a:rPr lang="it-IT" dirty="0"/>
                  <a:t> che le distanze tra media campionaria</a:t>
                </a:r>
                <a:r>
                  <a:rPr lang="it-IT" baseline="0" dirty="0"/>
                  <a:t> e media della prior: </a:t>
                </a:r>
                <a14:m>
                  <m:oMath xmlns:m="http://schemas.openxmlformats.org/officeDocument/2006/math">
                    <m:sSup>
                      <m:sSupPr>
                        <m:ctrlPr>
                          <a:rPr lang="it-IT" sz="1200" b="0" i="1" smtClean="0">
                            <a:latin typeface="Cambria Math" panose="02040503050406030204" pitchFamily="18" charset="0"/>
                          </a:rPr>
                        </m:ctrlPr>
                      </m:sSupPr>
                      <m:e>
                        <m:d>
                          <m:dPr>
                            <m:ctrlPr>
                              <a:rPr lang="it-IT" sz="1200" b="0" i="1" smtClean="0">
                                <a:latin typeface="Cambria Math" panose="02040503050406030204" pitchFamily="18" charset="0"/>
                              </a:rPr>
                            </m:ctrlPr>
                          </m:dPr>
                          <m:e>
                            <m:sSub>
                              <m:sSubPr>
                                <m:ctrlPr>
                                  <a:rPr lang="it-IT" sz="1200" i="1" smtClean="0">
                                    <a:latin typeface="Cambria Math" panose="02040503050406030204" pitchFamily="18" charset="0"/>
                                  </a:rPr>
                                </m:ctrlPr>
                              </m:sSubPr>
                              <m:e>
                                <m:bar>
                                  <m:barPr>
                                    <m:pos m:val="top"/>
                                    <m:ctrlPr>
                                      <a:rPr lang="it-IT" sz="1200" i="1">
                                        <a:latin typeface="Cambria Math" panose="02040503050406030204" pitchFamily="18" charset="0"/>
                                      </a:rPr>
                                    </m:ctrlPr>
                                  </m:barPr>
                                  <m:e>
                                    <m:r>
                                      <a:rPr lang="it-IT" sz="1200" i="1">
                                        <a:latin typeface="Cambria Math" panose="02040503050406030204" pitchFamily="18" charset="0"/>
                                      </a:rPr>
                                      <m:t>𝑥</m:t>
                                    </m:r>
                                  </m:e>
                                </m:bar>
                              </m:e>
                              <m:sub>
                                <m:r>
                                  <a:rPr lang="it-IT" sz="1200" i="1">
                                    <a:latin typeface="Cambria Math" panose="02040503050406030204" pitchFamily="18" charset="0"/>
                                  </a:rPr>
                                  <m:t>𝑘</m:t>
                                </m:r>
                                <m:r>
                                  <a:rPr lang="it-IT" sz="1200" b="0" i="1" smtClean="0">
                                    <a:latin typeface="Cambria Math" panose="02040503050406030204" pitchFamily="18" charset="0"/>
                                  </a:rPr>
                                  <m:t>¬</m:t>
                                </m:r>
                                <m:r>
                                  <m:rPr>
                                    <m:sty m:val="p"/>
                                  </m:rPr>
                                  <a:rPr lang="it-IT" sz="1200" b="0" i="1" smtClean="0">
                                    <a:latin typeface="Cambria Math" panose="02040503050406030204" pitchFamily="18" charset="0"/>
                                  </a:rPr>
                                  <m:t>i</m:t>
                                </m:r>
                              </m:sub>
                            </m:sSub>
                            <m:r>
                              <a:rPr lang="it-IT" sz="1200" b="0" i="1" smtClean="0">
                                <a:latin typeface="Cambria Math" panose="02040503050406030204" pitchFamily="18" charset="0"/>
                              </a:rPr>
                              <m:t>−</m:t>
                            </m:r>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𝜇</m:t>
                                </m:r>
                              </m:e>
                              <m:sub>
                                <m:r>
                                  <a:rPr lang="it-IT" sz="1200" b="0" i="1" smtClean="0">
                                    <a:latin typeface="Cambria Math" panose="02040503050406030204" pitchFamily="18" charset="0"/>
                                  </a:rPr>
                                  <m:t>0</m:t>
                                </m:r>
                              </m:sub>
                            </m:sSub>
                          </m:e>
                        </m:d>
                      </m:e>
                      <m:sup>
                        <m:r>
                          <a:rPr lang="it-IT" sz="1200" b="0" i="1" smtClean="0">
                            <a:latin typeface="Cambria Math" panose="02040503050406030204" pitchFamily="18" charset="0"/>
                          </a:rPr>
                          <m:t>2</m:t>
                        </m:r>
                      </m:sup>
                    </m:sSup>
                  </m:oMath>
                </a14:m>
                <a:r>
                  <a:rPr lang="it-IT" baseline="0" dirty="0"/>
                  <a:t> </a:t>
                </a:r>
              </a:p>
              <a:p>
                <a:pPr marL="171450" indent="-171450">
                  <a:buFontTx/>
                  <a:buChar char="-"/>
                </a:pPr>
                <a:r>
                  <a:rPr lang="it-IT" baseline="0" dirty="0"/>
                  <a:t>All’aumentare dei punti nel cluster k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𝑛</m:t>
                        </m:r>
                      </m:e>
                      <m:sub>
                        <m:r>
                          <a:rPr lang="it-IT" sz="1200" i="1">
                            <a:latin typeface="Cambria Math" panose="02040503050406030204" pitchFamily="18" charset="0"/>
                          </a:rPr>
                          <m:t>𝑘</m:t>
                        </m:r>
                        <m:r>
                          <a:rPr lang="it-IT" sz="1200" i="1">
                            <a:latin typeface="Cambria Math" panose="02040503050406030204" pitchFamily="18" charset="0"/>
                          </a:rPr>
                          <m:t>¬</m:t>
                        </m:r>
                        <m:r>
                          <a:rPr lang="it-IT" sz="1200" i="1">
                            <a:latin typeface="Cambria Math" panose="02040503050406030204" pitchFamily="18" charset="0"/>
                          </a:rPr>
                          <m:t>𝑖</m:t>
                        </m:r>
                      </m:sub>
                    </m:sSub>
                    <m:r>
                      <a:rPr lang="it-IT" sz="1200" b="0" i="1" smtClean="0">
                        <a:latin typeface="Cambria Math" panose="02040503050406030204" pitchFamily="18" charset="0"/>
                      </a:rPr>
                      <m:t>)</m:t>
                    </m:r>
                  </m:oMath>
                </a14:m>
                <a:r>
                  <a:rPr lang="it-IT" baseline="0" dirty="0"/>
                  <a:t> , il valore di </a:t>
                </a:r>
                <a14:m>
                  <m:oMath xmlns:m="http://schemas.openxmlformats.org/officeDocument/2006/math">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𝜅</m:t>
                        </m:r>
                      </m:e>
                      <m:sub>
                        <m:r>
                          <a:rPr lang="it-IT" sz="1200" b="0" i="1" smtClean="0">
                            <a:latin typeface="Cambria Math" panose="02040503050406030204" pitchFamily="18" charset="0"/>
                          </a:rPr>
                          <m:t>𝑛</m:t>
                        </m:r>
                      </m:sub>
                    </m:sSub>
                  </m:oMath>
                </a14:m>
                <a:r>
                  <a:rPr lang="it-IT" dirty="0"/>
                  <a:t> aumenta, quindi la normale che definisce la probabilità di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𝜇</m:t>
                        </m:r>
                      </m:e>
                      <m:sub>
                        <m:r>
                          <a:rPr lang="it-IT" sz="1200" i="1">
                            <a:latin typeface="Cambria Math" panose="02040503050406030204" pitchFamily="18" charset="0"/>
                          </a:rPr>
                          <m:t>𝑘</m:t>
                        </m:r>
                      </m:sub>
                    </m:sSub>
                  </m:oMath>
                </a14:m>
                <a:r>
                  <a:rPr lang="it-IT" dirty="0"/>
                  <a:t> si stringe sempre di più intorno a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𝜇</m:t>
                        </m:r>
                      </m:e>
                      <m:sub>
                        <m:r>
                          <a:rPr lang="it-IT" sz="1200" i="1">
                            <a:latin typeface="Cambria Math" panose="02040503050406030204" pitchFamily="18" charset="0"/>
                          </a:rPr>
                          <m:t>𝑛</m:t>
                        </m:r>
                      </m:sub>
                    </m:sSub>
                  </m:oMath>
                </a14:m>
                <a:r>
                  <a:rPr lang="it-IT" dirty="0"/>
                  <a:t>.</a:t>
                </a:r>
              </a:p>
              <a:p>
                <a:pPr marL="171450" indent="-171450">
                  <a:buFontTx/>
                  <a:buChar char="-"/>
                </a:pPr>
                <a:r>
                  <a:rPr lang="it-IT" dirty="0"/>
                  <a:t>All’aumentare di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𝑛</m:t>
                        </m:r>
                      </m:e>
                      <m:sub>
                        <m:r>
                          <a:rPr lang="it-IT" sz="1200" i="1">
                            <a:latin typeface="Cambria Math" panose="02040503050406030204" pitchFamily="18" charset="0"/>
                          </a:rPr>
                          <m:t>𝑘</m:t>
                        </m:r>
                        <m:r>
                          <a:rPr lang="it-IT" sz="1200" i="1">
                            <a:latin typeface="Cambria Math" panose="02040503050406030204" pitchFamily="18" charset="0"/>
                          </a:rPr>
                          <m:t>¬</m:t>
                        </m:r>
                        <m:r>
                          <a:rPr lang="it-IT" sz="1200" i="1">
                            <a:latin typeface="Cambria Math" panose="02040503050406030204" pitchFamily="18" charset="0"/>
                          </a:rPr>
                          <m:t>𝑖</m:t>
                        </m:r>
                      </m:sub>
                    </m:sSub>
                  </m:oMath>
                </a14:m>
                <a:r>
                  <a:rPr lang="it-IT" dirty="0"/>
                  <a:t> i valori della prior diventano sempre più trascurabili</a:t>
                </a:r>
              </a:p>
            </p:txBody>
          </p:sp>
        </mc:Choice>
        <mc:Fallback xmlns="">
          <p:sp>
            <p:nvSpPr>
              <p:cNvPr id="3" name="Notes Placeholder 2"/>
              <p:cNvSpPr>
                <a:spLocks noGrp="1"/>
              </p:cNvSpPr>
              <p:nvPr>
                <p:ph type="body" idx="1"/>
              </p:nvPr>
            </p:nvSpPr>
            <p:spPr/>
            <p:txBody>
              <a:bodyPr/>
              <a:lstStyle/>
              <a:p>
                <a:r>
                  <a:rPr lang="it-IT" dirty="0"/>
                  <a:t>- Grazie a questa nuova prior, </a:t>
                </a:r>
                <a:r>
                  <a:rPr lang="it-IT" sz="1200" b="0" i="0">
                    <a:latin typeface="Cambria Math" panose="02040503050406030204" pitchFamily="18" charset="0"/>
                  </a:rPr>
                  <a:t>𝛼_𝑛</a:t>
                </a:r>
                <a:r>
                  <a:rPr lang="it-IT" dirty="0"/>
                  <a:t> ha come limite inferiore </a:t>
                </a:r>
                <a:r>
                  <a:rPr lang="it-IT" sz="1200" b="0" i="0">
                    <a:latin typeface="Cambria Math" panose="02040503050406030204" pitchFamily="18" charset="0"/>
                  </a:rPr>
                  <a:t>𝛼_0</a:t>
                </a:r>
                <a:r>
                  <a:rPr lang="it-IT" dirty="0"/>
                  <a:t>, quindi se </a:t>
                </a:r>
                <a:r>
                  <a:rPr lang="it-IT" sz="1200" b="0" i="0">
                    <a:latin typeface="Cambria Math" panose="02040503050406030204" pitchFamily="18" charset="0"/>
                  </a:rPr>
                  <a:t>𝛼_0&gt;0⇒𝛼_𝑛&gt;0</a:t>
                </a:r>
                <a:r>
                  <a:rPr lang="it-IT" dirty="0"/>
                  <a:t>, quindi non diverge se </a:t>
                </a:r>
                <a:r>
                  <a:rPr lang="it-IT" sz="1200" i="0">
                    <a:latin typeface="Cambria Math" panose="02040503050406030204" pitchFamily="18" charset="0"/>
                  </a:rPr>
                  <a:t>𝑛_(𝑘¬𝑖)</a:t>
                </a:r>
                <a:r>
                  <a:rPr lang="it-IT" sz="1200" b="0" i="0">
                    <a:latin typeface="Cambria Math" panose="02040503050406030204" pitchFamily="18" charset="0"/>
                  </a:rPr>
                  <a:t>&lt;1</a:t>
                </a:r>
                <a:r>
                  <a:rPr lang="it-IT" dirty="0"/>
                  <a:t>.</a:t>
                </a:r>
              </a:p>
              <a:p>
                <a:r>
                  <a:rPr lang="it-IT" dirty="0"/>
                  <a:t>- </a:t>
                </a:r>
                <a:r>
                  <a:rPr lang="it-IT" sz="1200" b="0" i="0">
                    <a:latin typeface="Cambria Math" panose="02040503050406030204" pitchFamily="18" charset="0"/>
                  </a:rPr>
                  <a:t>𝜇_𝑛</a:t>
                </a:r>
                <a:r>
                  <a:rPr lang="it-IT" dirty="0"/>
                  <a:t> è una media pesata tra la media della prior </a:t>
                </a:r>
                <a:r>
                  <a:rPr lang="it-IT" sz="1200" b="0" i="0">
                    <a:latin typeface="Cambria Math" panose="02040503050406030204" pitchFamily="18" charset="0"/>
                  </a:rPr>
                  <a:t>𝜇_0</a:t>
                </a:r>
                <a:r>
                  <a:rPr lang="it-IT" dirty="0"/>
                  <a:t> e la media campionaria </a:t>
                </a:r>
                <a:r>
                  <a:rPr lang="it-IT" sz="1200" i="0">
                    <a:latin typeface="Cambria Math" panose="02040503050406030204" pitchFamily="18" charset="0"/>
                  </a:rPr>
                  <a:t>¯𝑥_(𝑘</a:t>
                </a:r>
                <a:r>
                  <a:rPr lang="it-IT" sz="1200" b="0" i="0">
                    <a:latin typeface="Cambria Math" panose="02040503050406030204" pitchFamily="18" charset="0"/>
                  </a:rPr>
                  <a:t>¬i)</a:t>
                </a:r>
                <a:endParaRPr lang="it-IT" dirty="0"/>
              </a:p>
              <a:p>
                <a:pPr marL="171450" indent="-171450">
                  <a:buFontTx/>
                  <a:buChar char="-"/>
                </a:pPr>
                <a:r>
                  <a:rPr lang="it-IT" sz="1200" i="0">
                    <a:latin typeface="Cambria Math" panose="02040503050406030204" pitchFamily="18" charset="0"/>
                  </a:rPr>
                  <a:t>¯𝑥_(𝑘</a:t>
                </a:r>
                <a:r>
                  <a:rPr lang="it-IT" sz="1200" b="0" i="0">
                    <a:latin typeface="Cambria Math" panose="02040503050406030204" pitchFamily="18" charset="0"/>
                  </a:rPr>
                  <a:t>¬i)</a:t>
                </a:r>
                <a:r>
                  <a:rPr lang="it-IT" dirty="0"/>
                  <a:t> e </a:t>
                </a:r>
                <a:r>
                  <a:rPr lang="it-IT" sz="1200" i="0">
                    <a:latin typeface="Cambria Math" panose="02040503050406030204" pitchFamily="18" charset="0"/>
                  </a:rPr>
                  <a:t>𝑆_(𝑘¬𝑖)</a:t>
                </a:r>
                <a:r>
                  <a:rPr lang="it-IT" dirty="0"/>
                  <a:t> non sono stati definiti perché sono analoghi al caso gibbs sampling ma escludento il</a:t>
                </a:r>
                <a:r>
                  <a:rPr lang="it-IT" baseline="0" dirty="0"/>
                  <a:t> punto </a:t>
                </a:r>
                <a:r>
                  <a:rPr lang="it-IT" i="1" baseline="0" dirty="0"/>
                  <a:t>i </a:t>
                </a:r>
                <a:r>
                  <a:rPr lang="it-IT" i="0" baseline="0" dirty="0"/>
                  <a:t>dalle sommatorie</a:t>
                </a:r>
                <a:r>
                  <a:rPr lang="it-IT" baseline="0" dirty="0"/>
                  <a:t>.</a:t>
                </a:r>
              </a:p>
              <a:p>
                <a:pPr marL="171450" indent="-171450">
                  <a:buFontTx/>
                  <a:buChar char="-"/>
                </a:pPr>
                <a:r>
                  <a:rPr lang="it-IT" sz="1200" b="0" i="0">
                    <a:latin typeface="Cambria Math" panose="02040503050406030204" pitchFamily="18" charset="0"/>
                  </a:rPr>
                  <a:t>𝛽_𝑛</a:t>
                </a:r>
                <a:r>
                  <a:rPr lang="it-IT" dirty="0"/>
                  <a:t> tiene sia conto delle distanze dalla media campionaria </a:t>
                </a:r>
                <a:r>
                  <a:rPr lang="it-IT" sz="1200" i="0">
                    <a:latin typeface="Cambria Math" panose="02040503050406030204" pitchFamily="18" charset="0"/>
                  </a:rPr>
                  <a:t>𝑆_(𝑘¬𝑖)</a:t>
                </a:r>
                <a:r>
                  <a:rPr lang="it-IT" dirty="0"/>
                  <a:t> che le distanze tra media campionaria</a:t>
                </a:r>
                <a:r>
                  <a:rPr lang="it-IT" baseline="0" dirty="0"/>
                  <a:t> e media della prior: </a:t>
                </a:r>
                <a:r>
                  <a:rPr lang="it-IT" sz="1200" b="0" i="0">
                    <a:latin typeface="Cambria Math" panose="02040503050406030204" pitchFamily="18" charset="0"/>
                  </a:rPr>
                  <a:t>(¯</a:t>
                </a:r>
                <a:r>
                  <a:rPr lang="it-IT" sz="1200" i="0">
                    <a:latin typeface="Cambria Math" panose="02040503050406030204" pitchFamily="18" charset="0"/>
                  </a:rPr>
                  <a:t>𝑥_(𝑘</a:t>
                </a:r>
                <a:r>
                  <a:rPr lang="it-IT" sz="1200" b="0" i="0">
                    <a:latin typeface="Cambria Math" panose="02040503050406030204" pitchFamily="18" charset="0"/>
                  </a:rPr>
                  <a:t>¬i)−𝜇_0 )^2</a:t>
                </a:r>
                <a:r>
                  <a:rPr lang="it-IT" baseline="0" dirty="0"/>
                  <a:t> </a:t>
                </a:r>
              </a:p>
              <a:p>
                <a:pPr marL="171450" indent="-171450">
                  <a:buFontTx/>
                  <a:buChar char="-"/>
                </a:pPr>
                <a:r>
                  <a:rPr lang="it-IT" baseline="0" dirty="0"/>
                  <a:t>All’aumentare dei punti nel cluster k (</a:t>
                </a:r>
                <a:r>
                  <a:rPr lang="it-IT" sz="1200" i="0">
                    <a:latin typeface="Cambria Math" panose="02040503050406030204" pitchFamily="18" charset="0"/>
                  </a:rPr>
                  <a:t>𝑛_(𝑘¬𝑖)</a:t>
                </a:r>
                <a:r>
                  <a:rPr lang="it-IT" sz="1200" b="0" i="0">
                    <a:latin typeface="Cambria Math" panose="02040503050406030204" pitchFamily="18" charset="0"/>
                  </a:rPr>
                  <a:t>)</a:t>
                </a:r>
                <a:r>
                  <a:rPr lang="it-IT" baseline="0" dirty="0"/>
                  <a:t> , il valore di </a:t>
                </a:r>
                <a:r>
                  <a:rPr lang="it-IT" sz="1200" b="0" i="0">
                    <a:latin typeface="Cambria Math" panose="02040503050406030204" pitchFamily="18" charset="0"/>
                  </a:rPr>
                  <a:t>𝜅_𝑛</a:t>
                </a:r>
                <a:r>
                  <a:rPr lang="it-IT" dirty="0"/>
                  <a:t> aumenta, quindi la normale che definisce la probabilità di </a:t>
                </a:r>
                <a:r>
                  <a:rPr lang="it-IT" sz="1200" i="0">
                    <a:latin typeface="Cambria Math" panose="02040503050406030204" pitchFamily="18" charset="0"/>
                  </a:rPr>
                  <a:t>𝜇_𝑘</a:t>
                </a:r>
                <a:r>
                  <a:rPr lang="it-IT" dirty="0"/>
                  <a:t> si stringe sempre di più intorno a </a:t>
                </a:r>
                <a:r>
                  <a:rPr lang="it-IT" sz="1200" i="0">
                    <a:latin typeface="Cambria Math" panose="02040503050406030204" pitchFamily="18" charset="0"/>
                  </a:rPr>
                  <a:t>𝜇_𝑛</a:t>
                </a:r>
                <a:r>
                  <a:rPr lang="it-IT" dirty="0"/>
                  <a:t>.</a:t>
                </a:r>
              </a:p>
              <a:p>
                <a:pPr marL="171450" indent="-171450">
                  <a:buFontTx/>
                  <a:buChar char="-"/>
                </a:pPr>
                <a:r>
                  <a:rPr lang="it-IT" dirty="0"/>
                  <a:t>All’aumentare di </a:t>
                </a:r>
                <a:r>
                  <a:rPr lang="it-IT" sz="1200" i="0">
                    <a:latin typeface="Cambria Math" panose="02040503050406030204" pitchFamily="18" charset="0"/>
                  </a:rPr>
                  <a:t>𝑛_(𝑘¬𝑖)</a:t>
                </a:r>
                <a:r>
                  <a:rPr lang="it-IT" dirty="0"/>
                  <a:t> i valori della prior diventano sempre più trascurabili</a:t>
                </a:r>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47</a:t>
            </a:fld>
            <a:endParaRPr lang="it-IT"/>
          </a:p>
        </p:txBody>
      </p:sp>
    </p:spTree>
    <p:extLst>
      <p:ext uri="{BB962C8B-B14F-4D97-AF65-F5344CB8AC3E}">
        <p14:creationId xmlns:p14="http://schemas.microsoft.com/office/powerpoint/2010/main" val="28101102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t-IT" dirty="0"/>
                  <a:t>- Nella prima formula è stata utilizzato il fatto che il termine dentro l’integrale è una Inverse-Gamma con:</a:t>
                </a:r>
              </a:p>
              <a:p>
                <a:r>
                  <a:rPr lang="it-IT" dirty="0"/>
                  <a:t>  </a:t>
                </a:r>
                <a14:m>
                  <m:oMath xmlns:m="http://schemas.openxmlformats.org/officeDocument/2006/math">
                    <m:r>
                      <a:rPr lang="it-IT" sz="1200" b="0" i="1" dirty="0" smtClean="0">
                        <a:latin typeface="Cambria Math" panose="02040503050406030204" pitchFamily="18" charset="0"/>
                      </a:rPr>
                      <m:t>𝛼</m:t>
                    </m:r>
                    <m:r>
                      <a:rPr lang="it-IT" sz="1200" b="0" i="1" dirty="0" smtClean="0">
                        <a:latin typeface="Cambria Math" panose="02040503050406030204" pitchFamily="18" charset="0"/>
                      </a:rPr>
                      <m:t>=</m:t>
                    </m:r>
                    <m:sSub>
                      <m:sSubPr>
                        <m:ctrlPr>
                          <a:rPr lang="it-IT" sz="1200" i="1" smtClean="0">
                            <a:latin typeface="Cambria Math" panose="02040503050406030204" pitchFamily="18" charset="0"/>
                          </a:rPr>
                        </m:ctrlPr>
                      </m:sSubPr>
                      <m:e>
                        <m:r>
                          <a:rPr lang="it-IT" sz="1200" i="1">
                            <a:latin typeface="Cambria Math" panose="02040503050406030204" pitchFamily="18" charset="0"/>
                          </a:rPr>
                          <m:t>𝛼</m:t>
                        </m:r>
                      </m:e>
                      <m:sub>
                        <m:r>
                          <a:rPr lang="it-IT" sz="1200" i="1">
                            <a:latin typeface="Cambria Math" panose="02040503050406030204" pitchFamily="18" charset="0"/>
                          </a:rPr>
                          <m:t>𝑛</m:t>
                        </m:r>
                      </m:sub>
                    </m:sSub>
                    <m:r>
                      <a:rPr lang="it-IT" sz="1200" i="1">
                        <a:latin typeface="Cambria Math" panose="02040503050406030204" pitchFamily="18" charset="0"/>
                      </a:rPr>
                      <m:t>+1</m:t>
                    </m:r>
                    <m:r>
                      <m:rPr>
                        <m:lit/>
                      </m:rPr>
                      <a:rPr lang="it-IT" sz="1200" i="1">
                        <a:latin typeface="Cambria Math" panose="02040503050406030204" pitchFamily="18" charset="0"/>
                      </a:rPr>
                      <m:t>/</m:t>
                    </m:r>
                    <m:r>
                      <a:rPr lang="it-IT" sz="1200" i="1">
                        <a:latin typeface="Cambria Math" panose="02040503050406030204" pitchFamily="18" charset="0"/>
                      </a:rPr>
                      <m:t>2</m:t>
                    </m:r>
                  </m:oMath>
                </a14:m>
                <a:r>
                  <a:rPr lang="it-IT" sz="1200" dirty="0"/>
                  <a:t>    e    </a:t>
                </a:r>
                <a14:m>
                  <m:oMath xmlns:m="http://schemas.openxmlformats.org/officeDocument/2006/math">
                    <m:r>
                      <a:rPr lang="it-IT" sz="1200" i="1" smtClean="0">
                        <a:latin typeface="Cambria Math" panose="02040503050406030204" pitchFamily="18" charset="0"/>
                      </a:rPr>
                      <m:t>𝛽</m:t>
                    </m:r>
                    <m:r>
                      <a:rPr lang="it-IT" sz="1200" b="0" i="1" smtClean="0">
                        <a:latin typeface="Cambria Math" panose="02040503050406030204" pitchFamily="18" charset="0"/>
                      </a:rPr>
                      <m:t>=</m:t>
                    </m:r>
                    <m:sSub>
                      <m:sSubPr>
                        <m:ctrlPr>
                          <a:rPr lang="it-IT" sz="1200" i="1" smtClean="0">
                            <a:latin typeface="Cambria Math" panose="02040503050406030204" pitchFamily="18" charset="0"/>
                          </a:rPr>
                        </m:ctrlPr>
                      </m:sSubPr>
                      <m:e>
                        <m:r>
                          <a:rPr lang="it-IT" sz="1200" i="1">
                            <a:latin typeface="Cambria Math" panose="02040503050406030204" pitchFamily="18" charset="0"/>
                          </a:rPr>
                          <m:t>𝛽</m:t>
                        </m:r>
                      </m:e>
                      <m:sub>
                        <m:r>
                          <a:rPr lang="it-IT" sz="1200" i="1">
                            <a:latin typeface="Cambria Math" panose="02040503050406030204" pitchFamily="18" charset="0"/>
                          </a:rPr>
                          <m:t>𝑛</m:t>
                        </m:r>
                      </m:sub>
                    </m:sSub>
                    <m:r>
                      <a:rPr lang="it-IT" sz="1200" i="1">
                        <a:latin typeface="Cambria Math" panose="02040503050406030204" pitchFamily="18" charset="0"/>
                      </a:rPr>
                      <m:t>+</m:t>
                    </m:r>
                    <m:f>
                      <m:fPr>
                        <m:ctrlPr>
                          <a:rPr lang="it-IT" sz="1200" i="1">
                            <a:latin typeface="Cambria Math" panose="02040503050406030204" pitchFamily="18" charset="0"/>
                          </a:rPr>
                        </m:ctrlPr>
                      </m:fPr>
                      <m:num>
                        <m:sSup>
                          <m:sSupPr>
                            <m:ctrlPr>
                              <a:rPr lang="it-IT" sz="1200" i="1">
                                <a:latin typeface="Cambria Math" panose="02040503050406030204" pitchFamily="18" charset="0"/>
                              </a:rPr>
                            </m:ctrlPr>
                          </m:sSupPr>
                          <m:e>
                            <m:d>
                              <m:dPr>
                                <m:ctrlPr>
                                  <a:rPr lang="it-IT" sz="1200" i="1">
                                    <a:latin typeface="Cambria Math" panose="02040503050406030204" pitchFamily="18" charset="0"/>
                                  </a:rPr>
                                </m:ctrlPr>
                              </m:dPr>
                              <m:e>
                                <m:sSub>
                                  <m:sSubPr>
                                    <m:ctrlPr>
                                      <a:rPr lang="it-IT" sz="1200" i="1">
                                        <a:latin typeface="Cambria Math" panose="02040503050406030204" pitchFamily="18" charset="0"/>
                                      </a:rPr>
                                    </m:ctrlPr>
                                  </m:sSubPr>
                                  <m:e>
                                    <m:r>
                                      <a:rPr lang="it-IT" sz="1200" i="1">
                                        <a:latin typeface="Cambria Math" panose="02040503050406030204" pitchFamily="18" charset="0"/>
                                      </a:rPr>
                                      <m:t>𝑥</m:t>
                                    </m:r>
                                  </m:e>
                                  <m:sub>
                                    <m:r>
                                      <a:rPr lang="it-IT" sz="1200" i="1">
                                        <a:latin typeface="Cambria Math" panose="02040503050406030204" pitchFamily="18" charset="0"/>
                                      </a:rPr>
                                      <m:t>𝑖</m:t>
                                    </m:r>
                                  </m:sub>
                                </m:sSub>
                                <m:r>
                                  <a:rPr lang="it-IT" sz="1200" i="1">
                                    <a:latin typeface="Cambria Math" panose="02040503050406030204" pitchFamily="18" charset="0"/>
                                  </a:rPr>
                                  <m:t>−</m:t>
                                </m:r>
                                <m:sSub>
                                  <m:sSubPr>
                                    <m:ctrlPr>
                                      <a:rPr lang="it-IT" sz="1200" i="1">
                                        <a:latin typeface="Cambria Math" panose="02040503050406030204" pitchFamily="18" charset="0"/>
                                      </a:rPr>
                                    </m:ctrlPr>
                                  </m:sSubPr>
                                  <m:e>
                                    <m:r>
                                      <a:rPr lang="it-IT" sz="1200" i="1">
                                        <a:latin typeface="Cambria Math" panose="02040503050406030204" pitchFamily="18" charset="0"/>
                                      </a:rPr>
                                      <m:t>𝜇</m:t>
                                    </m:r>
                                  </m:e>
                                  <m:sub>
                                    <m:r>
                                      <a:rPr lang="it-IT" sz="1200" i="1">
                                        <a:latin typeface="Cambria Math" panose="02040503050406030204" pitchFamily="18" charset="0"/>
                                      </a:rPr>
                                      <m:t>𝑛</m:t>
                                    </m:r>
                                  </m:sub>
                                </m:sSub>
                              </m:e>
                            </m:d>
                          </m:e>
                          <m:sup>
                            <m:r>
                              <a:rPr lang="it-IT" sz="1200" i="1">
                                <a:latin typeface="Cambria Math" panose="02040503050406030204" pitchFamily="18" charset="0"/>
                              </a:rPr>
                              <m:t>2</m:t>
                            </m:r>
                          </m:sup>
                        </m:sSup>
                      </m:num>
                      <m:den>
                        <m:r>
                          <a:rPr lang="it-IT" sz="1200" i="1">
                            <a:latin typeface="Cambria Math" panose="02040503050406030204" pitchFamily="18" charset="0"/>
                          </a:rPr>
                          <m:t>2</m:t>
                        </m:r>
                        <m:d>
                          <m:dPr>
                            <m:ctrlPr>
                              <a:rPr lang="it-IT" sz="1200" i="1">
                                <a:latin typeface="Cambria Math" panose="02040503050406030204" pitchFamily="18" charset="0"/>
                              </a:rPr>
                            </m:ctrlPr>
                          </m:dPr>
                          <m:e>
                            <m:r>
                              <a:rPr lang="it-IT" sz="1200" i="1">
                                <a:latin typeface="Cambria Math" panose="02040503050406030204" pitchFamily="18" charset="0"/>
                              </a:rPr>
                              <m:t>1+1</m:t>
                            </m:r>
                            <m:r>
                              <m:rPr>
                                <m:lit/>
                              </m:rPr>
                              <a:rPr lang="it-IT" sz="1200" i="1">
                                <a:latin typeface="Cambria Math" panose="02040503050406030204" pitchFamily="18" charset="0"/>
                              </a:rPr>
                              <m:t>/</m:t>
                            </m:r>
                            <m:sSub>
                              <m:sSubPr>
                                <m:ctrlPr>
                                  <a:rPr lang="it-IT" sz="1200" i="1">
                                    <a:latin typeface="Cambria Math" panose="02040503050406030204" pitchFamily="18" charset="0"/>
                                  </a:rPr>
                                </m:ctrlPr>
                              </m:sSubPr>
                              <m:e>
                                <m:r>
                                  <a:rPr lang="it-IT" sz="1200" i="1">
                                    <a:latin typeface="Cambria Math" panose="02040503050406030204" pitchFamily="18" charset="0"/>
                                  </a:rPr>
                                  <m:t>𝜅</m:t>
                                </m:r>
                              </m:e>
                              <m:sub>
                                <m:r>
                                  <a:rPr lang="it-IT" sz="1200" i="1">
                                    <a:latin typeface="Cambria Math" panose="02040503050406030204" pitchFamily="18" charset="0"/>
                                  </a:rPr>
                                  <m:t>𝑛</m:t>
                                </m:r>
                              </m:sub>
                            </m:sSub>
                          </m:e>
                        </m:d>
                      </m:den>
                    </m:f>
                  </m:oMath>
                </a14:m>
                <a:r>
                  <a:rPr lang="it-IT" sz="1200" dirty="0"/>
                  <a:t>, quindi l’integrale è stato sostituito</a:t>
                </a:r>
                <a:r>
                  <a:rPr lang="it-IT" sz="1200" baseline="0" dirty="0"/>
                  <a:t> con la costante di normalizzazione</a:t>
                </a:r>
                <a:endParaRPr lang="it-IT" sz="1200" dirty="0"/>
              </a:p>
              <a:p>
                <a:endParaRPr lang="it-IT" dirty="0"/>
              </a:p>
            </p:txBody>
          </p:sp>
        </mc:Choice>
        <mc:Fallback xmlns="">
          <p:sp>
            <p:nvSpPr>
              <p:cNvPr id="3" name="Notes Placeholder 2"/>
              <p:cNvSpPr>
                <a:spLocks noGrp="1"/>
              </p:cNvSpPr>
              <p:nvPr>
                <p:ph type="body" idx="1"/>
              </p:nvPr>
            </p:nvSpPr>
            <p:spPr/>
            <p:txBody>
              <a:bodyPr/>
              <a:lstStyle/>
              <a:p>
                <a:r>
                  <a:rPr lang="it-IT" dirty="0"/>
                  <a:t>- Nella prima formula è stata utilizzato il fatto che il termine dentro l’integrale è una gamma function con:</a:t>
                </a:r>
              </a:p>
              <a:p>
                <a:r>
                  <a:rPr lang="it-IT" dirty="0"/>
                  <a:t>  </a:t>
                </a:r>
                <a:r>
                  <a:rPr lang="it-IT" sz="1200" b="0" i="0" dirty="0">
                    <a:latin typeface="Cambria Math" panose="02040503050406030204" pitchFamily="18" charset="0"/>
                  </a:rPr>
                  <a:t>𝛼=</a:t>
                </a:r>
                <a:r>
                  <a:rPr lang="it-IT" sz="1200" i="0">
                    <a:latin typeface="Cambria Math" panose="02040503050406030204" pitchFamily="18" charset="0"/>
                  </a:rPr>
                  <a:t>𝛼_𝑛+1\/2</a:t>
                </a:r>
                <a:r>
                  <a:rPr lang="it-IT" sz="1200" dirty="0"/>
                  <a:t>    e    </a:t>
                </a:r>
                <a:r>
                  <a:rPr lang="it-IT" sz="1200" i="0">
                    <a:latin typeface="Cambria Math" panose="02040503050406030204" pitchFamily="18" charset="0"/>
                  </a:rPr>
                  <a:t>𝛽</a:t>
                </a:r>
                <a:r>
                  <a:rPr lang="it-IT" sz="1200" b="0" i="0">
                    <a:latin typeface="Cambria Math" panose="02040503050406030204" pitchFamily="18" charset="0"/>
                  </a:rPr>
                  <a:t>=</a:t>
                </a:r>
                <a:r>
                  <a:rPr lang="it-IT" sz="1200" i="0">
                    <a:latin typeface="Cambria Math" panose="02040503050406030204" pitchFamily="18" charset="0"/>
                  </a:rPr>
                  <a:t>𝛽_𝑛+(𝑥_𝑖−𝜇_𝑛 )^2/2(1+1\/𝜅_𝑛 ) </a:t>
                </a:r>
                <a:r>
                  <a:rPr lang="it-IT" sz="1200" dirty="0"/>
                  <a:t>, quindi l’integrale è stato sostituito</a:t>
                </a:r>
                <a:r>
                  <a:rPr lang="it-IT" sz="1200" baseline="0" dirty="0"/>
                  <a:t> con la costante di normalizzazione</a:t>
                </a:r>
                <a:endParaRPr lang="it-IT" sz="1200" dirty="0"/>
              </a:p>
              <a:p>
                <a:endParaRPr lang="it-IT" dirty="0"/>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48</a:t>
            </a:fld>
            <a:endParaRPr lang="it-IT"/>
          </a:p>
        </p:txBody>
      </p:sp>
    </p:spTree>
    <p:extLst>
      <p:ext uri="{BB962C8B-B14F-4D97-AF65-F5344CB8AC3E}">
        <p14:creationId xmlns:p14="http://schemas.microsoft.com/office/powerpoint/2010/main" val="308057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t-IT" dirty="0"/>
                  <a:t>Burnin and thinning non sono necessari perché non sto estraendo i samples, ma sto usando le iterazioni per megliorare le assegnazioni. </a:t>
                </a:r>
                <a:br>
                  <a:rPr lang="it-IT" dirty="0"/>
                </a:br>
                <a:r>
                  <a:rPr lang="it-IT" dirty="0"/>
                  <a:t>Il valore di M è fissato a 1000, è possibile inserire un stoppping criterion, per esempio usare lo stesso del K-means, cioè calcolare l’SSE (sum square error) per ogni iterazione e calcolarne la differenza, se è stotto la tolleranza fermo la procedura.</a:t>
                </a:r>
              </a:p>
              <a:p>
                <a:r>
                  <a:rPr lang="it-IT" sz="1200" dirty="0"/>
                  <a:t>Il valore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𝑧</m:t>
                        </m:r>
                      </m:e>
                      <m:sub>
                        <m:r>
                          <a:rPr lang="it-IT" sz="1200" i="1">
                            <a:latin typeface="Cambria Math" panose="02040503050406030204" pitchFamily="18" charset="0"/>
                          </a:rPr>
                          <m:t>¬</m:t>
                        </m:r>
                        <m:r>
                          <a:rPr lang="it-IT" sz="1200" i="1">
                            <a:latin typeface="Cambria Math" panose="02040503050406030204" pitchFamily="18" charset="0"/>
                          </a:rPr>
                          <m:t>𝑖</m:t>
                        </m:r>
                      </m:sub>
                    </m:sSub>
                  </m:oMath>
                </a14:m>
                <a:r>
                  <a:rPr lang="it-IT" dirty="0"/>
                  <a:t> non ha l’indice (t), perché</a:t>
                </a:r>
                <a:r>
                  <a:rPr lang="it-IT" baseline="0" dirty="0"/>
                  <a:t> può essere un misto di t e t-1, dipende dall’ordine in cui sto estraendo z_i: se è l’ultimo punto allora </a:t>
                </a:r>
                <a14:m>
                  <m:oMath xmlns:m="http://schemas.openxmlformats.org/officeDocument/2006/math">
                    <m:sSubSup>
                      <m:sSubSupPr>
                        <m:ctrlPr>
                          <a:rPr lang="it-IT" sz="1200" b="0" i="1" smtClean="0">
                            <a:latin typeface="Cambria Math" panose="02040503050406030204" pitchFamily="18" charset="0"/>
                          </a:rPr>
                        </m:ctrlPr>
                      </m:sSubSupPr>
                      <m:e>
                        <m:r>
                          <a:rPr lang="it-IT" sz="1200" i="1">
                            <a:latin typeface="Cambria Math" panose="02040503050406030204" pitchFamily="18" charset="0"/>
                          </a:rPr>
                          <m:t>𝑧</m:t>
                        </m:r>
                      </m:e>
                      <m:sub>
                        <m:r>
                          <a:rPr lang="it-IT" sz="1200" i="1">
                            <a:latin typeface="Cambria Math" panose="02040503050406030204" pitchFamily="18" charset="0"/>
                          </a:rPr>
                          <m:t>¬</m:t>
                        </m:r>
                        <m:r>
                          <a:rPr lang="it-IT" sz="1200" i="1">
                            <a:latin typeface="Cambria Math" panose="02040503050406030204" pitchFamily="18" charset="0"/>
                          </a:rPr>
                          <m:t>𝑖</m:t>
                        </m:r>
                      </m:sub>
                      <m:sup>
                        <m:d>
                          <m:dPr>
                            <m:ctrlPr>
                              <a:rPr lang="it-IT" sz="1200" b="0" i="1" smtClean="0">
                                <a:latin typeface="Cambria Math" panose="02040503050406030204" pitchFamily="18" charset="0"/>
                              </a:rPr>
                            </m:ctrlPr>
                          </m:dPr>
                          <m:e>
                            <m:r>
                              <a:rPr lang="it-IT" sz="1200" b="0" i="1" smtClean="0">
                                <a:latin typeface="Cambria Math" panose="02040503050406030204" pitchFamily="18" charset="0"/>
                              </a:rPr>
                              <m:t>𝑡</m:t>
                            </m:r>
                          </m:e>
                        </m:d>
                      </m:sup>
                    </m:sSubSup>
                    <m:r>
                      <a:rPr lang="it-IT" sz="1200" b="0" i="1" smtClean="0">
                        <a:latin typeface="Cambria Math" panose="02040503050406030204" pitchFamily="18" charset="0"/>
                      </a:rPr>
                      <m:t>,</m:t>
                    </m:r>
                  </m:oMath>
                </a14:m>
                <a:r>
                  <a:rPr lang="it-IT" dirty="0"/>
                  <a:t> se è il primo punto </a:t>
                </a:r>
                <a14:m>
                  <m:oMath xmlns:m="http://schemas.openxmlformats.org/officeDocument/2006/math">
                    <m:sSubSup>
                      <m:sSubSupPr>
                        <m:ctrlPr>
                          <a:rPr lang="it-IT" sz="1200" b="0" i="1" smtClean="0">
                            <a:latin typeface="Cambria Math" panose="02040503050406030204" pitchFamily="18" charset="0"/>
                          </a:rPr>
                        </m:ctrlPr>
                      </m:sSubSupPr>
                      <m:e>
                        <m:r>
                          <a:rPr lang="it-IT" sz="1200" i="1">
                            <a:latin typeface="Cambria Math" panose="02040503050406030204" pitchFamily="18" charset="0"/>
                          </a:rPr>
                          <m:t>𝑧</m:t>
                        </m:r>
                      </m:e>
                      <m:sub>
                        <m:r>
                          <a:rPr lang="it-IT" sz="1200" i="1">
                            <a:latin typeface="Cambria Math" panose="02040503050406030204" pitchFamily="18" charset="0"/>
                          </a:rPr>
                          <m:t>¬</m:t>
                        </m:r>
                        <m:r>
                          <a:rPr lang="it-IT" sz="1200" i="1">
                            <a:latin typeface="Cambria Math" panose="02040503050406030204" pitchFamily="18" charset="0"/>
                          </a:rPr>
                          <m:t>𝑖</m:t>
                        </m:r>
                      </m:sub>
                      <m:sup>
                        <m:d>
                          <m:dPr>
                            <m:ctrlPr>
                              <a:rPr lang="it-IT" sz="1200" b="0" i="1" smtClean="0">
                                <a:latin typeface="Cambria Math" panose="02040503050406030204" pitchFamily="18" charset="0"/>
                              </a:rPr>
                            </m:ctrlPr>
                          </m:dPr>
                          <m:e>
                            <m:r>
                              <a:rPr lang="it-IT" sz="1200" b="0" i="1" smtClean="0">
                                <a:latin typeface="Cambria Math" panose="02040503050406030204" pitchFamily="18" charset="0"/>
                              </a:rPr>
                              <m:t>𝑡</m:t>
                            </m:r>
                            <m:r>
                              <a:rPr lang="it-IT" sz="1200" b="0" i="1" smtClean="0">
                                <a:latin typeface="Cambria Math" panose="02040503050406030204" pitchFamily="18" charset="0"/>
                              </a:rPr>
                              <m:t>−</m:t>
                            </m:r>
                            <m:r>
                              <a:rPr lang="it-IT" sz="1200" b="0" i="1" smtClean="0">
                                <a:latin typeface="Cambria Math" panose="02040503050406030204" pitchFamily="18" charset="0"/>
                              </a:rPr>
                              <m:t>1</m:t>
                            </m:r>
                          </m:e>
                        </m:d>
                      </m:sup>
                    </m:sSubSup>
                  </m:oMath>
                </a14:m>
                <a:r>
                  <a:rPr lang="it-IT" dirty="0"/>
                  <a:t>; altrimenti è una combinazione.</a:t>
                </a:r>
              </a:p>
            </p:txBody>
          </p:sp>
        </mc:Choice>
        <mc:Fallback xmlns="">
          <p:sp>
            <p:nvSpPr>
              <p:cNvPr id="3" name="Notes Placeholder 2"/>
              <p:cNvSpPr>
                <a:spLocks noGrp="1"/>
              </p:cNvSpPr>
              <p:nvPr>
                <p:ph type="body" idx="1"/>
              </p:nvPr>
            </p:nvSpPr>
            <p:spPr/>
            <p:txBody>
              <a:bodyPr/>
              <a:lstStyle/>
              <a:p>
                <a:r>
                  <a:rPr lang="it-IT" dirty="0"/>
                  <a:t>Burnin and thinning non sono necessari perché non sto estraendo i samples, ma sto usando le iterazioni per megliorare le assegnazioni. </a:t>
                </a:r>
                <a:br>
                  <a:rPr lang="it-IT" dirty="0"/>
                </a:br>
                <a:r>
                  <a:rPr lang="it-IT" dirty="0"/>
                  <a:t>Il valore di M è fissato a 1000, è possibile inserire un stoppping criterion, per esempio usare lo stesso del K-means, cioè calcolare l’SSE (sum square error) per ogni iterazione e calcolarne la differenza, se è stotto la tolleranza fermo la procedura.</a:t>
                </a:r>
              </a:p>
              <a:p>
                <a:pPr/>
                <a:r>
                  <a:rPr lang="it-IT" sz="1200" dirty="0"/>
                  <a:t>Il valore </a:t>
                </a:r>
                <a:r>
                  <a:rPr lang="it-IT" sz="1200" i="0">
                    <a:latin typeface="Cambria Math" panose="02040503050406030204" pitchFamily="18" charset="0"/>
                  </a:rPr>
                  <a:t>𝑧_(¬𝑖)</a:t>
                </a:r>
                <a:r>
                  <a:rPr lang="it-IT" dirty="0"/>
                  <a:t> non ha l’indice (t), perché</a:t>
                </a:r>
                <a:r>
                  <a:rPr lang="it-IT" baseline="0" dirty="0"/>
                  <a:t> può essere un misto di t e t-1, dipende dall’ordine in cui sto estraendo z_i: se è l’ultimo punto allora </a:t>
                </a:r>
                <a:r>
                  <a:rPr lang="it-IT" sz="1200" i="0">
                    <a:latin typeface="Cambria Math" panose="02040503050406030204" pitchFamily="18" charset="0"/>
                  </a:rPr>
                  <a:t>𝑧</a:t>
                </a:r>
                <a:r>
                  <a:rPr lang="it-IT" sz="1200" b="0" i="0">
                    <a:latin typeface="Cambria Math" panose="02040503050406030204" pitchFamily="18" charset="0"/>
                  </a:rPr>
                  <a:t>_(</a:t>
                </a:r>
                <a:r>
                  <a:rPr lang="it-IT" sz="1200" i="0">
                    <a:latin typeface="Cambria Math" panose="02040503050406030204" pitchFamily="18" charset="0"/>
                  </a:rPr>
                  <a:t>¬𝑖</a:t>
                </a:r>
                <a:r>
                  <a:rPr lang="it-IT" sz="1200" b="0" i="0">
                    <a:latin typeface="Cambria Math" panose="02040503050406030204" pitchFamily="18" charset="0"/>
                  </a:rPr>
                  <a:t>)^((𝑡) ),</a:t>
                </a:r>
                <a:r>
                  <a:rPr lang="it-IT" dirty="0"/>
                  <a:t> se è il primo punto </a:t>
                </a:r>
                <a:r>
                  <a:rPr lang="it-IT" sz="1200" i="0">
                    <a:latin typeface="Cambria Math" panose="02040503050406030204" pitchFamily="18" charset="0"/>
                  </a:rPr>
                  <a:t>𝑧</a:t>
                </a:r>
                <a:r>
                  <a:rPr lang="it-IT" sz="1200" b="0" i="0">
                    <a:latin typeface="Cambria Math" panose="02040503050406030204" pitchFamily="18" charset="0"/>
                  </a:rPr>
                  <a:t>_(</a:t>
                </a:r>
                <a:r>
                  <a:rPr lang="it-IT" sz="1200" i="0">
                    <a:latin typeface="Cambria Math" panose="02040503050406030204" pitchFamily="18" charset="0"/>
                  </a:rPr>
                  <a:t>¬𝑖</a:t>
                </a:r>
                <a:r>
                  <a:rPr lang="it-IT" sz="1200" b="0" i="0">
                    <a:latin typeface="Cambria Math" panose="02040503050406030204" pitchFamily="18" charset="0"/>
                  </a:rPr>
                  <a:t>)^((𝑡−1) )</a:t>
                </a:r>
                <a:r>
                  <a:rPr lang="it-IT" dirty="0"/>
                  <a:t>; altrimenti è una combinazione.</a:t>
                </a:r>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49</a:t>
            </a:fld>
            <a:endParaRPr lang="it-IT"/>
          </a:p>
        </p:txBody>
      </p:sp>
    </p:spTree>
    <p:extLst>
      <p:ext uri="{BB962C8B-B14F-4D97-AF65-F5344CB8AC3E}">
        <p14:creationId xmlns:p14="http://schemas.microsoft.com/office/powerpoint/2010/main" val="34212125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Tx/>
                  <a:buChar char="-"/>
                </a:pPr>
                <a14:m>
                  <m:oMath xmlns:m="http://schemas.openxmlformats.org/officeDocument/2006/math">
                    <m:nary>
                      <m:naryPr>
                        <m:chr m:val="∑"/>
                        <m:ctrlPr>
                          <a:rPr lang="it-IT" i="1" smtClean="0">
                            <a:latin typeface="Cambria Math" panose="02040503050406030204" pitchFamily="18" charset="0"/>
                          </a:rPr>
                        </m:ctrlPr>
                      </m:naryPr>
                      <m:sub>
                        <m:r>
                          <m:rPr>
                            <m:sty m:val="p"/>
                            <m:brk m:alnAt="23"/>
                          </m:rPr>
                          <a:rPr lang="it-IT" i="1">
                            <a:latin typeface="Cambria Math" panose="02040503050406030204" pitchFamily="18" charset="0"/>
                          </a:rPr>
                          <m:t>k</m:t>
                        </m:r>
                        <m:r>
                          <a:rPr lang="it-IT" i="1">
                            <a:latin typeface="Cambria Math" panose="02040503050406030204" pitchFamily="18" charset="0"/>
                          </a:rPr>
                          <m:t>=</m:t>
                        </m:r>
                        <m:r>
                          <a:rPr lang="it-IT" i="1">
                            <a:latin typeface="Cambria Math" panose="02040503050406030204" pitchFamily="18" charset="0"/>
                          </a:rPr>
                          <m:t>1</m:t>
                        </m:r>
                      </m:sub>
                      <m:sup>
                        <m:r>
                          <m:rPr>
                            <m:sty m:val="p"/>
                          </m:rPr>
                          <a:rPr lang="it-IT" i="1">
                            <a:latin typeface="Cambria Math" panose="02040503050406030204" pitchFamily="18" charset="0"/>
                          </a:rPr>
                          <m:t>K</m:t>
                        </m:r>
                        <m:r>
                          <a:rPr lang="it-IT" i="1">
                            <a:latin typeface="Cambria Math" panose="02040503050406030204" pitchFamily="18" charset="0"/>
                          </a:rPr>
                          <m:t>∗</m:t>
                        </m:r>
                      </m:sup>
                      <m:e>
                        <m:sSub>
                          <m:sSubPr>
                            <m:ctrlPr>
                              <a:rPr lang="it-IT" i="1" smtClean="0">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e>
                    </m:nary>
                    <m:r>
                      <a:rPr lang="it-IT" b="0" i="1" smtClean="0">
                        <a:latin typeface="Cambria Math" panose="02040503050406030204" pitchFamily="18" charset="0"/>
                      </a:rPr>
                      <m:t>= </m:t>
                    </m:r>
                    <m:r>
                      <a:rPr lang="it-IT" b="0" i="1" smtClean="0">
                        <a:latin typeface="Cambria Math" panose="02040503050406030204" pitchFamily="18" charset="0"/>
                      </a:rPr>
                      <m:t>𝑁</m:t>
                    </m:r>
                    <m:r>
                      <a:rPr lang="it-IT" b="0" i="1" smtClean="0">
                        <a:latin typeface="Cambria Math" panose="02040503050406030204" pitchFamily="18" charset="0"/>
                      </a:rPr>
                      <m:t>−</m:t>
                    </m:r>
                    <m:r>
                      <a:rPr lang="it-IT" b="0" i="1" smtClean="0">
                        <a:latin typeface="Cambria Math" panose="02040503050406030204" pitchFamily="18" charset="0"/>
                      </a:rPr>
                      <m:t>1</m:t>
                    </m:r>
                  </m:oMath>
                </a14:m>
                <a:r>
                  <a:rPr lang="it-IT" dirty="0"/>
                  <a:t>, il -1 è dovuto al fatto che stiamo</a:t>
                </a:r>
                <a:r>
                  <a:rPr lang="it-IT" baseline="0" dirty="0"/>
                  <a:t> rimuovendo il punto </a:t>
                </a:r>
                <a:r>
                  <a:rPr lang="it-IT" i="1" baseline="0" dirty="0"/>
                  <a:t>i</a:t>
                </a:r>
                <a:r>
                  <a:rPr lang="it-IT" baseline="0" dirty="0"/>
                  <a:t>.</a:t>
                </a:r>
              </a:p>
              <a:p>
                <a:pPr marL="171450" indent="-171450">
                  <a:buFontTx/>
                  <a:buChar char="-"/>
                </a:pPr>
                <a:r>
                  <a:rPr lang="it-IT" baseline="0" dirty="0"/>
                  <a:t>I cluster più popolati hanno maggior probabilità di essere scelti</a:t>
                </a:r>
              </a:p>
              <a:p>
                <a:pPr marL="171450" indent="-171450">
                  <a:buFontTx/>
                  <a:buChar char="-"/>
                </a:pPr>
                <a:r>
                  <a:rPr lang="it-IT" baseline="0" dirty="0"/>
                  <a:t>La probabilità di creare un nuovo cluster è proporzionale ad </a:t>
                </a:r>
                <a14:m>
                  <m:oMath xmlns:m="http://schemas.openxmlformats.org/officeDocument/2006/math">
                    <m:r>
                      <a:rPr lang="it-IT" b="0" i="1" smtClean="0">
                        <a:latin typeface="Cambria Math" panose="02040503050406030204" pitchFamily="18" charset="0"/>
                      </a:rPr>
                      <m:t>𝛼</m:t>
                    </m:r>
                  </m:oMath>
                </a14:m>
                <a:endParaRPr lang="it-IT" dirty="0"/>
              </a:p>
            </p:txBody>
          </p:sp>
        </mc:Choice>
        <mc:Fallback xmlns="">
          <p:sp>
            <p:nvSpPr>
              <p:cNvPr id="3" name="Notes Placeholder 2"/>
              <p:cNvSpPr>
                <a:spLocks noGrp="1"/>
              </p:cNvSpPr>
              <p:nvPr>
                <p:ph type="body" idx="1"/>
              </p:nvPr>
            </p:nvSpPr>
            <p:spPr/>
            <p:txBody>
              <a:bodyPr/>
              <a:lstStyle/>
              <a:p>
                <a:pPr marL="171450" indent="-171450">
                  <a:buFontTx/>
                  <a:buChar char="-"/>
                </a:pPr>
                <a:r>
                  <a:rPr lang="it-IT" i="0">
                    <a:latin typeface="Cambria Math" panose="02040503050406030204" pitchFamily="18" charset="0"/>
                  </a:rPr>
                  <a:t>∑_(k=1)^(K∗)▒𝑛_(𝑘¬𝑖) </a:t>
                </a:r>
                <a:r>
                  <a:rPr lang="it-IT" b="0" i="0">
                    <a:latin typeface="Cambria Math" panose="02040503050406030204" pitchFamily="18" charset="0"/>
                  </a:rPr>
                  <a:t>= 𝑁−1</a:t>
                </a:r>
                <a:r>
                  <a:rPr lang="it-IT" dirty="0"/>
                  <a:t>, il -1 è dovuto al fatto che stiamo</a:t>
                </a:r>
                <a:r>
                  <a:rPr lang="it-IT" baseline="0" dirty="0"/>
                  <a:t> rimuovendo il punto </a:t>
                </a:r>
                <a:r>
                  <a:rPr lang="it-IT" i="1" baseline="0" dirty="0"/>
                  <a:t>i</a:t>
                </a:r>
                <a:r>
                  <a:rPr lang="it-IT" baseline="0" dirty="0"/>
                  <a:t>.</a:t>
                </a:r>
              </a:p>
              <a:p>
                <a:pPr marL="171450" indent="-171450">
                  <a:buFontTx/>
                  <a:buChar char="-"/>
                </a:pPr>
                <a:r>
                  <a:rPr lang="it-IT" baseline="0" dirty="0"/>
                  <a:t>I cluster più popolati hanno maggior probabilità di essere scelti</a:t>
                </a:r>
              </a:p>
              <a:p>
                <a:pPr marL="171450" indent="-171450">
                  <a:buFontTx/>
                  <a:buChar char="-"/>
                </a:pPr>
                <a:r>
                  <a:rPr lang="it-IT" baseline="0" dirty="0"/>
                  <a:t>La probabilità di creare un nuovo cluster è proporzionale ad </a:t>
                </a:r>
                <a:r>
                  <a:rPr lang="it-IT" b="0" i="0">
                    <a:latin typeface="Cambria Math" panose="02040503050406030204" pitchFamily="18" charset="0"/>
                  </a:rPr>
                  <a:t>𝛼</a:t>
                </a:r>
                <a:endParaRPr lang="it-IT" dirty="0"/>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50</a:t>
            </a:fld>
            <a:endParaRPr lang="it-IT"/>
          </a:p>
        </p:txBody>
      </p:sp>
    </p:spTree>
    <p:extLst>
      <p:ext uri="{BB962C8B-B14F-4D97-AF65-F5344CB8AC3E}">
        <p14:creationId xmlns:p14="http://schemas.microsoft.com/office/powerpoint/2010/main" val="34738840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2D4A2-BB6C-22AA-0B7E-41FB0DFB2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BE92E-35E3-72BD-A2D5-88F73CA838F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9DFE92C-FDBF-1C5C-4BCD-EE1BAA7B94CF}"/>
                  </a:ext>
                </a:extLst>
              </p:cNvPr>
              <p:cNvSpPr>
                <a:spLocks noGrp="1"/>
              </p:cNvSpPr>
              <p:nvPr>
                <p:ph type="body" idx="1"/>
              </p:nvPr>
            </p:nvSpPr>
            <p:spPr/>
            <p:txBody>
              <a:bodyPr/>
              <a:lstStyle/>
              <a:p>
                <a:pPr marL="0" indent="0">
                  <a:buFontTx/>
                  <a:buNone/>
                </a:pPr>
                <a:r>
                  <a:rPr lang="it-IT" sz="1200" i="0" dirty="0">
                    <a:latin typeface="+mn-lt"/>
                  </a:rPr>
                  <a:t>-</a:t>
                </a:r>
                <a:r>
                  <a:rPr lang="it-IT" sz="1200" i="0" baseline="0" dirty="0">
                    <a:latin typeface="+mn-lt"/>
                  </a:rPr>
                  <a:t> </a:t>
                </a:r>
                <a14:m>
                  <m:oMath xmlns:m="http://schemas.openxmlformats.org/officeDocument/2006/math">
                    <m:sSub>
                      <m:sSubPr>
                        <m:ctrlPr>
                          <a:rPr lang="it-IT" sz="1200" i="1" smtClean="0">
                            <a:latin typeface="Cambria Math" panose="02040503050406030204" pitchFamily="18" charset="0"/>
                          </a:rPr>
                        </m:ctrlPr>
                      </m:sSubPr>
                      <m:e>
                        <m:bar>
                          <m:barPr>
                            <m:pos m:val="top"/>
                            <m:ctrlPr>
                              <a:rPr lang="it-IT" sz="1200" i="1">
                                <a:latin typeface="Cambria Math" panose="02040503050406030204" pitchFamily="18" charset="0"/>
                              </a:rPr>
                            </m:ctrlPr>
                          </m:barPr>
                          <m:e>
                            <m:r>
                              <a:rPr lang="it-IT" sz="1200" i="1">
                                <a:latin typeface="Cambria Math" panose="02040503050406030204" pitchFamily="18" charset="0"/>
                              </a:rPr>
                              <m:t>𝑥</m:t>
                            </m:r>
                          </m:e>
                        </m:bar>
                      </m:e>
                      <m:sub>
                        <m:r>
                          <a:rPr lang="it-IT" sz="1200" i="1">
                            <a:latin typeface="Cambria Math" panose="02040503050406030204" pitchFamily="18" charset="0"/>
                          </a:rPr>
                          <m:t>𝑘</m:t>
                        </m:r>
                        <m:r>
                          <a:rPr lang="it-IT" sz="1200" b="0" i="1" smtClean="0">
                            <a:latin typeface="Cambria Math" panose="02040503050406030204" pitchFamily="18" charset="0"/>
                          </a:rPr>
                          <m:t>¬</m:t>
                        </m:r>
                        <m:r>
                          <m:rPr>
                            <m:sty m:val="p"/>
                          </m:rPr>
                          <a:rPr lang="it-IT" sz="1200" b="0" i="1" smtClean="0">
                            <a:latin typeface="Cambria Math" panose="02040503050406030204" pitchFamily="18" charset="0"/>
                          </a:rPr>
                          <m:t>i</m:t>
                        </m:r>
                      </m:sub>
                    </m:sSub>
                  </m:oMath>
                </a14:m>
                <a:r>
                  <a:rPr lang="it-IT" dirty="0"/>
                  <a:t> e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𝑆</m:t>
                        </m:r>
                      </m:e>
                      <m:sub>
                        <m:r>
                          <a:rPr lang="it-IT" sz="1200" i="1">
                            <a:latin typeface="Cambria Math" panose="02040503050406030204" pitchFamily="18" charset="0"/>
                          </a:rPr>
                          <m:t>𝑘</m:t>
                        </m:r>
                        <m:r>
                          <a:rPr lang="it-IT" sz="1200" i="1">
                            <a:latin typeface="Cambria Math" panose="02040503050406030204" pitchFamily="18" charset="0"/>
                          </a:rPr>
                          <m:t>¬</m:t>
                        </m:r>
                        <m:r>
                          <a:rPr lang="it-IT" sz="1200" i="1">
                            <a:latin typeface="Cambria Math" panose="02040503050406030204" pitchFamily="18" charset="0"/>
                          </a:rPr>
                          <m:t>𝑖</m:t>
                        </m:r>
                      </m:sub>
                    </m:sSub>
                  </m:oMath>
                </a14:m>
                <a:r>
                  <a:rPr lang="it-IT" dirty="0"/>
                  <a:t> non sono stati definiti perché sono analoghi al caso gibbs sampling ma escludento il</a:t>
                </a:r>
                <a:r>
                  <a:rPr lang="it-IT" baseline="0" dirty="0"/>
                  <a:t> punto </a:t>
                </a:r>
                <a:r>
                  <a:rPr lang="it-IT" i="1" baseline="0" dirty="0"/>
                  <a:t>i </a:t>
                </a:r>
                <a:r>
                  <a:rPr lang="it-IT" i="0" baseline="0" dirty="0"/>
                  <a:t>dalle sommatorie. Inoltre </a:t>
                </a:r>
                <a14:m>
                  <m:oMath xmlns:m="http://schemas.openxmlformats.org/officeDocument/2006/math">
                    <m:sSub>
                      <m:sSubPr>
                        <m:ctrlPr>
                          <a:rPr lang="it-IT" sz="1200" i="1" smtClean="0">
                            <a:latin typeface="Cambria Math" panose="02040503050406030204" pitchFamily="18" charset="0"/>
                          </a:rPr>
                        </m:ctrlPr>
                      </m:sSubPr>
                      <m:e>
                        <m:bar>
                          <m:barPr>
                            <m:pos m:val="top"/>
                            <m:ctrlPr>
                              <a:rPr lang="it-IT" sz="1200" i="1">
                                <a:latin typeface="Cambria Math" panose="02040503050406030204" pitchFamily="18" charset="0"/>
                              </a:rPr>
                            </m:ctrlPr>
                          </m:barPr>
                          <m:e>
                            <m:r>
                              <a:rPr lang="it-IT" sz="1200" i="1">
                                <a:latin typeface="Cambria Math" panose="02040503050406030204" pitchFamily="18" charset="0"/>
                              </a:rPr>
                              <m:t>𝑥</m:t>
                            </m:r>
                          </m:e>
                        </m:bar>
                      </m:e>
                      <m:sub>
                        <m:r>
                          <a:rPr lang="it-IT" sz="1200" i="1">
                            <a:latin typeface="Cambria Math" panose="02040503050406030204" pitchFamily="18" charset="0"/>
                          </a:rPr>
                          <m:t>𝑘</m:t>
                        </m:r>
                        <m:r>
                          <a:rPr lang="it-IT" sz="1200" b="0" i="1" smtClean="0">
                            <a:latin typeface="Cambria Math" panose="02040503050406030204" pitchFamily="18" charset="0"/>
                          </a:rPr>
                          <m:t>¬</m:t>
                        </m:r>
                        <m:r>
                          <m:rPr>
                            <m:sty m:val="p"/>
                          </m:rPr>
                          <a:rPr lang="it-IT" sz="1200" b="0" i="1" smtClean="0">
                            <a:latin typeface="Cambria Math" panose="02040503050406030204" pitchFamily="18" charset="0"/>
                          </a:rPr>
                          <m:t>i</m:t>
                        </m:r>
                      </m:sub>
                    </m:sSub>
                  </m:oMath>
                </a14:m>
                <a:r>
                  <a:rPr lang="it-IT" dirty="0"/>
                  <a:t> è un vettore, mentre </a:t>
                </a:r>
                <a14:m>
                  <m:oMath xmlns:m="http://schemas.openxmlformats.org/officeDocument/2006/math">
                    <m:sSub>
                      <m:sSubPr>
                        <m:ctrlPr>
                          <a:rPr lang="it-IT" sz="1200" i="1" smtClean="0">
                            <a:latin typeface="Cambria Math" panose="02040503050406030204" pitchFamily="18" charset="0"/>
                          </a:rPr>
                        </m:ctrlPr>
                      </m:sSubPr>
                      <m:e>
                        <m:r>
                          <a:rPr lang="it-IT" sz="1200" i="1">
                            <a:latin typeface="Cambria Math" panose="02040503050406030204" pitchFamily="18" charset="0"/>
                          </a:rPr>
                          <m:t>𝑆</m:t>
                        </m:r>
                      </m:e>
                      <m:sub>
                        <m:r>
                          <a:rPr lang="it-IT" sz="1200" i="1">
                            <a:latin typeface="Cambria Math" panose="02040503050406030204" pitchFamily="18" charset="0"/>
                          </a:rPr>
                          <m:t>𝑘</m:t>
                        </m:r>
                        <m:r>
                          <a:rPr lang="it-IT" sz="1200" i="1">
                            <a:latin typeface="Cambria Math" panose="02040503050406030204" pitchFamily="18" charset="0"/>
                          </a:rPr>
                          <m:t>¬</m:t>
                        </m:r>
                        <m:r>
                          <a:rPr lang="it-IT" sz="1200" i="1">
                            <a:latin typeface="Cambria Math" panose="02040503050406030204" pitchFamily="18" charset="0"/>
                          </a:rPr>
                          <m:t>𝑖</m:t>
                        </m:r>
                      </m:sub>
                    </m:sSub>
                  </m:oMath>
                </a14:m>
                <a:r>
                  <a:rPr lang="it-IT" baseline="0" dirty="0"/>
                  <a:t> è una matrice, la somma del quadrato delle distanze diventa </a:t>
                </a:r>
                <a14:m>
                  <m:oMath xmlns:m="http://schemas.openxmlformats.org/officeDocument/2006/math">
                    <m:r>
                      <a:rPr lang="it-IT" sz="1200" b="0" i="1" smtClean="0">
                        <a:latin typeface="Cambria Math" panose="02040503050406030204" pitchFamily="18" charset="0"/>
                      </a:rPr>
                      <m:t>∑_</m:t>
                    </m:r>
                    <m:r>
                      <a:rPr lang="it-IT" sz="1200" b="0" i="1" smtClean="0">
                        <a:latin typeface="Cambria Math" panose="02040503050406030204" pitchFamily="18" charset="0"/>
                      </a:rPr>
                      <m:t>𝑗</m:t>
                    </m:r>
                    <m:d>
                      <m:dPr>
                        <m:ctrlPr>
                          <a:rPr lang="it-IT" sz="1200" i="1" smtClean="0">
                            <a:latin typeface="Cambria Math" panose="02040503050406030204" pitchFamily="18" charset="0"/>
                          </a:rPr>
                        </m:ctrlPr>
                      </m:dPr>
                      <m:e>
                        <m:sSub>
                          <m:sSubPr>
                            <m:ctrlPr>
                              <a:rPr lang="it-IT" sz="1200" i="1">
                                <a:latin typeface="Cambria Math" panose="02040503050406030204" pitchFamily="18" charset="0"/>
                              </a:rPr>
                            </m:ctrlPr>
                          </m:sSubPr>
                          <m:e>
                            <m:bar>
                              <m:barPr>
                                <m:pos m:val="top"/>
                                <m:ctrlPr>
                                  <a:rPr lang="it-IT" sz="1200" i="1">
                                    <a:latin typeface="Cambria Math" panose="02040503050406030204" pitchFamily="18" charset="0"/>
                                  </a:rPr>
                                </m:ctrlPr>
                              </m:barPr>
                              <m:e>
                                <m:r>
                                  <a:rPr lang="it-IT" sz="1200" i="1">
                                    <a:latin typeface="Cambria Math" panose="02040503050406030204" pitchFamily="18" charset="0"/>
                                  </a:rPr>
                                  <m:t>𝑥</m:t>
                                </m:r>
                              </m:e>
                            </m:bar>
                          </m:e>
                          <m:sub>
                            <m:r>
                              <a:rPr lang="it-IT" sz="1200" i="1">
                                <a:latin typeface="Cambria Math" panose="02040503050406030204" pitchFamily="18" charset="0"/>
                              </a:rPr>
                              <m:t>𝑘</m:t>
                            </m:r>
                            <m:r>
                              <a:rPr lang="it-IT" sz="1200" i="1">
                                <a:latin typeface="Cambria Math" panose="02040503050406030204" pitchFamily="18" charset="0"/>
                              </a:rPr>
                              <m:t>¬</m:t>
                            </m:r>
                            <m:r>
                              <m:rPr>
                                <m:sty m:val="p"/>
                              </m:rPr>
                              <a:rPr lang="it-IT" sz="1200" i="1">
                                <a:latin typeface="Cambria Math" panose="02040503050406030204" pitchFamily="18" charset="0"/>
                              </a:rPr>
                              <m:t>i</m:t>
                            </m:r>
                          </m:sub>
                        </m:sSub>
                        <m:r>
                          <a:rPr lang="it-IT" sz="1200" i="1">
                            <a:latin typeface="Cambria Math" panose="02040503050406030204" pitchFamily="18" charset="0"/>
                          </a:rPr>
                          <m:t>−</m:t>
                        </m:r>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𝑥</m:t>
                            </m:r>
                          </m:e>
                          <m:sub>
                            <m:r>
                              <a:rPr lang="it-IT" sz="1200" i="1" smtClean="0">
                                <a:latin typeface="Cambria Math" panose="02040503050406030204" pitchFamily="18" charset="0"/>
                              </a:rPr>
                              <m:t>𝑘</m:t>
                            </m:r>
                            <m:r>
                              <a:rPr lang="it-IT" sz="1200" i="1" smtClean="0">
                                <a:latin typeface="Cambria Math" panose="02040503050406030204" pitchFamily="18" charset="0"/>
                              </a:rPr>
                              <m:t>¬</m:t>
                            </m:r>
                            <m:r>
                              <a:rPr lang="it-IT" sz="1200" i="1" smtClean="0">
                                <a:latin typeface="Cambria Math" panose="02040503050406030204" pitchFamily="18" charset="0"/>
                              </a:rPr>
                              <m:t>𝑖</m:t>
                            </m:r>
                            <m:r>
                              <a:rPr lang="it-IT" sz="1200" b="0" i="1" smtClean="0">
                                <a:latin typeface="Cambria Math" panose="02040503050406030204" pitchFamily="18" charset="0"/>
                              </a:rPr>
                              <m:t>,</m:t>
                            </m:r>
                            <m:r>
                              <a:rPr lang="it-IT" sz="1200" b="0" i="1" smtClean="0">
                                <a:latin typeface="Cambria Math" panose="02040503050406030204" pitchFamily="18" charset="0"/>
                              </a:rPr>
                              <m:t>𝑗</m:t>
                            </m:r>
                          </m:sub>
                        </m:sSub>
                      </m:e>
                    </m:d>
                    <m:sSup>
                      <m:sSupPr>
                        <m:ctrlPr>
                          <a:rPr lang="it-IT" sz="1200" b="0" i="1" smtClean="0">
                            <a:latin typeface="Cambria Math" panose="02040503050406030204" pitchFamily="18" charset="0"/>
                          </a:rPr>
                        </m:ctrlPr>
                      </m:sSupPr>
                      <m:e>
                        <m:d>
                          <m:dPr>
                            <m:ctrlPr>
                              <a:rPr lang="it-IT" sz="1200" i="1" smtClean="0">
                                <a:latin typeface="Cambria Math" panose="02040503050406030204" pitchFamily="18" charset="0"/>
                              </a:rPr>
                            </m:ctrlPr>
                          </m:dPr>
                          <m:e>
                            <m:sSub>
                              <m:sSubPr>
                                <m:ctrlPr>
                                  <a:rPr lang="it-IT" sz="1200" i="1">
                                    <a:latin typeface="Cambria Math" panose="02040503050406030204" pitchFamily="18" charset="0"/>
                                  </a:rPr>
                                </m:ctrlPr>
                              </m:sSubPr>
                              <m:e>
                                <m:bar>
                                  <m:barPr>
                                    <m:pos m:val="top"/>
                                    <m:ctrlPr>
                                      <a:rPr lang="it-IT" sz="1200" i="1">
                                        <a:latin typeface="Cambria Math" panose="02040503050406030204" pitchFamily="18" charset="0"/>
                                      </a:rPr>
                                    </m:ctrlPr>
                                  </m:barPr>
                                  <m:e>
                                    <m:r>
                                      <a:rPr lang="it-IT" sz="1200" i="1">
                                        <a:latin typeface="Cambria Math" panose="02040503050406030204" pitchFamily="18" charset="0"/>
                                      </a:rPr>
                                      <m:t>𝑥</m:t>
                                    </m:r>
                                  </m:e>
                                </m:bar>
                              </m:e>
                              <m:sub>
                                <m:r>
                                  <a:rPr lang="it-IT" sz="1200" i="1">
                                    <a:latin typeface="Cambria Math" panose="02040503050406030204" pitchFamily="18" charset="0"/>
                                  </a:rPr>
                                  <m:t>𝑘</m:t>
                                </m:r>
                                <m:r>
                                  <a:rPr lang="it-IT" sz="1200" i="1">
                                    <a:latin typeface="Cambria Math" panose="02040503050406030204" pitchFamily="18" charset="0"/>
                                  </a:rPr>
                                  <m:t>¬</m:t>
                                </m:r>
                                <m:r>
                                  <m:rPr>
                                    <m:sty m:val="p"/>
                                  </m:rPr>
                                  <a:rPr lang="it-IT" sz="1200" i="1">
                                    <a:latin typeface="Cambria Math" panose="02040503050406030204" pitchFamily="18" charset="0"/>
                                  </a:rPr>
                                  <m:t>i</m:t>
                                </m:r>
                              </m:sub>
                            </m:sSub>
                            <m:r>
                              <a:rPr lang="it-IT" sz="1200" i="1">
                                <a:latin typeface="Cambria Math" panose="02040503050406030204" pitchFamily="18" charset="0"/>
                              </a:rPr>
                              <m:t>−</m:t>
                            </m:r>
                            <m:sSub>
                              <m:sSubPr>
                                <m:ctrlPr>
                                  <a:rPr lang="it-IT" sz="1200" b="0" i="1" smtClean="0">
                                    <a:latin typeface="Cambria Math" panose="02040503050406030204" pitchFamily="18" charset="0"/>
                                  </a:rPr>
                                </m:ctrlPr>
                              </m:sSubPr>
                              <m:e>
                                <m:r>
                                  <a:rPr lang="it-IT" sz="1200" b="0" i="1" smtClean="0">
                                    <a:latin typeface="Cambria Math" panose="02040503050406030204" pitchFamily="18" charset="0"/>
                                  </a:rPr>
                                  <m:t>𝑥</m:t>
                                </m:r>
                              </m:e>
                              <m:sub>
                                <m:r>
                                  <a:rPr lang="it-IT" sz="1200" i="1" smtClean="0">
                                    <a:latin typeface="Cambria Math" panose="02040503050406030204" pitchFamily="18" charset="0"/>
                                  </a:rPr>
                                  <m:t>𝑘</m:t>
                                </m:r>
                                <m:r>
                                  <a:rPr lang="it-IT" sz="1200" i="1" smtClean="0">
                                    <a:latin typeface="Cambria Math" panose="02040503050406030204" pitchFamily="18" charset="0"/>
                                  </a:rPr>
                                  <m:t>¬</m:t>
                                </m:r>
                                <m:r>
                                  <a:rPr lang="it-IT" sz="1200" i="1" smtClean="0">
                                    <a:latin typeface="Cambria Math" panose="02040503050406030204" pitchFamily="18" charset="0"/>
                                  </a:rPr>
                                  <m:t>𝑖</m:t>
                                </m:r>
                                <m:r>
                                  <a:rPr lang="it-IT" sz="1200" b="0" i="1" smtClean="0">
                                    <a:latin typeface="Cambria Math" panose="02040503050406030204" pitchFamily="18" charset="0"/>
                                  </a:rPr>
                                  <m:t>,</m:t>
                                </m:r>
                                <m:r>
                                  <a:rPr lang="it-IT" sz="1200" b="0" i="1" smtClean="0">
                                    <a:latin typeface="Cambria Math" panose="02040503050406030204" pitchFamily="18" charset="0"/>
                                  </a:rPr>
                                  <m:t>𝑗</m:t>
                                </m:r>
                              </m:sub>
                            </m:sSub>
                          </m:e>
                        </m:d>
                      </m:e>
                      <m:sup>
                        <m:r>
                          <a:rPr lang="it-IT" sz="1200" b="0" i="1" smtClean="0">
                            <a:latin typeface="Cambria Math" panose="02040503050406030204" pitchFamily="18" charset="0"/>
                          </a:rPr>
                          <m:t>⊺</m:t>
                        </m:r>
                      </m:sup>
                    </m:sSup>
                  </m:oMath>
                </a14:m>
                <a:r>
                  <a:rPr lang="it-IT" baseline="0" dirty="0"/>
                  <a:t>.</a:t>
                </a:r>
              </a:p>
            </p:txBody>
          </p:sp>
        </mc:Choice>
        <mc:Fallback xmlns="">
          <p:sp>
            <p:nvSpPr>
              <p:cNvPr id="3" name="Notes Placeholder 2">
                <a:extLst>
                  <a:ext uri="{FF2B5EF4-FFF2-40B4-BE49-F238E27FC236}">
                    <a16:creationId xmlns:a16="http://schemas.microsoft.com/office/drawing/2014/main" id="{69DFE92C-FDBF-1C5C-4BCD-EE1BAA7B94CF}"/>
                  </a:ext>
                </a:extLst>
              </p:cNvPr>
              <p:cNvSpPr>
                <a:spLocks noGrp="1"/>
              </p:cNvSpPr>
              <p:nvPr>
                <p:ph type="body" idx="1"/>
              </p:nvPr>
            </p:nvSpPr>
            <p:spPr/>
            <p:txBody>
              <a:bodyPr/>
              <a:lstStyle/>
              <a:p>
                <a:pPr marL="0" indent="0">
                  <a:buFontTx/>
                  <a:buNone/>
                </a:pPr>
                <a:r>
                  <a:rPr lang="it-IT" sz="1200" i="0" dirty="0">
                    <a:latin typeface="+mn-lt"/>
                  </a:rPr>
                  <a:t>-</a:t>
                </a:r>
                <a:r>
                  <a:rPr lang="it-IT" sz="1200" i="0" baseline="0" dirty="0">
                    <a:latin typeface="+mn-lt"/>
                  </a:rPr>
                  <a:t> </a:t>
                </a:r>
                <a:r>
                  <a:rPr lang="it-IT" sz="1200" i="0">
                    <a:latin typeface="Cambria Math" panose="02040503050406030204" pitchFamily="18" charset="0"/>
                  </a:rPr>
                  <a:t>¯𝑥_(𝑘</a:t>
                </a:r>
                <a:r>
                  <a:rPr lang="it-IT" sz="1200" b="0" i="0">
                    <a:latin typeface="Cambria Math" panose="02040503050406030204" pitchFamily="18" charset="0"/>
                  </a:rPr>
                  <a:t>¬i)</a:t>
                </a:r>
                <a:r>
                  <a:rPr lang="it-IT" dirty="0"/>
                  <a:t> e </a:t>
                </a:r>
                <a:r>
                  <a:rPr lang="it-IT" sz="1200" i="0">
                    <a:latin typeface="Cambria Math" panose="02040503050406030204" pitchFamily="18" charset="0"/>
                  </a:rPr>
                  <a:t>𝑆_(𝑘¬𝑖)</a:t>
                </a:r>
                <a:r>
                  <a:rPr lang="it-IT" dirty="0"/>
                  <a:t> non sono stati definiti perché sono analoghi al caso gibbs sampling ma escludento il</a:t>
                </a:r>
                <a:r>
                  <a:rPr lang="it-IT" baseline="0" dirty="0"/>
                  <a:t> punto </a:t>
                </a:r>
                <a:r>
                  <a:rPr lang="it-IT" i="1" baseline="0" dirty="0"/>
                  <a:t>i </a:t>
                </a:r>
                <a:r>
                  <a:rPr lang="it-IT" i="0" baseline="0" dirty="0"/>
                  <a:t>dalle sommatorie. Inoltre </a:t>
                </a:r>
                <a:r>
                  <a:rPr lang="it-IT" sz="1200" i="0">
                    <a:latin typeface="Cambria Math" panose="02040503050406030204" pitchFamily="18" charset="0"/>
                  </a:rPr>
                  <a:t>¯𝑥_(𝑘</a:t>
                </a:r>
                <a:r>
                  <a:rPr lang="it-IT" sz="1200" b="0" i="0">
                    <a:latin typeface="Cambria Math" panose="02040503050406030204" pitchFamily="18" charset="0"/>
                  </a:rPr>
                  <a:t>¬i)</a:t>
                </a:r>
                <a:r>
                  <a:rPr lang="it-IT" dirty="0"/>
                  <a:t> è un vettore, mentre </a:t>
                </a:r>
                <a:r>
                  <a:rPr lang="it-IT" sz="1200" i="0">
                    <a:latin typeface="Cambria Math" panose="02040503050406030204" pitchFamily="18" charset="0"/>
                  </a:rPr>
                  <a:t>𝑆_(𝑘¬𝑖)</a:t>
                </a:r>
                <a:r>
                  <a:rPr lang="it-IT" baseline="0" dirty="0"/>
                  <a:t> è una matrice, la somma del quadrato delle distanze diventa </a:t>
                </a:r>
                <a:r>
                  <a:rPr lang="it-IT" sz="1200" b="0" i="0">
                    <a:latin typeface="Cambria Math" panose="02040503050406030204" pitchFamily="18" charset="0"/>
                  </a:rPr>
                  <a:t>∑_𝑗</a:t>
                </a:r>
                <a:r>
                  <a:rPr lang="it-IT" sz="1200" i="0">
                    <a:latin typeface="Cambria Math" panose="02040503050406030204" pitchFamily="18" charset="0"/>
                  </a:rPr>
                  <a:t>(¯𝑥_(𝑘¬i)−</a:t>
                </a:r>
                <a:r>
                  <a:rPr lang="it-IT" sz="1200" b="0" i="0">
                    <a:latin typeface="Cambria Math" panose="02040503050406030204" pitchFamily="18" charset="0"/>
                  </a:rPr>
                  <a:t>𝑥_(</a:t>
                </a:r>
                <a:r>
                  <a:rPr lang="it-IT" sz="1200" i="0">
                    <a:latin typeface="Cambria Math" panose="02040503050406030204" pitchFamily="18" charset="0"/>
                  </a:rPr>
                  <a:t>𝑘¬𝑖</a:t>
                </a:r>
                <a:r>
                  <a:rPr lang="it-IT" sz="1200" b="0" i="0">
                    <a:latin typeface="Cambria Math" panose="02040503050406030204" pitchFamily="18" charset="0"/>
                  </a:rPr>
                  <a:t>,𝑗) ) </a:t>
                </a:r>
                <a:r>
                  <a:rPr lang="it-IT" sz="1200" i="0">
                    <a:latin typeface="Cambria Math" panose="02040503050406030204" pitchFamily="18" charset="0"/>
                  </a:rPr>
                  <a:t>(¯𝑥_(𝑘¬i)−</a:t>
                </a:r>
                <a:r>
                  <a:rPr lang="it-IT" sz="1200" b="0" i="0">
                    <a:latin typeface="Cambria Math" panose="02040503050406030204" pitchFamily="18" charset="0"/>
                  </a:rPr>
                  <a:t>𝑥_(</a:t>
                </a:r>
                <a:r>
                  <a:rPr lang="it-IT" sz="1200" i="0">
                    <a:latin typeface="Cambria Math" panose="02040503050406030204" pitchFamily="18" charset="0"/>
                  </a:rPr>
                  <a:t>𝑘¬𝑖</a:t>
                </a:r>
                <a:r>
                  <a:rPr lang="it-IT" sz="1200" b="0" i="0">
                    <a:latin typeface="Cambria Math" panose="02040503050406030204" pitchFamily="18" charset="0"/>
                  </a:rPr>
                  <a:t>,𝑗) )^⊺</a:t>
                </a:r>
                <a:r>
                  <a:rPr lang="it-IT" baseline="0" dirty="0"/>
                  <a:t>.</a:t>
                </a:r>
              </a:p>
            </p:txBody>
          </p:sp>
        </mc:Fallback>
      </mc:AlternateContent>
      <p:sp>
        <p:nvSpPr>
          <p:cNvPr id="4" name="Slide Number Placeholder 3">
            <a:extLst>
              <a:ext uri="{FF2B5EF4-FFF2-40B4-BE49-F238E27FC236}">
                <a16:creationId xmlns:a16="http://schemas.microsoft.com/office/drawing/2014/main" id="{A08153AF-0F84-5834-FFDA-EBCBA9749721}"/>
              </a:ext>
            </a:extLst>
          </p:cNvPr>
          <p:cNvSpPr>
            <a:spLocks noGrp="1"/>
          </p:cNvSpPr>
          <p:nvPr>
            <p:ph type="sldNum" sz="quarter" idx="5"/>
          </p:nvPr>
        </p:nvSpPr>
        <p:spPr/>
        <p:txBody>
          <a:bodyPr/>
          <a:lstStyle/>
          <a:p>
            <a:fld id="{82192EC7-7948-4BBD-9DE4-D94ACEC643F8}" type="slidenum">
              <a:rPr lang="it-IT" smtClean="0"/>
              <a:t>53</a:t>
            </a:fld>
            <a:endParaRPr lang="it-IT"/>
          </a:p>
        </p:txBody>
      </p:sp>
    </p:spTree>
    <p:extLst>
      <p:ext uri="{BB962C8B-B14F-4D97-AF65-F5344CB8AC3E}">
        <p14:creationId xmlns:p14="http://schemas.microsoft.com/office/powerpoint/2010/main" val="278539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465B5-69F3-2D32-0444-D8ED9B2B5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527EB-07DB-E19C-388F-A3A57CF4E98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DBAAC2E-3DD4-9E29-2BE8-94715B3709C9}"/>
                  </a:ext>
                </a:extLst>
              </p:cNvPr>
              <p:cNvSpPr>
                <a:spLocks noGrp="1"/>
              </p:cNvSpPr>
              <p:nvPr>
                <p:ph type="body" idx="1"/>
              </p:nvPr>
            </p:nvSpPr>
            <p:spPr/>
            <p:txBody>
              <a:bodyPr/>
              <a:lstStyle/>
              <a:p>
                <a:r>
                  <a:rPr lang="it-IT" dirty="0"/>
                  <a:t>- Nella prima formula è stata utilizzato il fatto che il termine dentro l’integrale è una Inverse-Wishart con:</a:t>
                </a:r>
              </a:p>
              <a:p>
                <a:r>
                  <a:rPr lang="it-IT" dirty="0"/>
                  <a:t>  </a:t>
                </a:r>
                <a14:m>
                  <m:oMath xmlns:m="http://schemas.openxmlformats.org/officeDocument/2006/math">
                    <m:r>
                      <m:rPr>
                        <m:sty m:val="p"/>
                      </m:rPr>
                      <a:rPr lang="it-IT" sz="1200" b="0" i="1" dirty="0" smtClean="0">
                        <a:latin typeface="Cambria Math" panose="02040503050406030204" pitchFamily="18" charset="0"/>
                      </a:rPr>
                      <m:t>ν</m:t>
                    </m:r>
                    <m:r>
                      <a:rPr lang="it-IT" sz="1200" b="0" i="1" dirty="0" smtClean="0">
                        <a:latin typeface="Cambria Math" panose="02040503050406030204" pitchFamily="18" charset="0"/>
                      </a:rPr>
                      <m:t>=</m:t>
                    </m:r>
                    <m:sSub>
                      <m:sSubPr>
                        <m:ctrlPr>
                          <a:rPr lang="it-IT" sz="1200" i="1" smtClean="0">
                            <a:latin typeface="Cambria Math" panose="02040503050406030204" pitchFamily="18" charset="0"/>
                          </a:rPr>
                        </m:ctrlPr>
                      </m:sSubPr>
                      <m:e>
                        <m:r>
                          <a:rPr lang="it-IT" sz="1200" i="1">
                            <a:latin typeface="Cambria Math" panose="02040503050406030204" pitchFamily="18" charset="0"/>
                          </a:rPr>
                          <m:t>𝜈</m:t>
                        </m:r>
                      </m:e>
                      <m:sub>
                        <m:r>
                          <a:rPr lang="it-IT" sz="1200" i="1">
                            <a:latin typeface="Cambria Math" panose="02040503050406030204" pitchFamily="18" charset="0"/>
                          </a:rPr>
                          <m:t>𝑛</m:t>
                        </m:r>
                      </m:sub>
                    </m:sSub>
                    <m:r>
                      <a:rPr lang="it-IT" sz="1200" i="1">
                        <a:latin typeface="Cambria Math" panose="02040503050406030204" pitchFamily="18" charset="0"/>
                      </a:rPr>
                      <m:t>+</m:t>
                    </m:r>
                    <m:r>
                      <a:rPr lang="it-IT" sz="1200" i="1">
                        <a:latin typeface="Cambria Math" panose="02040503050406030204" pitchFamily="18" charset="0"/>
                      </a:rPr>
                      <m:t>1</m:t>
                    </m:r>
                  </m:oMath>
                </a14:m>
                <a:r>
                  <a:rPr lang="it-IT" sz="1200" dirty="0"/>
                  <a:t>    e    </a:t>
                </a:r>
                <a14:m>
                  <m:oMath xmlns:m="http://schemas.openxmlformats.org/officeDocument/2006/math">
                    <m:r>
                      <m:rPr>
                        <m:sty m:val="p"/>
                      </m:rPr>
                      <a:rPr lang="it-IT" sz="1200" b="0" i="1" smtClean="0">
                        <a:latin typeface="Cambria Math" panose="02040503050406030204" pitchFamily="18" charset="0"/>
                      </a:rPr>
                      <m:t>Λ</m:t>
                    </m:r>
                    <m:r>
                      <a:rPr lang="it-IT" sz="1200" b="0" i="1" smtClean="0">
                        <a:latin typeface="Cambria Math" panose="02040503050406030204" pitchFamily="18" charset="0"/>
                      </a:rPr>
                      <m:t>=</m:t>
                    </m:r>
                    <m:r>
                      <a:rPr lang="it-IT" sz="1200" i="1" smtClean="0">
                        <a:latin typeface="Cambria Math" panose="02040503050406030204" pitchFamily="18" charset="0"/>
                      </a:rPr>
                      <m:t>𝑐𝑢</m:t>
                    </m:r>
                    <m:sSup>
                      <m:sSupPr>
                        <m:ctrlPr>
                          <a:rPr lang="it-IT" sz="1200" i="1">
                            <a:latin typeface="Cambria Math" panose="02040503050406030204" pitchFamily="18" charset="0"/>
                          </a:rPr>
                        </m:ctrlPr>
                      </m:sSupPr>
                      <m:e>
                        <m:r>
                          <a:rPr lang="it-IT" sz="1200" i="1">
                            <a:latin typeface="Cambria Math" panose="02040503050406030204" pitchFamily="18" charset="0"/>
                          </a:rPr>
                          <m:t>𝑢</m:t>
                        </m:r>
                      </m:e>
                      <m:sup>
                        <m:r>
                          <a:rPr lang="it-IT" sz="1200" i="1">
                            <a:latin typeface="Cambria Math" panose="02040503050406030204" pitchFamily="18" charset="0"/>
                          </a:rPr>
                          <m:t>⊺</m:t>
                        </m:r>
                      </m:sup>
                    </m:sSup>
                    <m:r>
                      <a:rPr lang="it-IT" sz="1200" i="1">
                        <a:latin typeface="Cambria Math" panose="02040503050406030204" pitchFamily="18" charset="0"/>
                      </a:rPr>
                      <m:t>+</m:t>
                    </m:r>
                    <m:sSub>
                      <m:sSubPr>
                        <m:ctrlPr>
                          <a:rPr lang="it-IT" sz="1200" i="1">
                            <a:latin typeface="Cambria Math" panose="02040503050406030204" pitchFamily="18" charset="0"/>
                          </a:rPr>
                        </m:ctrlPr>
                      </m:sSubPr>
                      <m:e>
                        <m:r>
                          <m:rPr>
                            <m:sty m:val="p"/>
                          </m:rPr>
                          <a:rPr lang="it-IT" sz="1200">
                            <a:latin typeface="Cambria Math" panose="02040503050406030204" pitchFamily="18" charset="0"/>
                          </a:rPr>
                          <m:t>Λ</m:t>
                        </m:r>
                      </m:e>
                      <m:sub>
                        <m:r>
                          <a:rPr lang="it-IT" sz="1200" i="1">
                            <a:latin typeface="Cambria Math" panose="02040503050406030204" pitchFamily="18" charset="0"/>
                          </a:rPr>
                          <m:t>𝑛</m:t>
                        </m:r>
                      </m:sub>
                    </m:sSub>
                  </m:oMath>
                </a14:m>
                <a:r>
                  <a:rPr lang="it-IT" sz="1200" dirty="0"/>
                  <a:t>,  quindi l’integrale è stato sostituito</a:t>
                </a:r>
                <a:r>
                  <a:rPr lang="it-IT" sz="1200" baseline="0" dirty="0"/>
                  <a:t> con la costante di normalizzazione.</a:t>
                </a:r>
              </a:p>
              <a:p>
                <a:r>
                  <a:rPr lang="it-IT" sz="1200" baseline="0" dirty="0"/>
                  <a:t>- L’operatore </a:t>
                </a:r>
                <a14:m>
                  <m:oMath xmlns:m="http://schemas.openxmlformats.org/officeDocument/2006/math">
                    <m:r>
                      <a:rPr lang="it-IT" sz="1200" b="0" i="1" dirty="0" smtClean="0">
                        <a:latin typeface="Cambria Math" panose="02040503050406030204" pitchFamily="18" charset="0"/>
                      </a:rPr>
                      <m:t>|</m:t>
                    </m:r>
                    <m:r>
                      <m:rPr>
                        <m:sty m:val="p"/>
                      </m:rPr>
                      <a:rPr lang="it-IT" sz="1200" i="1">
                        <a:latin typeface="Cambria Math" panose="02040503050406030204" pitchFamily="18" charset="0"/>
                      </a:rPr>
                      <m:t>Σ</m:t>
                    </m:r>
                    <m:r>
                      <a:rPr lang="it-IT" sz="1200" b="0" i="1" smtClean="0">
                        <a:latin typeface="Cambria Math" panose="02040503050406030204" pitchFamily="18" charset="0"/>
                      </a:rPr>
                      <m:t>|</m:t>
                    </m:r>
                  </m:oMath>
                </a14:m>
                <a:r>
                  <a:rPr lang="it-IT" sz="1200" dirty="0"/>
                  <a:t> indica il determinante di </a:t>
                </a:r>
                <a14:m>
                  <m:oMath xmlns:m="http://schemas.openxmlformats.org/officeDocument/2006/math">
                    <m:r>
                      <m:rPr>
                        <m:sty m:val="p"/>
                      </m:rPr>
                      <a:rPr lang="it-IT" sz="1200" i="1">
                        <a:latin typeface="Cambria Math" panose="02040503050406030204" pitchFamily="18" charset="0"/>
                      </a:rPr>
                      <m:t>Σ</m:t>
                    </m:r>
                  </m:oMath>
                </a14:m>
                <a:endParaRPr lang="it-IT" sz="1200" dirty="0"/>
              </a:p>
              <a:p>
                <a:endParaRPr lang="it-IT" dirty="0"/>
              </a:p>
            </p:txBody>
          </p:sp>
        </mc:Choice>
        <mc:Fallback xmlns="">
          <p:sp>
            <p:nvSpPr>
              <p:cNvPr id="3" name="Notes Placeholder 2">
                <a:extLst>
                  <a:ext uri="{FF2B5EF4-FFF2-40B4-BE49-F238E27FC236}">
                    <a16:creationId xmlns:a16="http://schemas.microsoft.com/office/drawing/2014/main" id="{8DBAAC2E-3DD4-9E29-2BE8-94715B3709C9}"/>
                  </a:ext>
                </a:extLst>
              </p:cNvPr>
              <p:cNvSpPr>
                <a:spLocks noGrp="1"/>
              </p:cNvSpPr>
              <p:nvPr>
                <p:ph type="body" idx="1"/>
              </p:nvPr>
            </p:nvSpPr>
            <p:spPr/>
            <p:txBody>
              <a:bodyPr/>
              <a:lstStyle/>
              <a:p>
                <a:r>
                  <a:rPr lang="it-IT" dirty="0"/>
                  <a:t>- Nella prima formula è stata utilizzato il fatto che il termine dentro l’integrale è una gamma function con:</a:t>
                </a:r>
              </a:p>
              <a:p>
                <a:r>
                  <a:rPr lang="it-IT" dirty="0"/>
                  <a:t>  </a:t>
                </a:r>
                <a:r>
                  <a:rPr lang="it-IT" sz="1200" b="0" i="0" dirty="0">
                    <a:latin typeface="Cambria Math" panose="02040503050406030204" pitchFamily="18" charset="0"/>
                  </a:rPr>
                  <a:t>𝛼=</a:t>
                </a:r>
                <a:r>
                  <a:rPr lang="it-IT" sz="1200" i="0">
                    <a:latin typeface="Cambria Math" panose="02040503050406030204" pitchFamily="18" charset="0"/>
                  </a:rPr>
                  <a:t>𝛼_𝑛+1\/2</a:t>
                </a:r>
                <a:r>
                  <a:rPr lang="it-IT" sz="1200" dirty="0"/>
                  <a:t>    e    </a:t>
                </a:r>
                <a:r>
                  <a:rPr lang="it-IT" sz="1200" i="0">
                    <a:latin typeface="Cambria Math" panose="02040503050406030204" pitchFamily="18" charset="0"/>
                  </a:rPr>
                  <a:t>𝛽</a:t>
                </a:r>
                <a:r>
                  <a:rPr lang="it-IT" sz="1200" b="0" i="0">
                    <a:latin typeface="Cambria Math" panose="02040503050406030204" pitchFamily="18" charset="0"/>
                  </a:rPr>
                  <a:t>=</a:t>
                </a:r>
                <a:r>
                  <a:rPr lang="it-IT" sz="1200" i="0">
                    <a:latin typeface="Cambria Math" panose="02040503050406030204" pitchFamily="18" charset="0"/>
                  </a:rPr>
                  <a:t>𝛽_𝑛+(𝑥_𝑖−𝜇_𝑛 )^2/2(1+1\/𝜅_𝑛 ) </a:t>
                </a:r>
                <a:r>
                  <a:rPr lang="it-IT" sz="1200" dirty="0"/>
                  <a:t>, quindi l’integrale è stato sostituito</a:t>
                </a:r>
                <a:r>
                  <a:rPr lang="it-IT" sz="1200" baseline="0" dirty="0"/>
                  <a:t> con la costante di normalizzazione</a:t>
                </a:r>
                <a:endParaRPr lang="it-IT" sz="1200" dirty="0"/>
              </a:p>
              <a:p>
                <a:endParaRPr lang="it-IT" dirty="0"/>
              </a:p>
            </p:txBody>
          </p:sp>
        </mc:Fallback>
      </mc:AlternateContent>
      <p:sp>
        <p:nvSpPr>
          <p:cNvPr id="4" name="Slide Number Placeholder 3">
            <a:extLst>
              <a:ext uri="{FF2B5EF4-FFF2-40B4-BE49-F238E27FC236}">
                <a16:creationId xmlns:a16="http://schemas.microsoft.com/office/drawing/2014/main" id="{2DF20F04-BA3E-0361-48EE-A3543BA0435D}"/>
              </a:ext>
            </a:extLst>
          </p:cNvPr>
          <p:cNvSpPr>
            <a:spLocks noGrp="1"/>
          </p:cNvSpPr>
          <p:nvPr>
            <p:ph type="sldNum" sz="quarter" idx="5"/>
          </p:nvPr>
        </p:nvSpPr>
        <p:spPr/>
        <p:txBody>
          <a:bodyPr/>
          <a:lstStyle/>
          <a:p>
            <a:fld id="{82192EC7-7948-4BBD-9DE4-D94ACEC643F8}" type="slidenum">
              <a:rPr lang="it-IT" smtClean="0"/>
              <a:t>54</a:t>
            </a:fld>
            <a:endParaRPr lang="it-IT"/>
          </a:p>
        </p:txBody>
      </p:sp>
    </p:spTree>
    <p:extLst>
      <p:ext uri="{BB962C8B-B14F-4D97-AF65-F5344CB8AC3E}">
        <p14:creationId xmlns:p14="http://schemas.microsoft.com/office/powerpoint/2010/main" val="4995297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Tx/>
                  <a:buChar char="-"/>
                </a:pPr>
                <a:r>
                  <a:rPr lang="it-IT" dirty="0"/>
                  <a:t>Il label del cluster non viene resettato, quindi se nel processo viene creato il cluster 5 e successivaemnte viene rimosso il cluster 4, il precedente rimane con il label ‘5’.</a:t>
                </a:r>
              </a:p>
              <a:p>
                <a:pPr marL="171450" indent="-171450">
                  <a:buFontTx/>
                  <a:buChar char="-"/>
                </a:pPr>
                <a:r>
                  <a:rPr lang="it-IT" dirty="0"/>
                  <a:t>Anche per valori di </a:t>
                </a:r>
                <a14:m>
                  <m:oMath xmlns:m="http://schemas.openxmlformats.org/officeDocument/2006/math">
                    <m:r>
                      <a:rPr lang="it-IT" i="1" smtClean="0">
                        <a:solidFill>
                          <a:srgbClr val="FF0000"/>
                        </a:solidFill>
                        <a:latin typeface="Cambria Math" panose="02040503050406030204" pitchFamily="18" charset="0"/>
                      </a:rPr>
                      <m:t>𝛼</m:t>
                    </m:r>
                  </m:oMath>
                </a14:m>
                <a:r>
                  <a:rPr lang="it-IT" dirty="0"/>
                  <a:t> molto piccoli (0.01) viene creato il terzo cluster, ma questo è più classificabile come outliers invece</a:t>
                </a:r>
                <a:r>
                  <a:rPr lang="it-IT" baseline="0" dirty="0"/>
                  <a:t> di cluster intermedio</a:t>
                </a:r>
              </a:p>
              <a:p>
                <a:pPr marL="171450" indent="-171450">
                  <a:buFontTx/>
                  <a:buChar char="-"/>
                </a:pPr>
                <a:r>
                  <a:rPr lang="it-IT" baseline="0" dirty="0"/>
                  <a:t>Il motivo della creazione del terzo cluster è probabilmente dovuto alla forma del t-student che all’aumentare dei punti appartenenti al cluster tende sempre di più verso una gaussiana concentrando la maggior parte della densità intorno al picco. Quindi, anche se la probabilità aumenta all’aumentare dei punti nel cluster, a causa delle code sempre meno pronunciate (il t-student ha code più pronunciate della gaussiana), la probabilità di appartenere al cluster diminuisce allontanandosi dal centro. Da questo si forma il terzo cluster composto da outliers, cioè punti dove la prior, anche se molto bassa perché settata uninformativa, diventa rilevante perché le code del t-student diventano trascurabili.</a:t>
                </a:r>
                <a:endParaRPr lang="it-IT" dirty="0"/>
              </a:p>
            </p:txBody>
          </p:sp>
        </mc:Choice>
        <mc:Fallback xmlns="">
          <p:sp>
            <p:nvSpPr>
              <p:cNvPr id="3" name="Notes Placeholder 2"/>
              <p:cNvSpPr>
                <a:spLocks noGrp="1"/>
              </p:cNvSpPr>
              <p:nvPr>
                <p:ph type="body" idx="1"/>
              </p:nvPr>
            </p:nvSpPr>
            <p:spPr/>
            <p:txBody>
              <a:bodyPr/>
              <a:lstStyle/>
              <a:p>
                <a:pPr marL="171450" indent="-171450">
                  <a:buFontTx/>
                  <a:buChar char="-"/>
                </a:pPr>
                <a:r>
                  <a:rPr lang="it-IT" dirty="0"/>
                  <a:t>Il label del cluster non viene resettato, quindi se nel processo viene creato il cluster 5 e successivaemnte viene rimosso il cluster 4, il precedente rimane con il label ‘5’.</a:t>
                </a:r>
              </a:p>
              <a:p>
                <a:pPr marL="171450" indent="-171450">
                  <a:buFontTx/>
                  <a:buChar char="-"/>
                </a:pPr>
                <a:r>
                  <a:rPr lang="it-IT" dirty="0"/>
                  <a:t>Anche per valori di </a:t>
                </a:r>
                <a:r>
                  <a:rPr lang="it-IT" i="0">
                    <a:solidFill>
                      <a:srgbClr val="FF0000"/>
                    </a:solidFill>
                    <a:latin typeface="Cambria Math" panose="02040503050406030204" pitchFamily="18" charset="0"/>
                  </a:rPr>
                  <a:t>𝛼</a:t>
                </a:r>
                <a:r>
                  <a:rPr lang="it-IT" dirty="0"/>
                  <a:t> molto piccoli (0.01) viene creato il terzo cluster, ma questo è più classificabile come outliers invece</a:t>
                </a:r>
                <a:r>
                  <a:rPr lang="it-IT" baseline="0" dirty="0"/>
                  <a:t> di cluster intermedio</a:t>
                </a:r>
              </a:p>
              <a:p>
                <a:pPr marL="171450" indent="-171450">
                  <a:buFontTx/>
                  <a:buChar char="-"/>
                </a:pPr>
                <a:r>
                  <a:rPr lang="it-IT" baseline="0" dirty="0"/>
                  <a:t>Il motivo della creazione del terzo cluster è probabilmente dovuto alla forma del t-student che all’aumentare dei punti appartenenti al cluster tende sempre di più verso una gaussiana concentrando la maggior parte della densità intorno al picco. Quindi, anche se la probabilità aumenta all’aumentare dei punti nel cluster, a causa delle code sempre meno pronunciate (il t-student ha code più pronunciate della gaussiana), la probabilità di appartenere al cluster diminuisce allontanandosi dal centro. Da questo si forma il terzo cluster composto da outliers, cioè punti dove la prior, anche se molto bassa perché settata uninformativa, diventa rilevante perché le code del t-student diventano trascurabili.</a:t>
                </a:r>
                <a:endParaRPr lang="it-IT" dirty="0"/>
              </a:p>
            </p:txBody>
          </p:sp>
        </mc:Fallback>
      </mc:AlternateContent>
      <p:sp>
        <p:nvSpPr>
          <p:cNvPr id="4" name="Slide Number Placeholder 3"/>
          <p:cNvSpPr>
            <a:spLocks noGrp="1"/>
          </p:cNvSpPr>
          <p:nvPr>
            <p:ph type="sldNum" sz="quarter" idx="5"/>
          </p:nvPr>
        </p:nvSpPr>
        <p:spPr/>
        <p:txBody>
          <a:bodyPr/>
          <a:lstStyle/>
          <a:p>
            <a:fld id="{82192EC7-7948-4BBD-9DE4-D94ACEC643F8}" type="slidenum">
              <a:rPr lang="it-IT" smtClean="0"/>
              <a:t>56</a:t>
            </a:fld>
            <a:endParaRPr lang="it-IT"/>
          </a:p>
        </p:txBody>
      </p:sp>
    </p:spTree>
    <p:extLst>
      <p:ext uri="{BB962C8B-B14F-4D97-AF65-F5344CB8AC3E}">
        <p14:creationId xmlns:p14="http://schemas.microsoft.com/office/powerpoint/2010/main" val="11005142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5D15-F5DD-1C2E-CE09-FA4D9A008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4FF1D-9BFE-1343-1C7F-F8A31683897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81B811B-3E99-0250-54D8-A8D90D8458CF}"/>
                  </a:ext>
                </a:extLst>
              </p:cNvPr>
              <p:cNvSpPr>
                <a:spLocks noGrp="1"/>
              </p:cNvSpPr>
              <p:nvPr>
                <p:ph type="body" idx="1"/>
              </p:nvPr>
            </p:nvSpPr>
            <p:spPr/>
            <p:txBody>
              <a:bodyPr/>
              <a:lstStyle/>
              <a:p>
                <a:pPr marL="171450" indent="-171450">
                  <a:buFontTx/>
                  <a:buChar char="-"/>
                </a:pPr>
                <a:r>
                  <a:rPr lang="it-IT" dirty="0"/>
                  <a:t>Per aver un numero di componenti fisse (come richiesto dal problema) basta fare tendere </a:t>
                </a:r>
                <a14:m>
                  <m:oMath xmlns:m="http://schemas.openxmlformats.org/officeDocument/2006/math">
                    <m:r>
                      <a:rPr lang="it-IT" i="1" smtClean="0">
                        <a:solidFill>
                          <a:srgbClr val="FF0000"/>
                        </a:solidFill>
                        <a:latin typeface="Cambria Math" panose="02040503050406030204" pitchFamily="18" charset="0"/>
                      </a:rPr>
                      <m:t>𝛼</m:t>
                    </m:r>
                  </m:oMath>
                </a14:m>
                <a:r>
                  <a:rPr lang="it-IT" dirty="0"/>
                  <a:t> a 0. Sarebbe stato più corretto utilizzare il collapsed normale (quello</a:t>
                </a:r>
                <a:r>
                  <a:rPr lang="it-IT" baseline="0" dirty="0"/>
                  <a:t> con +</a:t>
                </a:r>
                <a14:m>
                  <m:oMath xmlns:m="http://schemas.openxmlformats.org/officeDocument/2006/math">
                    <m:r>
                      <a:rPr lang="it-IT" i="1" smtClean="0">
                        <a:solidFill>
                          <a:srgbClr val="FF0000"/>
                        </a:solidFill>
                        <a:latin typeface="Cambria Math" panose="02040503050406030204" pitchFamily="18" charset="0"/>
                      </a:rPr>
                      <m:t>𝛼</m:t>
                    </m:r>
                    <m:r>
                      <a:rPr lang="it-IT" b="0" i="1" smtClean="0">
                        <a:solidFill>
                          <a:srgbClr val="FF0000"/>
                        </a:solidFill>
                        <a:latin typeface="Cambria Math" panose="02040503050406030204" pitchFamily="18" charset="0"/>
                      </a:rPr>
                      <m:t>/</m:t>
                    </m:r>
                    <m:r>
                      <m:rPr>
                        <m:sty m:val="p"/>
                      </m:rPr>
                      <a:rPr lang="it-IT" b="0" i="1" smtClean="0">
                        <a:solidFill>
                          <a:srgbClr val="FF0000"/>
                        </a:solidFill>
                        <a:latin typeface="Cambria Math" panose="02040503050406030204" pitchFamily="18" charset="0"/>
                      </a:rPr>
                      <m:t>K</m:t>
                    </m:r>
                  </m:oMath>
                </a14:m>
                <a:r>
                  <a:rPr lang="it-IT" dirty="0"/>
                  <a:t> al numeratore), ma al livello pratico il risultato è analogo e non conviene cambiare il codice.</a:t>
                </a:r>
              </a:p>
              <a:p>
                <a:pPr marL="171450" indent="-171450">
                  <a:buFontTx/>
                  <a:buChar char="-"/>
                </a:pPr>
                <a:r>
                  <a:rPr lang="it-IT" dirty="0"/>
                  <a:t>Anche qui si vede che la terza componente è classificabile come outliers e non come componente intermedia.</a:t>
                </a:r>
              </a:p>
              <a:p>
                <a:pPr marL="171450" indent="-171450">
                  <a:buFontTx/>
                  <a:buChar char="-"/>
                </a:pPr>
                <a:r>
                  <a:rPr lang="it-IT" dirty="0"/>
                  <a:t>Inoltre si osserva che gli short GRB tendono ad avere maggior HR:</a:t>
                </a:r>
              </a:p>
              <a:p>
                <a:pPr marL="628650" lvl="1" indent="-171450">
                  <a:buFontTx/>
                  <a:buChar char="-"/>
                </a:pPr>
                <a:r>
                  <a:rPr lang="it-IT" dirty="0"/>
                  <a:t>Short GRB -&gt; Hard GRB</a:t>
                </a:r>
              </a:p>
              <a:p>
                <a:pPr marL="628650" lvl="1" indent="-171450">
                  <a:buFontTx/>
                  <a:buChar char="-"/>
                </a:pPr>
                <a:r>
                  <a:rPr lang="it-IT" dirty="0"/>
                  <a:t>Long GRB  -&gt; Soft GRB</a:t>
                </a:r>
              </a:p>
              <a:p>
                <a:pPr marL="0" lvl="0" indent="0">
                  <a:buFontTx/>
                  <a:buNone/>
                </a:pPr>
                <a:endParaRPr lang="it-IT" dirty="0"/>
              </a:p>
            </p:txBody>
          </p:sp>
        </mc:Choice>
        <mc:Fallback xmlns="">
          <p:sp>
            <p:nvSpPr>
              <p:cNvPr id="3" name="Notes Placeholder 2">
                <a:extLst>
                  <a:ext uri="{FF2B5EF4-FFF2-40B4-BE49-F238E27FC236}">
                    <a16:creationId xmlns:a16="http://schemas.microsoft.com/office/drawing/2014/main" id="{A81B811B-3E99-0250-54D8-A8D90D8458CF}"/>
                  </a:ext>
                </a:extLst>
              </p:cNvPr>
              <p:cNvSpPr>
                <a:spLocks noGrp="1"/>
              </p:cNvSpPr>
              <p:nvPr>
                <p:ph type="body" idx="1"/>
              </p:nvPr>
            </p:nvSpPr>
            <p:spPr/>
            <p:txBody>
              <a:bodyPr/>
              <a:lstStyle/>
              <a:p>
                <a:pPr marL="171450" indent="-171450">
                  <a:buFontTx/>
                  <a:buChar char="-"/>
                </a:pPr>
                <a:r>
                  <a:rPr lang="it-IT" dirty="0"/>
                  <a:t>Per aver un numero di componenti fisse (come richiesto dal problema) basta fare tendere </a:t>
                </a:r>
                <a:r>
                  <a:rPr lang="it-IT" i="0">
                    <a:solidFill>
                      <a:srgbClr val="FF0000"/>
                    </a:solidFill>
                    <a:latin typeface="Cambria Math" panose="02040503050406030204" pitchFamily="18" charset="0"/>
                  </a:rPr>
                  <a:t>𝛼</a:t>
                </a:r>
                <a:r>
                  <a:rPr lang="it-IT" dirty="0"/>
                  <a:t> a 0. Sarebbe stato più corretto utilizzare il collapsed normale (quello</a:t>
                </a:r>
                <a:r>
                  <a:rPr lang="it-IT" baseline="0" dirty="0"/>
                  <a:t> con +</a:t>
                </a:r>
                <a:r>
                  <a:rPr lang="it-IT" i="0">
                    <a:solidFill>
                      <a:srgbClr val="FF0000"/>
                    </a:solidFill>
                    <a:latin typeface="Cambria Math" panose="02040503050406030204" pitchFamily="18" charset="0"/>
                  </a:rPr>
                  <a:t>𝛼</a:t>
                </a:r>
                <a:r>
                  <a:rPr lang="it-IT" b="0" i="0">
                    <a:solidFill>
                      <a:srgbClr val="FF0000"/>
                    </a:solidFill>
                    <a:latin typeface="Cambria Math" panose="02040503050406030204" pitchFamily="18" charset="0"/>
                  </a:rPr>
                  <a:t>/K</a:t>
                </a:r>
                <a:r>
                  <a:rPr lang="it-IT" dirty="0"/>
                  <a:t> al numeratore), ma al livello pratico il risultato è analogo e non conviene cambiare il codice.</a:t>
                </a:r>
              </a:p>
              <a:p>
                <a:pPr marL="171450" indent="-171450">
                  <a:buFontTx/>
                  <a:buChar char="-"/>
                </a:pPr>
                <a:r>
                  <a:rPr lang="it-IT" dirty="0"/>
                  <a:t>Anche qui si vede che la terza componente è classificabile come outliers e non come componente intermedia.</a:t>
                </a:r>
              </a:p>
              <a:p>
                <a:pPr marL="171450" indent="-171450">
                  <a:buFontTx/>
                  <a:buChar char="-"/>
                </a:pPr>
                <a:r>
                  <a:rPr lang="it-IT" dirty="0"/>
                  <a:t>Inoltre si osserva che gli short GRB tendono ad avere maggior HR:</a:t>
                </a:r>
              </a:p>
              <a:p>
                <a:pPr marL="628650" lvl="1" indent="-171450">
                  <a:buFontTx/>
                  <a:buChar char="-"/>
                </a:pPr>
                <a:r>
                  <a:rPr lang="it-IT" dirty="0"/>
                  <a:t>Short GRB -&gt; Hard GRB</a:t>
                </a:r>
              </a:p>
              <a:p>
                <a:pPr marL="628650" lvl="1" indent="-171450">
                  <a:buFontTx/>
                  <a:buChar char="-"/>
                </a:pPr>
                <a:r>
                  <a:rPr lang="it-IT" dirty="0"/>
                  <a:t>Long GRB  -&gt; Soft GRB</a:t>
                </a:r>
              </a:p>
              <a:p>
                <a:pPr marL="0" lvl="0" indent="0">
                  <a:buFontTx/>
                  <a:buNone/>
                </a:pPr>
                <a:endParaRPr lang="it-IT" dirty="0"/>
              </a:p>
            </p:txBody>
          </p:sp>
        </mc:Fallback>
      </mc:AlternateContent>
      <p:sp>
        <p:nvSpPr>
          <p:cNvPr id="4" name="Slide Number Placeholder 3">
            <a:extLst>
              <a:ext uri="{FF2B5EF4-FFF2-40B4-BE49-F238E27FC236}">
                <a16:creationId xmlns:a16="http://schemas.microsoft.com/office/drawing/2014/main" id="{F6C5374B-143D-781D-3302-7EDFFCAA9E55}"/>
              </a:ext>
            </a:extLst>
          </p:cNvPr>
          <p:cNvSpPr>
            <a:spLocks noGrp="1"/>
          </p:cNvSpPr>
          <p:nvPr>
            <p:ph type="sldNum" sz="quarter" idx="5"/>
          </p:nvPr>
        </p:nvSpPr>
        <p:spPr/>
        <p:txBody>
          <a:bodyPr/>
          <a:lstStyle/>
          <a:p>
            <a:fld id="{82192EC7-7948-4BBD-9DE4-D94ACEC643F8}" type="slidenum">
              <a:rPr lang="it-IT" smtClean="0"/>
              <a:t>57</a:t>
            </a:fld>
            <a:endParaRPr lang="it-IT"/>
          </a:p>
        </p:txBody>
      </p:sp>
    </p:spTree>
    <p:extLst>
      <p:ext uri="{BB962C8B-B14F-4D97-AF65-F5344CB8AC3E}">
        <p14:creationId xmlns:p14="http://schemas.microsoft.com/office/powerpoint/2010/main" val="2882466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a:xfrm>
            <a:off x="8369448" y="6356350"/>
            <a:ext cx="2549564" cy="365125"/>
          </a:xfrm>
          <a:prstGeom prst="rect">
            <a:avLst/>
          </a:prstGeom>
        </p:spPr>
        <p:txBody>
          <a:bodyPr/>
          <a:lstStyle/>
          <a:p>
            <a:fld id="{D1D1EADE-8E88-4C7C-8AC5-FB148DE4940E}" type="datetime1">
              <a:rPr lang="en-US" smtClean="0"/>
              <a:t>12/15/2025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3143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a:xfrm>
            <a:off x="8369448" y="6356350"/>
            <a:ext cx="2549564" cy="365125"/>
          </a:xfrm>
          <a:prstGeom prst="rect">
            <a:avLst/>
          </a:prstGeom>
        </p:spPr>
        <p:txBody>
          <a:bodyPr/>
          <a:lstStyle/>
          <a:p>
            <a:fld id="{157B6794-849E-4626-908B-D15793550EFB}" type="datetime1">
              <a:rPr lang="en-US" smtClean="0"/>
              <a:t>12/15/2025</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a:xfrm>
            <a:off x="704088" y="6356350"/>
            <a:ext cx="4539727" cy="365125"/>
          </a:xfrm>
          <a:prstGeom prst="rect">
            <a:avLst/>
          </a:prstGeom>
        </p:spPr>
        <p:txBody>
          <a:bodyPr/>
          <a:lstStyle>
            <a:lvl1pPr>
              <a:defRPr/>
            </a:lvl1pPr>
          </a:lstStyle>
          <a:p>
            <a:r>
              <a:rPr lang="en-US" dirty="0"/>
              <a:t>Caridi Leonardo (578938) – Università di Pisa</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14523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a:xfrm>
            <a:off x="8369448" y="6356350"/>
            <a:ext cx="2549564" cy="365125"/>
          </a:xfrm>
          <a:prstGeom prst="rect">
            <a:avLst/>
          </a:prstGeom>
        </p:spPr>
        <p:txBody>
          <a:bodyPr/>
          <a:lstStyle/>
          <a:p>
            <a:fld id="{63DB64E7-5594-42A3-ADBF-E95A7ACEAD64}" type="datetime1">
              <a:rPr lang="en-US" smtClean="0"/>
              <a:t>12/15/2025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9299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a:xfrm>
            <a:off x="8369448" y="6356350"/>
            <a:ext cx="2549564" cy="365125"/>
          </a:xfrm>
          <a:prstGeom prst="rect">
            <a:avLst/>
          </a:prstGeom>
        </p:spPr>
        <p:txBody>
          <a:bodyPr/>
          <a:lstStyle/>
          <a:p>
            <a:fld id="{18462B0B-D248-4FFB-8695-AD7FA4B1284A}" type="datetime1">
              <a:rPr lang="en-US" smtClean="0"/>
              <a:t>12/15/2025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437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a:xfrm>
            <a:off x="8369448" y="6356350"/>
            <a:ext cx="2549564" cy="365125"/>
          </a:xfrm>
          <a:prstGeom prst="rect">
            <a:avLst/>
          </a:prstGeom>
        </p:spPr>
        <p:txBody>
          <a:bodyPr/>
          <a:lstStyle/>
          <a:p>
            <a:fld id="{D0378EFB-9159-4510-B73F-4F0409ADE937}" type="datetime1">
              <a:rPr lang="en-US" smtClean="0"/>
              <a:t>12/15/2025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52618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a:xfrm>
            <a:off x="8369448" y="6356350"/>
            <a:ext cx="2549564" cy="365125"/>
          </a:xfrm>
          <a:prstGeom prst="rect">
            <a:avLst/>
          </a:prstGeom>
        </p:spPr>
        <p:txBody>
          <a:bodyPr/>
          <a:lstStyle/>
          <a:p>
            <a:fld id="{89BC9412-2452-4BED-A324-9D8C115361AD}" type="datetime1">
              <a:rPr lang="en-US" smtClean="0"/>
              <a:t>12/15/2025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01250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a:xfrm>
            <a:off x="8369448" y="6356350"/>
            <a:ext cx="2549564" cy="365125"/>
          </a:xfrm>
          <a:prstGeom prst="rect">
            <a:avLst/>
          </a:prstGeom>
        </p:spPr>
        <p:txBody>
          <a:bodyPr/>
          <a:lstStyle/>
          <a:p>
            <a:fld id="{F5318F62-D251-40E8-A23C-F4CFE9FEAB41}" type="datetime1">
              <a:rPr lang="en-US" smtClean="0"/>
              <a:t>12/15/2025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89162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a:xfrm>
            <a:off x="8369448" y="6356350"/>
            <a:ext cx="2549564" cy="365125"/>
          </a:xfrm>
          <a:prstGeom prst="rect">
            <a:avLst/>
          </a:prstGeom>
        </p:spPr>
        <p:txBody>
          <a:bodyPr/>
          <a:lstStyle/>
          <a:p>
            <a:fld id="{44F76144-149E-4874-93A5-554A0357CF82}" type="datetime1">
              <a:rPr lang="en-US" smtClean="0"/>
              <a:t>12/15/2025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60057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a:xfrm>
            <a:off x="8369448" y="6356350"/>
            <a:ext cx="2549564" cy="365125"/>
          </a:xfrm>
          <a:prstGeom prst="rect">
            <a:avLst/>
          </a:prstGeom>
        </p:spPr>
        <p:txBody>
          <a:bodyPr/>
          <a:lstStyle/>
          <a:p>
            <a:fld id="{50BA65D8-0540-4835-AE5C-25D29DBA01BE}" type="datetime1">
              <a:rPr lang="en-US" smtClean="0"/>
              <a:t>12/15/2025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7216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a:xfrm>
            <a:off x="8369448" y="6356350"/>
            <a:ext cx="2549564" cy="365125"/>
          </a:xfrm>
          <a:prstGeom prst="rect">
            <a:avLst/>
          </a:prstGeom>
        </p:spPr>
        <p:txBody>
          <a:bodyPr/>
          <a:lstStyle/>
          <a:p>
            <a:fld id="{EC3C8B9C-477D-492A-96AD-1FC2CC997A73}" type="datetime1">
              <a:rPr lang="en-US" smtClean="0"/>
              <a:t>12/15/2025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04237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a:xfrm>
            <a:off x="8369448" y="6356350"/>
            <a:ext cx="2549564" cy="365125"/>
          </a:xfrm>
          <a:prstGeom prst="rect">
            <a:avLst/>
          </a:prstGeom>
        </p:spPr>
        <p:txBody>
          <a:bodyPr/>
          <a:lstStyle/>
          <a:p>
            <a:fld id="{42D3AED5-E26D-4E29-B1B3-7847B6779594}" type="datetime1">
              <a:rPr lang="en-US" smtClean="0"/>
              <a:t>12/15/2025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a:xfrm>
            <a:off x="704088" y="6356350"/>
            <a:ext cx="4539727"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a:xfrm>
            <a:off x="10919012" y="6356350"/>
            <a:ext cx="672354" cy="365125"/>
          </a:xfrm>
          <a:prstGeom prst="rect">
            <a:avLst/>
          </a:prstGeo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2135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738CD5C-1F82-5C11-83DC-87274524D2C4}"/>
              </a:ext>
            </a:extLst>
          </p:cNvPr>
          <p:cNvSpPr txBox="1"/>
          <p:nvPr userDrawn="1"/>
        </p:nvSpPr>
        <p:spPr>
          <a:xfrm>
            <a:off x="800100" y="6356350"/>
            <a:ext cx="455374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Caridi Leonardo (578938) – Università di Pisa</a:t>
            </a:r>
          </a:p>
          <a:p>
            <a:endParaRPr lang="it-IT" dirty="0"/>
          </a:p>
        </p:txBody>
      </p:sp>
      <p:sp>
        <p:nvSpPr>
          <p:cNvPr id="10" name="TextBox 9">
            <a:extLst>
              <a:ext uri="{FF2B5EF4-FFF2-40B4-BE49-F238E27FC236}">
                <a16:creationId xmlns:a16="http://schemas.microsoft.com/office/drawing/2014/main" id="{C112FC12-66AE-EA56-D72B-5C09FCBB143A}"/>
              </a:ext>
            </a:extLst>
          </p:cNvPr>
          <p:cNvSpPr txBox="1"/>
          <p:nvPr userDrawn="1"/>
        </p:nvSpPr>
        <p:spPr>
          <a:xfrm>
            <a:off x="10415351" y="6356350"/>
            <a:ext cx="976549" cy="276999"/>
          </a:xfrm>
          <a:prstGeom prst="rect">
            <a:avLst/>
          </a:prstGeom>
          <a:noFill/>
        </p:spPr>
        <p:txBody>
          <a:bodyPr wrap="none" rtlCol="0">
            <a:spAutoFit/>
          </a:bodyPr>
          <a:lstStyle/>
          <a:p>
            <a:r>
              <a:rPr lang="it-IT" sz="1200" dirty="0"/>
              <a:t>18/12/2025</a:t>
            </a:r>
          </a:p>
        </p:txBody>
      </p:sp>
    </p:spTree>
    <p:extLst>
      <p:ext uri="{BB962C8B-B14F-4D97-AF65-F5344CB8AC3E}">
        <p14:creationId xmlns:p14="http://schemas.microsoft.com/office/powerpoint/2010/main" val="2433390124"/>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caridi@studenti.unipi.it" TargetMode="External"/><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github.com/LeonardoCaridi/Bayesian_probability"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LeonardoCaridi/Bayesian_probability" TargetMode="External"/><Relationship Id="rId2" Type="http://schemas.openxmlformats.org/officeDocument/2006/relationships/hyperlink" Target="mailto:l.caridi@studenti.unipi.it"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00.png"/></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4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91.png"/></Relationships>
</file>

<file path=ppt/slides/_rels/slide57.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58.xml.rels><?xml version="1.0" encoding="UTF-8" standalone="yes"?>
<Relationships xmlns="http://schemas.openxmlformats.org/package/2006/relationships"><Relationship Id="rId8" Type="http://schemas.openxmlformats.org/officeDocument/2006/relationships/hyperlink" Target="https://www.ncbi.nlm.nih.gov/pmc/articles/PMC6583910/" TargetMode="External"/><Relationship Id="rId3" Type="http://schemas.openxmlformats.org/officeDocument/2006/relationships/hyperlink" Target="https://people.eecs.berkeley.edu/~jordan/sail/readings/andrieu-thoms.pdf?utm_source=chatgpt.com" TargetMode="External"/><Relationship Id="rId7" Type="http://schemas.openxmlformats.org/officeDocument/2006/relationships/hyperlink" Target="https://arxiv.org/abs/2101.09675?utm_source=chatgpt.com" TargetMode="External"/><Relationship Id="rId2" Type="http://schemas.openxmlformats.org/officeDocument/2006/relationships/hyperlink" Target="https://global.oup.com/academic/product/data-analysis-9780198568322?utm_source=chatgpt.com" TargetMode="External"/><Relationship Id="rId1" Type="http://schemas.openxmlformats.org/officeDocument/2006/relationships/slideLayout" Target="../slideLayouts/slideLayout2.xml"/><Relationship Id="rId6" Type="http://schemas.openxmlformats.org/officeDocument/2006/relationships/hyperlink" Target="https://arxiv.org/abs/1904.02180" TargetMode="External"/><Relationship Id="rId5" Type="http://schemas.openxmlformats.org/officeDocument/2006/relationships/hyperlink" Target="https://ui.adsabs.harvard.edu/abs/1993ApJ...413L.101K/abstract" TargetMode="External"/><Relationship Id="rId4" Type="http://schemas.openxmlformats.org/officeDocument/2006/relationships/hyperlink" Target="https://arxiv.org/abs/1209.4647?utm_source=chatgpt.com" TargetMode="External"/><Relationship Id="rId9" Type="http://schemas.openxmlformats.org/officeDocument/2006/relationships/hyperlink" Target="https://dp.tdhopper.com/?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Picture 71">
            <a:extLst>
              <a:ext uri="{FF2B5EF4-FFF2-40B4-BE49-F238E27FC236}">
                <a16:creationId xmlns:a16="http://schemas.microsoft.com/office/drawing/2014/main" id="{793D7E02-D1C2-E5AB-4129-976E5E2D6AF2}"/>
              </a:ext>
            </a:extLst>
          </p:cNvPr>
          <p:cNvPicPr>
            <a:picLocks noChangeAspect="1"/>
          </p:cNvPicPr>
          <p:nvPr/>
        </p:nvPicPr>
        <p:blipFill>
          <a:blip r:embed="rId2"/>
          <a:srcRect b="6250"/>
          <a:stretch>
            <a:fillRect/>
          </a:stretch>
        </p:blipFill>
        <p:spPr>
          <a:xfrm>
            <a:off x="1" y="10"/>
            <a:ext cx="12192000" cy="6857989"/>
          </a:xfrm>
          <a:prstGeom prst="rect">
            <a:avLst/>
          </a:prstGeom>
        </p:spPr>
      </p:pic>
      <p:sp>
        <p:nvSpPr>
          <p:cNvPr id="137" name="Rectangle 136">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833541" y="990599"/>
            <a:ext cx="5619054" cy="4849091"/>
          </a:xfrm>
        </p:spPr>
        <p:txBody>
          <a:bodyPr vert="horz" lIns="91440" tIns="45720" rIns="91440" bIns="45720" rtlCol="0" anchor="ctr">
            <a:normAutofit/>
          </a:bodyPr>
          <a:lstStyle/>
          <a:p>
            <a:pPr algn="r"/>
            <a:r>
              <a:rPr lang="en-US" b="1" kern="1200">
                <a:solidFill>
                  <a:srgbClr val="FFFFFF"/>
                </a:solidFill>
                <a:latin typeface="+mj-lt"/>
                <a:ea typeface="+mj-ea"/>
                <a:cs typeface="+mj-cs"/>
              </a:rPr>
              <a:t>Gamma-ray burst classification</a:t>
            </a:r>
          </a:p>
          <a:p>
            <a:pPr algn="r"/>
            <a:endParaRPr lang="en-US" kern="1200">
              <a:solidFill>
                <a:srgbClr val="FFFFFF"/>
              </a:solidFill>
              <a:latin typeface="+mj-lt"/>
              <a:ea typeface="+mj-ea"/>
              <a:cs typeface="+mj-cs"/>
            </a:endParaRPr>
          </a:p>
        </p:txBody>
      </p:sp>
      <p:sp>
        <p:nvSpPr>
          <p:cNvPr id="3" name="Subtitle 2"/>
          <p:cNvSpPr>
            <a:spLocks noGrp="1"/>
          </p:cNvSpPr>
          <p:nvPr>
            <p:ph type="subTitle" idx="1"/>
          </p:nvPr>
        </p:nvSpPr>
        <p:spPr>
          <a:xfrm>
            <a:off x="8712865" y="1447799"/>
            <a:ext cx="3242416" cy="4076699"/>
          </a:xfrm>
        </p:spPr>
        <p:txBody>
          <a:bodyPr vert="horz" lIns="91440" tIns="45720" rIns="91440" bIns="45720" rtlCol="0" anchor="ctr">
            <a:normAutofit/>
          </a:bodyPr>
          <a:lstStyle/>
          <a:p>
            <a:pPr indent="-228600">
              <a:buFont typeface="Arial" panose="020B0604020202020204" pitchFamily="34" charset="0"/>
              <a:buChar char="•"/>
            </a:pPr>
            <a:r>
              <a:rPr lang="en-US">
                <a:solidFill>
                  <a:srgbClr val="FFFFFF"/>
                </a:solidFill>
              </a:rPr>
              <a:t>Caridi Leonardo (578938)</a:t>
            </a:r>
          </a:p>
          <a:p>
            <a:pPr indent="-228600">
              <a:buFont typeface="Arial" panose="020B0604020202020204" pitchFamily="34" charset="0"/>
              <a:buChar char="•"/>
            </a:pPr>
            <a:r>
              <a:rPr lang="en-US">
                <a:solidFill>
                  <a:srgbClr val="FFFFFF"/>
                </a:solidFill>
              </a:rPr>
              <a:t>Università di Pisa</a:t>
            </a:r>
          </a:p>
          <a:p>
            <a:pPr indent="-228600">
              <a:buFont typeface="Arial" panose="020B0604020202020204" pitchFamily="34" charset="0"/>
              <a:buChar char="•"/>
            </a:pPr>
            <a:r>
              <a:rPr lang="en-US">
                <a:solidFill>
                  <a:srgbClr val="FFFFFF"/>
                </a:solidFill>
                <a:hlinkClick r:id="rId3">
                  <a:extLst>
                    <a:ext uri="{A12FA001-AC4F-418D-AE19-62706E023703}">
                      <ahyp:hlinkClr xmlns:ahyp="http://schemas.microsoft.com/office/drawing/2018/hyperlinkcolor" val="tx"/>
                    </a:ext>
                  </a:extLst>
                </a:hlinkClick>
              </a:rPr>
              <a:t>l.caridi@studenti.unipi.it</a:t>
            </a:r>
            <a:endParaRPr lang="en-US">
              <a:solidFill>
                <a:srgbClr val="FFFFFF"/>
              </a:solidFill>
            </a:endParaRPr>
          </a:p>
          <a:p>
            <a:pPr indent="-228600">
              <a:buFont typeface="Arial" panose="020B0604020202020204" pitchFamily="34" charset="0"/>
              <a:buChar char="•"/>
            </a:pPr>
            <a:r>
              <a:rPr lang="en-US">
                <a:hlinkClick r:id="rId4">
                  <a:extLst>
                    <a:ext uri="{A12FA001-AC4F-418D-AE19-62706E023703}">
                      <ahyp:hlinkClr xmlns:ahyp="http://schemas.microsoft.com/office/drawing/2018/hyperlinkcolor" val="tx"/>
                    </a:ext>
                  </a:extLst>
                </a:hlinkClick>
              </a:rPr>
              <a:t>Github </a:t>
            </a:r>
            <a:r>
              <a:rPr lang="en-US">
                <a:ea typeface="+mn-lt"/>
                <a:cs typeface="+mn-lt"/>
                <a:hlinkClick r:id="rId4">
                  <a:extLst>
                    <a:ext uri="{A12FA001-AC4F-418D-AE19-62706E023703}">
                      <ahyp:hlinkClr xmlns:ahyp="http://schemas.microsoft.com/office/drawing/2018/hyperlinkcolor" val="tx"/>
                    </a:ext>
                  </a:extLst>
                </a:hlinkClick>
              </a:rPr>
              <a:t>repository</a:t>
            </a:r>
          </a:p>
        </p:txBody>
      </p:sp>
      <p:cxnSp>
        <p:nvCxnSpPr>
          <p:cNvPr id="138" name="Straight Connector 137">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A409142-9684-98B0-D1C9-B67CD451A465}"/>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A9E20B9-5091-C5A6-19AB-B10373B02F52}"/>
              </a:ext>
            </a:extLst>
          </p:cNvPr>
          <p:cNvSpPr>
            <a:spLocks noGrp="1"/>
          </p:cNvSpPr>
          <p:nvPr>
            <p:ph type="ctrTitle" idx="4294967295"/>
          </p:nvPr>
        </p:nvSpPr>
        <p:spPr>
          <a:xfrm>
            <a:off x="954823" y="2372223"/>
            <a:ext cx="4265763" cy="1744702"/>
          </a:xfrm>
        </p:spPr>
        <p:txBody>
          <a:bodyPr vert="horz" lIns="91440" tIns="45720" rIns="91440" bIns="45720" rtlCol="0" anchor="t">
            <a:normAutofit/>
          </a:bodyPr>
          <a:lstStyle/>
          <a:p>
            <a:pPr>
              <a:lnSpc>
                <a:spcPct val="90000"/>
              </a:lnSpc>
            </a:pPr>
            <a:r>
              <a:rPr lang="en-US" b="1"/>
              <a:t>Gamma-ray burst classification</a:t>
            </a:r>
          </a:p>
          <a:p>
            <a:pPr>
              <a:lnSpc>
                <a:spcPct val="90000"/>
              </a:lnSpc>
            </a:pPr>
            <a:endParaRPr lang="en-US"/>
          </a:p>
        </p:txBody>
      </p:sp>
      <p:sp>
        <p:nvSpPr>
          <p:cNvPr id="3" name="Subtitle 2">
            <a:extLst>
              <a:ext uri="{FF2B5EF4-FFF2-40B4-BE49-F238E27FC236}">
                <a16:creationId xmlns:a16="http://schemas.microsoft.com/office/drawing/2014/main" id="{873475E8-A354-34B1-AF7D-A85D7D42EC97}"/>
              </a:ext>
            </a:extLst>
          </p:cNvPr>
          <p:cNvSpPr>
            <a:spLocks noGrp="1"/>
          </p:cNvSpPr>
          <p:nvPr>
            <p:ph type="subTitle" idx="4294967295"/>
          </p:nvPr>
        </p:nvSpPr>
        <p:spPr>
          <a:xfrm>
            <a:off x="5967346" y="2414755"/>
            <a:ext cx="5269831" cy="2039112"/>
          </a:xfrm>
        </p:spPr>
        <p:txBody>
          <a:bodyPr vert="horz" lIns="91440" tIns="45720" rIns="91440" bIns="45720" rtlCol="0" anchor="t">
            <a:normAutofit/>
          </a:bodyPr>
          <a:lstStyle/>
          <a:p>
            <a:r>
              <a:rPr lang="en-US" sz="2200"/>
              <a:t>Caridi Leonardo (578938)</a:t>
            </a:r>
          </a:p>
          <a:p>
            <a:r>
              <a:rPr lang="en-US" sz="2200"/>
              <a:t>Università di Pisa</a:t>
            </a:r>
          </a:p>
          <a:p>
            <a:r>
              <a:rPr lang="en-US" sz="2200">
                <a:hlinkClick r:id="rId2">
                  <a:extLst>
                    <a:ext uri="{A12FA001-AC4F-418D-AE19-62706E023703}">
                      <ahyp:hlinkClr xmlns:ahyp="http://schemas.microsoft.com/office/drawing/2018/hyperlinkcolor" val="tx"/>
                    </a:ext>
                  </a:extLst>
                </a:hlinkClick>
              </a:rPr>
              <a:t>l.caridi@studenti.unipi.it</a:t>
            </a:r>
            <a:endParaRPr lang="en-US" sz="2200"/>
          </a:p>
          <a:p>
            <a:r>
              <a:rPr lang="en-US" sz="2200">
                <a:hlinkClick r:id="rId3">
                  <a:extLst>
                    <a:ext uri="{A12FA001-AC4F-418D-AE19-62706E023703}">
                      <ahyp:hlinkClr xmlns:ahyp="http://schemas.microsoft.com/office/drawing/2018/hyperlinkcolor" val="tx"/>
                    </a:ext>
                  </a:extLst>
                </a:hlinkClick>
              </a:rPr>
              <a:t>Github repository</a:t>
            </a:r>
          </a:p>
        </p:txBody>
      </p:sp>
      <p:cxnSp>
        <p:nvCxnSpPr>
          <p:cNvPr id="14" name="Straight Connector 13">
            <a:extLst>
              <a:ext uri="{FF2B5EF4-FFF2-40B4-BE49-F238E27FC236}">
                <a16:creationId xmlns:a16="http://schemas.microsoft.com/office/drawing/2014/main" id="{8DAB36D8-4A14-4AA5-7A2B-C8B871657A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4253446"/>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033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6EFF-0B09-61BE-D57D-C2F9D32369B9}"/>
              </a:ext>
            </a:extLst>
          </p:cNvPr>
          <p:cNvSpPr>
            <a:spLocks noGrp="1"/>
          </p:cNvSpPr>
          <p:nvPr>
            <p:ph type="title"/>
          </p:nvPr>
        </p:nvSpPr>
        <p:spPr/>
        <p:txBody>
          <a:bodyPr/>
          <a:lstStyle/>
          <a:p>
            <a:r>
              <a:rPr lang="en-US">
                <a:solidFill>
                  <a:srgbClr val="FF0000"/>
                </a:solidFill>
                <a:ea typeface="+mn-lt"/>
                <a:cs typeface="+mn-lt"/>
              </a:rPr>
              <a:t>T</a:t>
            </a:r>
            <a:r>
              <a:rPr lang="en-US" baseline="-25000">
                <a:solidFill>
                  <a:srgbClr val="FF0000"/>
                </a:solidFill>
                <a:ea typeface="+mn-lt"/>
                <a:cs typeface="+mn-lt"/>
              </a:rPr>
              <a:t>90</a:t>
            </a:r>
            <a:r>
              <a:rPr lang="en-US">
                <a:solidFill>
                  <a:srgbClr val="FF0000"/>
                </a:solidFill>
                <a:ea typeface="+mn-lt"/>
                <a:cs typeface="+mn-lt"/>
              </a:rPr>
              <a:t> distribution</a:t>
            </a:r>
            <a:endParaRPr lang="en-US">
              <a:solidFill>
                <a:srgbClr val="FF0000"/>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E316480-9135-4866-1086-888EBC585942}"/>
                  </a:ext>
                </a:extLst>
              </p:cNvPr>
              <p:cNvSpPr>
                <a:spLocks noGrp="1"/>
              </p:cNvSpPr>
              <p:nvPr>
                <p:ph idx="1"/>
              </p:nvPr>
            </p:nvSpPr>
            <p:spPr>
              <a:xfrm>
                <a:off x="700634" y="1777149"/>
                <a:ext cx="10691265" cy="4384754"/>
              </a:xfrm>
            </p:spPr>
            <p:txBody>
              <a:bodyPr vert="horz" lIns="91440" tIns="45720" rIns="91440" bIns="45720" rtlCol="0" anchor="t">
                <a:normAutofit/>
              </a:bodyPr>
              <a:lstStyle/>
              <a:p>
                <a:r>
                  <a:rPr lang="en-US" b="1" dirty="0">
                    <a:ea typeface="+mn-lt"/>
                    <a:cs typeface="+mn-lt"/>
                  </a:rPr>
                  <a:t>Gamma-ray bursts</a:t>
                </a:r>
                <a:r>
                  <a:rPr lang="en-US" dirty="0">
                    <a:ea typeface="+mn-lt"/>
                    <a:cs typeface="+mn-lt"/>
                  </a:rPr>
                  <a:t> (GRBs) are usually classified into two different categories, according to their duration: </a:t>
                </a:r>
                <a:r>
                  <a:rPr lang="en-US" b="1" dirty="0">
                    <a:ea typeface="+mn-lt"/>
                    <a:cs typeface="+mn-lt"/>
                  </a:rPr>
                  <a:t>short GRBs</a:t>
                </a:r>
                <a:r>
                  <a:rPr lang="en-US" dirty="0">
                    <a:ea typeface="+mn-lt"/>
                    <a:cs typeface="+mn-lt"/>
                  </a:rPr>
                  <a:t> and </a:t>
                </a:r>
                <a:r>
                  <a:rPr lang="en-US" b="1" dirty="0">
                    <a:ea typeface="+mn-lt"/>
                    <a:cs typeface="+mn-lt"/>
                  </a:rPr>
                  <a:t>long GRBs</a:t>
                </a:r>
                <a:r>
                  <a:rPr lang="en-US" dirty="0">
                    <a:ea typeface="+mn-lt"/>
                    <a:cs typeface="+mn-lt"/>
                  </a:rPr>
                  <a:t>. The distribution of the burst duration, </a:t>
                </a:r>
                <a:r>
                  <a:rPr lang="en-US" i="1" dirty="0">
                    <a:ea typeface="+mn-lt"/>
                    <a:cs typeface="+mn-lt"/>
                  </a:rPr>
                  <a:t>T</a:t>
                </a:r>
                <a:r>
                  <a:rPr lang="en-US" i="1" baseline="-25000" dirty="0">
                    <a:ea typeface="+mn-lt"/>
                    <a:cs typeface="+mn-lt"/>
                  </a:rPr>
                  <a:t>90 </a:t>
                </a:r>
                <a:r>
                  <a:rPr lang="en-US" dirty="0">
                    <a:ea typeface="+mn-lt"/>
                    <a:cs typeface="+mn-lt"/>
                  </a:rPr>
                  <a:t>, is usually modelled as the </a:t>
                </a:r>
                <a:r>
                  <a:rPr lang="en-US" b="1" dirty="0">
                    <a:ea typeface="+mn-lt"/>
                    <a:cs typeface="+mn-lt"/>
                  </a:rPr>
                  <a:t>weighted sum of two log-normal distributions</a:t>
                </a:r>
                <a:r>
                  <a:rPr lang="en-US" dirty="0">
                    <a:ea typeface="+mn-lt"/>
                    <a:cs typeface="+mn-lt"/>
                  </a:rPr>
                  <a:t>:</a:t>
                </a:r>
              </a:p>
              <a:p>
                <a:pPr marL="0" indent="0">
                  <a:buNone/>
                </a:pPr>
                <a:r>
                  <a:rPr lang="it-IT" b="0" dirty="0">
                    <a:ea typeface="+mn-lt"/>
                    <a:cs typeface="+mn-lt"/>
                  </a:rPr>
                  <a:t>                    </a:t>
                </a:r>
                <a14:m>
                  <m:oMath xmlns:m="http://schemas.openxmlformats.org/officeDocument/2006/math">
                    <m:r>
                      <a:rPr lang="it-IT" b="0" i="1" dirty="0" smtClean="0">
                        <a:latin typeface="Cambria Math" panose="02040503050406030204" pitchFamily="18" charset="0"/>
                        <a:ea typeface="+mn-lt"/>
                        <a:cs typeface="+mn-lt"/>
                      </a:rPr>
                      <m:t>𝑝</m:t>
                    </m:r>
                    <m:d>
                      <m:dPr>
                        <m:begChr m:val=""/>
                        <m:ctrlPr>
                          <a:rPr lang="it-IT" b="0" i="1" dirty="0" smtClean="0">
                            <a:latin typeface="Cambria Math" panose="02040503050406030204" pitchFamily="18" charset="0"/>
                            <a:ea typeface="+mn-lt"/>
                            <a:cs typeface="+mn-lt"/>
                          </a:rPr>
                        </m:ctrlPr>
                      </m:dPr>
                      <m:e>
                        <m:d>
                          <m:dPr>
                            <m:endChr m:val=""/>
                            <m:ctrlPr>
                              <a:rPr lang="it-IT" b="0" i="1" dirty="0" smtClean="0">
                                <a:latin typeface="Cambria Math" panose="02040503050406030204" pitchFamily="18" charset="0"/>
                                <a:ea typeface="+mn-lt"/>
                                <a:cs typeface="+mn-lt"/>
                              </a:rPr>
                            </m:ctrlPr>
                          </m:dPr>
                          <m:e>
                            <m:sSub>
                              <m:sSubPr>
                                <m:ctrlPr>
                                  <a:rPr lang="it-IT" b="0" i="1" dirty="0" smtClean="0">
                                    <a:latin typeface="Cambria Math" panose="02040503050406030204" pitchFamily="18" charset="0"/>
                                    <a:ea typeface="+mn-lt"/>
                                    <a:cs typeface="+mn-lt"/>
                                  </a:rPr>
                                </m:ctrlPr>
                              </m:sSubPr>
                              <m:e>
                                <m:r>
                                  <a:rPr lang="it-IT" b="0" i="1" dirty="0" smtClean="0">
                                    <a:latin typeface="Cambria Math" panose="02040503050406030204" pitchFamily="18" charset="0"/>
                                    <a:ea typeface="+mn-lt"/>
                                    <a:cs typeface="+mn-lt"/>
                                  </a:rPr>
                                  <m:t>𝑇</m:t>
                                </m:r>
                              </m:e>
                              <m:sub>
                                <m:r>
                                  <a:rPr lang="it-IT" b="0" i="1" dirty="0" smtClean="0">
                                    <a:latin typeface="Cambria Math" panose="02040503050406030204" pitchFamily="18" charset="0"/>
                                    <a:ea typeface="+mn-lt"/>
                                    <a:cs typeface="+mn-lt"/>
                                  </a:rPr>
                                  <m:t>90</m:t>
                                </m:r>
                              </m:sub>
                            </m:sSub>
                          </m:e>
                        </m:d>
                      </m:e>
                    </m:d>
                    <m:r>
                      <a:rPr lang="it-IT" i="1" dirty="0">
                        <a:latin typeface="Cambria Math" panose="02040503050406030204" pitchFamily="18" charset="0"/>
                        <a:ea typeface="+mn-lt"/>
                        <a:cs typeface="+mn-lt"/>
                      </a:rPr>
                      <m:t>=</m:t>
                    </m:r>
                    <m:sSub>
                      <m:sSubPr>
                        <m:ctrlPr>
                          <a:rPr lang="it-IT" b="0"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𝑤</m:t>
                        </m:r>
                      </m:e>
                      <m:sub>
                        <m:r>
                          <a:rPr lang="it-IT" b="0" i="1" dirty="0">
                            <a:latin typeface="Cambria Math" panose="02040503050406030204" pitchFamily="18" charset="0"/>
                            <a:ea typeface="+mn-lt"/>
                            <a:cs typeface="+mn-lt"/>
                          </a:rPr>
                          <m:t>1</m:t>
                        </m:r>
                      </m:sub>
                    </m:sSub>
                    <m:r>
                      <a:rPr lang="it-IT" i="1" dirty="0">
                        <a:latin typeface="Cambria Math" panose="02040503050406030204" pitchFamily="18" charset="0"/>
                        <a:ea typeface="+mn-lt"/>
                        <a:cs typeface="+mn-lt"/>
                      </a:rPr>
                      <m:t> </m:t>
                    </m:r>
                    <m:r>
                      <a:rPr lang="it-IT" i="1" dirty="0">
                        <a:latin typeface="Cambria Math" panose="02040503050406030204" pitchFamily="18" charset="0"/>
                        <a:ea typeface="+mn-lt"/>
                        <a:cs typeface="+mn-lt"/>
                      </a:rPr>
                      <m:t>𝒩</m:t>
                    </m:r>
                    <m:d>
                      <m:dPr>
                        <m:ctrlPr>
                          <a:rPr lang="it-IT" i="1" dirty="0">
                            <a:latin typeface="Cambria Math" panose="02040503050406030204" pitchFamily="18" charset="0"/>
                            <a:ea typeface="+mn-lt"/>
                            <a:cs typeface="+mn-lt"/>
                          </a:rPr>
                        </m:ctrlPr>
                      </m:dPr>
                      <m:e>
                        <m:r>
                          <a:rPr lang="it-IT" i="1" dirty="0">
                            <a:latin typeface="Cambria Math" panose="02040503050406030204" pitchFamily="18" charset="0"/>
                            <a:ea typeface="+mn-lt"/>
                            <a:cs typeface="+mn-lt"/>
                          </a:rPr>
                          <m:t>𝑙𝑜𝑔</m:t>
                        </m:r>
                        <m:sSub>
                          <m:sSubPr>
                            <m:ctrlPr>
                              <a:rPr lang="it-IT"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𝑇</m:t>
                            </m:r>
                          </m:e>
                          <m:sub>
                            <m:r>
                              <a:rPr lang="it-IT" i="1" dirty="0">
                                <a:latin typeface="Cambria Math" panose="02040503050406030204" pitchFamily="18" charset="0"/>
                                <a:ea typeface="+mn-lt"/>
                                <a:cs typeface="+mn-lt"/>
                              </a:rPr>
                              <m:t>90</m:t>
                            </m:r>
                          </m:sub>
                        </m:sSub>
                      </m:e>
                      <m:e>
                        <m:sSub>
                          <m:sSubPr>
                            <m:ctrlPr>
                              <a:rPr lang="it-IT"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𝜇</m:t>
                            </m:r>
                          </m:e>
                          <m:sub>
                            <m:r>
                              <a:rPr lang="it-IT" i="1" dirty="0">
                                <a:latin typeface="Cambria Math" panose="02040503050406030204" pitchFamily="18" charset="0"/>
                                <a:ea typeface="+mn-lt"/>
                                <a:cs typeface="+mn-lt"/>
                              </a:rPr>
                              <m:t>1</m:t>
                            </m:r>
                          </m:sub>
                        </m:sSub>
                        <m:r>
                          <a:rPr lang="it-IT" i="1" dirty="0">
                            <a:latin typeface="Cambria Math" panose="02040503050406030204" pitchFamily="18" charset="0"/>
                            <a:ea typeface="+mn-lt"/>
                            <a:cs typeface="+mn-lt"/>
                          </a:rPr>
                          <m:t>, </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1</m:t>
                            </m:r>
                          </m:sub>
                          <m:sup>
                            <m:r>
                              <a:rPr lang="it-IT" i="1" dirty="0">
                                <a:latin typeface="Cambria Math" panose="02040503050406030204" pitchFamily="18" charset="0"/>
                              </a:rPr>
                              <m:t>2</m:t>
                            </m:r>
                          </m:sup>
                        </m:sSubSup>
                      </m:e>
                    </m:d>
                    <m:r>
                      <a:rPr lang="it-IT" b="0" i="1" dirty="0" smtClean="0">
                        <a:latin typeface="Cambria Math" panose="02040503050406030204" pitchFamily="18" charset="0"/>
                        <a:ea typeface="+mn-lt"/>
                        <a:cs typeface="+mn-lt"/>
                      </a:rPr>
                      <m:t> +</m:t>
                    </m:r>
                    <m:d>
                      <m:dPr>
                        <m:ctrlPr>
                          <a:rPr lang="it-IT" b="0" i="1" dirty="0" smtClean="0">
                            <a:latin typeface="Cambria Math" panose="02040503050406030204" pitchFamily="18" charset="0"/>
                            <a:ea typeface="+mn-lt"/>
                            <a:cs typeface="+mn-lt"/>
                          </a:rPr>
                        </m:ctrlPr>
                      </m:dPr>
                      <m:e>
                        <m:r>
                          <a:rPr lang="it-IT" b="0" i="1" dirty="0" smtClean="0">
                            <a:latin typeface="Cambria Math" panose="02040503050406030204" pitchFamily="18" charset="0"/>
                            <a:ea typeface="+mn-lt"/>
                            <a:cs typeface="+mn-lt"/>
                          </a:rPr>
                          <m:t>1−</m:t>
                        </m:r>
                        <m:sSub>
                          <m:sSubPr>
                            <m:ctrlPr>
                              <a:rPr lang="it-IT" b="0" i="1" dirty="0" smtClean="0">
                                <a:latin typeface="Cambria Math" panose="02040503050406030204" pitchFamily="18" charset="0"/>
                                <a:ea typeface="+mn-lt"/>
                                <a:cs typeface="+mn-lt"/>
                              </a:rPr>
                            </m:ctrlPr>
                          </m:sSubPr>
                          <m:e>
                            <m:r>
                              <a:rPr lang="it-IT" b="0" i="1" dirty="0" smtClean="0">
                                <a:latin typeface="Cambria Math" panose="02040503050406030204" pitchFamily="18" charset="0"/>
                                <a:ea typeface="+mn-lt"/>
                                <a:cs typeface="+mn-lt"/>
                              </a:rPr>
                              <m:t>𝑤</m:t>
                            </m:r>
                          </m:e>
                          <m:sub>
                            <m:r>
                              <a:rPr lang="it-IT" b="0" i="1" dirty="0" smtClean="0">
                                <a:latin typeface="Cambria Math" panose="02040503050406030204" pitchFamily="18" charset="0"/>
                                <a:ea typeface="+mn-lt"/>
                                <a:cs typeface="+mn-lt"/>
                              </a:rPr>
                              <m:t>1</m:t>
                            </m:r>
                          </m:sub>
                        </m:sSub>
                      </m:e>
                    </m:d>
                    <m:r>
                      <a:rPr lang="it-IT" i="1" dirty="0">
                        <a:latin typeface="Cambria Math" panose="02040503050406030204" pitchFamily="18" charset="0"/>
                        <a:ea typeface="+mn-lt"/>
                        <a:cs typeface="+mn-lt"/>
                      </a:rPr>
                      <m:t>𝒩</m:t>
                    </m:r>
                    <m:d>
                      <m:dPr>
                        <m:ctrlPr>
                          <a:rPr lang="it-IT" i="1" dirty="0">
                            <a:latin typeface="Cambria Math" panose="02040503050406030204" pitchFamily="18" charset="0"/>
                            <a:ea typeface="+mn-lt"/>
                            <a:cs typeface="+mn-lt"/>
                          </a:rPr>
                        </m:ctrlPr>
                      </m:dPr>
                      <m:e>
                        <m:r>
                          <a:rPr lang="it-IT" i="1" dirty="0">
                            <a:latin typeface="Cambria Math" panose="02040503050406030204" pitchFamily="18" charset="0"/>
                            <a:ea typeface="+mn-lt"/>
                            <a:cs typeface="+mn-lt"/>
                          </a:rPr>
                          <m:t>𝑙𝑜𝑔</m:t>
                        </m:r>
                        <m:sSub>
                          <m:sSubPr>
                            <m:ctrlPr>
                              <a:rPr lang="it-IT"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𝑇</m:t>
                            </m:r>
                          </m:e>
                          <m:sub>
                            <m:r>
                              <a:rPr lang="it-IT" i="1" dirty="0">
                                <a:latin typeface="Cambria Math" panose="02040503050406030204" pitchFamily="18" charset="0"/>
                                <a:ea typeface="+mn-lt"/>
                                <a:cs typeface="+mn-lt"/>
                              </a:rPr>
                              <m:t>90</m:t>
                            </m:r>
                          </m:sub>
                        </m:sSub>
                      </m:e>
                      <m:e>
                        <m:sSub>
                          <m:sSubPr>
                            <m:ctrlPr>
                              <a:rPr lang="it-IT"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𝜇</m:t>
                            </m:r>
                          </m:e>
                          <m:sub>
                            <m:r>
                              <a:rPr lang="it-IT" b="0" i="1" dirty="0" smtClean="0">
                                <a:latin typeface="Cambria Math" panose="02040503050406030204" pitchFamily="18" charset="0"/>
                                <a:ea typeface="+mn-lt"/>
                                <a:cs typeface="+mn-lt"/>
                              </a:rPr>
                              <m:t>2</m:t>
                            </m:r>
                          </m:sub>
                        </m:sSub>
                        <m:r>
                          <a:rPr lang="it-IT" b="0" i="1" dirty="0" smtClean="0">
                            <a:latin typeface="Cambria Math" panose="02040503050406030204" pitchFamily="18" charset="0"/>
                            <a:ea typeface="+mn-lt"/>
                            <a:cs typeface="+mn-lt"/>
                          </a:rPr>
                          <m:t>, </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b="0" i="1" dirty="0" smtClean="0">
                                <a:latin typeface="Cambria Math" panose="02040503050406030204" pitchFamily="18" charset="0"/>
                              </a:rPr>
                              <m:t>2</m:t>
                            </m:r>
                          </m:sub>
                          <m:sup>
                            <m:r>
                              <a:rPr lang="it-IT" i="1" dirty="0">
                                <a:latin typeface="Cambria Math" panose="02040503050406030204" pitchFamily="18" charset="0"/>
                              </a:rPr>
                              <m:t>2</m:t>
                            </m:r>
                          </m:sup>
                        </m:sSubSup>
                      </m:e>
                    </m:d>
                  </m:oMath>
                </a14:m>
                <a:endParaRPr lang="it-IT" b="0" i="1" dirty="0">
                  <a:latin typeface="Cambria Math" panose="02040503050406030204" pitchFamily="18" charset="0"/>
                  <a:ea typeface="+mn-lt"/>
                  <a:cs typeface="+mn-lt"/>
                </a:endParaRPr>
              </a:p>
              <a:p>
                <a:pPr marL="0" indent="0">
                  <a:buNone/>
                </a:pPr>
                <a:endParaRPr lang="it-IT" b="0" i="1" dirty="0">
                  <a:latin typeface="Cambria Math" panose="02040503050406030204" pitchFamily="18" charset="0"/>
                  <a:ea typeface="+mn-lt"/>
                  <a:cs typeface="+mn-lt"/>
                </a:endParaRPr>
              </a:p>
              <a:p>
                <a:r>
                  <a:rPr lang="it-IT" b="0" dirty="0">
                    <a:ea typeface="+mn-lt"/>
                    <a:cs typeface="+mn-lt"/>
                  </a:rPr>
                  <a:t>The </a:t>
                </a:r>
                <a:r>
                  <a:rPr lang="it-IT" dirty="0"/>
                  <a:t>available data</a:t>
                </a:r>
                <a:r>
                  <a:rPr lang="it-IT" b="0" dirty="0">
                    <a:ea typeface="+mn-lt"/>
                    <a:cs typeface="+mn-lt"/>
                  </a:rPr>
                  <a:t> are </a:t>
                </a:r>
                <a14:m>
                  <m:oMath xmlns:m="http://schemas.openxmlformats.org/officeDocument/2006/math">
                    <m:r>
                      <a:rPr lang="it-IT" b="0" i="1" smtClean="0">
                        <a:latin typeface="Cambria Math" panose="02040503050406030204" pitchFamily="18" charset="0"/>
                        <a:ea typeface="+mn-lt"/>
                        <a:cs typeface="+mn-lt"/>
                      </a:rPr>
                      <m:t>𝑥</m:t>
                    </m:r>
                    <m:r>
                      <a:rPr lang="it-IT" b="0" i="1" smtClean="0">
                        <a:latin typeface="Cambria Math" panose="02040503050406030204" pitchFamily="18" charset="0"/>
                        <a:ea typeface="+mn-lt"/>
                        <a:cs typeface="+mn-lt"/>
                      </a:rPr>
                      <m:t>=</m:t>
                    </m:r>
                    <m:r>
                      <a:rPr lang="it-IT" b="0" i="1" smtClean="0">
                        <a:latin typeface="Cambria Math" panose="02040503050406030204" pitchFamily="18" charset="0"/>
                        <a:ea typeface="+mn-lt"/>
                        <a:cs typeface="+mn-lt"/>
                      </a:rPr>
                      <m:t>𝑙</m:t>
                    </m:r>
                    <m:r>
                      <m:rPr>
                        <m:sty m:val="p"/>
                      </m:rPr>
                      <a:rPr lang="it-IT" b="0" i="1" smtClean="0">
                        <a:latin typeface="Cambria Math" panose="02040503050406030204" pitchFamily="18" charset="0"/>
                        <a:ea typeface="+mn-lt"/>
                        <a:cs typeface="+mn-lt"/>
                      </a:rPr>
                      <m:t>og</m:t>
                    </m:r>
                    <m:sSub>
                      <m:sSubPr>
                        <m:ctrlPr>
                          <a:rPr lang="it-IT" b="0" i="1" smtClean="0">
                            <a:latin typeface="Cambria Math" panose="02040503050406030204" pitchFamily="18" charset="0"/>
                            <a:ea typeface="+mn-lt"/>
                            <a:cs typeface="+mn-lt"/>
                          </a:rPr>
                        </m:ctrlPr>
                      </m:sSubPr>
                      <m:e>
                        <m:r>
                          <a:rPr lang="it-IT" b="0" i="1" smtClean="0">
                            <a:latin typeface="Cambria Math" panose="02040503050406030204" pitchFamily="18" charset="0"/>
                            <a:ea typeface="+mn-lt"/>
                            <a:cs typeface="+mn-lt"/>
                          </a:rPr>
                          <m:t>𝑇</m:t>
                        </m:r>
                      </m:e>
                      <m:sub>
                        <m:r>
                          <a:rPr lang="it-IT" b="0" i="1" smtClean="0">
                            <a:latin typeface="Cambria Math" panose="02040503050406030204" pitchFamily="18" charset="0"/>
                            <a:ea typeface="+mn-lt"/>
                            <a:cs typeface="+mn-lt"/>
                          </a:rPr>
                          <m:t>90</m:t>
                        </m:r>
                      </m:sub>
                    </m:sSub>
                    <m:r>
                      <a:rPr lang="it-IT" b="0" i="0" smtClean="0">
                        <a:latin typeface="Cambria Math" panose="02040503050406030204" pitchFamily="18" charset="0"/>
                        <a:ea typeface="+mn-lt"/>
                        <a:cs typeface="+mn-lt"/>
                      </a:rPr>
                      <m:t>;</m:t>
                    </m:r>
                  </m:oMath>
                </a14:m>
                <a:r>
                  <a:rPr lang="it-IT" b="0" dirty="0">
                    <a:ea typeface="+mn-lt"/>
                    <a:cs typeface="+mn-lt"/>
                  </a:rPr>
                  <a:t> </a:t>
                </a:r>
                <a:r>
                  <a:rPr lang="en-US" dirty="0"/>
                  <a:t>the distribution becomes a </a:t>
                </a:r>
                <a:r>
                  <a:rPr lang="en-US" b="1" dirty="0"/>
                  <a:t>weighted sum of two normal distributions</a:t>
                </a:r>
                <a:r>
                  <a:rPr lang="en-US" b="1" dirty="0">
                    <a:ea typeface="+mn-lt"/>
                    <a:cs typeface="+mn-lt"/>
                  </a:rPr>
                  <a:t>:</a:t>
                </a:r>
                <a:endParaRPr lang="it-IT" b="0" dirty="0">
                  <a:ea typeface="+mn-lt"/>
                  <a:cs typeface="+mn-lt"/>
                </a:endParaRPr>
              </a:p>
              <a:p>
                <a:pPr marL="0" indent="0">
                  <a:buNone/>
                </a:pPr>
                <a:r>
                  <a:rPr lang="it-IT" b="0" dirty="0">
                    <a:ea typeface="+mn-lt"/>
                    <a:cs typeface="+mn-lt"/>
                  </a:rPr>
                  <a:t>    </a:t>
                </a:r>
                <a14:m>
                  <m:oMath xmlns:m="http://schemas.openxmlformats.org/officeDocument/2006/math">
                    <m:r>
                      <a:rPr lang="it-IT" b="0" i="1" dirty="0" smtClean="0">
                        <a:latin typeface="Cambria Math" panose="02040503050406030204" pitchFamily="18" charset="0"/>
                        <a:ea typeface="+mn-lt"/>
                        <a:cs typeface="+mn-lt"/>
                      </a:rPr>
                      <m:t>                   </m:t>
                    </m:r>
                    <m:r>
                      <a:rPr lang="it-IT" i="1" dirty="0">
                        <a:latin typeface="Cambria Math" panose="02040503050406030204" pitchFamily="18" charset="0"/>
                        <a:ea typeface="+mn-lt"/>
                        <a:cs typeface="+mn-lt"/>
                      </a:rPr>
                      <m:t>𝑝</m:t>
                    </m:r>
                    <m:d>
                      <m:dPr>
                        <m:begChr m:val=""/>
                        <m:ctrlPr>
                          <a:rPr lang="it-IT" i="1" dirty="0">
                            <a:latin typeface="Cambria Math" panose="02040503050406030204" pitchFamily="18" charset="0"/>
                            <a:ea typeface="+mn-lt"/>
                            <a:cs typeface="+mn-lt"/>
                          </a:rPr>
                        </m:ctrlPr>
                      </m:dPr>
                      <m:e>
                        <m:r>
                          <a:rPr lang="it-IT" b="0" i="1" dirty="0" smtClean="0">
                            <a:latin typeface="Cambria Math" panose="02040503050406030204" pitchFamily="18" charset="0"/>
                            <a:ea typeface="+mn-lt"/>
                            <a:cs typeface="+mn-lt"/>
                          </a:rPr>
                          <m:t>(</m:t>
                        </m:r>
                        <m:r>
                          <m:rPr>
                            <m:sty m:val="p"/>
                          </m:rPr>
                          <a:rPr lang="it-IT" b="0" i="1" dirty="0" smtClean="0">
                            <a:latin typeface="Cambria Math" panose="02040503050406030204" pitchFamily="18" charset="0"/>
                            <a:ea typeface="+mn-lt"/>
                            <a:cs typeface="+mn-lt"/>
                          </a:rPr>
                          <m:t>x</m:t>
                        </m:r>
                      </m:e>
                    </m:d>
                    <m:r>
                      <a:rPr lang="it-IT" i="1" dirty="0">
                        <a:latin typeface="Cambria Math" panose="02040503050406030204" pitchFamily="18" charset="0"/>
                        <a:ea typeface="+mn-lt"/>
                        <a:cs typeface="+mn-lt"/>
                      </a:rPr>
                      <m:t>=</m:t>
                    </m:r>
                    <m:sSub>
                      <m:sSubPr>
                        <m:ctrlPr>
                          <a:rPr lang="it-IT"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𝑤</m:t>
                        </m:r>
                      </m:e>
                      <m:sub>
                        <m:r>
                          <a:rPr lang="it-IT" i="1" dirty="0">
                            <a:latin typeface="Cambria Math" panose="02040503050406030204" pitchFamily="18" charset="0"/>
                            <a:ea typeface="+mn-lt"/>
                            <a:cs typeface="+mn-lt"/>
                          </a:rPr>
                          <m:t>1</m:t>
                        </m:r>
                      </m:sub>
                    </m:sSub>
                    <m:r>
                      <a:rPr lang="it-IT" i="1" dirty="0">
                        <a:latin typeface="Cambria Math" panose="02040503050406030204" pitchFamily="18" charset="0"/>
                        <a:ea typeface="+mn-lt"/>
                        <a:cs typeface="+mn-lt"/>
                      </a:rPr>
                      <m:t> </m:t>
                    </m:r>
                    <m:r>
                      <a:rPr lang="it-IT" i="1" dirty="0">
                        <a:latin typeface="Cambria Math" panose="02040503050406030204" pitchFamily="18" charset="0"/>
                        <a:ea typeface="+mn-lt"/>
                        <a:cs typeface="+mn-lt"/>
                      </a:rPr>
                      <m:t>𝒩</m:t>
                    </m:r>
                    <m:d>
                      <m:dPr>
                        <m:ctrlPr>
                          <a:rPr lang="it-IT" i="1" dirty="0">
                            <a:latin typeface="Cambria Math" panose="02040503050406030204" pitchFamily="18" charset="0"/>
                            <a:ea typeface="+mn-lt"/>
                            <a:cs typeface="+mn-lt"/>
                          </a:rPr>
                        </m:ctrlPr>
                      </m:dPr>
                      <m:e>
                        <m:r>
                          <m:rPr>
                            <m:sty m:val="p"/>
                          </m:rPr>
                          <a:rPr lang="it-IT" b="0" i="1" dirty="0" smtClean="0">
                            <a:latin typeface="Cambria Math" panose="02040503050406030204" pitchFamily="18" charset="0"/>
                            <a:ea typeface="+mn-lt"/>
                            <a:cs typeface="+mn-lt"/>
                          </a:rPr>
                          <m:t>x</m:t>
                        </m:r>
                      </m:e>
                      <m:e>
                        <m:sSub>
                          <m:sSubPr>
                            <m:ctrlPr>
                              <a:rPr lang="it-IT"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𝜇</m:t>
                            </m:r>
                          </m:e>
                          <m:sub>
                            <m:r>
                              <a:rPr lang="it-IT" i="1" dirty="0">
                                <a:latin typeface="Cambria Math" panose="02040503050406030204" pitchFamily="18" charset="0"/>
                                <a:ea typeface="+mn-lt"/>
                                <a:cs typeface="+mn-lt"/>
                              </a:rPr>
                              <m:t>1</m:t>
                            </m:r>
                          </m:sub>
                        </m:sSub>
                        <m:r>
                          <a:rPr lang="it-IT" i="1" dirty="0">
                            <a:latin typeface="Cambria Math" panose="02040503050406030204" pitchFamily="18" charset="0"/>
                            <a:ea typeface="+mn-lt"/>
                            <a:cs typeface="+mn-lt"/>
                          </a:rPr>
                          <m:t>, </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1</m:t>
                            </m:r>
                          </m:sub>
                          <m:sup>
                            <m:r>
                              <a:rPr lang="it-IT" i="1" dirty="0">
                                <a:latin typeface="Cambria Math" panose="02040503050406030204" pitchFamily="18" charset="0"/>
                              </a:rPr>
                              <m:t>2</m:t>
                            </m:r>
                          </m:sup>
                        </m:sSubSup>
                      </m:e>
                    </m:d>
                    <m:r>
                      <a:rPr lang="it-IT" i="1" dirty="0">
                        <a:latin typeface="Cambria Math" panose="02040503050406030204" pitchFamily="18" charset="0"/>
                        <a:ea typeface="+mn-lt"/>
                        <a:cs typeface="+mn-lt"/>
                      </a:rPr>
                      <m:t> +</m:t>
                    </m:r>
                    <m:d>
                      <m:dPr>
                        <m:ctrlPr>
                          <a:rPr lang="it-IT" i="1" dirty="0">
                            <a:latin typeface="Cambria Math" panose="02040503050406030204" pitchFamily="18" charset="0"/>
                            <a:ea typeface="+mn-lt"/>
                            <a:cs typeface="+mn-lt"/>
                          </a:rPr>
                        </m:ctrlPr>
                      </m:dPr>
                      <m:e>
                        <m:r>
                          <a:rPr lang="it-IT" i="1" dirty="0">
                            <a:latin typeface="Cambria Math" panose="02040503050406030204" pitchFamily="18" charset="0"/>
                            <a:ea typeface="+mn-lt"/>
                            <a:cs typeface="+mn-lt"/>
                          </a:rPr>
                          <m:t>1−</m:t>
                        </m:r>
                        <m:sSub>
                          <m:sSubPr>
                            <m:ctrlPr>
                              <a:rPr lang="it-IT"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𝑤</m:t>
                            </m:r>
                          </m:e>
                          <m:sub>
                            <m:r>
                              <a:rPr lang="it-IT" i="1" dirty="0">
                                <a:latin typeface="Cambria Math" panose="02040503050406030204" pitchFamily="18" charset="0"/>
                                <a:ea typeface="+mn-lt"/>
                                <a:cs typeface="+mn-lt"/>
                              </a:rPr>
                              <m:t>1</m:t>
                            </m:r>
                          </m:sub>
                        </m:sSub>
                      </m:e>
                    </m:d>
                    <m:r>
                      <a:rPr lang="it-IT" i="1" dirty="0">
                        <a:latin typeface="Cambria Math" panose="02040503050406030204" pitchFamily="18" charset="0"/>
                        <a:ea typeface="+mn-lt"/>
                        <a:cs typeface="+mn-lt"/>
                      </a:rPr>
                      <m:t>𝒩</m:t>
                    </m:r>
                    <m:d>
                      <m:dPr>
                        <m:ctrlPr>
                          <a:rPr lang="it-IT" i="1" dirty="0">
                            <a:latin typeface="Cambria Math" panose="02040503050406030204" pitchFamily="18" charset="0"/>
                            <a:ea typeface="+mn-lt"/>
                            <a:cs typeface="+mn-lt"/>
                          </a:rPr>
                        </m:ctrlPr>
                      </m:dPr>
                      <m:e>
                        <m:r>
                          <m:rPr>
                            <m:sty m:val="p"/>
                          </m:rPr>
                          <a:rPr lang="it-IT" b="0" i="1" dirty="0" smtClean="0">
                            <a:latin typeface="Cambria Math" panose="02040503050406030204" pitchFamily="18" charset="0"/>
                            <a:ea typeface="+mn-lt"/>
                            <a:cs typeface="+mn-lt"/>
                          </a:rPr>
                          <m:t>x</m:t>
                        </m:r>
                      </m:e>
                      <m:e>
                        <m:sSub>
                          <m:sSubPr>
                            <m:ctrlPr>
                              <a:rPr lang="it-IT" i="1" dirty="0">
                                <a:latin typeface="Cambria Math" panose="02040503050406030204" pitchFamily="18" charset="0"/>
                                <a:ea typeface="+mn-lt"/>
                                <a:cs typeface="+mn-lt"/>
                              </a:rPr>
                            </m:ctrlPr>
                          </m:sSubPr>
                          <m:e>
                            <m:r>
                              <a:rPr lang="it-IT" i="1" dirty="0">
                                <a:latin typeface="Cambria Math" panose="02040503050406030204" pitchFamily="18" charset="0"/>
                                <a:ea typeface="+mn-lt"/>
                                <a:cs typeface="+mn-lt"/>
                              </a:rPr>
                              <m:t>𝜇</m:t>
                            </m:r>
                          </m:e>
                          <m:sub>
                            <m:r>
                              <a:rPr lang="it-IT" i="1" dirty="0">
                                <a:latin typeface="Cambria Math" panose="02040503050406030204" pitchFamily="18" charset="0"/>
                                <a:ea typeface="+mn-lt"/>
                                <a:cs typeface="+mn-lt"/>
                              </a:rPr>
                              <m:t>2</m:t>
                            </m:r>
                          </m:sub>
                        </m:sSub>
                        <m:r>
                          <a:rPr lang="it-IT" i="1" dirty="0">
                            <a:latin typeface="Cambria Math" panose="02040503050406030204" pitchFamily="18" charset="0"/>
                            <a:ea typeface="+mn-lt"/>
                            <a:cs typeface="+mn-lt"/>
                          </a:rPr>
                          <m:t>, </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2</m:t>
                            </m:r>
                          </m:sub>
                          <m:sup>
                            <m:r>
                              <a:rPr lang="it-IT" i="1" dirty="0">
                                <a:latin typeface="Cambria Math" panose="02040503050406030204" pitchFamily="18" charset="0"/>
                              </a:rPr>
                              <m:t>2</m:t>
                            </m:r>
                          </m:sup>
                        </m:sSubSup>
                      </m:e>
                    </m:d>
                  </m:oMath>
                </a14:m>
                <a:endParaRPr lang="it-IT" i="1" dirty="0">
                  <a:latin typeface="Cambria Math" panose="02040503050406030204" pitchFamily="18" charset="0"/>
                  <a:ea typeface="+mn-lt"/>
                  <a:cs typeface="+mn-lt"/>
                </a:endParaRPr>
              </a:p>
              <a:p>
                <a:pPr marL="0" indent="0">
                  <a:buNone/>
                </a:pPr>
                <a:endParaRPr lang="it-IT" sz="1400" i="1" dirty="0">
                  <a:latin typeface="Cambria Math" panose="02040503050406030204" pitchFamily="18" charset="0"/>
                  <a:ea typeface="+mn-lt"/>
                  <a:cs typeface="+mn-lt"/>
                </a:endParaRPr>
              </a:p>
              <a:p>
                <a:pPr marL="0" indent="0">
                  <a:buNone/>
                </a:pPr>
                <a14:m>
                  <m:oMathPara xmlns:m="http://schemas.openxmlformats.org/officeDocument/2006/math">
                    <m:oMathParaPr>
                      <m:jc m:val="left"/>
                    </m:oMathParaPr>
                    <m:oMath xmlns:m="http://schemas.openxmlformats.org/officeDocument/2006/math">
                      <m:r>
                        <a:rPr lang="it-IT" sz="1600" i="1" smtClean="0">
                          <a:latin typeface="Cambria Math" panose="02040503050406030204" pitchFamily="18" charset="0"/>
                          <a:ea typeface="+mn-lt"/>
                          <a:cs typeface="+mn-lt"/>
                        </a:rPr>
                        <m:t>𝑝</m:t>
                      </m:r>
                      <m:d>
                        <m:dPr>
                          <m:ctrlPr>
                            <a:rPr lang="it-IT" sz="1600" i="1">
                              <a:latin typeface="Cambria Math" panose="02040503050406030204" pitchFamily="18" charset="0"/>
                              <a:ea typeface="+mn-lt"/>
                              <a:cs typeface="+mn-lt"/>
                            </a:rPr>
                          </m:ctrlPr>
                        </m:dPr>
                        <m:e>
                          <m:sSub>
                            <m:sSubPr>
                              <m:ctrlPr>
                                <a:rPr lang="it-IT" sz="1600" i="1">
                                  <a:latin typeface="Cambria Math" panose="02040503050406030204" pitchFamily="18" charset="0"/>
                                  <a:ea typeface="+mn-lt"/>
                                  <a:cs typeface="+mn-lt"/>
                                </a:rPr>
                              </m:ctrlPr>
                            </m:sSubPr>
                            <m:e>
                              <m:r>
                                <a:rPr lang="it-IT" sz="1600" i="1">
                                  <a:latin typeface="Cambria Math" panose="02040503050406030204" pitchFamily="18" charset="0"/>
                                  <a:ea typeface="+mn-lt"/>
                                  <a:cs typeface="+mn-lt"/>
                                </a:rPr>
                                <m:t>𝑇</m:t>
                              </m:r>
                            </m:e>
                            <m:sub>
                              <m:r>
                                <a:rPr lang="it-IT" sz="1600" i="1">
                                  <a:latin typeface="Cambria Math" panose="02040503050406030204" pitchFamily="18" charset="0"/>
                                  <a:ea typeface="+mn-lt"/>
                                  <a:cs typeface="+mn-lt"/>
                                </a:rPr>
                                <m:t>90</m:t>
                              </m:r>
                            </m:sub>
                          </m:sSub>
                        </m:e>
                      </m:d>
                      <m:r>
                        <a:rPr lang="it-IT" sz="1600" i="1">
                          <a:latin typeface="Cambria Math" panose="02040503050406030204" pitchFamily="18" charset="0"/>
                          <a:ea typeface="+mn-lt"/>
                          <a:cs typeface="+mn-lt"/>
                        </a:rPr>
                        <m:t>=</m:t>
                      </m:r>
                      <m:r>
                        <a:rPr lang="it-IT" sz="1600" i="1">
                          <a:latin typeface="Cambria Math" panose="02040503050406030204" pitchFamily="18" charset="0"/>
                          <a:ea typeface="+mn-lt"/>
                          <a:cs typeface="+mn-lt"/>
                        </a:rPr>
                        <m:t>𝑝</m:t>
                      </m:r>
                      <m:d>
                        <m:dPr>
                          <m:ctrlPr>
                            <a:rPr lang="it-IT" sz="1600" i="1">
                              <a:latin typeface="Cambria Math" panose="02040503050406030204" pitchFamily="18" charset="0"/>
                              <a:ea typeface="+mn-lt"/>
                              <a:cs typeface="+mn-lt"/>
                            </a:rPr>
                          </m:ctrlPr>
                        </m:dPr>
                        <m:e>
                          <m:r>
                            <a:rPr lang="it-IT" sz="1600" i="1">
                              <a:latin typeface="Cambria Math" panose="02040503050406030204" pitchFamily="18" charset="0"/>
                              <a:ea typeface="+mn-lt"/>
                              <a:cs typeface="+mn-lt"/>
                            </a:rPr>
                            <m:t>𝑙𝑜𝑔</m:t>
                          </m:r>
                          <m:sSub>
                            <m:sSubPr>
                              <m:ctrlPr>
                                <a:rPr lang="it-IT" sz="1600" i="1">
                                  <a:latin typeface="Cambria Math" panose="02040503050406030204" pitchFamily="18" charset="0"/>
                                  <a:ea typeface="+mn-lt"/>
                                  <a:cs typeface="+mn-lt"/>
                                </a:rPr>
                              </m:ctrlPr>
                            </m:sSubPr>
                            <m:e>
                              <m:r>
                                <a:rPr lang="it-IT" sz="1600" i="1">
                                  <a:latin typeface="Cambria Math" panose="02040503050406030204" pitchFamily="18" charset="0"/>
                                  <a:ea typeface="+mn-lt"/>
                                  <a:cs typeface="+mn-lt"/>
                                </a:rPr>
                                <m:t>𝑇</m:t>
                              </m:r>
                            </m:e>
                            <m:sub>
                              <m:r>
                                <a:rPr lang="it-IT" sz="1600" i="1">
                                  <a:latin typeface="Cambria Math" panose="02040503050406030204" pitchFamily="18" charset="0"/>
                                  <a:ea typeface="+mn-lt"/>
                                  <a:cs typeface="+mn-lt"/>
                                </a:rPr>
                                <m:t>90</m:t>
                              </m:r>
                            </m:sub>
                          </m:sSub>
                        </m:e>
                      </m:d>
                      <m:f>
                        <m:fPr>
                          <m:ctrlPr>
                            <a:rPr lang="it-IT" sz="1600" i="1">
                              <a:latin typeface="Cambria Math" panose="02040503050406030204" pitchFamily="18" charset="0"/>
                              <a:ea typeface="+mn-lt"/>
                              <a:cs typeface="+mn-lt"/>
                            </a:rPr>
                          </m:ctrlPr>
                        </m:fPr>
                        <m:num>
                          <m:r>
                            <a:rPr lang="it-IT" sz="1600" i="1">
                              <a:latin typeface="Cambria Math" panose="02040503050406030204" pitchFamily="18" charset="0"/>
                              <a:ea typeface="+mn-lt"/>
                              <a:cs typeface="+mn-lt"/>
                            </a:rPr>
                            <m:t>𝑑</m:t>
                          </m:r>
                          <m:d>
                            <m:dPr>
                              <m:ctrlPr>
                                <a:rPr lang="it-IT" sz="1600" i="1">
                                  <a:latin typeface="Cambria Math" panose="02040503050406030204" pitchFamily="18" charset="0"/>
                                  <a:ea typeface="+mn-lt"/>
                                  <a:cs typeface="+mn-lt"/>
                                </a:rPr>
                              </m:ctrlPr>
                            </m:dPr>
                            <m:e>
                              <m:r>
                                <a:rPr lang="it-IT" sz="1600" i="1">
                                  <a:latin typeface="Cambria Math" panose="02040503050406030204" pitchFamily="18" charset="0"/>
                                  <a:ea typeface="+mn-lt"/>
                                  <a:cs typeface="+mn-lt"/>
                                </a:rPr>
                                <m:t>𝑙𝑜𝑔</m:t>
                              </m:r>
                              <m:sSub>
                                <m:sSubPr>
                                  <m:ctrlPr>
                                    <a:rPr lang="it-IT" sz="1600" i="1">
                                      <a:latin typeface="Cambria Math" panose="02040503050406030204" pitchFamily="18" charset="0"/>
                                      <a:ea typeface="+mn-lt"/>
                                      <a:cs typeface="+mn-lt"/>
                                    </a:rPr>
                                  </m:ctrlPr>
                                </m:sSubPr>
                                <m:e>
                                  <m:r>
                                    <a:rPr lang="it-IT" sz="1600" i="1">
                                      <a:latin typeface="Cambria Math" panose="02040503050406030204" pitchFamily="18" charset="0"/>
                                      <a:ea typeface="+mn-lt"/>
                                      <a:cs typeface="+mn-lt"/>
                                    </a:rPr>
                                    <m:t>𝑇</m:t>
                                  </m:r>
                                </m:e>
                                <m:sub>
                                  <m:r>
                                    <a:rPr lang="it-IT" sz="1600" i="1">
                                      <a:latin typeface="Cambria Math" panose="02040503050406030204" pitchFamily="18" charset="0"/>
                                      <a:ea typeface="+mn-lt"/>
                                      <a:cs typeface="+mn-lt"/>
                                    </a:rPr>
                                    <m:t>90</m:t>
                                  </m:r>
                                </m:sub>
                              </m:sSub>
                            </m:e>
                          </m:d>
                        </m:num>
                        <m:den>
                          <m:r>
                            <a:rPr lang="it-IT" sz="1600" i="1">
                              <a:latin typeface="Cambria Math" panose="02040503050406030204" pitchFamily="18" charset="0"/>
                              <a:ea typeface="+mn-lt"/>
                              <a:cs typeface="+mn-lt"/>
                            </a:rPr>
                            <m:t>𝑑</m:t>
                          </m:r>
                          <m:sSub>
                            <m:sSubPr>
                              <m:ctrlPr>
                                <a:rPr lang="it-IT" sz="1600" i="1">
                                  <a:latin typeface="Cambria Math" panose="02040503050406030204" pitchFamily="18" charset="0"/>
                                  <a:ea typeface="+mn-lt"/>
                                  <a:cs typeface="+mn-lt"/>
                                </a:rPr>
                              </m:ctrlPr>
                            </m:sSubPr>
                            <m:e>
                              <m:r>
                                <a:rPr lang="it-IT" sz="1600" i="1">
                                  <a:latin typeface="Cambria Math" panose="02040503050406030204" pitchFamily="18" charset="0"/>
                                  <a:ea typeface="+mn-lt"/>
                                  <a:cs typeface="+mn-lt"/>
                                </a:rPr>
                                <m:t>𝑇</m:t>
                              </m:r>
                            </m:e>
                            <m:sub>
                              <m:r>
                                <a:rPr lang="it-IT" sz="1600" i="1">
                                  <a:latin typeface="Cambria Math" panose="02040503050406030204" pitchFamily="18" charset="0"/>
                                  <a:ea typeface="+mn-lt"/>
                                  <a:cs typeface="+mn-lt"/>
                                </a:rPr>
                                <m:t>90</m:t>
                              </m:r>
                            </m:sub>
                          </m:sSub>
                        </m:den>
                      </m:f>
                      <m:r>
                        <a:rPr lang="it-IT" sz="1600" i="1">
                          <a:latin typeface="Cambria Math" panose="02040503050406030204" pitchFamily="18" charset="0"/>
                          <a:ea typeface="+mn-lt"/>
                          <a:cs typeface="+mn-lt"/>
                        </a:rPr>
                        <m:t>=</m:t>
                      </m:r>
                      <m:r>
                        <a:rPr lang="it-IT" sz="1600" i="1">
                          <a:latin typeface="Cambria Math" panose="02040503050406030204" pitchFamily="18" charset="0"/>
                          <a:ea typeface="+mn-lt"/>
                          <a:cs typeface="+mn-lt"/>
                        </a:rPr>
                        <m:t>𝑝</m:t>
                      </m:r>
                      <m:d>
                        <m:dPr>
                          <m:ctrlPr>
                            <a:rPr lang="it-IT" sz="1600" i="1">
                              <a:latin typeface="Cambria Math" panose="02040503050406030204" pitchFamily="18" charset="0"/>
                              <a:ea typeface="+mn-lt"/>
                              <a:cs typeface="+mn-lt"/>
                            </a:rPr>
                          </m:ctrlPr>
                        </m:dPr>
                        <m:e>
                          <m:r>
                            <a:rPr lang="it-IT" sz="1600" i="1">
                              <a:latin typeface="Cambria Math" panose="02040503050406030204" pitchFamily="18" charset="0"/>
                              <a:ea typeface="+mn-lt"/>
                              <a:cs typeface="+mn-lt"/>
                            </a:rPr>
                            <m:t>𝑙𝑜𝑔</m:t>
                          </m:r>
                          <m:sSub>
                            <m:sSubPr>
                              <m:ctrlPr>
                                <a:rPr lang="it-IT" sz="1600" i="1">
                                  <a:latin typeface="Cambria Math" panose="02040503050406030204" pitchFamily="18" charset="0"/>
                                  <a:ea typeface="+mn-lt"/>
                                  <a:cs typeface="+mn-lt"/>
                                </a:rPr>
                              </m:ctrlPr>
                            </m:sSubPr>
                            <m:e>
                              <m:r>
                                <a:rPr lang="it-IT" sz="1600" i="1">
                                  <a:latin typeface="Cambria Math" panose="02040503050406030204" pitchFamily="18" charset="0"/>
                                  <a:ea typeface="+mn-lt"/>
                                  <a:cs typeface="+mn-lt"/>
                                </a:rPr>
                                <m:t>𝑇</m:t>
                              </m:r>
                            </m:e>
                            <m:sub>
                              <m:r>
                                <a:rPr lang="it-IT" sz="1600" i="1">
                                  <a:latin typeface="Cambria Math" panose="02040503050406030204" pitchFamily="18" charset="0"/>
                                  <a:ea typeface="+mn-lt"/>
                                  <a:cs typeface="+mn-lt"/>
                                </a:rPr>
                                <m:t>90</m:t>
                              </m:r>
                            </m:sub>
                          </m:sSub>
                        </m:e>
                      </m:d>
                      <m:r>
                        <m:rPr>
                          <m:lit/>
                        </m:rPr>
                        <a:rPr lang="it-IT" sz="1600" b="0" i="1" smtClean="0">
                          <a:latin typeface="Cambria Math" panose="02040503050406030204" pitchFamily="18" charset="0"/>
                          <a:ea typeface="+mn-lt"/>
                          <a:cs typeface="+mn-lt"/>
                        </a:rPr>
                        <m:t>/</m:t>
                      </m:r>
                      <m:sSub>
                        <m:sSubPr>
                          <m:ctrlPr>
                            <a:rPr lang="it-IT" sz="1600" b="0" i="1" smtClean="0">
                              <a:latin typeface="Cambria Math" panose="02040503050406030204" pitchFamily="18" charset="0"/>
                              <a:ea typeface="+mn-lt"/>
                              <a:cs typeface="+mn-lt"/>
                            </a:rPr>
                          </m:ctrlPr>
                        </m:sSubPr>
                        <m:e>
                          <m:r>
                            <a:rPr lang="it-IT" sz="1600" b="0" i="1" smtClean="0">
                              <a:latin typeface="Cambria Math" panose="02040503050406030204" pitchFamily="18" charset="0"/>
                              <a:ea typeface="+mn-lt"/>
                              <a:cs typeface="+mn-lt"/>
                            </a:rPr>
                            <m:t>𝑇</m:t>
                          </m:r>
                        </m:e>
                        <m:sub>
                          <m:r>
                            <a:rPr lang="it-IT" sz="1600" b="0" i="1" smtClean="0">
                              <a:latin typeface="Cambria Math" panose="02040503050406030204" pitchFamily="18" charset="0"/>
                              <a:ea typeface="+mn-lt"/>
                              <a:cs typeface="+mn-lt"/>
                            </a:rPr>
                            <m:t>90</m:t>
                          </m:r>
                        </m:sub>
                      </m:sSub>
                      <m:r>
                        <a:rPr lang="it-IT" sz="1600" b="0" i="1" smtClean="0">
                          <a:latin typeface="Cambria Math" panose="02040503050406030204" pitchFamily="18" charset="0"/>
                          <a:ea typeface="+mn-lt"/>
                          <a:cs typeface="+mn-lt"/>
                        </a:rPr>
                        <m:t> ⇒ </m:t>
                      </m:r>
                      <m:r>
                        <m:rPr>
                          <m:sty m:val="p"/>
                        </m:rPr>
                        <a:rPr lang="it-IT" sz="1600" b="0" i="1" smtClean="0">
                          <a:latin typeface="Cambria Math" panose="02040503050406030204" pitchFamily="18" charset="0"/>
                          <a:ea typeface="+mn-lt"/>
                          <a:cs typeface="+mn-lt"/>
                        </a:rPr>
                        <m:t>p</m:t>
                      </m:r>
                      <m:r>
                        <a:rPr lang="it-IT" sz="1600" b="0" i="1" smtClean="0">
                          <a:latin typeface="Cambria Math" panose="02040503050406030204" pitchFamily="18" charset="0"/>
                          <a:ea typeface="+mn-lt"/>
                          <a:cs typeface="+mn-lt"/>
                        </a:rPr>
                        <m:t>(</m:t>
                      </m:r>
                      <m:r>
                        <m:rPr>
                          <m:sty m:val="p"/>
                        </m:rPr>
                        <a:rPr lang="it-IT" sz="1600" b="0" i="1" smtClean="0">
                          <a:latin typeface="Cambria Math" panose="02040503050406030204" pitchFamily="18" charset="0"/>
                          <a:ea typeface="+mn-lt"/>
                          <a:cs typeface="+mn-lt"/>
                        </a:rPr>
                        <m:t>x</m:t>
                      </m:r>
                      <m:r>
                        <a:rPr lang="it-IT" sz="1600" b="0" i="1" smtClean="0">
                          <a:latin typeface="Cambria Math" panose="02040503050406030204" pitchFamily="18" charset="0"/>
                          <a:ea typeface="+mn-lt"/>
                          <a:cs typeface="+mn-lt"/>
                        </a:rPr>
                        <m:t>) = </m:t>
                      </m:r>
                      <m:r>
                        <a:rPr lang="it-IT" sz="1600" i="1">
                          <a:latin typeface="Cambria Math" panose="02040503050406030204" pitchFamily="18" charset="0"/>
                          <a:ea typeface="+mn-lt"/>
                          <a:cs typeface="+mn-lt"/>
                        </a:rPr>
                        <m:t>𝑝</m:t>
                      </m:r>
                      <m:d>
                        <m:dPr>
                          <m:ctrlPr>
                            <a:rPr lang="it-IT" sz="1600" i="1">
                              <a:latin typeface="Cambria Math" panose="02040503050406030204" pitchFamily="18" charset="0"/>
                              <a:ea typeface="+mn-lt"/>
                              <a:cs typeface="+mn-lt"/>
                            </a:rPr>
                          </m:ctrlPr>
                        </m:dPr>
                        <m:e>
                          <m:r>
                            <a:rPr lang="it-IT" sz="1600" i="1">
                              <a:latin typeface="Cambria Math" panose="02040503050406030204" pitchFamily="18" charset="0"/>
                              <a:ea typeface="+mn-lt"/>
                              <a:cs typeface="+mn-lt"/>
                            </a:rPr>
                            <m:t>𝑙𝑜𝑔</m:t>
                          </m:r>
                          <m:sSub>
                            <m:sSubPr>
                              <m:ctrlPr>
                                <a:rPr lang="it-IT" sz="1600" i="1">
                                  <a:latin typeface="Cambria Math" panose="02040503050406030204" pitchFamily="18" charset="0"/>
                                  <a:ea typeface="+mn-lt"/>
                                  <a:cs typeface="+mn-lt"/>
                                </a:rPr>
                              </m:ctrlPr>
                            </m:sSubPr>
                            <m:e>
                              <m:r>
                                <a:rPr lang="it-IT" sz="1600" i="1">
                                  <a:latin typeface="Cambria Math" panose="02040503050406030204" pitchFamily="18" charset="0"/>
                                  <a:ea typeface="+mn-lt"/>
                                  <a:cs typeface="+mn-lt"/>
                                </a:rPr>
                                <m:t>𝑇</m:t>
                              </m:r>
                            </m:e>
                            <m:sub>
                              <m:r>
                                <a:rPr lang="it-IT" sz="1600" i="1">
                                  <a:latin typeface="Cambria Math" panose="02040503050406030204" pitchFamily="18" charset="0"/>
                                  <a:ea typeface="+mn-lt"/>
                                  <a:cs typeface="+mn-lt"/>
                                </a:rPr>
                                <m:t>90</m:t>
                              </m:r>
                            </m:sub>
                          </m:sSub>
                        </m:e>
                      </m:d>
                      <m:r>
                        <a:rPr lang="it-IT" sz="1600" b="0" i="1" smtClean="0">
                          <a:latin typeface="Cambria Math" panose="02040503050406030204" pitchFamily="18" charset="0"/>
                          <a:ea typeface="+mn-lt"/>
                          <a:cs typeface="+mn-lt"/>
                        </a:rPr>
                        <m:t>=</m:t>
                      </m:r>
                      <m:sSub>
                        <m:sSubPr>
                          <m:ctrlPr>
                            <a:rPr lang="it-IT" sz="1600" b="0" i="1" smtClean="0">
                              <a:latin typeface="Cambria Math" panose="02040503050406030204" pitchFamily="18" charset="0"/>
                              <a:ea typeface="+mn-lt"/>
                              <a:cs typeface="+mn-lt"/>
                            </a:rPr>
                          </m:ctrlPr>
                        </m:sSubPr>
                        <m:e>
                          <m:r>
                            <a:rPr lang="it-IT" sz="1600" b="0" i="1" smtClean="0">
                              <a:latin typeface="Cambria Math" panose="02040503050406030204" pitchFamily="18" charset="0"/>
                              <a:ea typeface="+mn-lt"/>
                              <a:cs typeface="+mn-lt"/>
                            </a:rPr>
                            <m:t>𝑇</m:t>
                          </m:r>
                        </m:e>
                        <m:sub>
                          <m:r>
                            <a:rPr lang="it-IT" sz="1600" b="0" i="1" smtClean="0">
                              <a:latin typeface="Cambria Math" panose="02040503050406030204" pitchFamily="18" charset="0"/>
                              <a:ea typeface="+mn-lt"/>
                              <a:cs typeface="+mn-lt"/>
                            </a:rPr>
                            <m:t>90</m:t>
                          </m:r>
                        </m:sub>
                      </m:sSub>
                      <m:r>
                        <a:rPr lang="it-IT" sz="1600" b="0" i="1" smtClean="0">
                          <a:latin typeface="Cambria Math" panose="02040503050406030204" pitchFamily="18" charset="0"/>
                          <a:ea typeface="+mn-lt"/>
                          <a:cs typeface="+mn-lt"/>
                        </a:rPr>
                        <m:t>𝑝</m:t>
                      </m:r>
                      <m:d>
                        <m:dPr>
                          <m:ctrlPr>
                            <a:rPr lang="it-IT" sz="1600" b="0" i="1" smtClean="0">
                              <a:latin typeface="Cambria Math" panose="02040503050406030204" pitchFamily="18" charset="0"/>
                              <a:ea typeface="+mn-lt"/>
                              <a:cs typeface="+mn-lt"/>
                            </a:rPr>
                          </m:ctrlPr>
                        </m:dPr>
                        <m:e>
                          <m:sSub>
                            <m:sSubPr>
                              <m:ctrlPr>
                                <a:rPr lang="it-IT" sz="1600" b="0" i="1" smtClean="0">
                                  <a:latin typeface="Cambria Math" panose="02040503050406030204" pitchFamily="18" charset="0"/>
                                  <a:ea typeface="+mn-lt"/>
                                  <a:cs typeface="+mn-lt"/>
                                </a:rPr>
                              </m:ctrlPr>
                            </m:sSubPr>
                            <m:e>
                              <m:r>
                                <a:rPr lang="it-IT" sz="1600" b="0" i="1" smtClean="0">
                                  <a:latin typeface="Cambria Math" panose="02040503050406030204" pitchFamily="18" charset="0"/>
                                  <a:ea typeface="+mn-lt"/>
                                  <a:cs typeface="+mn-lt"/>
                                </a:rPr>
                                <m:t>𝑇</m:t>
                              </m:r>
                            </m:e>
                            <m:sub>
                              <m:r>
                                <a:rPr lang="it-IT" sz="1600" b="0" i="1" smtClean="0">
                                  <a:latin typeface="Cambria Math" panose="02040503050406030204" pitchFamily="18" charset="0"/>
                                  <a:ea typeface="+mn-lt"/>
                                  <a:cs typeface="+mn-lt"/>
                                </a:rPr>
                                <m:t>90</m:t>
                              </m:r>
                            </m:sub>
                          </m:sSub>
                        </m:e>
                      </m:d>
                    </m:oMath>
                  </m:oMathPara>
                </a14:m>
                <a:endParaRPr lang="en-US" sz="1600" dirty="0">
                  <a:ea typeface="+mn-lt"/>
                  <a:cs typeface="+mn-lt"/>
                </a:endParaRPr>
              </a:p>
            </p:txBody>
          </p:sp>
        </mc:Choice>
        <mc:Fallback>
          <p:sp>
            <p:nvSpPr>
              <p:cNvPr id="3" name="Content Placeholder 2">
                <a:extLst>
                  <a:ext uri="{FF2B5EF4-FFF2-40B4-BE49-F238E27FC236}">
                    <a16:creationId xmlns:a16="http://schemas.microsoft.com/office/drawing/2014/main" id="{BE316480-9135-4866-1086-888EBC585942}"/>
                  </a:ext>
                </a:extLst>
              </p:cNvPr>
              <p:cNvSpPr>
                <a:spLocks noGrp="1" noRot="1" noChangeAspect="1" noMove="1" noResize="1" noEditPoints="1" noAdjustHandles="1" noChangeArrowheads="1" noChangeShapeType="1" noTextEdit="1"/>
              </p:cNvSpPr>
              <p:nvPr>
                <p:ph idx="1"/>
              </p:nvPr>
            </p:nvSpPr>
            <p:spPr>
              <a:xfrm>
                <a:off x="700634" y="1777149"/>
                <a:ext cx="10691265" cy="4384754"/>
              </a:xfrm>
              <a:blipFill>
                <a:blip r:embed="rId2"/>
                <a:stretch>
                  <a:fillRect l="-513" t="-695"/>
                </a:stretch>
              </a:blipFill>
            </p:spPr>
            <p:txBody>
              <a:bodyPr/>
              <a:lstStyle/>
              <a:p>
                <a:r>
                  <a:rPr lang="it-IT">
                    <a:noFill/>
                  </a:rPr>
                  <a:t> </a:t>
                </a:r>
              </a:p>
            </p:txBody>
          </p:sp>
        </mc:Fallback>
      </mc:AlternateContent>
      <p:sp>
        <p:nvSpPr>
          <p:cNvPr id="4" name="TextBox 3">
            <a:extLst>
              <a:ext uri="{FF2B5EF4-FFF2-40B4-BE49-F238E27FC236}">
                <a16:creationId xmlns:a16="http://schemas.microsoft.com/office/drawing/2014/main" id="{16FB2987-9470-2902-E662-F9D9270425D6}"/>
              </a:ext>
            </a:extLst>
          </p:cNvPr>
          <p:cNvSpPr txBox="1"/>
          <p:nvPr/>
        </p:nvSpPr>
        <p:spPr>
          <a:xfrm>
            <a:off x="5639480" y="2971800"/>
            <a:ext cx="65" cy="276999"/>
          </a:xfrm>
          <a:prstGeom prst="rect">
            <a:avLst/>
          </a:prstGeom>
          <a:noFill/>
        </p:spPr>
        <p:txBody>
          <a:bodyPr wrap="none" lIns="0" tIns="0" rIns="0" bIns="0" rtlCol="0">
            <a:spAutoFit/>
          </a:bodyPr>
          <a:lstStyle/>
          <a:p>
            <a:endParaRPr lang="it-IT"/>
          </a:p>
        </p:txBody>
      </p:sp>
    </p:spTree>
    <p:extLst>
      <p:ext uri="{BB962C8B-B14F-4D97-AF65-F5344CB8AC3E}">
        <p14:creationId xmlns:p14="http://schemas.microsoft.com/office/powerpoint/2010/main" val="1085450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0D6F-154B-7B69-CF08-E48ADDB502A1}"/>
              </a:ext>
            </a:extLst>
          </p:cNvPr>
          <p:cNvSpPr>
            <a:spLocks noGrp="1"/>
          </p:cNvSpPr>
          <p:nvPr>
            <p:ph type="title"/>
          </p:nvPr>
        </p:nvSpPr>
        <p:spPr/>
        <p:txBody>
          <a:bodyPr/>
          <a:lstStyle/>
          <a:p>
            <a:r>
              <a:rPr lang="it-IT">
                <a:solidFill>
                  <a:srgbClr val="FF0000"/>
                </a:solidFill>
              </a:rPr>
              <a:t>Problem 1A – parameter estimation</a:t>
            </a:r>
          </a:p>
        </p:txBody>
      </p:sp>
      <p:sp>
        <p:nvSpPr>
          <p:cNvPr id="3" name="Content Placeholder 2">
            <a:extLst>
              <a:ext uri="{FF2B5EF4-FFF2-40B4-BE49-F238E27FC236}">
                <a16:creationId xmlns:a16="http://schemas.microsoft.com/office/drawing/2014/main" id="{705CBB47-36F0-933A-93DA-49E01ACB8BA0}"/>
              </a:ext>
            </a:extLst>
          </p:cNvPr>
          <p:cNvSpPr>
            <a:spLocks noGrp="1"/>
          </p:cNvSpPr>
          <p:nvPr>
            <p:ph idx="1"/>
          </p:nvPr>
        </p:nvSpPr>
        <p:spPr>
          <a:xfrm>
            <a:off x="700635" y="1653580"/>
            <a:ext cx="10691265" cy="4417705"/>
          </a:xfrm>
        </p:spPr>
        <p:txBody>
          <a:bodyPr/>
          <a:lstStyle/>
          <a:p>
            <a:r>
              <a:rPr lang="it-IT" b="1" dirty="0"/>
              <a:t>Problem 1a: </a:t>
            </a:r>
            <a:r>
              <a:rPr lang="en-US" dirty="0"/>
              <a:t>estimate the distribution parameters while ignoring measurement uncertainties.</a:t>
            </a:r>
            <a:endParaRPr lang="it-IT" b="1" dirty="0"/>
          </a:p>
        </p:txBody>
      </p:sp>
      <p:graphicFrame>
        <p:nvGraphicFramePr>
          <p:cNvPr id="6" name="Object 5">
            <a:extLst>
              <a:ext uri="{FF2B5EF4-FFF2-40B4-BE49-F238E27FC236}">
                <a16:creationId xmlns:a16="http://schemas.microsoft.com/office/drawing/2014/main" id="{446C516A-46DC-A633-115F-2C537CFD156C}"/>
              </a:ext>
            </a:extLst>
          </p:cNvPr>
          <p:cNvGraphicFramePr>
            <a:graphicFrameLocks noChangeAspect="1"/>
          </p:cNvGraphicFramePr>
          <p:nvPr>
            <p:extLst>
              <p:ext uri="{D42A27DB-BD31-4B8C-83A1-F6EECF244321}">
                <p14:modId xmlns:p14="http://schemas.microsoft.com/office/powerpoint/2010/main" val="2190628331"/>
              </p:ext>
            </p:extLst>
          </p:nvPr>
        </p:nvGraphicFramePr>
        <p:xfrm>
          <a:off x="3480071" y="2221992"/>
          <a:ext cx="5132391" cy="3849293"/>
        </p:xfrm>
        <a:graphic>
          <a:graphicData uri="http://schemas.openxmlformats.org/presentationml/2006/ole">
            <mc:AlternateContent xmlns:mc="http://schemas.openxmlformats.org/markup-compatibility/2006">
              <mc:Choice xmlns:v="urn:schemas-microsoft-com:vml" Requires="v">
                <p:oleObj name="Acrobat Document" r:id="rId2" imgW="5486400" imgH="4114800" progId="AcroExch.Document.11">
                  <p:embed/>
                </p:oleObj>
              </mc:Choice>
              <mc:Fallback>
                <p:oleObj name="Acrobat Document" r:id="rId2" imgW="5486400" imgH="4114800" progId="AcroExch.Document.11">
                  <p:embed/>
                  <p:pic>
                    <p:nvPicPr>
                      <p:cNvPr id="6" name="Object 5">
                        <a:extLst>
                          <a:ext uri="{FF2B5EF4-FFF2-40B4-BE49-F238E27FC236}">
                            <a16:creationId xmlns:a16="http://schemas.microsoft.com/office/drawing/2014/main" id="{446C516A-46DC-A633-115F-2C537CFD156C}"/>
                          </a:ext>
                        </a:extLst>
                      </p:cNvPr>
                      <p:cNvPicPr/>
                      <p:nvPr/>
                    </p:nvPicPr>
                    <p:blipFill>
                      <a:blip r:embed="rId3"/>
                      <a:stretch>
                        <a:fillRect/>
                      </a:stretch>
                    </p:blipFill>
                    <p:spPr>
                      <a:xfrm>
                        <a:off x="3480071" y="2221992"/>
                        <a:ext cx="5132391" cy="3849293"/>
                      </a:xfrm>
                      <a:prstGeom prst="rect">
                        <a:avLst/>
                      </a:prstGeom>
                    </p:spPr>
                  </p:pic>
                </p:oleObj>
              </mc:Fallback>
            </mc:AlternateContent>
          </a:graphicData>
        </a:graphic>
      </p:graphicFrame>
    </p:spTree>
    <p:extLst>
      <p:ext uri="{BB962C8B-B14F-4D97-AF65-F5344CB8AC3E}">
        <p14:creationId xmlns:p14="http://schemas.microsoft.com/office/powerpoint/2010/main" val="1820913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0E89E-9E69-173D-507C-C7FA9ACB2CA0}"/>
              </a:ext>
            </a:extLst>
          </p:cNvPr>
          <p:cNvSpPr>
            <a:spLocks noGrp="1"/>
          </p:cNvSpPr>
          <p:nvPr>
            <p:ph type="title"/>
          </p:nvPr>
        </p:nvSpPr>
        <p:spPr/>
        <p:txBody>
          <a:bodyPr/>
          <a:lstStyle/>
          <a:p>
            <a:r>
              <a:rPr lang="it-IT" dirty="0">
                <a:solidFill>
                  <a:srgbClr val="FF0000"/>
                </a:solidFill>
              </a:rPr>
              <a:t>Metropolis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953445-0580-7BD5-88D9-32C780AE330B}"/>
                  </a:ext>
                </a:extLst>
              </p:cNvPr>
              <p:cNvSpPr>
                <a:spLocks noGrp="1"/>
              </p:cNvSpPr>
              <p:nvPr>
                <p:ph idx="1"/>
              </p:nvPr>
            </p:nvSpPr>
            <p:spPr>
              <a:xfrm>
                <a:off x="700635" y="1573427"/>
                <a:ext cx="10691265" cy="4388461"/>
              </a:xfrm>
            </p:spPr>
            <p:txBody>
              <a:bodyPr/>
              <a:lstStyle/>
              <a:p>
                <a:pPr marL="0" indent="0">
                  <a:buNone/>
                </a:pPr>
                <a:r>
                  <a:rPr lang="it-IT" dirty="0"/>
                  <a:t>The goal is to draw samples from a target distribution f(x); the algorithm is:</a:t>
                </a:r>
              </a:p>
              <a:p>
                <a:r>
                  <a:rPr lang="it-IT" dirty="0"/>
                  <a:t>Choose starting state x</a:t>
                </a:r>
                <a:r>
                  <a:rPr lang="it-IT" baseline="-25000" dirty="0"/>
                  <a:t>0</a:t>
                </a:r>
                <a:r>
                  <a:rPr lang="it-IT" dirty="0"/>
                  <a:t>.</a:t>
                </a:r>
                <a:endParaRPr lang="it-IT" baseline="-25000" dirty="0"/>
              </a:p>
              <a:p>
                <a:r>
                  <a:rPr lang="it-IT" dirty="0"/>
                  <a:t>From current x</a:t>
                </a:r>
                <a:r>
                  <a:rPr lang="it-IT" baseline="-25000" dirty="0"/>
                  <a:t>0</a:t>
                </a:r>
                <a:r>
                  <a:rPr lang="it-IT" dirty="0"/>
                  <a:t> draw x’ from a symmetric proposal (for example Gaussian).</a:t>
                </a:r>
              </a:p>
              <a:p>
                <a:r>
                  <a:rPr lang="it-IT" dirty="0"/>
                  <a:t>Compute the acceptance </a:t>
                </a:r>
                <a14:m>
                  <m:oMath xmlns:m="http://schemas.openxmlformats.org/officeDocument/2006/math">
                    <m:r>
                      <a:rPr lang="it-IT" b="0" i="1" smtClean="0">
                        <a:latin typeface="Cambria Math" panose="02040503050406030204" pitchFamily="18" charset="0"/>
                      </a:rPr>
                      <m:t>𝑎</m:t>
                    </m:r>
                    <m:r>
                      <a:rPr lang="it-IT" b="0" i="1" smtClean="0">
                        <a:latin typeface="Cambria Math" panose="02040503050406030204" pitchFamily="18" charset="0"/>
                      </a:rPr>
                      <m:t>=</m:t>
                    </m:r>
                    <m:r>
                      <a:rPr lang="it-IT" b="0" i="1" smtClean="0">
                        <a:latin typeface="Cambria Math" panose="02040503050406030204" pitchFamily="18" charset="0"/>
                      </a:rPr>
                      <m:t>𝑚𝑖𝑛</m:t>
                    </m:r>
                    <m:d>
                      <m:dPr>
                        <m:ctrlPr>
                          <a:rPr lang="it-IT" b="0" i="1" smtClean="0">
                            <a:latin typeface="Cambria Math" panose="02040503050406030204" pitchFamily="18" charset="0"/>
                          </a:rPr>
                        </m:ctrlPr>
                      </m:dPr>
                      <m:e>
                        <m:r>
                          <a:rPr lang="it-IT" b="0" i="1" smtClean="0">
                            <a:latin typeface="Cambria Math" panose="02040503050406030204" pitchFamily="18" charset="0"/>
                          </a:rPr>
                          <m:t>1,</m:t>
                        </m:r>
                        <m:f>
                          <m:fPr>
                            <m:ctrlPr>
                              <a:rPr lang="it-IT" b="0" i="1" smtClean="0">
                                <a:latin typeface="Cambria Math" panose="02040503050406030204" pitchFamily="18" charset="0"/>
                              </a:rPr>
                            </m:ctrlPr>
                          </m:fPr>
                          <m:num>
                            <m:r>
                              <a:rPr lang="it-IT" b="0" i="1" smtClean="0">
                                <a:latin typeface="Cambria Math" panose="02040503050406030204" pitchFamily="18" charset="0"/>
                              </a:rPr>
                              <m:t>𝑓</m:t>
                            </m:r>
                            <m:d>
                              <m:dPr>
                                <m:ctrlPr>
                                  <a:rPr lang="it-IT" b="0" i="1" smtClean="0">
                                    <a:latin typeface="Cambria Math" panose="02040503050406030204" pitchFamily="18" charset="0"/>
                                  </a:rPr>
                                </m:ctrlPr>
                              </m:dPr>
                              <m:e>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m:t>
                                    </m:r>
                                  </m:sup>
                                </m:sSup>
                              </m:e>
                            </m:d>
                          </m:num>
                          <m:den>
                            <m:r>
                              <a:rPr lang="it-IT" b="0" i="1" smtClean="0">
                                <a:latin typeface="Cambria Math" panose="02040503050406030204" pitchFamily="18" charset="0"/>
                              </a:rPr>
                              <m:t>𝑓</m:t>
                            </m:r>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0</m:t>
                                    </m:r>
                                  </m:sub>
                                </m:sSub>
                              </m:e>
                            </m:d>
                          </m:den>
                        </m:f>
                      </m:e>
                    </m:d>
                  </m:oMath>
                </a14:m>
                <a:r>
                  <a:rPr lang="it-IT" dirty="0"/>
                  <a:t>. </a:t>
                </a:r>
              </a:p>
              <a:p>
                <a:r>
                  <a:rPr lang="it-IT" dirty="0"/>
                  <a:t>With probability </a:t>
                </a:r>
                <a:r>
                  <a:rPr lang="it-IT" i="1" dirty="0"/>
                  <a:t>a</a:t>
                </a:r>
                <a:r>
                  <a:rPr lang="it-IT" dirty="0"/>
                  <a:t> set x</a:t>
                </a:r>
                <a:r>
                  <a:rPr lang="it-IT" baseline="-25000" dirty="0"/>
                  <a:t>1</a:t>
                </a:r>
                <a:r>
                  <a:rPr lang="it-IT" dirty="0"/>
                  <a:t> = x’, otherwise x</a:t>
                </a:r>
                <a:r>
                  <a:rPr lang="it-IT" baseline="-25000" dirty="0"/>
                  <a:t>1</a:t>
                </a:r>
                <a:r>
                  <a:rPr lang="it-IT" dirty="0"/>
                  <a:t> = </a:t>
                </a:r>
                <a:r>
                  <a:rPr lang="it-IT" baseline="-25000" dirty="0"/>
                  <a:t> </a:t>
                </a:r>
                <a:r>
                  <a:rPr lang="it-IT" dirty="0"/>
                  <a:t>x</a:t>
                </a:r>
                <a:r>
                  <a:rPr lang="it-IT" baseline="-25000" dirty="0"/>
                  <a:t>0</a:t>
                </a:r>
                <a:r>
                  <a:rPr lang="it-IT" dirty="0"/>
                  <a:t>.</a:t>
                </a:r>
                <a:endParaRPr lang="it-IT" baseline="-25000" dirty="0"/>
              </a:p>
              <a:p>
                <a:r>
                  <a:rPr lang="it-IT" dirty="0"/>
                  <a:t>Repeat points 2-4 to build a </a:t>
                </a:r>
                <a:r>
                  <a:rPr lang="it-IT" b="1" dirty="0"/>
                  <a:t>Markov chain </a:t>
                </a:r>
                <a:r>
                  <a:rPr lang="it-IT" dirty="0"/>
                  <a:t>whose </a:t>
                </a:r>
                <a:r>
                  <a:rPr lang="it-IT" b="1" dirty="0"/>
                  <a:t>stationary distribution </a:t>
                </a:r>
                <a:r>
                  <a:rPr lang="it-IT" dirty="0"/>
                  <a:t>is f(x).</a:t>
                </a:r>
              </a:p>
            </p:txBody>
          </p:sp>
        </mc:Choice>
        <mc:Fallback xmlns="">
          <p:sp>
            <p:nvSpPr>
              <p:cNvPr id="3" name="Content Placeholder 2">
                <a:extLst>
                  <a:ext uri="{FF2B5EF4-FFF2-40B4-BE49-F238E27FC236}">
                    <a16:creationId xmlns:a16="http://schemas.microsoft.com/office/drawing/2014/main" id="{53953445-0580-7BD5-88D9-32C780AE330B}"/>
                  </a:ext>
                </a:extLst>
              </p:cNvPr>
              <p:cNvSpPr>
                <a:spLocks noGrp="1" noRot="1" noChangeAspect="1" noMove="1" noResize="1" noEditPoints="1" noAdjustHandles="1" noChangeArrowheads="1" noChangeShapeType="1" noTextEdit="1"/>
              </p:cNvSpPr>
              <p:nvPr>
                <p:ph idx="1"/>
              </p:nvPr>
            </p:nvSpPr>
            <p:spPr>
              <a:xfrm>
                <a:off x="700635" y="1573427"/>
                <a:ext cx="10691265" cy="4388461"/>
              </a:xfrm>
              <a:blipFill>
                <a:blip r:embed="rId3"/>
                <a:stretch>
                  <a:fillRect l="-627" t="-556"/>
                </a:stretch>
              </a:blipFill>
            </p:spPr>
            <p:txBody>
              <a:bodyPr/>
              <a:lstStyle/>
              <a:p>
                <a:r>
                  <a:rPr lang="it-IT">
                    <a:noFill/>
                  </a:rPr>
                  <a:t> </a:t>
                </a:r>
              </a:p>
            </p:txBody>
          </p:sp>
        </mc:Fallback>
      </mc:AlternateContent>
      <p:cxnSp>
        <p:nvCxnSpPr>
          <p:cNvPr id="5" name="Straight Arrow Connector 4">
            <a:extLst>
              <a:ext uri="{FF2B5EF4-FFF2-40B4-BE49-F238E27FC236}">
                <a16:creationId xmlns:a16="http://schemas.microsoft.com/office/drawing/2014/main" id="{B06B9750-4771-6E60-ADF2-18157B944EDB}"/>
              </a:ext>
            </a:extLst>
          </p:cNvPr>
          <p:cNvCxnSpPr/>
          <p:nvPr/>
        </p:nvCxnSpPr>
        <p:spPr>
          <a:xfrm flipH="1">
            <a:off x="3624649" y="4487471"/>
            <a:ext cx="1194486" cy="387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3741BCF-692D-AE26-B1CE-681104C9919C}"/>
              </a:ext>
            </a:extLst>
          </p:cNvPr>
          <p:cNvSpPr txBox="1"/>
          <p:nvPr/>
        </p:nvSpPr>
        <p:spPr>
          <a:xfrm>
            <a:off x="1151720" y="4901514"/>
            <a:ext cx="4286751" cy="646331"/>
          </a:xfrm>
          <a:prstGeom prst="rect">
            <a:avLst/>
          </a:prstGeom>
          <a:noFill/>
        </p:spPr>
        <p:txBody>
          <a:bodyPr wrap="none" rtlCol="0">
            <a:spAutoFit/>
          </a:bodyPr>
          <a:lstStyle/>
          <a:p>
            <a:r>
              <a:rPr lang="it-IT"/>
              <a:t>Sequence of random states where each </a:t>
            </a:r>
          </a:p>
          <a:p>
            <a:r>
              <a:rPr lang="it-IT"/>
              <a:t>new state depends only on the current one</a:t>
            </a:r>
          </a:p>
        </p:txBody>
      </p:sp>
      <p:cxnSp>
        <p:nvCxnSpPr>
          <p:cNvPr id="9" name="Straight Arrow Connector 8">
            <a:extLst>
              <a:ext uri="{FF2B5EF4-FFF2-40B4-BE49-F238E27FC236}">
                <a16:creationId xmlns:a16="http://schemas.microsoft.com/office/drawing/2014/main" id="{5A8B4929-B043-8524-FA5E-E5AE273B893B}"/>
              </a:ext>
            </a:extLst>
          </p:cNvPr>
          <p:cNvCxnSpPr>
            <a:cxnSpLocks/>
          </p:cNvCxnSpPr>
          <p:nvPr/>
        </p:nvCxnSpPr>
        <p:spPr>
          <a:xfrm>
            <a:off x="7458847" y="4487471"/>
            <a:ext cx="1194486" cy="387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EB18E51-9500-1A36-3A36-468A078D7DF9}"/>
              </a:ext>
            </a:extLst>
          </p:cNvPr>
          <p:cNvSpPr txBox="1"/>
          <p:nvPr/>
        </p:nvSpPr>
        <p:spPr>
          <a:xfrm>
            <a:off x="6144453" y="4901514"/>
            <a:ext cx="4895827" cy="646331"/>
          </a:xfrm>
          <a:prstGeom prst="rect">
            <a:avLst/>
          </a:prstGeom>
          <a:noFill/>
        </p:spPr>
        <p:txBody>
          <a:bodyPr wrap="none" rtlCol="0">
            <a:spAutoFit/>
          </a:bodyPr>
          <a:lstStyle/>
          <a:p>
            <a:r>
              <a:rPr lang="it-IT"/>
              <a:t>Probability distribution that remains unchanged </a:t>
            </a:r>
          </a:p>
          <a:p>
            <a:r>
              <a:rPr lang="it-IT"/>
              <a:t>as the chain evolves (after burnin)</a:t>
            </a:r>
          </a:p>
        </p:txBody>
      </p:sp>
    </p:spTree>
    <p:extLst>
      <p:ext uri="{BB962C8B-B14F-4D97-AF65-F5344CB8AC3E}">
        <p14:creationId xmlns:p14="http://schemas.microsoft.com/office/powerpoint/2010/main" val="4266389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436A4-2DB5-DEA6-271F-121CB0F68E10}"/>
              </a:ext>
            </a:extLst>
          </p:cNvPr>
          <p:cNvSpPr>
            <a:spLocks noGrp="1"/>
          </p:cNvSpPr>
          <p:nvPr>
            <p:ph type="title"/>
          </p:nvPr>
        </p:nvSpPr>
        <p:spPr>
          <a:xfrm>
            <a:off x="700635" y="914400"/>
            <a:ext cx="10691265" cy="1307592"/>
          </a:xfrm>
        </p:spPr>
        <p:txBody>
          <a:bodyPr/>
          <a:lstStyle/>
          <a:p>
            <a:r>
              <a:rPr lang="it-IT">
                <a:solidFill>
                  <a:srgbClr val="FF0000"/>
                </a:solidFill>
              </a:rPr>
              <a:t>Bayes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0D1157-1A88-5DAB-CDF1-24B47F42F0D0}"/>
                  </a:ext>
                </a:extLst>
              </p:cNvPr>
              <p:cNvSpPr>
                <a:spLocks noGrp="1"/>
              </p:cNvSpPr>
              <p:nvPr>
                <p:ph idx="1"/>
              </p:nvPr>
            </p:nvSpPr>
            <p:spPr>
              <a:xfrm>
                <a:off x="700635" y="1565189"/>
                <a:ext cx="10691265" cy="4396699"/>
              </a:xfrm>
            </p:spPr>
            <p:txBody>
              <a:bodyPr/>
              <a:lstStyle/>
              <a:p>
                <a14:m>
                  <m:oMath xmlns:m="http://schemas.openxmlformats.org/officeDocument/2006/math">
                    <m:r>
                      <a:rPr lang="it-IT" b="0" i="1" smtClean="0">
                        <a:latin typeface="Cambria Math" panose="02040503050406030204" pitchFamily="18" charset="0"/>
                      </a:rPr>
                      <m:t>𝒙</m:t>
                    </m:r>
                    <m:r>
                      <a:rPr lang="it-IT" b="0" i="1" smtClean="0">
                        <a:latin typeface="Cambria Math" panose="02040503050406030204" pitchFamily="18" charset="0"/>
                      </a:rPr>
                      <m:t>={</m:t>
                    </m:r>
                    <m:r>
                      <a:rPr lang="it-IT" b="0" i="1" smtClean="0">
                        <a:latin typeface="Cambria Math" panose="02040503050406030204" pitchFamily="18" charset="0"/>
                      </a:rPr>
                      <m:t>𝑙𝑜𝑔</m:t>
                    </m:r>
                    <m:sSubSup>
                      <m:sSubSupPr>
                        <m:ctrlPr>
                          <a:rPr lang="it-IT" b="0" i="1" smtClean="0">
                            <a:latin typeface="Cambria Math" panose="02040503050406030204" pitchFamily="18" charset="0"/>
                          </a:rPr>
                        </m:ctrlPr>
                      </m:sSubSup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𝑇</m:t>
                            </m:r>
                          </m:e>
                          <m:sub>
                            <m:sSub>
                              <m:sSubPr>
                                <m:ctrlPr>
                                  <a:rPr lang="it-IT" b="0" i="1" smtClean="0">
                                    <a:latin typeface="Cambria Math" panose="02040503050406030204" pitchFamily="18" charset="0"/>
                                  </a:rPr>
                                </m:ctrlPr>
                              </m:sSubPr>
                              <m:e>
                                <m:r>
                                  <a:rPr lang="it-IT" b="0" i="1" smtClean="0">
                                    <a:latin typeface="Cambria Math" panose="02040503050406030204" pitchFamily="18" charset="0"/>
                                  </a:rPr>
                                  <m:t>90</m:t>
                                </m:r>
                              </m:e>
                              <m:sub>
                                <m:r>
                                  <a:rPr lang="it-IT" b="0" i="1" smtClean="0">
                                    <a:latin typeface="Cambria Math" panose="02040503050406030204" pitchFamily="18" charset="0"/>
                                  </a:rPr>
                                  <m:t>𝑖</m:t>
                                </m:r>
                              </m:sub>
                            </m:sSub>
                          </m:sub>
                        </m:sSub>
                        <m:r>
                          <a:rPr lang="it-IT" b="0" i="1" smtClean="0">
                            <a:latin typeface="Cambria Math" panose="02040503050406030204" pitchFamily="18" charset="0"/>
                          </a:rPr>
                          <m:t>}</m:t>
                        </m:r>
                      </m:e>
                      <m:sub>
                        <m:r>
                          <a:rPr lang="it-IT" b="0" i="1" smtClean="0">
                            <a:latin typeface="Cambria Math" panose="02040503050406030204" pitchFamily="18" charset="0"/>
                          </a:rPr>
                          <m:t>𝑖</m:t>
                        </m:r>
                        <m:r>
                          <a:rPr lang="it-IT" b="0" i="1" smtClean="0">
                            <a:latin typeface="Cambria Math" panose="02040503050406030204" pitchFamily="18" charset="0"/>
                          </a:rPr>
                          <m:t>=</m:t>
                        </m:r>
                        <m:r>
                          <a:rPr lang="it-IT" b="0" i="1" smtClean="0">
                            <a:latin typeface="Cambria Math" panose="02040503050406030204" pitchFamily="18" charset="0"/>
                          </a:rPr>
                          <m:t>1</m:t>
                        </m:r>
                      </m:sub>
                      <m:sup>
                        <m:r>
                          <a:rPr lang="it-IT" b="0" i="1" smtClean="0">
                            <a:latin typeface="Cambria Math" panose="02040503050406030204" pitchFamily="18" charset="0"/>
                          </a:rPr>
                          <m:t>𝑁</m:t>
                        </m:r>
                      </m:sup>
                    </m:sSubSup>
                  </m:oMath>
                </a14:m>
                <a:endParaRPr lang="it-IT" dirty="0"/>
              </a:p>
              <a:p>
                <a14:m>
                  <m:oMath xmlns:m="http://schemas.openxmlformats.org/officeDocument/2006/math">
                    <m:r>
                      <a:rPr lang="it-IT" b="0" i="1" smtClean="0">
                        <a:latin typeface="Cambria Math" panose="02040503050406030204" pitchFamily="18" charset="0"/>
                      </a:rPr>
                      <m:t>𝜽</m:t>
                    </m:r>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𝑤</m:t>
                        </m:r>
                      </m:e>
                      <m:sub>
                        <m:r>
                          <a:rPr lang="it-IT" b="0" i="1" smtClean="0">
                            <a:latin typeface="Cambria Math" panose="02040503050406030204" pitchFamily="18" charset="0"/>
                          </a:rPr>
                          <m:t>1</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1</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𝛿</m:t>
                        </m:r>
                      </m:e>
                      <m:sub>
                        <m:r>
                          <a:rPr lang="it-IT" b="0" i="1" smtClean="0">
                            <a:latin typeface="Cambria Math" panose="02040503050406030204" pitchFamily="18" charset="0"/>
                          </a:rPr>
                          <m:t>12</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1</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2</m:t>
                        </m:r>
                      </m:sub>
                    </m:sSub>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i="1">
                            <a:latin typeface="Cambria Math" panose="02040503050406030204" pitchFamily="18" charset="0"/>
                          </a:rPr>
                          <m:t>𝛿</m:t>
                        </m:r>
                      </m:e>
                      <m:sub>
                        <m:r>
                          <a:rPr lang="it-IT" i="1">
                            <a:latin typeface="Cambria Math" panose="02040503050406030204" pitchFamily="18" charset="0"/>
                          </a:rPr>
                          <m:t>12</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2</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1</m:t>
                        </m:r>
                      </m:sub>
                    </m:sSub>
                  </m:oMath>
                </a14:m>
                <a:endParaRPr lang="it-IT" dirty="0"/>
              </a:p>
              <a:p>
                <a:r>
                  <a:rPr lang="it-IT" dirty="0"/>
                  <a:t>I  = background information (the term will be omitted in later equations for simplicity)</a:t>
                </a:r>
              </a:p>
              <a:p>
                <a:pPr marL="0" indent="0">
                  <a:buNone/>
                </a:pPr>
                <a:endParaRPr lang="it-IT" dirty="0"/>
              </a:p>
              <a:p>
                <a:pPr marL="0" indent="0">
                  <a:buNone/>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𝑝</m:t>
                      </m:r>
                      <m:d>
                        <m:dPr>
                          <m:ctrlPr>
                            <a:rPr lang="it-IT" i="1">
                              <a:latin typeface="Cambria Math" panose="02040503050406030204" pitchFamily="18" charset="0"/>
                            </a:rPr>
                          </m:ctrlPr>
                        </m:dPr>
                        <m:e>
                          <m:r>
                            <a:rPr lang="it-IT" i="1">
                              <a:latin typeface="Cambria Math" panose="02040503050406030204" pitchFamily="18" charset="0"/>
                            </a:rPr>
                            <m:t>𝜽</m:t>
                          </m:r>
                        </m:e>
                        <m:e>
                          <m:r>
                            <a:rPr lang="it-IT" i="1">
                              <a:latin typeface="Cambria Math" panose="02040503050406030204" pitchFamily="18" charset="0"/>
                            </a:rPr>
                            <m:t>𝒙</m:t>
                          </m:r>
                          <m:r>
                            <a:rPr lang="it-IT" b="0" i="1" smtClean="0">
                              <a:latin typeface="Cambria Math" panose="02040503050406030204" pitchFamily="18" charset="0"/>
                            </a:rPr>
                            <m:t>,</m:t>
                          </m:r>
                          <m:r>
                            <a:rPr lang="it-IT" i="1">
                              <a:latin typeface="Cambria Math" panose="02040503050406030204" pitchFamily="18" charset="0"/>
                            </a:rPr>
                            <m:t>𝐼</m:t>
                          </m:r>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𝑝</m:t>
                          </m:r>
                          <m:d>
                            <m:dPr>
                              <m:ctrlPr>
                                <a:rPr lang="it-IT" i="1">
                                  <a:latin typeface="Cambria Math" panose="02040503050406030204" pitchFamily="18" charset="0"/>
                                </a:rPr>
                              </m:ctrlPr>
                            </m:dPr>
                            <m:e>
                              <m:r>
                                <a:rPr lang="it-IT" i="1">
                                  <a:latin typeface="Cambria Math" panose="02040503050406030204" pitchFamily="18" charset="0"/>
                                </a:rPr>
                                <m:t>𝒙</m:t>
                              </m:r>
                            </m:e>
                            <m:e>
                              <m:r>
                                <a:rPr lang="it-IT" i="1">
                                  <a:latin typeface="Cambria Math" panose="02040503050406030204" pitchFamily="18" charset="0"/>
                                </a:rPr>
                                <m:t>𝜽</m:t>
                              </m:r>
                              <m:r>
                                <a:rPr lang="it-IT" b="0" i="1" smtClean="0">
                                  <a:latin typeface="Cambria Math" panose="02040503050406030204" pitchFamily="18" charset="0"/>
                                </a:rPr>
                                <m:t>,</m:t>
                              </m:r>
                              <m:r>
                                <a:rPr lang="it-IT" i="1">
                                  <a:latin typeface="Cambria Math" panose="02040503050406030204" pitchFamily="18" charset="0"/>
                                </a:rPr>
                                <m:t>𝐼</m:t>
                              </m:r>
                            </m:e>
                          </m:d>
                          <m:r>
                            <a:rPr lang="it-IT" i="1">
                              <a:latin typeface="Cambria Math" panose="02040503050406030204" pitchFamily="18" charset="0"/>
                            </a:rPr>
                            <m:t>𝑝</m:t>
                          </m:r>
                          <m:d>
                            <m:dPr>
                              <m:ctrlPr>
                                <a:rPr lang="it-IT" i="1">
                                  <a:latin typeface="Cambria Math" panose="02040503050406030204" pitchFamily="18" charset="0"/>
                                </a:rPr>
                              </m:ctrlPr>
                            </m:dPr>
                            <m:e>
                              <m:r>
                                <a:rPr lang="it-IT" i="1">
                                  <a:latin typeface="Cambria Math" panose="02040503050406030204" pitchFamily="18" charset="0"/>
                                </a:rPr>
                                <m:t>𝜽</m:t>
                              </m:r>
                            </m:e>
                            <m:e>
                              <m:r>
                                <a:rPr lang="it-IT" i="1">
                                  <a:latin typeface="Cambria Math" panose="02040503050406030204" pitchFamily="18" charset="0"/>
                                </a:rPr>
                                <m:t>𝐼</m:t>
                              </m:r>
                            </m:e>
                          </m:d>
                        </m:num>
                        <m:den>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𝒙</m:t>
                              </m:r>
                            </m:e>
                            <m:e>
                              <m:r>
                                <a:rPr lang="it-IT" b="0" i="1" smtClean="0">
                                  <a:latin typeface="Cambria Math" panose="02040503050406030204" pitchFamily="18" charset="0"/>
                                </a:rPr>
                                <m:t>𝐼</m:t>
                              </m:r>
                            </m:e>
                          </m:d>
                        </m:den>
                      </m:f>
                      <m:r>
                        <a:rPr lang="it-IT" b="0" i="1" smtClean="0">
                          <a:latin typeface="Cambria Math" panose="02040503050406030204" pitchFamily="18" charset="0"/>
                        </a:rPr>
                        <m:t>∝</m:t>
                      </m:r>
                      <m:r>
                        <m:rPr>
                          <m:sty m:val="p"/>
                        </m:rPr>
                        <a:rPr lang="it-IT" b="0" i="1" smtClean="0">
                          <a:latin typeface="Cambria Math" panose="02040503050406030204" pitchFamily="18" charset="0"/>
                        </a:rPr>
                        <m:t>p</m:t>
                      </m:r>
                      <m:d>
                        <m:dPr>
                          <m:ctrlPr>
                            <a:rPr lang="it-IT" b="0" i="1" smtClean="0">
                              <a:latin typeface="Cambria Math" panose="02040503050406030204" pitchFamily="18" charset="0"/>
                            </a:rPr>
                          </m:ctrlPr>
                        </m:dPr>
                        <m:e>
                          <m:r>
                            <a:rPr lang="it-IT" b="0" i="1" smtClean="0">
                              <a:latin typeface="Cambria Math" panose="02040503050406030204" pitchFamily="18" charset="0"/>
                            </a:rPr>
                            <m:t>𝜽</m:t>
                          </m:r>
                        </m:e>
                        <m:e>
                          <m:r>
                            <a:rPr lang="it-IT" b="0" i="1" smtClean="0">
                              <a:latin typeface="Cambria Math" panose="02040503050406030204" pitchFamily="18" charset="0"/>
                            </a:rPr>
                            <m:t>𝐼</m:t>
                          </m:r>
                        </m:e>
                      </m:d>
                      <m:nary>
                        <m:naryPr>
                          <m:chr m:val="∏"/>
                          <m:ctrlPr>
                            <a:rPr lang="it-IT" b="0" i="1" smtClean="0">
                              <a:latin typeface="Cambria Math" panose="02040503050406030204" pitchFamily="18" charset="0"/>
                            </a:rPr>
                          </m:ctrlPr>
                        </m:naryPr>
                        <m:sub>
                          <m:r>
                            <a:rPr lang="it-IT" b="0" i="1" smtClean="0">
                              <a:latin typeface="Cambria Math" panose="02040503050406030204" pitchFamily="18" charset="0"/>
                            </a:rPr>
                            <m:t>𝑖</m:t>
                          </m:r>
                          <m:r>
                            <a:rPr lang="it-IT" b="0" i="1" smtClean="0">
                              <a:latin typeface="Cambria Math" panose="02040503050406030204" pitchFamily="18" charset="0"/>
                            </a:rPr>
                            <m:t>=</m:t>
                          </m:r>
                          <m:r>
                            <a:rPr lang="it-IT" b="0" i="1" smtClean="0">
                              <a:latin typeface="Cambria Math" panose="02040503050406030204" pitchFamily="18" charset="0"/>
                            </a:rPr>
                            <m:t>1</m:t>
                          </m:r>
                        </m:sub>
                        <m:sup>
                          <m:r>
                            <a:rPr lang="it-IT" b="0" i="1" smtClean="0">
                              <a:latin typeface="Cambria Math" panose="02040503050406030204" pitchFamily="18" charset="0"/>
                            </a:rPr>
                            <m:t>𝑁</m:t>
                          </m:r>
                        </m:sup>
                        <m:e>
                          <m:r>
                            <a:rPr lang="it-IT" b="0" i="1" smtClean="0">
                              <a:latin typeface="Cambria Math" panose="02040503050406030204" pitchFamily="18" charset="0"/>
                            </a:rPr>
                            <m:t>𝑝</m:t>
                          </m:r>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𝑖</m:t>
                                  </m:r>
                                </m:sub>
                              </m:sSub>
                              <m:r>
                                <a:rPr lang="it-IT" b="0" i="1" smtClean="0">
                                  <a:latin typeface="Cambria Math" panose="02040503050406030204" pitchFamily="18" charset="0"/>
                                </a:rPr>
                                <m:t>|</m:t>
                              </m:r>
                              <m:r>
                                <a:rPr lang="it-IT" b="0" i="1" smtClean="0">
                                  <a:latin typeface="Cambria Math" panose="02040503050406030204" pitchFamily="18" charset="0"/>
                                </a:rPr>
                                <m:t>𝜽</m:t>
                              </m:r>
                              <m:r>
                                <a:rPr lang="it-IT" b="0" i="1" smtClean="0">
                                  <a:latin typeface="Cambria Math" panose="02040503050406030204" pitchFamily="18" charset="0"/>
                                </a:rPr>
                                <m:t>,</m:t>
                              </m:r>
                              <m:r>
                                <a:rPr lang="it-IT" b="0" i="1" smtClean="0">
                                  <a:latin typeface="Cambria Math" panose="02040503050406030204" pitchFamily="18" charset="0"/>
                                </a:rPr>
                                <m:t>𝐼</m:t>
                              </m:r>
                            </m:e>
                          </m:d>
                        </m:e>
                      </m:nary>
                    </m:oMath>
                  </m:oMathPara>
                </a14:m>
                <a:endParaRPr lang="it-IT" dirty="0"/>
              </a:p>
              <a:p>
                <a:pPr marL="0" indent="0">
                  <a:buNone/>
                </a:pPr>
                <a:endParaRPr lang="it-IT" dirty="0"/>
              </a:p>
              <a:p>
                <a:r>
                  <a:rPr lang="it-IT" dirty="0"/>
                  <a:t>Data x</a:t>
                </a:r>
                <a:r>
                  <a:rPr lang="it-IT" baseline="-25000" dirty="0"/>
                  <a:t>i</a:t>
                </a:r>
                <a:r>
                  <a:rPr lang="it-IT" dirty="0"/>
                  <a:t> are assumed independent, and each </a:t>
                </a:r>
                <a14:m>
                  <m:oMath xmlns:m="http://schemas.openxmlformats.org/officeDocument/2006/math">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𝜽</m:t>
                        </m:r>
                        <m:r>
                          <a:rPr lang="it-IT" i="1">
                            <a:latin typeface="Cambria Math" panose="02040503050406030204" pitchFamily="18" charset="0"/>
                          </a:rPr>
                          <m:t>,</m:t>
                        </m:r>
                        <m:r>
                          <a:rPr lang="it-IT" i="1">
                            <a:latin typeface="Cambria Math" panose="02040503050406030204" pitchFamily="18" charset="0"/>
                          </a:rPr>
                          <m:t>𝐼</m:t>
                        </m:r>
                      </m:e>
                    </m:d>
                    <m:r>
                      <a:rPr lang="it-IT" i="1">
                        <a:latin typeface="Cambria Math" panose="02040503050406030204" pitchFamily="18" charset="0"/>
                      </a:rPr>
                      <m:t> </m:t>
                    </m:r>
                  </m:oMath>
                </a14:m>
                <a:r>
                  <a:rPr lang="it-IT" dirty="0"/>
                  <a:t>is a mixture of two Gaussian components</a:t>
                </a:r>
              </a:p>
              <a:p>
                <a14:m>
                  <m:oMath xmlns:m="http://schemas.openxmlformats.org/officeDocument/2006/math">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𝜽</m:t>
                        </m:r>
                      </m:e>
                      <m:e>
                        <m:r>
                          <a:rPr lang="it-IT" b="0" i="1" smtClean="0">
                            <a:latin typeface="Cambria Math" panose="02040503050406030204" pitchFamily="18" charset="0"/>
                          </a:rPr>
                          <m:t>𝐼</m:t>
                        </m:r>
                      </m:e>
                    </m:d>
                    <m:r>
                      <a:rPr lang="it-IT" b="0" i="1" smtClean="0">
                        <a:latin typeface="Cambria Math" panose="02040503050406030204" pitchFamily="18" charset="0"/>
                      </a:rPr>
                      <m:t>=</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𝑤</m:t>
                            </m:r>
                          </m:e>
                          <m:sub>
                            <m:r>
                              <a:rPr lang="it-IT" i="1">
                                <a:latin typeface="Cambria Math" panose="02040503050406030204" pitchFamily="18" charset="0"/>
                              </a:rPr>
                              <m:t>1</m:t>
                            </m:r>
                          </m:sub>
                        </m:sSub>
                      </m:e>
                    </m:d>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1</m:t>
                            </m:r>
                          </m:sub>
                        </m:sSub>
                      </m:e>
                    </m:d>
                    <m:r>
                      <a:rPr lang="it-IT" i="1">
                        <a:latin typeface="Cambria Math" panose="02040503050406030204" pitchFamily="18" charset="0"/>
                      </a:rPr>
                      <m:t>𝑝</m:t>
                    </m:r>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𝛿</m:t>
                            </m:r>
                          </m:e>
                          <m:sub>
                            <m:r>
                              <a:rPr lang="it-IT" b="0" i="1" smtClean="0">
                                <a:latin typeface="Cambria Math" panose="02040503050406030204" pitchFamily="18" charset="0"/>
                              </a:rPr>
                              <m:t>12</m:t>
                            </m:r>
                          </m:sub>
                        </m:sSub>
                      </m:e>
                    </m:d>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𝜎</m:t>
                            </m:r>
                          </m:e>
                          <m:sub>
                            <m:r>
                              <a:rPr lang="it-IT" i="1">
                                <a:latin typeface="Cambria Math" panose="02040503050406030204" pitchFamily="18" charset="0"/>
                              </a:rPr>
                              <m:t>1</m:t>
                            </m:r>
                          </m:sub>
                        </m:sSub>
                      </m:e>
                    </m:d>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𝜎</m:t>
                            </m:r>
                          </m:e>
                          <m:sub>
                            <m:r>
                              <a:rPr lang="it-IT" i="1">
                                <a:latin typeface="Cambria Math" panose="02040503050406030204" pitchFamily="18" charset="0"/>
                              </a:rPr>
                              <m:t>2</m:t>
                            </m:r>
                          </m:sub>
                        </m:sSub>
                      </m:e>
                    </m:d>
                  </m:oMath>
                </a14:m>
                <a:endParaRPr lang="it-IT" dirty="0"/>
              </a:p>
            </p:txBody>
          </p:sp>
        </mc:Choice>
        <mc:Fallback xmlns="">
          <p:sp>
            <p:nvSpPr>
              <p:cNvPr id="3" name="Content Placeholder 2">
                <a:extLst>
                  <a:ext uri="{FF2B5EF4-FFF2-40B4-BE49-F238E27FC236}">
                    <a16:creationId xmlns:a16="http://schemas.microsoft.com/office/drawing/2014/main" id="{660D1157-1A88-5DAB-CDF1-24B47F42F0D0}"/>
                  </a:ext>
                </a:extLst>
              </p:cNvPr>
              <p:cNvSpPr>
                <a:spLocks noGrp="1" noRot="1" noChangeAspect="1" noMove="1" noResize="1" noEditPoints="1" noAdjustHandles="1" noChangeArrowheads="1" noChangeShapeType="1" noTextEdit="1"/>
              </p:cNvSpPr>
              <p:nvPr>
                <p:ph idx="1"/>
              </p:nvPr>
            </p:nvSpPr>
            <p:spPr>
              <a:xfrm>
                <a:off x="700635" y="1565189"/>
                <a:ext cx="10691265" cy="4396699"/>
              </a:xfrm>
              <a:blipFill>
                <a:blip r:embed="rId2"/>
                <a:stretch>
                  <a:fillRect l="-513" r="-570"/>
                </a:stretch>
              </a:blipFill>
            </p:spPr>
            <p:txBody>
              <a:bodyPr/>
              <a:lstStyle/>
              <a:p>
                <a:r>
                  <a:rPr lang="it-IT">
                    <a:noFill/>
                  </a:rPr>
                  <a:t> </a:t>
                </a:r>
              </a:p>
            </p:txBody>
          </p:sp>
        </mc:Fallback>
      </mc:AlternateContent>
    </p:spTree>
    <p:extLst>
      <p:ext uri="{BB962C8B-B14F-4D97-AF65-F5344CB8AC3E}">
        <p14:creationId xmlns:p14="http://schemas.microsoft.com/office/powerpoint/2010/main" val="1865707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8069-1822-BAA2-F656-F7BC9AC7882D}"/>
              </a:ext>
            </a:extLst>
          </p:cNvPr>
          <p:cNvSpPr>
            <a:spLocks noGrp="1"/>
          </p:cNvSpPr>
          <p:nvPr>
            <p:ph type="title"/>
          </p:nvPr>
        </p:nvSpPr>
        <p:spPr>
          <a:xfrm>
            <a:off x="700635" y="914400"/>
            <a:ext cx="10691265" cy="1307592"/>
          </a:xfrm>
        </p:spPr>
        <p:txBody>
          <a:bodyPr/>
          <a:lstStyle/>
          <a:p>
            <a:r>
              <a:rPr lang="it-IT">
                <a:solidFill>
                  <a:srgbClr val="FF0000"/>
                </a:solidFill>
              </a:rPr>
              <a:t>Prior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81EC22-C9F6-D2E8-076B-D17052EAB3DB}"/>
                  </a:ext>
                </a:extLst>
              </p:cNvPr>
              <p:cNvSpPr>
                <a:spLocks noGrp="1"/>
              </p:cNvSpPr>
              <p:nvPr>
                <p:ph idx="1"/>
              </p:nvPr>
            </p:nvSpPr>
            <p:spPr>
              <a:xfrm>
                <a:off x="700635" y="1565189"/>
                <a:ext cx="10691265" cy="4569888"/>
              </a:xfrm>
            </p:spPr>
            <p:txBody>
              <a:bodyPr>
                <a:normAutofit/>
              </a:bodyPr>
              <a:lstStyle/>
              <a:p>
                <a14:m>
                  <m:oMath xmlns:m="http://schemas.openxmlformats.org/officeDocument/2006/math">
                    <m:r>
                      <a:rPr lang="it-IT" b="0" i="1" smtClean="0">
                        <a:latin typeface="Cambria Math" panose="02040503050406030204" pitchFamily="18" charset="0"/>
                      </a:rPr>
                      <m:t>𝑝</m:t>
                    </m:r>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𝑤</m:t>
                            </m:r>
                          </m:e>
                          <m:sub>
                            <m:r>
                              <a:rPr lang="it-IT" b="0" i="1" smtClean="0">
                                <a:latin typeface="Cambria Math" panose="02040503050406030204" pitchFamily="18" charset="0"/>
                              </a:rPr>
                              <m:t>1</m:t>
                            </m:r>
                          </m:sub>
                        </m:sSub>
                      </m:e>
                    </m:d>
                    <m:r>
                      <a:rPr lang="it-IT" b="0" i="1" smtClean="0">
                        <a:latin typeface="Cambria Math" panose="02040503050406030204" pitchFamily="18" charset="0"/>
                      </a:rPr>
                      <m:t>=</m:t>
                    </m:r>
                    <m:r>
                      <a:rPr lang="it-IT" b="0" i="1" smtClean="0">
                        <a:latin typeface="Cambria Math" panose="02040503050406030204" pitchFamily="18" charset="0"/>
                      </a:rPr>
                      <m:t>𝐵𝑒𝑡𝑎</m:t>
                    </m:r>
                    <m:d>
                      <m:dPr>
                        <m:ctrlPr>
                          <a:rPr lang="it-IT" b="0" i="1" smtClean="0">
                            <a:latin typeface="Cambria Math" panose="02040503050406030204" pitchFamily="18" charset="0"/>
                          </a:rPr>
                        </m:ctrlPr>
                      </m:dPr>
                      <m:e>
                        <m:r>
                          <a:rPr lang="it-IT" b="0" i="1" smtClean="0">
                            <a:latin typeface="Cambria Math" panose="02040503050406030204" pitchFamily="18" charset="0"/>
                          </a:rPr>
                          <m:t>2,2</m:t>
                        </m:r>
                      </m:e>
                    </m:d>
                    <m:r>
                      <a:rPr lang="it-IT" b="0" i="1" smtClean="0">
                        <a:latin typeface="Cambria Math" panose="02040503050406030204" pitchFamily="18" charset="0"/>
                      </a:rPr>
                      <m:t>  </m:t>
                    </m:r>
                    <m:r>
                      <a:rPr lang="it-IT" b="0" i="1" smtClean="0">
                        <a:latin typeface="Cambria Math" panose="02040503050406030204" pitchFamily="18" charset="0"/>
                      </a:rPr>
                      <m:t>𝐵𝑒𝑡𝑎</m:t>
                    </m:r>
                    <m:d>
                      <m:dPr>
                        <m:ctrlPr>
                          <a:rPr lang="it-IT" b="0" i="1" smtClean="0">
                            <a:latin typeface="Cambria Math" panose="02040503050406030204" pitchFamily="18" charset="0"/>
                          </a:rPr>
                        </m:ctrlPr>
                      </m:dPr>
                      <m:e>
                        <m:r>
                          <a:rPr lang="it-IT" b="0" i="1" smtClean="0">
                            <a:latin typeface="Cambria Math" panose="02040503050406030204" pitchFamily="18" charset="0"/>
                          </a:rPr>
                          <m:t>𝛼</m:t>
                        </m:r>
                        <m:r>
                          <a:rPr lang="it-IT" b="0" i="1" smtClean="0">
                            <a:latin typeface="Cambria Math" panose="02040503050406030204" pitchFamily="18" charset="0"/>
                          </a:rPr>
                          <m:t>,</m:t>
                        </m:r>
                        <m:r>
                          <a:rPr lang="it-IT" b="0" i="1" smtClean="0">
                            <a:latin typeface="Cambria Math" panose="02040503050406030204" pitchFamily="18" charset="0"/>
                          </a:rPr>
                          <m:t>𝛽</m:t>
                        </m:r>
                      </m:e>
                    </m:d>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𝛼</m:t>
                        </m:r>
                        <m:r>
                          <a:rPr lang="it-IT" b="0" i="1" smtClean="0">
                            <a:latin typeface="Cambria Math" panose="02040503050406030204" pitchFamily="18" charset="0"/>
                          </a:rPr>
                          <m:t>−1</m:t>
                        </m:r>
                      </m:sup>
                    </m:sSup>
                    <m:sSup>
                      <m:sSupPr>
                        <m:ctrlPr>
                          <a:rPr lang="it-IT" b="0" i="1" smtClean="0">
                            <a:latin typeface="Cambria Math" panose="02040503050406030204" pitchFamily="18" charset="0"/>
                          </a:rPr>
                        </m:ctrlPr>
                      </m:sSupPr>
                      <m:e>
                        <m:d>
                          <m:dPr>
                            <m:ctrlPr>
                              <a:rPr lang="it-IT" b="0" i="1" smtClean="0">
                                <a:latin typeface="Cambria Math" panose="02040503050406030204" pitchFamily="18" charset="0"/>
                              </a:rPr>
                            </m:ctrlPr>
                          </m:dPr>
                          <m:e>
                            <m:r>
                              <a:rPr lang="it-IT" b="0" i="1" smtClean="0">
                                <a:latin typeface="Cambria Math" panose="02040503050406030204" pitchFamily="18" charset="0"/>
                              </a:rPr>
                              <m:t>1−</m:t>
                            </m:r>
                            <m:r>
                              <a:rPr lang="it-IT" b="0" i="1" smtClean="0">
                                <a:latin typeface="Cambria Math" panose="02040503050406030204" pitchFamily="18" charset="0"/>
                              </a:rPr>
                              <m:t>𝑥</m:t>
                            </m:r>
                          </m:e>
                        </m:d>
                      </m:e>
                      <m:sup>
                        <m:r>
                          <a:rPr lang="it-IT" b="0" i="1" smtClean="0">
                            <a:latin typeface="Cambria Math" panose="02040503050406030204" pitchFamily="18" charset="0"/>
                          </a:rPr>
                          <m:t>𝛽</m:t>
                        </m:r>
                        <m:r>
                          <a:rPr lang="it-IT" b="0" i="1" smtClean="0">
                            <a:latin typeface="Cambria Math" panose="02040503050406030204" pitchFamily="18" charset="0"/>
                          </a:rPr>
                          <m:t>−1</m:t>
                        </m:r>
                      </m:sup>
                    </m:sSup>
                  </m:oMath>
                </a14:m>
                <a:endParaRPr lang="it-IT" dirty="0"/>
              </a:p>
              <a:p>
                <a:pPr marL="0" indent="0">
                  <a:buNone/>
                </a:pPr>
                <a:r>
                  <a:rPr lang="it-IT" sz="1800" dirty="0"/>
                  <a:t>A Beta(2,2) prior assigns zero density at the boundaries 0 and 1, discouraging extreme values for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a:latin typeface="Cambria Math" panose="02040503050406030204" pitchFamily="18" charset="0"/>
                          </a:rPr>
                          <m:t>1</m:t>
                        </m:r>
                      </m:sub>
                    </m:sSub>
                  </m:oMath>
                </a14:m>
                <a:r>
                  <a:rPr lang="it-IT" sz="1800" dirty="0"/>
                  <a:t>when only one Gaussian is present. </a:t>
                </a:r>
              </a:p>
              <a:p>
                <a14:m>
                  <m:oMath xmlns:m="http://schemas.openxmlformats.org/officeDocument/2006/math">
                    <m:r>
                      <a:rPr lang="it-IT" b="0" i="1" smtClean="0">
                        <a:latin typeface="Cambria Math" panose="02040503050406030204" pitchFamily="18" charset="0"/>
                      </a:rPr>
                      <m:t>𝑝</m:t>
                    </m:r>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1</m:t>
                            </m:r>
                          </m:sub>
                        </m:sSub>
                      </m:e>
                    </m:d>
                    <m:r>
                      <a:rPr lang="it-IT" b="0" i="1" smtClean="0">
                        <a:latin typeface="Cambria Math" panose="02040503050406030204" pitchFamily="18" charset="0"/>
                      </a:rPr>
                      <m:t>   ∝ </m:t>
                    </m:r>
                    <m:r>
                      <a:rPr lang="it-IT" b="0" i="1" smtClean="0">
                        <a:latin typeface="Cambria Math" panose="02040503050406030204" pitchFamily="18" charset="0"/>
                      </a:rPr>
                      <m:t>𝒰</m:t>
                    </m:r>
                    <m:d>
                      <m:dPr>
                        <m:ctrlPr>
                          <a:rPr lang="it-IT" b="0" i="1" smtClean="0">
                            <a:latin typeface="Cambria Math" panose="02040503050406030204" pitchFamily="18" charset="0"/>
                          </a:rPr>
                        </m:ctrlPr>
                      </m:dPr>
                      <m:e>
                        <m:r>
                          <a:rPr lang="it-IT" b="0" i="0" smtClean="0">
                            <a:latin typeface="Cambria Math" panose="02040503050406030204" pitchFamily="18" charset="0"/>
                          </a:rPr>
                          <m:t>−</m:t>
                        </m:r>
                        <m:r>
                          <a:rPr lang="it-IT" b="0" i="0" smtClean="0">
                            <a:latin typeface="Cambria Math" panose="02040503050406030204" pitchFamily="18" charset="0"/>
                          </a:rPr>
                          <m:t>4</m:t>
                        </m:r>
                        <m:r>
                          <a:rPr lang="it-IT" b="0" i="0" smtClean="0">
                            <a:latin typeface="Cambria Math" panose="02040503050406030204" pitchFamily="18" charset="0"/>
                          </a:rPr>
                          <m:t>,</m:t>
                        </m:r>
                        <m:r>
                          <a:rPr lang="it-IT" b="0" i="0" smtClean="0">
                            <a:latin typeface="Cambria Math" panose="02040503050406030204" pitchFamily="18" charset="0"/>
                          </a:rPr>
                          <m:t>7</m:t>
                        </m:r>
                      </m:e>
                    </m:d>
                  </m:oMath>
                </a14:m>
                <a:endParaRPr lang="it-IT" b="0" dirty="0"/>
              </a:p>
              <a:p>
                <a14:m>
                  <m:oMath xmlns:m="http://schemas.openxmlformats.org/officeDocument/2006/math">
                    <m:r>
                      <a:rPr lang="it-IT" i="1" smtClean="0">
                        <a:latin typeface="Cambria Math" panose="02040503050406030204" pitchFamily="18" charset="0"/>
                      </a:rPr>
                      <m:t>𝑝</m:t>
                    </m:r>
                    <m:d>
                      <m:dPr>
                        <m:ctrlPr>
                          <a:rPr lang="it-IT"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𝛿</m:t>
                            </m:r>
                          </m:e>
                          <m:sub>
                            <m:r>
                              <a:rPr lang="it-IT" b="0" i="1" smtClean="0">
                                <a:latin typeface="Cambria Math" panose="02040503050406030204" pitchFamily="18" charset="0"/>
                              </a:rPr>
                              <m:t>12</m:t>
                            </m:r>
                          </m:sub>
                        </m:sSub>
                      </m:e>
                    </m:d>
                    <m:r>
                      <a:rPr lang="it-IT" i="1">
                        <a:latin typeface="Cambria Math" panose="02040503050406030204" pitchFamily="18" charset="0"/>
                      </a:rPr>
                      <m:t> ∝ </m:t>
                    </m:r>
                    <m:r>
                      <a:rPr lang="it-IT" i="1">
                        <a:latin typeface="Cambria Math" panose="02040503050406030204" pitchFamily="18" charset="0"/>
                      </a:rPr>
                      <m:t>𝒰</m:t>
                    </m:r>
                    <m:d>
                      <m:dPr>
                        <m:ctrlPr>
                          <a:rPr lang="it-IT" i="1">
                            <a:latin typeface="Cambria Math" panose="02040503050406030204" pitchFamily="18" charset="0"/>
                          </a:rPr>
                        </m:ctrlPr>
                      </m:dPr>
                      <m:e>
                        <m:r>
                          <a:rPr lang="it-IT" b="0" i="1" smtClean="0">
                            <a:latin typeface="Cambria Math" panose="02040503050406030204" pitchFamily="18" charset="0"/>
                          </a:rPr>
                          <m:t>0</m:t>
                        </m:r>
                        <m:r>
                          <a:rPr lang="it-IT" i="1">
                            <a:latin typeface="Cambria Math" panose="02040503050406030204" pitchFamily="18" charset="0"/>
                          </a:rPr>
                          <m:t>,</m:t>
                        </m:r>
                        <m:r>
                          <a:rPr lang="it-IT" b="0" i="1" smtClean="0">
                            <a:latin typeface="Cambria Math" panose="02040503050406030204" pitchFamily="18" charset="0"/>
                          </a:rPr>
                          <m:t>10</m:t>
                        </m:r>
                      </m:e>
                    </m:d>
                    <m:r>
                      <a:rPr lang="it-IT" b="0" i="1" smtClean="0">
                        <a:latin typeface="Cambria Math" panose="02040503050406030204" pitchFamily="18" charset="0"/>
                      </a:rPr>
                      <m:t> </m:t>
                    </m:r>
                  </m:oMath>
                </a14:m>
                <a:endParaRPr lang="it-IT" b="0" i="1" dirty="0">
                  <a:latin typeface="Cambria Math" panose="02040503050406030204" pitchFamily="18" charset="0"/>
                </a:endParaRPr>
              </a:p>
              <a:p>
                <a:pPr marL="0" indent="0">
                  <a:buNone/>
                </a:pPr>
                <a14:m>
                  <m:oMath xmlns:m="http://schemas.openxmlformats.org/officeDocument/2006/math">
                    <m:sSub>
                      <m:sSubPr>
                        <m:ctrlPr>
                          <a:rPr lang="it-IT" sz="1800" i="1" smtClean="0">
                            <a:latin typeface="Cambria Math" panose="02040503050406030204" pitchFamily="18" charset="0"/>
                          </a:rPr>
                        </m:ctrlPr>
                      </m:sSubPr>
                      <m:e>
                        <m:r>
                          <a:rPr lang="it-IT" sz="1800" i="1">
                            <a:latin typeface="Cambria Math" panose="02040503050406030204" pitchFamily="18" charset="0"/>
                          </a:rPr>
                          <m:t>𝛿</m:t>
                        </m:r>
                      </m:e>
                      <m:sub>
                        <m:r>
                          <a:rPr lang="it-IT" sz="1800" i="1">
                            <a:latin typeface="Cambria Math" panose="02040503050406030204" pitchFamily="18" charset="0"/>
                          </a:rPr>
                          <m:t>12</m:t>
                        </m:r>
                      </m:sub>
                    </m:sSub>
                  </m:oMath>
                </a14:m>
                <a:r>
                  <a:rPr lang="it-IT" sz="1800" dirty="0"/>
                  <a:t> </a:t>
                </a:r>
                <a:r>
                  <a:rPr lang="en-US" sz="1800" dirty="0"/>
                  <a:t>prevents label switching by using the ordering constraint </a:t>
                </a:r>
                <a:r>
                  <a:rPr lang="it-IT" sz="1800" dirty="0"/>
                  <a:t>: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2</m:t>
                        </m:r>
                      </m:sub>
                    </m:sSub>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1</m:t>
                        </m:r>
                      </m:sub>
                    </m:sSub>
                  </m:oMath>
                </a14:m>
                <a:endParaRPr lang="it-IT" sz="1800" dirty="0"/>
              </a:p>
              <a:p>
                <a14:m>
                  <m:oMath xmlns:m="http://schemas.openxmlformats.org/officeDocument/2006/math">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𝑙𝑜𝑔</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𝑖</m:t>
                            </m:r>
                          </m:sub>
                        </m:sSub>
                      </m:e>
                    </m:d>
                    <m:r>
                      <a:rPr lang="it-IT" b="0" i="1" smtClean="0">
                        <a:latin typeface="Cambria Math" panose="02040503050406030204" pitchFamily="18" charset="0"/>
                      </a:rPr>
                      <m:t>∝</m:t>
                    </m:r>
                    <m:r>
                      <a:rPr lang="it-IT" b="0" i="1" smtClean="0">
                        <a:latin typeface="Cambria Math" panose="02040503050406030204" pitchFamily="18" charset="0"/>
                      </a:rPr>
                      <m:t>𝒰</m:t>
                    </m:r>
                    <m:d>
                      <m:dPr>
                        <m:ctrlPr>
                          <a:rPr lang="it-IT" b="0" i="1" smtClean="0">
                            <a:latin typeface="Cambria Math" panose="02040503050406030204" pitchFamily="18" charset="0"/>
                          </a:rPr>
                        </m:ctrlPr>
                      </m:dPr>
                      <m:e>
                        <m:r>
                          <a:rPr lang="it-IT" b="0" i="1" smtClean="0">
                            <a:latin typeface="Cambria Math" panose="02040503050406030204" pitchFamily="18" charset="0"/>
                          </a:rPr>
                          <m:t>𝑙𝑜𝑔</m:t>
                        </m:r>
                        <m:d>
                          <m:dPr>
                            <m:ctrlPr>
                              <a:rPr lang="it-IT" b="0" i="1" smtClean="0">
                                <a:latin typeface="Cambria Math" panose="02040503050406030204" pitchFamily="18" charset="0"/>
                              </a:rPr>
                            </m:ctrlPr>
                          </m:dPr>
                          <m:e>
                            <m:r>
                              <a:rPr lang="it-IT" b="0" i="1" smtClean="0">
                                <a:latin typeface="Cambria Math" panose="02040503050406030204" pitchFamily="18" charset="0"/>
                              </a:rPr>
                              <m:t>0</m:t>
                            </m:r>
                            <m:r>
                              <a:rPr lang="it-IT" b="0" i="1" smtClean="0">
                                <a:latin typeface="Cambria Math" panose="02040503050406030204" pitchFamily="18" charset="0"/>
                              </a:rPr>
                              <m:t>.</m:t>
                            </m:r>
                            <m:r>
                              <a:rPr lang="it-IT" b="0" i="1" smtClean="0">
                                <a:latin typeface="Cambria Math" panose="02040503050406030204" pitchFamily="18" charset="0"/>
                              </a:rPr>
                              <m:t>1</m:t>
                            </m:r>
                          </m:e>
                        </m:d>
                        <m:r>
                          <a:rPr lang="it-IT" b="0" i="1" smtClean="0">
                            <a:latin typeface="Cambria Math" panose="02040503050406030204" pitchFamily="18" charset="0"/>
                          </a:rPr>
                          <m:t>,</m:t>
                        </m:r>
                        <m:r>
                          <a:rPr lang="it-IT" b="0" i="1" smtClean="0">
                            <a:latin typeface="Cambria Math" panose="02040503050406030204" pitchFamily="18" charset="0"/>
                          </a:rPr>
                          <m:t>𝑙𝑜𝑔</m:t>
                        </m:r>
                        <m:d>
                          <m:dPr>
                            <m:ctrlPr>
                              <a:rPr lang="it-IT" b="0" i="1" smtClean="0">
                                <a:latin typeface="Cambria Math" panose="02040503050406030204" pitchFamily="18" charset="0"/>
                              </a:rPr>
                            </m:ctrlPr>
                          </m:dPr>
                          <m:e>
                            <m:r>
                              <a:rPr lang="it-IT" b="0" i="1" smtClean="0">
                                <a:latin typeface="Cambria Math" panose="02040503050406030204" pitchFamily="18" charset="0"/>
                              </a:rPr>
                              <m:t>6</m:t>
                            </m:r>
                          </m:e>
                        </m:d>
                      </m:e>
                    </m:d>
                    <m:r>
                      <a:rPr lang="it-IT" b="0" i="1" smtClean="0">
                        <a:latin typeface="Cambria Math" panose="02040503050406030204" pitchFamily="18" charset="0"/>
                      </a:rPr>
                      <m:t> ⇒ </m:t>
                    </m:r>
                    <m:r>
                      <a:rPr lang="it-IT" b="0" i="1" smtClean="0">
                        <a:latin typeface="Cambria Math" panose="02040503050406030204" pitchFamily="18" charset="0"/>
                      </a:rPr>
                      <m:t>𝑝</m:t>
                    </m:r>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𝑖</m:t>
                            </m:r>
                          </m:sub>
                        </m:sSub>
                      </m:e>
                    </m:d>
                    <m:r>
                      <a:rPr lang="it-IT" b="0" i="1" smtClean="0">
                        <a:latin typeface="Cambria Math" panose="02040503050406030204" pitchFamily="18" charset="0"/>
                      </a:rPr>
                      <m:t>∝</m:t>
                    </m:r>
                    <m:f>
                      <m:fPr>
                        <m:ctrlPr>
                          <a:rPr lang="it-IT" b="0" i="1" smtClean="0">
                            <a:latin typeface="Cambria Math" panose="02040503050406030204" pitchFamily="18" charset="0"/>
                          </a:rPr>
                        </m:ctrlPr>
                      </m:fPr>
                      <m:num>
                        <m:r>
                          <a:rPr lang="it-IT" b="0" i="1" smtClean="0">
                            <a:latin typeface="Cambria Math" panose="02040503050406030204" pitchFamily="18" charset="0"/>
                          </a:rPr>
                          <m:t>1</m:t>
                        </m:r>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𝑖</m:t>
                            </m:r>
                          </m:sub>
                        </m:sSub>
                      </m:den>
                    </m:f>
                  </m:oMath>
                </a14:m>
                <a:endParaRPr lang="it-IT" dirty="0"/>
              </a:p>
              <a:p>
                <a:pPr marL="0" indent="0">
                  <a:buNone/>
                </a:pPr>
                <a:r>
                  <a:rPr lang="it-IT" sz="1800" dirty="0"/>
                  <a:t>A uniform prior on log</a:t>
                </a:r>
                <a:r>
                  <a:rPr lang="el-GR" sz="1800" dirty="0"/>
                  <a:t>σ</a:t>
                </a:r>
                <a:r>
                  <a:rPr lang="it-IT" sz="1800" dirty="0"/>
                  <a:t> ensures </a:t>
                </a:r>
                <a:r>
                  <a:rPr lang="it-IT" sz="1800" b="1" dirty="0"/>
                  <a:t>scale invariance</a:t>
                </a:r>
                <a:r>
                  <a:rPr lang="it-IT" sz="1800" dirty="0"/>
                  <a:t>:</a:t>
                </a:r>
              </a:p>
              <a:p>
                <a:pPr marL="0" indent="0">
                  <a:buNone/>
                </a:pPr>
                <a:r>
                  <a:rPr lang="el-GR" sz="1800" dirty="0"/>
                  <a:t> </a:t>
                </a:r>
                <a14:m>
                  <m:oMath xmlns:m="http://schemas.openxmlformats.org/officeDocument/2006/math">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𝜎</m:t>
                        </m:r>
                      </m:e>
                      <m:sup>
                        <m:r>
                          <a:rPr lang="it-IT" sz="1800" b="0" i="1" smtClean="0">
                            <a:latin typeface="Cambria Math" panose="02040503050406030204" pitchFamily="18" charset="0"/>
                          </a:rPr>
                          <m:t>′</m:t>
                        </m:r>
                      </m:sup>
                    </m:sSup>
                    <m:r>
                      <a:rPr lang="it-IT" sz="1800" b="0" i="1" smtClean="0">
                        <a:latin typeface="Cambria Math" panose="02040503050406030204" pitchFamily="18" charset="0"/>
                      </a:rPr>
                      <m:t>=</m:t>
                    </m:r>
                    <m:r>
                      <a:rPr lang="it-IT" sz="1800" b="0" i="1" smtClean="0">
                        <a:latin typeface="Cambria Math" panose="02040503050406030204" pitchFamily="18" charset="0"/>
                      </a:rPr>
                      <m:t>𝑎</m:t>
                    </m:r>
                    <m:r>
                      <a:rPr lang="it-IT" sz="1800" b="0" i="1" smtClean="0">
                        <a:latin typeface="Cambria Math" panose="02040503050406030204" pitchFamily="18" charset="0"/>
                      </a:rPr>
                      <m:t>𝜎</m:t>
                    </m:r>
                    <m:r>
                      <a:rPr lang="it-IT" sz="1800" b="0" i="1" smtClean="0">
                        <a:latin typeface="Cambria Math" panose="02040503050406030204" pitchFamily="18" charset="0"/>
                      </a:rPr>
                      <m:t> ⇒ </m:t>
                    </m:r>
                    <m:r>
                      <a:rPr lang="it-IT" sz="1800" b="0" i="1" smtClean="0">
                        <a:latin typeface="Cambria Math" panose="02040503050406030204" pitchFamily="18" charset="0"/>
                      </a:rPr>
                      <m:t>𝑝</m:t>
                    </m:r>
                    <m:d>
                      <m:dPr>
                        <m:ctrlPr>
                          <a:rPr lang="it-IT" sz="1800" b="0" i="1" smtClean="0">
                            <a:latin typeface="Cambria Math" panose="02040503050406030204" pitchFamily="18" charset="0"/>
                          </a:rPr>
                        </m:ctrlPr>
                      </m:dPr>
                      <m:e>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𝜎</m:t>
                            </m:r>
                          </m:e>
                          <m:sup>
                            <m:r>
                              <a:rPr lang="it-IT" sz="1800" b="0" i="1" smtClean="0">
                                <a:latin typeface="Cambria Math" panose="02040503050406030204" pitchFamily="18" charset="0"/>
                              </a:rPr>
                              <m:t>′</m:t>
                            </m:r>
                          </m:sup>
                        </m:sSup>
                      </m:e>
                    </m:d>
                    <m:r>
                      <a:rPr lang="it-IT" sz="1800" b="0" i="1" smtClean="0">
                        <a:latin typeface="Cambria Math" panose="02040503050406030204" pitchFamily="18" charset="0"/>
                      </a:rPr>
                      <m:t>𝑑</m:t>
                    </m:r>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𝜎</m:t>
                        </m:r>
                      </m:e>
                      <m:sup>
                        <m:r>
                          <a:rPr lang="it-IT" sz="1800" b="0" i="1" smtClean="0">
                            <a:latin typeface="Cambria Math" panose="02040503050406030204" pitchFamily="18" charset="0"/>
                          </a:rPr>
                          <m:t>′</m:t>
                        </m:r>
                      </m:sup>
                    </m:sSup>
                    <m:r>
                      <a:rPr lang="it-IT" sz="1800" b="0" i="1" smtClean="0">
                        <a:latin typeface="Cambria Math" panose="02040503050406030204" pitchFamily="18" charset="0"/>
                      </a:rPr>
                      <m:t>= </m:t>
                    </m:r>
                    <m:f>
                      <m:fPr>
                        <m:ctrlPr>
                          <a:rPr lang="it-IT" sz="1800" b="0" i="1" smtClean="0">
                            <a:latin typeface="Cambria Math" panose="02040503050406030204" pitchFamily="18" charset="0"/>
                          </a:rPr>
                        </m:ctrlPr>
                      </m:fPr>
                      <m:num>
                        <m:r>
                          <a:rPr lang="it-IT" sz="1800" b="0" i="1" smtClean="0">
                            <a:latin typeface="Cambria Math" panose="02040503050406030204" pitchFamily="18" charset="0"/>
                          </a:rPr>
                          <m:t>1</m:t>
                        </m:r>
                      </m:num>
                      <m:den>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𝜎</m:t>
                            </m:r>
                          </m:e>
                          <m:sup>
                            <m:r>
                              <a:rPr lang="it-IT" sz="1800" b="0" i="1" smtClean="0">
                                <a:latin typeface="Cambria Math" panose="02040503050406030204" pitchFamily="18" charset="0"/>
                              </a:rPr>
                              <m:t>′</m:t>
                            </m:r>
                          </m:sup>
                        </m:sSup>
                      </m:den>
                    </m:f>
                    <m:r>
                      <a:rPr lang="it-IT" sz="1800" b="0" i="1" smtClean="0">
                        <a:latin typeface="Cambria Math" panose="02040503050406030204" pitchFamily="18" charset="0"/>
                      </a:rPr>
                      <m:t>𝑑</m:t>
                    </m:r>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𝜎</m:t>
                        </m:r>
                      </m:e>
                      <m:sup>
                        <m:r>
                          <a:rPr lang="it-IT" sz="1800" b="0" i="1" smtClean="0">
                            <a:latin typeface="Cambria Math" panose="02040503050406030204" pitchFamily="18" charset="0"/>
                          </a:rPr>
                          <m:t>′</m:t>
                        </m:r>
                      </m:sup>
                    </m:sSup>
                    <m:r>
                      <a:rPr lang="it-IT" sz="1800" b="0" i="1" smtClean="0">
                        <a:latin typeface="Cambria Math" panose="02040503050406030204" pitchFamily="18" charset="0"/>
                      </a:rPr>
                      <m:t>=</m:t>
                    </m:r>
                    <m:f>
                      <m:fPr>
                        <m:ctrlPr>
                          <a:rPr lang="it-IT" sz="1800" b="0" i="1" smtClean="0">
                            <a:latin typeface="Cambria Math" panose="02040503050406030204" pitchFamily="18" charset="0"/>
                          </a:rPr>
                        </m:ctrlPr>
                      </m:fPr>
                      <m:num>
                        <m:r>
                          <a:rPr lang="it-IT" sz="1800" i="1">
                            <a:latin typeface="Cambria Math" panose="02040503050406030204" pitchFamily="18" charset="0"/>
                          </a:rPr>
                          <m:t>1</m:t>
                        </m:r>
                      </m:num>
                      <m:den>
                        <m:r>
                          <a:rPr lang="it-IT" sz="1800" b="0" i="1" smtClean="0">
                            <a:latin typeface="Cambria Math" panose="02040503050406030204" pitchFamily="18" charset="0"/>
                          </a:rPr>
                          <m:t>𝑎</m:t>
                        </m:r>
                        <m:r>
                          <a:rPr lang="it-IT" sz="1800" i="1">
                            <a:latin typeface="Cambria Math" panose="02040503050406030204" pitchFamily="18" charset="0"/>
                          </a:rPr>
                          <m:t>𝜎</m:t>
                        </m:r>
                      </m:den>
                    </m:f>
                    <m:r>
                      <a:rPr lang="it-IT" sz="1800" b="0" i="1" smtClean="0">
                        <a:latin typeface="Cambria Math" panose="02040503050406030204" pitchFamily="18" charset="0"/>
                      </a:rPr>
                      <m:t>𝑎</m:t>
                    </m:r>
                    <m:r>
                      <a:rPr lang="it-IT" sz="1800" i="1">
                        <a:latin typeface="Cambria Math" panose="02040503050406030204" pitchFamily="18" charset="0"/>
                      </a:rPr>
                      <m:t>𝑑</m:t>
                    </m:r>
                    <m:r>
                      <a:rPr lang="it-IT" sz="1800" i="1">
                        <a:latin typeface="Cambria Math" panose="02040503050406030204" pitchFamily="18" charset="0"/>
                      </a:rPr>
                      <m:t>𝜎</m:t>
                    </m:r>
                    <m:r>
                      <a:rPr lang="it-IT" sz="1800" b="0" i="1" smtClean="0">
                        <a:latin typeface="Cambria Math" panose="02040503050406030204" pitchFamily="18" charset="0"/>
                      </a:rPr>
                      <m:t>=</m:t>
                    </m:r>
                    <m:f>
                      <m:fPr>
                        <m:ctrlPr>
                          <a:rPr lang="it-IT" sz="1800" b="0" i="1" smtClean="0">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𝜎</m:t>
                        </m:r>
                      </m:den>
                    </m:f>
                    <m:r>
                      <a:rPr lang="it-IT" sz="1800" i="1">
                        <a:latin typeface="Cambria Math" panose="02040503050406030204" pitchFamily="18" charset="0"/>
                      </a:rPr>
                      <m:t>𝑑</m:t>
                    </m:r>
                    <m:r>
                      <a:rPr lang="it-IT" sz="1800" i="1">
                        <a:latin typeface="Cambria Math" panose="02040503050406030204" pitchFamily="18" charset="0"/>
                      </a:rPr>
                      <m:t>𝜎</m:t>
                    </m:r>
                    <m:r>
                      <a:rPr lang="it-IT" sz="1800" b="0" i="1" smtClean="0">
                        <a:latin typeface="Cambria Math" panose="02040503050406030204" pitchFamily="18" charset="0"/>
                      </a:rPr>
                      <m:t>=</m:t>
                    </m:r>
                    <m:r>
                      <a:rPr lang="it-IT" sz="1800" b="0" i="1" smtClean="0">
                        <a:latin typeface="Cambria Math" panose="02040503050406030204" pitchFamily="18" charset="0"/>
                      </a:rPr>
                      <m:t>𝑝</m:t>
                    </m:r>
                    <m:d>
                      <m:dPr>
                        <m:ctrlPr>
                          <a:rPr lang="it-IT" sz="1800" b="0" i="1" smtClean="0">
                            <a:latin typeface="Cambria Math" panose="02040503050406030204" pitchFamily="18" charset="0"/>
                          </a:rPr>
                        </m:ctrlPr>
                      </m:dPr>
                      <m:e>
                        <m:r>
                          <a:rPr lang="it-IT" sz="1800" b="0" i="1" smtClean="0">
                            <a:latin typeface="Cambria Math" panose="02040503050406030204" pitchFamily="18" charset="0"/>
                          </a:rPr>
                          <m:t>𝜎</m:t>
                        </m:r>
                      </m:e>
                    </m:d>
                    <m:r>
                      <a:rPr lang="it-IT" sz="1800" b="0" i="1" smtClean="0">
                        <a:latin typeface="Cambria Math" panose="02040503050406030204" pitchFamily="18" charset="0"/>
                      </a:rPr>
                      <m:t>𝑑</m:t>
                    </m:r>
                    <m:r>
                      <a:rPr lang="it-IT" sz="1800" b="0" i="1" smtClean="0">
                        <a:latin typeface="Cambria Math" panose="02040503050406030204" pitchFamily="18" charset="0"/>
                      </a:rPr>
                      <m:t>𝜎</m:t>
                    </m:r>
                  </m:oMath>
                </a14:m>
                <a:endParaRPr lang="it-IT" sz="1800" dirty="0"/>
              </a:p>
            </p:txBody>
          </p:sp>
        </mc:Choice>
        <mc:Fallback xmlns="">
          <p:sp>
            <p:nvSpPr>
              <p:cNvPr id="3" name="Content Placeholder 2">
                <a:extLst>
                  <a:ext uri="{FF2B5EF4-FFF2-40B4-BE49-F238E27FC236}">
                    <a16:creationId xmlns:a16="http://schemas.microsoft.com/office/drawing/2014/main" id="{D581EC22-C9F6-D2E8-076B-D17052EAB3DB}"/>
                  </a:ext>
                </a:extLst>
              </p:cNvPr>
              <p:cNvSpPr>
                <a:spLocks noGrp="1" noRot="1" noChangeAspect="1" noMove="1" noResize="1" noEditPoints="1" noAdjustHandles="1" noChangeArrowheads="1" noChangeShapeType="1" noTextEdit="1"/>
              </p:cNvSpPr>
              <p:nvPr>
                <p:ph idx="1"/>
              </p:nvPr>
            </p:nvSpPr>
            <p:spPr>
              <a:xfrm>
                <a:off x="700635" y="1565189"/>
                <a:ext cx="10691265" cy="4569888"/>
              </a:xfrm>
              <a:blipFill>
                <a:blip r:embed="rId2"/>
                <a:stretch>
                  <a:fillRect l="-513" t="-134"/>
                </a:stretch>
              </a:blipFill>
            </p:spPr>
            <p:txBody>
              <a:bodyPr/>
              <a:lstStyle/>
              <a:p>
                <a:r>
                  <a:rPr lang="it-IT">
                    <a:noFill/>
                  </a:rPr>
                  <a:t> </a:t>
                </a:r>
              </a:p>
            </p:txBody>
          </p:sp>
        </mc:Fallback>
      </mc:AlternateContent>
    </p:spTree>
    <p:extLst>
      <p:ext uri="{BB962C8B-B14F-4D97-AF65-F5344CB8AC3E}">
        <p14:creationId xmlns:p14="http://schemas.microsoft.com/office/powerpoint/2010/main" val="2609148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23743-094D-D338-CABB-9A91E354D1A4}"/>
              </a:ext>
            </a:extLst>
          </p:cNvPr>
          <p:cNvSpPr>
            <a:spLocks noGrp="1"/>
          </p:cNvSpPr>
          <p:nvPr>
            <p:ph type="title"/>
          </p:nvPr>
        </p:nvSpPr>
        <p:spPr/>
        <p:txBody>
          <a:bodyPr/>
          <a:lstStyle/>
          <a:p>
            <a:r>
              <a:rPr lang="it-IT" dirty="0">
                <a:solidFill>
                  <a:srgbClr val="FF0000"/>
                </a:solidFill>
              </a:rPr>
              <a:t>Adaptive proposal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47778B-37BA-D444-046D-720FEC223205}"/>
                  </a:ext>
                </a:extLst>
              </p:cNvPr>
              <p:cNvSpPr>
                <a:spLocks noGrp="1"/>
              </p:cNvSpPr>
              <p:nvPr>
                <p:ph idx="1"/>
              </p:nvPr>
            </p:nvSpPr>
            <p:spPr>
              <a:xfrm>
                <a:off x="700635" y="1570892"/>
                <a:ext cx="10691265" cy="4390996"/>
              </a:xfrm>
            </p:spPr>
            <p:txBody>
              <a:bodyPr>
                <a:normAutofit/>
              </a:bodyPr>
              <a:lstStyle/>
              <a:p>
                <a:r>
                  <a:rPr lang="en-US" dirty="0"/>
                  <a:t>The proposal is a multivariate Gaussian.</a:t>
                </a:r>
                <a:endParaRPr lang="it-IT" dirty="0"/>
              </a:p>
              <a:p>
                <a:r>
                  <a:rPr lang="it-IT" dirty="0"/>
                  <a:t>If the covariance is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𝐼</m:t>
                        </m:r>
                      </m:e>
                      <m:sub>
                        <m:r>
                          <a:rPr lang="it-IT" b="0" i="1" smtClean="0">
                            <a:latin typeface="Cambria Math" panose="02040503050406030204" pitchFamily="18" charset="0"/>
                          </a:rPr>
                          <m:t>5</m:t>
                        </m:r>
                        <m:r>
                          <a:rPr lang="it-IT" b="0" i="1" smtClean="0">
                            <a:latin typeface="Cambria Math" panose="02040503050406030204" pitchFamily="18" charset="0"/>
                          </a:rPr>
                          <m:t>×</m:t>
                        </m:r>
                        <m:r>
                          <a:rPr lang="it-IT" b="0" i="1" smtClean="0">
                            <a:latin typeface="Cambria Math" panose="02040503050406030204" pitchFamily="18" charset="0"/>
                          </a:rPr>
                          <m:t>5</m:t>
                        </m:r>
                      </m:sub>
                    </m:sSub>
                    <m:r>
                      <a:rPr lang="it-IT" b="0" i="1" smtClean="0">
                        <a:latin typeface="Cambria Math" panose="02040503050406030204" pitchFamily="18" charset="0"/>
                      </a:rPr>
                      <m:t> </m:t>
                    </m:r>
                    <m:r>
                      <m:rPr>
                        <m:sty m:val="p"/>
                      </m:rPr>
                      <a:rPr lang="it-IT" b="0" i="1" smtClean="0">
                        <a:latin typeface="Cambria Math" panose="02040503050406030204" pitchFamily="18" charset="0"/>
                      </a:rPr>
                      <m:t>or</m:t>
                    </m:r>
                    <m:r>
                      <a:rPr lang="it-IT" b="0" i="1" smtClean="0">
                        <a:latin typeface="Cambria Math" panose="02040503050406030204" pitchFamily="18" charset="0"/>
                      </a:rPr>
                      <m:t> </m:t>
                    </m:r>
                    <m:r>
                      <a:rPr lang="it-IT" b="0" i="1" smtClean="0">
                        <a:latin typeface="Cambria Math" panose="02040503050406030204" pitchFamily="18" charset="0"/>
                      </a:rPr>
                      <m:t>0</m:t>
                    </m:r>
                    <m:r>
                      <a:rPr lang="it-IT" b="0" i="1" smtClean="0">
                        <a:latin typeface="Cambria Math" panose="02040503050406030204" pitchFamily="18" charset="0"/>
                      </a:rPr>
                      <m:t>.</m:t>
                    </m:r>
                    <m:r>
                      <a:rPr lang="it-IT" b="0" i="1" smtClean="0">
                        <a:latin typeface="Cambria Math" panose="02040503050406030204" pitchFamily="18" charset="0"/>
                      </a:rPr>
                      <m:t>01</m:t>
                    </m:r>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5</m:t>
                        </m:r>
                        <m:r>
                          <a:rPr lang="it-IT" i="1">
                            <a:latin typeface="Cambria Math" panose="02040503050406030204" pitchFamily="18" charset="0"/>
                          </a:rPr>
                          <m:t>×</m:t>
                        </m:r>
                        <m:r>
                          <a:rPr lang="it-IT" i="1">
                            <a:latin typeface="Cambria Math" panose="02040503050406030204" pitchFamily="18" charset="0"/>
                          </a:rPr>
                          <m:t>5</m:t>
                        </m:r>
                      </m:sub>
                    </m:sSub>
                  </m:oMath>
                </a14:m>
                <a:r>
                  <a:rPr lang="it-IT" dirty="0"/>
                  <a:t>, the autocorrelation </a:t>
                </a:r>
                <a:r>
                  <a:rPr lang="en-US" dirty="0"/>
                  <a:t>decays to 0 after lag 1000.</a:t>
                </a:r>
                <a:endParaRPr lang="it-IT" dirty="0"/>
              </a:p>
              <a:p>
                <a:pPr marL="0" indent="0">
                  <a:lnSpc>
                    <a:spcPct val="150000"/>
                  </a:lnSpc>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𝜌</m:t>
                      </m:r>
                      <m:d>
                        <m:dPr>
                          <m:ctrlPr>
                            <a:rPr lang="it-IT" i="1">
                              <a:latin typeface="Cambria Math" panose="02040503050406030204" pitchFamily="18" charset="0"/>
                            </a:rPr>
                          </m:ctrlPr>
                        </m:dPr>
                        <m:e>
                          <m:r>
                            <a:rPr lang="it-IT" i="1">
                              <a:latin typeface="Cambria Math" panose="02040503050406030204" pitchFamily="18" charset="0"/>
                            </a:rPr>
                            <m:t>𝜏</m:t>
                          </m:r>
                        </m:e>
                      </m:d>
                      <m:r>
                        <a:rPr lang="it-IT" i="1">
                          <a:latin typeface="Cambria Math" panose="02040503050406030204" pitchFamily="18" charset="0"/>
                        </a:rPr>
                        <m:t>=</m:t>
                      </m:r>
                      <m:f>
                        <m:fPr>
                          <m:ctrlPr>
                            <a:rPr lang="it-IT" i="1">
                              <a:latin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𝔼</m:t>
                          </m:r>
                          <m:d>
                            <m:dPr>
                              <m:begChr m:val="["/>
                              <m:endChr m:val="]"/>
                              <m:ctrlPr>
                                <a:rPr lang="it-IT" i="1">
                                  <a:latin typeface="Cambria Math" panose="02040503050406030204" pitchFamily="18" charset="0"/>
                                </a:rPr>
                              </m:ctrlPr>
                            </m:dPr>
                            <m:e>
                              <m:d>
                                <m:dPr>
                                  <m:ctrlPr>
                                    <a:rPr lang="it-IT" i="1">
                                      <a:latin typeface="Cambria Math" panose="02040503050406030204" pitchFamily="18" charset="0"/>
                                    </a:rPr>
                                  </m:ctrlPr>
                                </m:dPr>
                                <m:e>
                                  <m:r>
                                    <a:rPr lang="it-IT" i="1">
                                      <a:latin typeface="Cambria Math" panose="02040503050406030204" pitchFamily="18" charset="0"/>
                                    </a:rPr>
                                    <m:t>𝑥</m:t>
                                  </m:r>
                                  <m:d>
                                    <m:dPr>
                                      <m:ctrlPr>
                                        <a:rPr lang="it-IT" i="1">
                                          <a:latin typeface="Cambria Math" panose="02040503050406030204" pitchFamily="18" charset="0"/>
                                        </a:rPr>
                                      </m:ctrlPr>
                                    </m:dPr>
                                    <m:e>
                                      <m:r>
                                        <a:rPr lang="it-IT" i="1">
                                          <a:latin typeface="Cambria Math" panose="02040503050406030204" pitchFamily="18" charset="0"/>
                                        </a:rPr>
                                        <m:t>𝑡</m:t>
                                      </m:r>
                                    </m:e>
                                  </m:d>
                                  <m:r>
                                    <a:rPr lang="it-IT" i="1">
                                      <a:latin typeface="Cambria Math" panose="02040503050406030204" pitchFamily="18" charset="0"/>
                                    </a:rPr>
                                    <m:t>−</m:t>
                                  </m:r>
                                  <m:acc>
                                    <m:accPr>
                                      <m:chr m:val="̅"/>
                                      <m:ctrlPr>
                                        <a:rPr lang="it-IT" i="1">
                                          <a:latin typeface="Cambria Math" panose="02040503050406030204" pitchFamily="18" charset="0"/>
                                        </a:rPr>
                                      </m:ctrlPr>
                                    </m:accPr>
                                    <m:e>
                                      <m:r>
                                        <a:rPr lang="it-IT" i="1">
                                          <a:latin typeface="Cambria Math" panose="02040503050406030204" pitchFamily="18" charset="0"/>
                                        </a:rPr>
                                        <m:t>𝑥</m:t>
                                      </m:r>
                                    </m:e>
                                  </m:acc>
                                </m:e>
                              </m:d>
                              <m:d>
                                <m:dPr>
                                  <m:ctrlPr>
                                    <a:rPr lang="it-IT" i="1">
                                      <a:latin typeface="Cambria Math" panose="02040503050406030204" pitchFamily="18" charset="0"/>
                                    </a:rPr>
                                  </m:ctrlPr>
                                </m:dPr>
                                <m:e>
                                  <m:r>
                                    <a:rPr lang="it-IT" i="1">
                                      <a:latin typeface="Cambria Math" panose="02040503050406030204" pitchFamily="18" charset="0"/>
                                    </a:rPr>
                                    <m:t>𝑥</m:t>
                                  </m:r>
                                  <m:d>
                                    <m:dPr>
                                      <m:ctrlPr>
                                        <a:rPr lang="it-IT" i="1">
                                          <a:latin typeface="Cambria Math" panose="02040503050406030204" pitchFamily="18" charset="0"/>
                                        </a:rPr>
                                      </m:ctrlPr>
                                    </m:dPr>
                                    <m:e>
                                      <m:r>
                                        <a:rPr lang="it-IT" i="1">
                                          <a:latin typeface="Cambria Math" panose="02040503050406030204" pitchFamily="18" charset="0"/>
                                        </a:rPr>
                                        <m:t>𝑡</m:t>
                                      </m:r>
                                      <m:r>
                                        <a:rPr lang="it-IT" i="1">
                                          <a:latin typeface="Cambria Math" panose="02040503050406030204" pitchFamily="18" charset="0"/>
                                        </a:rPr>
                                        <m:t>+</m:t>
                                      </m:r>
                                      <m:r>
                                        <a:rPr lang="it-IT" i="1">
                                          <a:latin typeface="Cambria Math" panose="02040503050406030204" pitchFamily="18" charset="0"/>
                                        </a:rPr>
                                        <m:t>𝜏</m:t>
                                      </m:r>
                                    </m:e>
                                  </m:d>
                                  <m:r>
                                    <a:rPr lang="it-IT" i="1">
                                      <a:latin typeface="Cambria Math" panose="02040503050406030204" pitchFamily="18" charset="0"/>
                                    </a:rPr>
                                    <m:t>−</m:t>
                                  </m:r>
                                  <m:acc>
                                    <m:accPr>
                                      <m:chr m:val="̅"/>
                                      <m:ctrlPr>
                                        <a:rPr lang="it-IT" i="1">
                                          <a:latin typeface="Cambria Math" panose="02040503050406030204" pitchFamily="18" charset="0"/>
                                        </a:rPr>
                                      </m:ctrlPr>
                                    </m:accPr>
                                    <m:e>
                                      <m:r>
                                        <a:rPr lang="it-IT" i="1">
                                          <a:latin typeface="Cambria Math" panose="02040503050406030204" pitchFamily="18" charset="0"/>
                                        </a:rPr>
                                        <m:t>𝑥</m:t>
                                      </m:r>
                                    </m:e>
                                  </m:acc>
                                </m:e>
                              </m:d>
                            </m:e>
                          </m:d>
                        </m:num>
                        <m:den>
                          <m:r>
                            <a:rPr lang="it-IT" i="1">
                              <a:latin typeface="Cambria Math" panose="02040503050406030204" pitchFamily="18" charset="0"/>
                              <a:ea typeface="Cambria Math" panose="02040503050406030204" pitchFamily="18" charset="0"/>
                            </a:rPr>
                            <m:t>𝔼</m:t>
                          </m:r>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d>
                                    <m:dPr>
                                      <m:ctrlPr>
                                        <a:rPr lang="it-IT" i="1">
                                          <a:latin typeface="Cambria Math" panose="02040503050406030204" pitchFamily="18" charset="0"/>
                                        </a:rPr>
                                      </m:ctrlPr>
                                    </m:dPr>
                                    <m:e>
                                      <m:r>
                                        <a:rPr lang="it-IT" i="1">
                                          <a:latin typeface="Cambria Math" panose="02040503050406030204" pitchFamily="18" charset="0"/>
                                        </a:rPr>
                                        <m:t>𝑥</m:t>
                                      </m:r>
                                      <m:d>
                                        <m:dPr>
                                          <m:ctrlPr>
                                            <a:rPr lang="it-IT" i="1">
                                              <a:latin typeface="Cambria Math" panose="02040503050406030204" pitchFamily="18" charset="0"/>
                                            </a:rPr>
                                          </m:ctrlPr>
                                        </m:dPr>
                                        <m:e>
                                          <m:r>
                                            <a:rPr lang="it-IT" i="1">
                                              <a:latin typeface="Cambria Math" panose="02040503050406030204" pitchFamily="18" charset="0"/>
                                            </a:rPr>
                                            <m:t>𝑡</m:t>
                                          </m:r>
                                        </m:e>
                                      </m:d>
                                      <m:r>
                                        <a:rPr lang="it-IT" i="1">
                                          <a:latin typeface="Cambria Math" panose="02040503050406030204" pitchFamily="18" charset="0"/>
                                        </a:rPr>
                                        <m:t>−</m:t>
                                      </m:r>
                                      <m:acc>
                                        <m:accPr>
                                          <m:chr m:val="̅"/>
                                          <m:ctrlPr>
                                            <a:rPr lang="it-IT" i="1">
                                              <a:latin typeface="Cambria Math" panose="02040503050406030204" pitchFamily="18" charset="0"/>
                                            </a:rPr>
                                          </m:ctrlPr>
                                        </m:accPr>
                                        <m:e>
                                          <m:r>
                                            <a:rPr lang="it-IT" i="1">
                                              <a:latin typeface="Cambria Math" panose="02040503050406030204" pitchFamily="18" charset="0"/>
                                            </a:rPr>
                                            <m:t>𝑥</m:t>
                                          </m:r>
                                        </m:e>
                                      </m:acc>
                                    </m:e>
                                  </m:d>
                                </m:e>
                                <m:sup>
                                  <m:r>
                                    <a:rPr lang="it-IT" i="1">
                                      <a:latin typeface="Cambria Math" panose="02040503050406030204" pitchFamily="18" charset="0"/>
                                    </a:rPr>
                                    <m:t>2</m:t>
                                  </m:r>
                                </m:sup>
                              </m:sSup>
                            </m:e>
                          </m:d>
                        </m:den>
                      </m:f>
                      <m:r>
                        <a:rPr lang="it-IT" i="1">
                          <a:latin typeface="Cambria Math" panose="02040503050406030204" pitchFamily="18" charset="0"/>
                        </a:rPr>
                        <m:t>   </m:t>
                      </m:r>
                    </m:oMath>
                  </m:oMathPara>
                </a14:m>
                <a:endParaRPr lang="it-IT" i="1" dirty="0">
                  <a:latin typeface="Cambria Math" panose="02040503050406030204" pitchFamily="18" charset="0"/>
                </a:endParaRPr>
              </a:p>
              <a:p>
                <a:r>
                  <a:rPr lang="en-US" dirty="0"/>
                  <a:t>Two runs:</a:t>
                </a:r>
              </a:p>
              <a:p>
                <a:pPr marL="914400" lvl="1" indent="-457200">
                  <a:buFont typeface="+mj-lt"/>
                  <a:buAutoNum type="arabicPeriod"/>
                </a:pPr>
                <a:r>
                  <a:rPr lang="en-US" b="1" dirty="0"/>
                  <a:t>Warm-up</a:t>
                </a:r>
                <a:r>
                  <a:rPr lang="en-US" dirty="0"/>
                  <a:t>: adapt the proposal (samples not valid, chain is non-Markovian).</a:t>
                </a:r>
              </a:p>
              <a:p>
                <a:pPr marL="914400" lvl="1" indent="-457200">
                  <a:buFont typeface="+mj-lt"/>
                  <a:buAutoNum type="arabicPeriod"/>
                </a:pPr>
                <a:r>
                  <a:rPr lang="en-US" b="1" dirty="0"/>
                  <a:t>Frozen</a:t>
                </a:r>
                <a:r>
                  <a:rPr lang="en-US" dirty="0"/>
                  <a:t>: draw samples using the final warm-up proposal.</a:t>
                </a:r>
              </a:p>
              <a:p>
                <a:r>
                  <a:rPr lang="en-US" dirty="0"/>
                  <a:t>During the warm-up run it is not possible to collect valid samples because the proposal is updated based on all previous iterations, so </a:t>
                </a:r>
                <a:r>
                  <a:rPr lang="en-US" b="1" dirty="0"/>
                  <a:t>the chain is not Markovian</a:t>
                </a:r>
                <a:r>
                  <a:rPr lang="it-IT" dirty="0"/>
                  <a:t>.</a:t>
                </a:r>
              </a:p>
              <a:p>
                <a:r>
                  <a:rPr lang="it-IT" dirty="0"/>
                  <a:t>Covariance update: </a:t>
                </a:r>
                <a14:m>
                  <m:oMath xmlns:m="http://schemas.openxmlformats.org/officeDocument/2006/math">
                    <m:r>
                      <m:rPr>
                        <m:sty m:val="p"/>
                      </m:rPr>
                      <a:rPr lang="el-GR">
                        <a:latin typeface="Cambria Math" panose="02040503050406030204" pitchFamily="18" charset="0"/>
                      </a:rPr>
                      <m:t>Σ</m:t>
                    </m:r>
                    <m:r>
                      <a:rPr lang="el-GR">
                        <a:latin typeface="Cambria Math" panose="02040503050406030204" pitchFamily="18" charset="0"/>
                      </a:rPr>
                      <m:t>=</m:t>
                    </m:r>
                    <m:r>
                      <a:rPr lang="el-GR" i="1">
                        <a:latin typeface="Cambria Math" panose="02040503050406030204" pitchFamily="18" charset="0"/>
                      </a:rPr>
                      <m:t>𝑠𝐶</m:t>
                    </m:r>
                    <m:r>
                      <a:rPr lang="el-GR">
                        <a:latin typeface="Cambria Math" panose="02040503050406030204" pitchFamily="18" charset="0"/>
                      </a:rPr>
                      <m:t>+</m:t>
                    </m:r>
                    <m:r>
                      <a:rPr lang="el-GR" i="1">
                        <a:latin typeface="Cambria Math" panose="02040503050406030204" pitchFamily="18" charset="0"/>
                      </a:rPr>
                      <m:t>𝜀</m:t>
                    </m:r>
                    <m:r>
                      <a:rPr lang="el-GR" i="1">
                        <a:latin typeface="Cambria Math" panose="02040503050406030204" pitchFamily="18" charset="0"/>
                      </a:rPr>
                      <m:t>𝐼</m:t>
                    </m:r>
                  </m:oMath>
                </a14:m>
                <a:r>
                  <a:rPr lang="el-GR" dirty="0"/>
                  <a:t>, </a:t>
                </a:r>
                <a:r>
                  <a:rPr lang="it-IT" dirty="0"/>
                  <a:t>with fixed scale </a:t>
                </a:r>
                <a14:m>
                  <m:oMath xmlns:m="http://schemas.openxmlformats.org/officeDocument/2006/math">
                    <m:r>
                      <a:rPr lang="it-IT" i="1">
                        <a:latin typeface="Cambria Math" panose="02040503050406030204" pitchFamily="18" charset="0"/>
                      </a:rPr>
                      <m:t>𝑠</m:t>
                    </m:r>
                    <m:r>
                      <a:rPr lang="it-IT">
                        <a:latin typeface="Cambria Math" panose="02040503050406030204" pitchFamily="18" charset="0"/>
                      </a:rPr>
                      <m:t>=</m:t>
                    </m:r>
                    <m:r>
                      <a:rPr lang="it-IT">
                        <a:latin typeface="Cambria Math" panose="02040503050406030204" pitchFamily="18" charset="0"/>
                      </a:rPr>
                      <m:t>1</m:t>
                    </m:r>
                  </m:oMath>
                </a14:m>
                <a:r>
                  <a:rPr lang="it-IT" dirty="0"/>
                  <a:t> and small </a:t>
                </a:r>
                <a14:m>
                  <m:oMath xmlns:m="http://schemas.openxmlformats.org/officeDocument/2006/math">
                    <m:r>
                      <a:rPr lang="it-IT" i="1">
                        <a:latin typeface="Cambria Math" panose="02040503050406030204" pitchFamily="18" charset="0"/>
                      </a:rPr>
                      <m:t>𝜀</m:t>
                    </m:r>
                  </m:oMath>
                </a14:m>
                <a:r>
                  <a:rPr lang="it-IT" dirty="0"/>
                  <a:t> to prevent divergence.</a:t>
                </a:r>
              </a:p>
            </p:txBody>
          </p:sp>
        </mc:Choice>
        <mc:Fallback xmlns="">
          <p:sp>
            <p:nvSpPr>
              <p:cNvPr id="3" name="Content Placeholder 2">
                <a:extLst>
                  <a:ext uri="{FF2B5EF4-FFF2-40B4-BE49-F238E27FC236}">
                    <a16:creationId xmlns:a16="http://schemas.microsoft.com/office/drawing/2014/main" id="{B347778B-37BA-D444-046D-720FEC223205}"/>
                  </a:ext>
                </a:extLst>
              </p:cNvPr>
              <p:cNvSpPr>
                <a:spLocks noGrp="1" noRot="1" noChangeAspect="1" noMove="1" noResize="1" noEditPoints="1" noAdjustHandles="1" noChangeArrowheads="1" noChangeShapeType="1" noTextEdit="1"/>
              </p:cNvSpPr>
              <p:nvPr>
                <p:ph idx="1"/>
              </p:nvPr>
            </p:nvSpPr>
            <p:spPr>
              <a:xfrm>
                <a:off x="700635" y="1570892"/>
                <a:ext cx="10691265" cy="4390996"/>
              </a:xfrm>
              <a:blipFill>
                <a:blip r:embed="rId3"/>
                <a:stretch>
                  <a:fillRect l="-513" t="-694"/>
                </a:stretch>
              </a:blipFill>
            </p:spPr>
            <p:txBody>
              <a:bodyPr/>
              <a:lstStyle/>
              <a:p>
                <a:r>
                  <a:rPr lang="it-IT">
                    <a:noFill/>
                  </a:rPr>
                  <a:t> </a:t>
                </a:r>
              </a:p>
            </p:txBody>
          </p:sp>
        </mc:Fallback>
      </mc:AlternateContent>
    </p:spTree>
    <p:extLst>
      <p:ext uri="{BB962C8B-B14F-4D97-AF65-F5344CB8AC3E}">
        <p14:creationId xmlns:p14="http://schemas.microsoft.com/office/powerpoint/2010/main" val="3292717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371FFD-901B-1755-20DC-573AC41EA01F}"/>
              </a:ext>
            </a:extLst>
          </p:cNvPr>
          <p:cNvSpPr>
            <a:spLocks noGrp="1"/>
          </p:cNvSpPr>
          <p:nvPr>
            <p:ph type="title"/>
          </p:nvPr>
        </p:nvSpPr>
        <p:spPr>
          <a:xfrm>
            <a:off x="704088" y="555712"/>
            <a:ext cx="4218435" cy="2390687"/>
          </a:xfrm>
        </p:spPr>
        <p:txBody>
          <a:bodyPr>
            <a:normAutofit fontScale="90000"/>
          </a:bodyPr>
          <a:lstStyle/>
          <a:p>
            <a:r>
              <a:rPr lang="it-IT" dirty="0">
                <a:solidFill>
                  <a:srgbClr val="FF0000"/>
                </a:solidFill>
              </a:rPr>
              <a:t>Adaptive covariance tuning</a:t>
            </a:r>
            <a:br>
              <a:rPr lang="it-IT" dirty="0">
                <a:solidFill>
                  <a:srgbClr val="FF0000"/>
                </a:solidFill>
              </a:rPr>
            </a:br>
            <a:r>
              <a:rPr lang="it-IT" dirty="0">
                <a:solidFill>
                  <a:srgbClr val="FF0000"/>
                </a:solidFill>
              </a:rPr>
              <a:t>(Warm-UP)</a:t>
            </a:r>
          </a:p>
        </p:txBody>
      </p:sp>
      <p:pic>
        <p:nvPicPr>
          <p:cNvPr id="5" name="Picture 4" descr="A graph with a line and numbers&#10;&#10;AI-generated content may be incorrect.">
            <a:extLst>
              <a:ext uri="{FF2B5EF4-FFF2-40B4-BE49-F238E27FC236}">
                <a16:creationId xmlns:a16="http://schemas.microsoft.com/office/drawing/2014/main" id="{00DECBC3-C8D4-4F68-F219-E28940FD9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383" y="3489032"/>
            <a:ext cx="4289754" cy="2681096"/>
          </a:xfrm>
          <a:prstGeom prst="rect">
            <a:avLst/>
          </a:prstGeom>
        </p:spPr>
      </p:pic>
      <p:cxnSp>
        <p:nvCxnSpPr>
          <p:cNvPr id="35" name="Straight Connector 34">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25511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69C7E6-9688-702B-45B6-FD6A4D173DB4}"/>
                  </a:ext>
                </a:extLst>
              </p:cNvPr>
              <p:cNvSpPr>
                <a:spLocks noGrp="1"/>
              </p:cNvSpPr>
              <p:nvPr>
                <p:ph idx="1"/>
              </p:nvPr>
            </p:nvSpPr>
            <p:spPr>
              <a:xfrm>
                <a:off x="5576418" y="555712"/>
                <a:ext cx="5916168" cy="5614416"/>
              </a:xfrm>
            </p:spPr>
            <p:txBody>
              <a:bodyPr>
                <a:normAutofit/>
              </a:bodyPr>
              <a:lstStyle/>
              <a:p>
                <a:r>
                  <a:rPr lang="it-IT" dirty="0"/>
                  <a:t>With </a:t>
                </a:r>
                <a14:m>
                  <m:oMath xmlns:m="http://schemas.openxmlformats.org/officeDocument/2006/math">
                    <m:r>
                      <m:rPr>
                        <m:sty m:val="p"/>
                      </m:rPr>
                      <a:rPr lang="it-IT">
                        <a:latin typeface="Cambria Math" panose="02040503050406030204" pitchFamily="18" charset="0"/>
                      </a:rPr>
                      <m:t>Σ</m:t>
                    </m:r>
                    <m:r>
                      <a:rPr lang="it-IT" i="1">
                        <a:latin typeface="Cambria Math" panose="02040503050406030204" pitchFamily="18" charset="0"/>
                      </a:rPr>
                      <m:t> </m:t>
                    </m:r>
                    <m:r>
                      <a:rPr lang="it-IT" b="0" i="0" smtClean="0">
                        <a:latin typeface="Cambria Math" panose="02040503050406030204" pitchFamily="18" charset="0"/>
                      </a:rPr>
                      <m:t>=</m:t>
                    </m:r>
                    <m:r>
                      <a:rPr lang="it-IT" i="1">
                        <a:latin typeface="Cambria Math" panose="02040503050406030204" pitchFamily="18" charset="0"/>
                      </a:rPr>
                      <m:t>0.01×</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5×5</m:t>
                        </m:r>
                      </m:sub>
                    </m:sSub>
                  </m:oMath>
                </a14:m>
                <a:r>
                  <a:rPr lang="it-IT" dirty="0"/>
                  <a:t>, start a Metropolis algorithm.</a:t>
                </a:r>
              </a:p>
              <a:p>
                <a:r>
                  <a:rPr lang="it-IT" dirty="0"/>
                  <a:t>Every </a:t>
                </a:r>
                <a:r>
                  <a:rPr lang="it-IT" i="1" dirty="0"/>
                  <a:t>adapt_interval</a:t>
                </a:r>
                <a:r>
                  <a:rPr lang="it-IT" dirty="0"/>
                  <a:t> steps (2000), compute: </a:t>
                </a:r>
              </a:p>
              <a:p>
                <a:pPr marL="0" indent="0">
                  <a:buNone/>
                </a:pPr>
                <a:r>
                  <a:rPr lang="it-IT" dirty="0"/>
                  <a:t>    </a:t>
                </a:r>
                <a14:m>
                  <m:oMath xmlns:m="http://schemas.openxmlformats.org/officeDocument/2006/math">
                    <m:r>
                      <a:rPr lang="it-IT" b="0" i="0" smtClean="0">
                        <a:latin typeface="Cambria Math" panose="02040503050406030204" pitchFamily="18" charset="0"/>
                      </a:rPr>
                      <m:t>                </m:t>
                    </m:r>
                    <m:sSub>
                      <m:sSubPr>
                        <m:ctrlPr>
                          <a:rPr lang="it-IT" i="1">
                            <a:latin typeface="Cambria Math" panose="02040503050406030204" pitchFamily="18" charset="0"/>
                          </a:rPr>
                        </m:ctrlPr>
                      </m:sSubPr>
                      <m:e>
                        <m:r>
                          <m:rPr>
                            <m:sty m:val="p"/>
                          </m:rPr>
                          <a:rPr lang="it-IT">
                            <a:latin typeface="Cambria Math" panose="02040503050406030204" pitchFamily="18" charset="0"/>
                          </a:rPr>
                          <m:t>Σ</m:t>
                        </m:r>
                      </m:e>
                      <m:sub>
                        <m:r>
                          <m:rPr>
                            <m:nor/>
                          </m:rPr>
                          <a:rPr lang="it-IT" i="1"/>
                          <m:t>new</m:t>
                        </m:r>
                      </m:sub>
                    </m:sSub>
                    <m:r>
                      <a:rPr lang="it-IT">
                        <a:latin typeface="Cambria Math" panose="02040503050406030204" pitchFamily="18" charset="0"/>
                      </a:rPr>
                      <m:t>=</m:t>
                    </m:r>
                    <m:r>
                      <m:rPr>
                        <m:nor/>
                      </m:rPr>
                      <a:rPr lang="it-IT" i="1"/>
                      <m:t>Cov</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m:rPr>
                                <m:nor/>
                              </m:rPr>
                              <a:rPr lang="it-IT" i="1"/>
                              <m:t>samples</m:t>
                            </m:r>
                          </m:e>
                          <m:sub>
                            <m:r>
                              <m:rPr>
                                <m:nor/>
                              </m:rPr>
                              <a:rPr lang="it-IT" i="1"/>
                              <m:t>burnin</m:t>
                            </m:r>
                            <m:r>
                              <m:rPr>
                                <m:nor/>
                              </m:rPr>
                              <a:rPr lang="it-IT" i="1"/>
                              <m:t>:</m:t>
                            </m:r>
                          </m:sub>
                        </m:sSub>
                      </m:e>
                    </m:d>
                    <m:r>
                      <a:rPr lang="it-IT">
                        <a:latin typeface="Cambria Math" panose="02040503050406030204" pitchFamily="18" charset="0"/>
                      </a:rPr>
                      <m:t>+</m:t>
                    </m:r>
                    <m:r>
                      <a:rPr lang="it-IT" i="1">
                        <a:latin typeface="Cambria Math" panose="02040503050406030204" pitchFamily="18" charset="0"/>
                      </a:rPr>
                      <m:t>𝜀</m:t>
                    </m:r>
                    <m:r>
                      <a:rPr lang="it-IT" i="1">
                        <a:latin typeface="Cambria Math" panose="02040503050406030204" pitchFamily="18" charset="0"/>
                      </a:rPr>
                      <m:t>𝐼</m:t>
                    </m:r>
                  </m:oMath>
                </a14:m>
                <a:r>
                  <a:rPr lang="it-IT" dirty="0"/>
                  <a:t> </a:t>
                </a:r>
              </a:p>
              <a:p>
                <a:pPr marL="0" indent="0">
                  <a:buNone/>
                </a:pPr>
                <a:r>
                  <a:rPr lang="it-IT" dirty="0"/>
                  <a:t>    and set </a:t>
                </a:r>
                <a14:m>
                  <m:oMath xmlns:m="http://schemas.openxmlformats.org/officeDocument/2006/math">
                    <m:r>
                      <m:rPr>
                        <m:sty m:val="p"/>
                      </m:rPr>
                      <a:rPr lang="it-IT">
                        <a:latin typeface="Cambria Math" panose="02040503050406030204" pitchFamily="18" charset="0"/>
                      </a:rPr>
                      <m:t>Σ</m:t>
                    </m:r>
                    <m:r>
                      <a:rPr lang="it-IT" b="0" i="0" smtClean="0">
                        <a:latin typeface="Cambria Math" panose="02040503050406030204" pitchFamily="18" charset="0"/>
                      </a:rPr>
                      <m:t>= </m:t>
                    </m:r>
                    <m:sSub>
                      <m:sSubPr>
                        <m:ctrlPr>
                          <a:rPr lang="ar-AE" i="1">
                            <a:latin typeface="Cambria Math" panose="02040503050406030204" pitchFamily="18" charset="0"/>
                          </a:rPr>
                        </m:ctrlPr>
                      </m:sSubPr>
                      <m:e>
                        <m:r>
                          <m:rPr>
                            <m:sty m:val="p"/>
                          </m:rPr>
                          <a:rPr lang="el-GR">
                            <a:latin typeface="Cambria Math" panose="02040503050406030204" pitchFamily="18" charset="0"/>
                          </a:rPr>
                          <m:t>Σ</m:t>
                        </m:r>
                      </m:e>
                      <m:sub>
                        <m:r>
                          <m:rPr>
                            <m:nor/>
                          </m:rPr>
                          <a:rPr lang="it-IT" i="1"/>
                          <m:t>new</m:t>
                        </m:r>
                      </m:sub>
                    </m:sSub>
                  </m:oMath>
                </a14:m>
                <a:r>
                  <a:rPr lang="ar-AE" dirty="0"/>
                  <a:t>.</a:t>
                </a:r>
                <a:endParaRPr lang="it-IT" dirty="0"/>
              </a:p>
              <a:p>
                <a:r>
                  <a:rPr lang="en-US" b="1" dirty="0"/>
                  <a:t>Stopping criterion:</a:t>
                </a:r>
                <a:r>
                  <a:rPr lang="en-US" dirty="0"/>
                  <a:t> adaptation stops early if all conditions are met:</a:t>
                </a:r>
              </a:p>
              <a:p>
                <a:pPr marL="800100" lvl="1" indent="-342900">
                  <a:buFont typeface="+mj-lt"/>
                  <a:buAutoNum type="arabicPeriod"/>
                </a:pPr>
                <a:r>
                  <a:rPr lang="en-US" dirty="0"/>
                  <a:t>Minimum number of iterations (</a:t>
                </a:r>
                <a:r>
                  <a:rPr lang="en-US" i="1" dirty="0" err="1"/>
                  <a:t>min_adapt</a:t>
                </a:r>
                <a:r>
                  <a:rPr lang="en-US" i="1" dirty="0"/>
                  <a:t>=10000</a:t>
                </a:r>
                <a:r>
                  <a:rPr lang="en-US" dirty="0"/>
                  <a:t>) has passed.</a:t>
                </a:r>
              </a:p>
              <a:p>
                <a:pPr marL="800100" lvl="1" indent="-342900">
                  <a:buFont typeface="+mj-lt"/>
                  <a:buAutoNum type="arabicPeriod"/>
                </a:pPr>
                <a:r>
                  <a:rPr lang="en-US" dirty="0"/>
                  <a:t>Log-determinant change is small:               </a:t>
                </a:r>
                <a14:m>
                  <m:oMath xmlns:m="http://schemas.openxmlformats.org/officeDocument/2006/math">
                    <m:r>
                      <a:rPr lang="it-IT" b="1" i="1" smtClean="0">
                        <a:latin typeface="Cambria Math" panose="02040503050406030204" pitchFamily="18" charset="0"/>
                      </a:rPr>
                      <m:t>|</m:t>
                    </m:r>
                    <m:r>
                      <a:rPr lang="it-IT" b="1" i="0" smtClean="0">
                        <a:latin typeface="Cambria Math" panose="02040503050406030204" pitchFamily="18" charset="0"/>
                      </a:rPr>
                      <m:t>𝚫</m:t>
                    </m:r>
                    <m:r>
                      <a:rPr lang="it-IT" b="1" i="1" smtClean="0">
                        <a:latin typeface="Cambria Math" panose="02040503050406030204" pitchFamily="18" charset="0"/>
                      </a:rPr>
                      <m:t>𝒍𝒐𝒈𝒅𝒆𝒕</m:t>
                    </m:r>
                    <m:r>
                      <a:rPr lang="it-IT" b="1" i="1" smtClean="0">
                        <a:latin typeface="Cambria Math" panose="02040503050406030204" pitchFamily="18" charset="0"/>
                      </a:rPr>
                      <m:t>(</m:t>
                    </m:r>
                    <m:r>
                      <a:rPr lang="it-IT" b="1" i="0" smtClean="0">
                        <a:latin typeface="Cambria Math" panose="02040503050406030204" pitchFamily="18" charset="0"/>
                      </a:rPr>
                      <m:t>𝚺</m:t>
                    </m:r>
                    <m:r>
                      <a:rPr lang="it-IT" b="1" i="1" smtClean="0">
                        <a:latin typeface="Cambria Math" panose="02040503050406030204" pitchFamily="18" charset="0"/>
                      </a:rPr>
                      <m:t>)| &lt; </m:t>
                    </m:r>
                    <m:r>
                      <a:rPr lang="it-IT" b="1" i="1" smtClean="0">
                        <a:latin typeface="Cambria Math" panose="02040503050406030204" pitchFamily="18" charset="0"/>
                      </a:rPr>
                      <m:t>𝒕𝒐𝒍</m:t>
                    </m:r>
                    <m:r>
                      <a:rPr lang="it-IT" b="1" i="1" smtClean="0">
                        <a:latin typeface="Cambria Math" panose="02040503050406030204" pitchFamily="18" charset="0"/>
                      </a:rPr>
                      <m:t>_</m:t>
                    </m:r>
                    <m:r>
                      <a:rPr lang="it-IT" b="1" i="1" smtClean="0">
                        <a:latin typeface="Cambria Math" panose="02040503050406030204" pitchFamily="18" charset="0"/>
                      </a:rPr>
                      <m:t>𝒍𝒐𝒈𝒅𝒆𝒕</m:t>
                    </m:r>
                    <m:r>
                      <a:rPr lang="it-IT" b="0" i="1" smtClean="0">
                        <a:latin typeface="Cambria Math" panose="02040503050406030204" pitchFamily="18" charset="0"/>
                      </a:rPr>
                      <m:t>=</m:t>
                    </m:r>
                    <m:r>
                      <a:rPr lang="it-IT" b="0" i="1" smtClean="0">
                        <a:latin typeface="Cambria Math" panose="02040503050406030204" pitchFamily="18" charset="0"/>
                      </a:rPr>
                      <m:t>2</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m:t>
                        </m:r>
                        <m:r>
                          <a:rPr lang="it-IT" b="0" i="1" smtClean="0">
                            <a:latin typeface="Cambria Math" panose="02040503050406030204" pitchFamily="18" charset="0"/>
                          </a:rPr>
                          <m:t>2</m:t>
                        </m:r>
                      </m:sup>
                    </m:sSup>
                  </m:oMath>
                </a14:m>
                <a:endParaRPr lang="en-US" dirty="0"/>
              </a:p>
              <a:p>
                <a:pPr marL="800100" lvl="1" indent="-342900">
                  <a:buFont typeface="+mj-lt"/>
                  <a:buAutoNum type="arabicPeriod"/>
                </a:pPr>
                <a:r>
                  <a:rPr lang="en-US" dirty="0"/>
                  <a:t>This small change persists for several consecutive checks (</a:t>
                </a:r>
                <a:r>
                  <a:rPr lang="en-US" i="1" dirty="0" err="1"/>
                  <a:t>consecutive_stable</a:t>
                </a:r>
                <a:r>
                  <a:rPr lang="en-US" i="1" dirty="0"/>
                  <a:t>=3</a:t>
                </a:r>
                <a:r>
                  <a:rPr lang="en-US" dirty="0"/>
                  <a:t>) to avoid transient fluctuations.</a:t>
                </a:r>
              </a:p>
              <a:p>
                <a:endParaRPr lang="it-IT" i="1" dirty="0"/>
              </a:p>
            </p:txBody>
          </p:sp>
        </mc:Choice>
        <mc:Fallback xmlns="">
          <p:sp>
            <p:nvSpPr>
              <p:cNvPr id="3" name="Content Placeholder 2">
                <a:extLst>
                  <a:ext uri="{FF2B5EF4-FFF2-40B4-BE49-F238E27FC236}">
                    <a16:creationId xmlns:a16="http://schemas.microsoft.com/office/drawing/2014/main" id="{EC69C7E6-9688-702B-45B6-FD6A4D173DB4}"/>
                  </a:ext>
                </a:extLst>
              </p:cNvPr>
              <p:cNvSpPr>
                <a:spLocks noGrp="1" noRot="1" noChangeAspect="1" noMove="1" noResize="1" noEditPoints="1" noAdjustHandles="1" noChangeArrowheads="1" noChangeShapeType="1" noTextEdit="1"/>
              </p:cNvSpPr>
              <p:nvPr>
                <p:ph idx="1"/>
              </p:nvPr>
            </p:nvSpPr>
            <p:spPr>
              <a:xfrm>
                <a:off x="5576418" y="555712"/>
                <a:ext cx="5916168" cy="5614416"/>
              </a:xfrm>
              <a:blipFill>
                <a:blip r:embed="rId4"/>
                <a:stretch>
                  <a:fillRect l="-928" t="-326"/>
                </a:stretch>
              </a:blipFill>
            </p:spPr>
            <p:txBody>
              <a:bodyPr/>
              <a:lstStyle/>
              <a:p>
                <a:r>
                  <a:rPr lang="en-US">
                    <a:noFill/>
                  </a:rPr>
                  <a:t> </a:t>
                </a:r>
              </a:p>
            </p:txBody>
          </p:sp>
        </mc:Fallback>
      </mc:AlternateContent>
    </p:spTree>
    <p:extLst>
      <p:ext uri="{BB962C8B-B14F-4D97-AF65-F5344CB8AC3E}">
        <p14:creationId xmlns:p14="http://schemas.microsoft.com/office/powerpoint/2010/main" val="151895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aph of a function&#10;&#10;AI-generated content may be incorrect.">
            <a:extLst>
              <a:ext uri="{FF2B5EF4-FFF2-40B4-BE49-F238E27FC236}">
                <a16:creationId xmlns:a16="http://schemas.microsoft.com/office/drawing/2014/main" id="{1CC8C807-5C28-BB14-FC1D-DC70337859D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53690" y="912446"/>
            <a:ext cx="4296833" cy="4033614"/>
          </a:xfrm>
        </p:spPr>
      </p:pic>
      <p:pic>
        <p:nvPicPr>
          <p:cNvPr id="8" name="Picture 7" descr="A graph of a function&#10;&#10;AI-generated content may be incorrect.">
            <a:extLst>
              <a:ext uri="{FF2B5EF4-FFF2-40B4-BE49-F238E27FC236}">
                <a16:creationId xmlns:a16="http://schemas.microsoft.com/office/drawing/2014/main" id="{15BD8BB6-6CDE-7FC1-A05E-88A8E4C774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1478" y="912446"/>
            <a:ext cx="4296833" cy="4033614"/>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B8742EE-E21B-A12A-FAEE-5FCBF63C89C9}"/>
                  </a:ext>
                </a:extLst>
              </p:cNvPr>
              <p:cNvSpPr txBox="1"/>
              <p:nvPr/>
            </p:nvSpPr>
            <p:spPr>
              <a:xfrm>
                <a:off x="836246" y="4947137"/>
                <a:ext cx="10519507" cy="1200329"/>
              </a:xfrm>
              <a:prstGeom prst="rect">
                <a:avLst/>
              </a:prstGeom>
              <a:noFill/>
            </p:spPr>
            <p:txBody>
              <a:bodyPr wrap="square" rtlCol="0">
                <a:spAutoFit/>
              </a:bodyPr>
              <a:lstStyle/>
              <a:p>
                <a:pPr marL="285750" indent="-285750">
                  <a:buFont typeface="Arial" panose="020B0604020202020204" pitchFamily="34" charset="0"/>
                  <a:buChar char="•"/>
                </a:pPr>
                <a:r>
                  <a:rPr lang="it-IT" b="1" dirty="0"/>
                  <a:t>Acceptance rate</a:t>
                </a:r>
                <a:r>
                  <a:rPr lang="it-IT" dirty="0"/>
                  <a:t>: </a:t>
                </a:r>
                <a14:m>
                  <m:oMath xmlns:m="http://schemas.openxmlformats.org/officeDocument/2006/math">
                    <m:r>
                      <a:rPr lang="it-IT" i="1" dirty="0" smtClean="0">
                        <a:latin typeface="Cambria Math" panose="02040503050406030204" pitchFamily="18" charset="0"/>
                      </a:rPr>
                      <m:t>0.0044 →</m:t>
                    </m:r>
                    <m:r>
                      <m:rPr>
                        <m:nor/>
                      </m:rPr>
                      <a:rPr lang="it-IT"/>
                      <m:t>0.3126</m:t>
                    </m:r>
                  </m:oMath>
                </a14:m>
                <a:endParaRPr lang="it-IT" dirty="0"/>
              </a:p>
              <a:p>
                <a:pPr marL="285750" indent="-285750">
                  <a:buFont typeface="Arial" panose="020B0604020202020204" pitchFamily="34" charset="0"/>
                  <a:buChar char="•"/>
                </a:pPr>
                <a:r>
                  <a:rPr lang="it-IT" dirty="0"/>
                  <a:t>The data in the plots are </a:t>
                </a:r>
                <a:r>
                  <a:rPr lang="it-IT" b="1" dirty="0"/>
                  <a:t>generated</a:t>
                </a:r>
                <a:r>
                  <a:rPr lang="it-IT" dirty="0"/>
                  <a:t> from a mixturee of Gaussians.</a:t>
                </a:r>
              </a:p>
              <a:p>
                <a:pPr marL="285750" indent="-285750">
                  <a:buFont typeface="Arial" panose="020B0604020202020204" pitchFamily="34" charset="0"/>
                  <a:buChar char="•"/>
                </a:pPr>
                <a:r>
                  <a:rPr lang="en-US" dirty="0"/>
                  <a:t>The whole adaptive–proposal mechanism </a:t>
                </a:r>
                <a:r>
                  <a:rPr lang="en-US" b="1" dirty="0"/>
                  <a:t>is not needed</a:t>
                </a:r>
                <a:r>
                  <a:rPr lang="en-US" dirty="0"/>
                  <a:t>: using the sample covariance from the first (non-adaptive) run yields results that are practically identical.</a:t>
                </a:r>
                <a:endParaRPr lang="it-IT" dirty="0"/>
              </a:p>
            </p:txBody>
          </p:sp>
        </mc:Choice>
        <mc:Fallback xmlns="">
          <p:sp>
            <p:nvSpPr>
              <p:cNvPr id="10" name="TextBox 9">
                <a:extLst>
                  <a:ext uri="{FF2B5EF4-FFF2-40B4-BE49-F238E27FC236}">
                    <a16:creationId xmlns:a16="http://schemas.microsoft.com/office/drawing/2014/main" id="{0B8742EE-E21B-A12A-FAEE-5FCBF63C89C9}"/>
                  </a:ext>
                </a:extLst>
              </p:cNvPr>
              <p:cNvSpPr txBox="1">
                <a:spLocks noRot="1" noChangeAspect="1" noMove="1" noResize="1" noEditPoints="1" noAdjustHandles="1" noChangeArrowheads="1" noChangeShapeType="1" noTextEdit="1"/>
              </p:cNvSpPr>
              <p:nvPr/>
            </p:nvSpPr>
            <p:spPr>
              <a:xfrm>
                <a:off x="836246" y="4947137"/>
                <a:ext cx="10519507" cy="1200329"/>
              </a:xfrm>
              <a:prstGeom prst="rect">
                <a:avLst/>
              </a:prstGeom>
              <a:blipFill>
                <a:blip r:embed="rId4"/>
                <a:stretch>
                  <a:fillRect l="-348" t="-3061" b="-7653"/>
                </a:stretch>
              </a:blipFill>
            </p:spPr>
            <p:txBody>
              <a:bodyPr/>
              <a:lstStyle/>
              <a:p>
                <a:r>
                  <a:rPr lang="it-IT">
                    <a:noFill/>
                  </a:rPr>
                  <a:t> </a:t>
                </a:r>
              </a:p>
            </p:txBody>
          </p:sp>
        </mc:Fallback>
      </mc:AlternateContent>
      <p:sp>
        <p:nvSpPr>
          <p:cNvPr id="11" name="Arrow: Right 10">
            <a:extLst>
              <a:ext uri="{FF2B5EF4-FFF2-40B4-BE49-F238E27FC236}">
                <a16:creationId xmlns:a16="http://schemas.microsoft.com/office/drawing/2014/main" id="{23D6BBB7-B267-6E29-AA59-3BB2527AD6B3}"/>
              </a:ext>
            </a:extLst>
          </p:cNvPr>
          <p:cNvSpPr/>
          <p:nvPr/>
        </p:nvSpPr>
        <p:spPr>
          <a:xfrm>
            <a:off x="5578558" y="2741684"/>
            <a:ext cx="890955" cy="375138"/>
          </a:xfrm>
          <a:prstGeom prst="righ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it-IT">
              <a:solidFill>
                <a:srgbClr val="FF0000"/>
              </a:solidFill>
            </a:endParaRPr>
          </a:p>
        </p:txBody>
      </p:sp>
    </p:spTree>
    <p:extLst>
      <p:ext uri="{BB962C8B-B14F-4D97-AF65-F5344CB8AC3E}">
        <p14:creationId xmlns:p14="http://schemas.microsoft.com/office/powerpoint/2010/main" val="168705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7D8BD-F0A1-3D3F-8C5F-0FDA005C393F}"/>
              </a:ext>
            </a:extLst>
          </p:cNvPr>
          <p:cNvSpPr>
            <a:spLocks noGrp="1"/>
          </p:cNvSpPr>
          <p:nvPr>
            <p:ph type="title"/>
          </p:nvPr>
        </p:nvSpPr>
        <p:spPr>
          <a:xfrm>
            <a:off x="700635" y="914400"/>
            <a:ext cx="10691265" cy="1307592"/>
          </a:xfrm>
        </p:spPr>
        <p:txBody>
          <a:bodyPr/>
          <a:lstStyle/>
          <a:p>
            <a:r>
              <a:rPr lang="it-IT" dirty="0">
                <a:solidFill>
                  <a:srgbClr val="FF0000"/>
                </a:solidFill>
              </a:rPr>
              <a:t>Initial State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FBA678-03E1-151B-97C3-4D7D0A89AD4A}"/>
                  </a:ext>
                </a:extLst>
              </p:cNvPr>
              <p:cNvSpPr>
                <a:spLocks noGrp="1"/>
              </p:cNvSpPr>
              <p:nvPr>
                <p:ph idx="1"/>
              </p:nvPr>
            </p:nvSpPr>
            <p:spPr>
              <a:xfrm>
                <a:off x="700635" y="1570892"/>
                <a:ext cx="10691265" cy="4390996"/>
              </a:xfrm>
            </p:spPr>
            <p:txBody>
              <a:bodyPr/>
              <a:lstStyle/>
              <a:p>
                <a:r>
                  <a:rPr lang="it-IT" dirty="0"/>
                  <a:t>The chain can get stuck near w = 0 or w = 1.</a:t>
                </a:r>
              </a:p>
              <a:p>
                <a:r>
                  <a:rPr lang="en-US" dirty="0"/>
                  <a:t>Chains get stuck at </a:t>
                </a:r>
                <a:r>
                  <a:rPr lang="en-US" b="1" dirty="0"/>
                  <a:t>boundary peaks </a:t>
                </a:r>
                <a:r>
                  <a:rPr lang="en-US" dirty="0"/>
                  <a:t>because local proposals land in much lower posterior density and are therefore almost always rejected.</a:t>
                </a:r>
              </a:p>
              <a:p>
                <a:r>
                  <a:rPr lang="en-US" dirty="0"/>
                  <a:t>Peaks at </a:t>
                </a:r>
                <a14:m>
                  <m:oMath xmlns:m="http://schemas.openxmlformats.org/officeDocument/2006/math">
                    <m:r>
                      <a:rPr lang="en-US" i="1" smtClean="0">
                        <a:latin typeface="Cambria Math" panose="02040503050406030204" pitchFamily="18" charset="0"/>
                      </a:rPr>
                      <m:t>𝑤</m:t>
                    </m:r>
                    <m:r>
                      <a:rPr lang="en-US">
                        <a:latin typeface="Cambria Math" panose="02040503050406030204" pitchFamily="18" charset="0"/>
                      </a:rPr>
                      <m:t>≈0</m:t>
                    </m:r>
                  </m:oMath>
                </a14:m>
                <a:r>
                  <a:rPr lang="en-US" dirty="0"/>
                  <a:t> or </a:t>
                </a:r>
                <a14:m>
                  <m:oMath xmlns:m="http://schemas.openxmlformats.org/officeDocument/2006/math">
                    <m:r>
                      <a:rPr lang="en-US" i="1">
                        <a:latin typeface="Cambria Math" panose="02040503050406030204" pitchFamily="18" charset="0"/>
                      </a:rPr>
                      <m:t>𝑤</m:t>
                    </m:r>
                    <m:r>
                      <a:rPr lang="en-US">
                        <a:latin typeface="Cambria Math" panose="02040503050406030204" pitchFamily="18" charset="0"/>
                      </a:rPr>
                      <m:t>≈1</m:t>
                    </m:r>
                  </m:oMath>
                </a14:m>
                <a:r>
                  <a:rPr lang="en-US" dirty="0"/>
                  <a:t> arise because there exist parameter configurations in which one mixture component fits the data by itself, making the other component effectively irrelevant.</a:t>
                </a:r>
                <a:endParaRPr lang="it-IT" dirty="0"/>
              </a:p>
              <a:p>
                <a:r>
                  <a:rPr lang="it-IT" dirty="0"/>
                  <a:t>To minimize the risk, the chain was initialized at w = 0.5 </a:t>
                </a:r>
              </a:p>
              <a:p>
                <a:r>
                  <a:rPr lang="it-IT" dirty="0"/>
                  <a:t>Other parameters were initialized to:</a:t>
                </a:r>
              </a:p>
              <a:p>
                <a:pPr lvl="1"/>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𝑖</m:t>
                        </m:r>
                      </m:sub>
                    </m:sSub>
                    <m:r>
                      <a:rPr lang="it-IT" b="0" i="1" smtClean="0">
                        <a:latin typeface="Cambria Math" panose="02040503050406030204" pitchFamily="18" charset="0"/>
                      </a:rPr>
                      <m:t>=1</m:t>
                    </m:r>
                  </m:oMath>
                </a14:m>
                <a:endParaRPr lang="it-IT" dirty="0"/>
              </a:p>
              <a:p>
                <a:pPr lvl="1"/>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1</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𝑝</m:t>
                        </m:r>
                      </m:e>
                      <m:sub>
                        <m:r>
                          <a:rPr lang="it-IT" b="0" i="1" smtClean="0">
                            <a:latin typeface="Cambria Math" panose="02040503050406030204" pitchFamily="18" charset="0"/>
                          </a:rPr>
                          <m:t>25</m:t>
                        </m:r>
                      </m:sub>
                    </m:sSub>
                    <m:r>
                      <a:rPr lang="it-IT" b="0" i="1" smtClean="0">
                        <a:latin typeface="Cambria Math" panose="02040503050406030204" pitchFamily="18" charset="0"/>
                      </a:rPr>
                      <m:t>  </m:t>
                    </m:r>
                    <m:r>
                      <a:rPr lang="it-IT" b="0" i="0"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oMath>
                </a14:m>
                <a:r>
                  <a:rPr lang="ar-AE" dirty="0"/>
                  <a:t> = </a:t>
                </a:r>
                <a14:m>
                  <m:oMath xmlns:m="http://schemas.openxmlformats.org/officeDocument/2006/math">
                    <m:r>
                      <a:rPr lang="ar-AE" i="1">
                        <a:latin typeface="Cambria Math" panose="02040503050406030204" pitchFamily="18" charset="0"/>
                      </a:rPr>
                      <m:t>𝑖</m:t>
                    </m:r>
                  </m:oMath>
                </a14:m>
                <a:r>
                  <a:rPr lang="ar-AE" dirty="0"/>
                  <a:t>-</a:t>
                </a:r>
                <a:r>
                  <a:rPr lang="it-IT" dirty="0"/>
                  <a:t>th percentile)</a:t>
                </a:r>
              </a:p>
              <a:p>
                <a:pPr lvl="1"/>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𝛿</m:t>
                        </m:r>
                      </m:e>
                      <m:sub>
                        <m:r>
                          <a:rPr lang="it-IT" b="0" i="1" smtClean="0">
                            <a:latin typeface="Cambria Math" panose="02040503050406030204" pitchFamily="18" charset="0"/>
                          </a:rPr>
                          <m:t>12</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𝑝</m:t>
                        </m:r>
                      </m:e>
                      <m:sub>
                        <m:r>
                          <a:rPr lang="it-IT" b="0" i="1" smtClean="0">
                            <a:latin typeface="Cambria Math" panose="02040503050406030204" pitchFamily="18" charset="0"/>
                          </a:rPr>
                          <m:t>75</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𝑝</m:t>
                        </m:r>
                      </m:e>
                      <m:sub>
                        <m:r>
                          <a:rPr lang="it-IT" b="0" i="1" smtClean="0">
                            <a:latin typeface="Cambria Math" panose="02040503050406030204" pitchFamily="18" charset="0"/>
                          </a:rPr>
                          <m:t>25</m:t>
                        </m:r>
                      </m:sub>
                    </m:sSub>
                  </m:oMath>
                </a14:m>
                <a:endParaRPr lang="it-IT" dirty="0"/>
              </a:p>
            </p:txBody>
          </p:sp>
        </mc:Choice>
        <mc:Fallback xmlns="">
          <p:sp>
            <p:nvSpPr>
              <p:cNvPr id="3" name="Content Placeholder 2">
                <a:extLst>
                  <a:ext uri="{FF2B5EF4-FFF2-40B4-BE49-F238E27FC236}">
                    <a16:creationId xmlns:a16="http://schemas.microsoft.com/office/drawing/2014/main" id="{72FBA678-03E1-151B-97C3-4D7D0A89AD4A}"/>
                  </a:ext>
                </a:extLst>
              </p:cNvPr>
              <p:cNvSpPr>
                <a:spLocks noGrp="1" noRot="1" noChangeAspect="1" noMove="1" noResize="1" noEditPoints="1" noAdjustHandles="1" noChangeArrowheads="1" noChangeShapeType="1" noTextEdit="1"/>
              </p:cNvSpPr>
              <p:nvPr>
                <p:ph idx="1"/>
              </p:nvPr>
            </p:nvSpPr>
            <p:spPr>
              <a:xfrm>
                <a:off x="700635" y="1570892"/>
                <a:ext cx="10691265" cy="4390996"/>
              </a:xfrm>
              <a:blipFill>
                <a:blip r:embed="rId2"/>
                <a:stretch>
                  <a:fillRect l="-513" t="-694"/>
                </a:stretch>
              </a:blipFill>
            </p:spPr>
            <p:txBody>
              <a:bodyPr/>
              <a:lstStyle/>
              <a:p>
                <a:r>
                  <a:rPr lang="it-IT">
                    <a:noFill/>
                  </a:rPr>
                  <a:t> </a:t>
                </a:r>
              </a:p>
            </p:txBody>
          </p:sp>
        </mc:Fallback>
      </mc:AlternateContent>
    </p:spTree>
    <p:extLst>
      <p:ext uri="{BB962C8B-B14F-4D97-AF65-F5344CB8AC3E}">
        <p14:creationId xmlns:p14="http://schemas.microsoft.com/office/powerpoint/2010/main" val="281682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949F8-4F54-3DC8-1795-60C378A7FAA9}"/>
              </a:ext>
            </a:extLst>
          </p:cNvPr>
          <p:cNvSpPr>
            <a:spLocks noGrp="1"/>
          </p:cNvSpPr>
          <p:nvPr>
            <p:ph type="title"/>
          </p:nvPr>
        </p:nvSpPr>
        <p:spPr/>
        <p:txBody>
          <a:bodyPr/>
          <a:lstStyle/>
          <a:p>
            <a:r>
              <a:rPr lang="it-IT" dirty="0">
                <a:solidFill>
                  <a:srgbClr val="FF0000"/>
                </a:solidFill>
              </a:rPr>
              <a:t>ENSEMBLE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100318-505E-C1BF-344B-FE73CB3B17D9}"/>
                  </a:ext>
                </a:extLst>
              </p:cNvPr>
              <p:cNvSpPr>
                <a:spLocks noGrp="1"/>
              </p:cNvSpPr>
              <p:nvPr>
                <p:ph idx="1"/>
              </p:nvPr>
            </p:nvSpPr>
            <p:spPr>
              <a:xfrm>
                <a:off x="700635" y="1570892"/>
                <a:ext cx="5458384" cy="4501662"/>
              </a:xfrm>
            </p:spPr>
            <p:txBody>
              <a:bodyPr>
                <a:normAutofit/>
              </a:bodyPr>
              <a:lstStyle/>
              <a:p>
                <a:r>
                  <a:rPr lang="en-US" dirty="0"/>
                  <a:t>Initial state validated on simulated data; real data stability uncertain.</a:t>
                </a:r>
              </a:p>
              <a:p>
                <a:r>
                  <a:rPr lang="en-US" dirty="0"/>
                  <a:t>Ensemble of </a:t>
                </a:r>
                <a:r>
                  <a:rPr lang="en-US" b="1" dirty="0"/>
                  <a:t>8 chains</a:t>
                </a:r>
                <a:r>
                  <a:rPr lang="en-US" dirty="0"/>
                  <a:t> with </a:t>
                </a:r>
                <a:r>
                  <a:rPr lang="en-US" b="1" dirty="0"/>
                  <a:t>different initial states</a:t>
                </a:r>
                <a:r>
                  <a:rPr lang="en-US" dirty="0"/>
                  <a:t>.</a:t>
                </a:r>
              </a:p>
              <a:p>
                <a:r>
                  <a:rPr lang="en-US" dirty="0"/>
                  <a:t>Initial states obtained by </a:t>
                </a:r>
                <a:r>
                  <a:rPr lang="en-US" b="1" dirty="0"/>
                  <a:t>Gaussian perturbation</a:t>
                </a:r>
                <a:r>
                  <a:rPr lang="en-US" dirty="0"/>
                  <a:t> (mean = base </a:t>
                </a:r>
                <a:r>
                  <a:rPr lang="en-US" dirty="0" err="1"/>
                  <a:t>init</a:t>
                </a:r>
                <a:r>
                  <a:rPr lang="en-US" dirty="0"/>
                  <a:t>; std = 10% of parameter range; clipped to prior boundaries).</a:t>
                </a:r>
              </a:p>
              <a:p>
                <a:r>
                  <a:rPr lang="en-US" dirty="0"/>
                  <a:t>2/8 chains stuck at </a:t>
                </a:r>
                <a14:m>
                  <m:oMath xmlns:m="http://schemas.openxmlformats.org/officeDocument/2006/math">
                    <m:r>
                      <a:rPr lang="en-US" i="1">
                        <a:latin typeface="Cambria Math" panose="02040503050406030204" pitchFamily="18" charset="0"/>
                      </a:rPr>
                      <m:t>𝑤</m:t>
                    </m:r>
                    <m:r>
                      <a:rPr lang="en-US">
                        <a:latin typeface="Cambria Math" panose="02040503050406030204" pitchFamily="18" charset="0"/>
                      </a:rPr>
                      <m:t>≈1</m:t>
                    </m:r>
                  </m:oMath>
                </a14:m>
                <a:r>
                  <a:rPr lang="en-US" dirty="0"/>
                  <a:t>→ discarded.</a:t>
                </a:r>
              </a:p>
              <a:p>
                <a:r>
                  <a:rPr lang="en-US" b="1" dirty="0"/>
                  <a:t>Thinning</a:t>
                </a:r>
                <a:r>
                  <a:rPr lang="en-US" dirty="0"/>
                  <a:t>: first lag where autocorrelation &lt; 0 (max across parameters).</a:t>
                </a:r>
                <a:endParaRPr lang="it-IT" dirty="0"/>
              </a:p>
              <a:p>
                <a:r>
                  <a:rPr lang="it-IT" b="1" dirty="0"/>
                  <a:t>Burnin</a:t>
                </a:r>
                <a:r>
                  <a:rPr lang="it-IT" dirty="0"/>
                  <a:t> = 1500.</a:t>
                </a:r>
              </a:p>
            </p:txBody>
          </p:sp>
        </mc:Choice>
        <mc:Fallback xmlns="">
          <p:sp>
            <p:nvSpPr>
              <p:cNvPr id="3" name="Content Placeholder 2">
                <a:extLst>
                  <a:ext uri="{FF2B5EF4-FFF2-40B4-BE49-F238E27FC236}">
                    <a16:creationId xmlns:a16="http://schemas.microsoft.com/office/drawing/2014/main" id="{EA100318-505E-C1BF-344B-FE73CB3B17D9}"/>
                  </a:ext>
                </a:extLst>
              </p:cNvPr>
              <p:cNvSpPr>
                <a:spLocks noGrp="1" noRot="1" noChangeAspect="1" noMove="1" noResize="1" noEditPoints="1" noAdjustHandles="1" noChangeArrowheads="1" noChangeShapeType="1" noTextEdit="1"/>
              </p:cNvSpPr>
              <p:nvPr>
                <p:ph idx="1"/>
              </p:nvPr>
            </p:nvSpPr>
            <p:spPr>
              <a:xfrm>
                <a:off x="700635" y="1570892"/>
                <a:ext cx="5458384" cy="4501662"/>
              </a:xfrm>
              <a:blipFill>
                <a:blip r:embed="rId3"/>
                <a:stretch>
                  <a:fillRect l="-1006" t="-678"/>
                </a:stretch>
              </a:blipFill>
            </p:spPr>
            <p:txBody>
              <a:bodyPr/>
              <a:lstStyle/>
              <a:p>
                <a:r>
                  <a:rPr lang="it-IT">
                    <a:noFill/>
                  </a:rPr>
                  <a:t> </a:t>
                </a:r>
              </a:p>
            </p:txBody>
          </p:sp>
        </mc:Fallback>
      </mc:AlternateContent>
      <p:pic>
        <p:nvPicPr>
          <p:cNvPr id="11" name="Picture 10" descr="A graph of a chain trace plot&#10;&#10;AI-generated content may be incorrect.">
            <a:extLst>
              <a:ext uri="{FF2B5EF4-FFF2-40B4-BE49-F238E27FC236}">
                <a16:creationId xmlns:a16="http://schemas.microsoft.com/office/drawing/2014/main" id="{A93E3C89-F9C8-6A2B-B18A-3B86D37400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59018" y="785446"/>
            <a:ext cx="5232882" cy="5329704"/>
          </a:xfrm>
          <a:prstGeom prst="rect">
            <a:avLst/>
          </a:prstGeom>
        </p:spPr>
      </p:pic>
    </p:spTree>
    <p:extLst>
      <p:ext uri="{BB962C8B-B14F-4D97-AF65-F5344CB8AC3E}">
        <p14:creationId xmlns:p14="http://schemas.microsoft.com/office/powerpoint/2010/main" val="455502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a line&#10;&#10;AI-generated content may be incorrect.">
            <a:extLst>
              <a:ext uri="{FF2B5EF4-FFF2-40B4-BE49-F238E27FC236}">
                <a16:creationId xmlns:a16="http://schemas.microsoft.com/office/drawing/2014/main" id="{9B614DEE-F792-9AD3-A420-3309BC51DF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6872" y="3600867"/>
            <a:ext cx="4149332" cy="2530126"/>
          </a:xfrm>
          <a:prstGeom prst="rect">
            <a:avLst/>
          </a:prstGeom>
        </p:spPr>
      </p:pic>
      <p:sp>
        <p:nvSpPr>
          <p:cNvPr id="9" name="TextBox 8">
            <a:extLst>
              <a:ext uri="{FF2B5EF4-FFF2-40B4-BE49-F238E27FC236}">
                <a16:creationId xmlns:a16="http://schemas.microsoft.com/office/drawing/2014/main" id="{DE5098A0-DE61-B813-04ED-DA2A9191A64D}"/>
              </a:ext>
            </a:extLst>
          </p:cNvPr>
          <p:cNvSpPr txBox="1"/>
          <p:nvPr/>
        </p:nvSpPr>
        <p:spPr>
          <a:xfrm>
            <a:off x="750094" y="4591440"/>
            <a:ext cx="3426778" cy="646331"/>
          </a:xfrm>
          <a:prstGeom prst="rect">
            <a:avLst/>
          </a:prstGeom>
          <a:noFill/>
        </p:spPr>
        <p:txBody>
          <a:bodyPr wrap="square" rtlCol="0">
            <a:spAutoFit/>
          </a:bodyPr>
          <a:lstStyle/>
          <a:p>
            <a:pPr algn="ctr"/>
            <a:r>
              <a:rPr lang="it-IT" dirty="0"/>
              <a:t>Mean acceptace rate = 0.269</a:t>
            </a:r>
          </a:p>
          <a:p>
            <a:pPr algn="ctr"/>
            <a:r>
              <a:rPr lang="it-IT" dirty="0"/>
              <a:t>#samples = 2975</a:t>
            </a:r>
          </a:p>
        </p:txBody>
      </p:sp>
      <p:pic>
        <p:nvPicPr>
          <p:cNvPr id="13" name="Picture 12" descr="A graph of a tall tower&#10;&#10;AI-generated content may be incorrect.">
            <a:extLst>
              <a:ext uri="{FF2B5EF4-FFF2-40B4-BE49-F238E27FC236}">
                <a16:creationId xmlns:a16="http://schemas.microsoft.com/office/drawing/2014/main" id="{B97D6969-3F60-7212-DAA7-FC5054DC9F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6393" y="797346"/>
            <a:ext cx="9859213" cy="2803521"/>
          </a:xfrm>
          <a:prstGeom prst="rect">
            <a:avLst/>
          </a:prstGeom>
        </p:spPr>
      </p:pic>
    </p:spTree>
    <p:extLst>
      <p:ext uri="{BB962C8B-B14F-4D97-AF65-F5344CB8AC3E}">
        <p14:creationId xmlns:p14="http://schemas.microsoft.com/office/powerpoint/2010/main" val="408948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0A28-96D5-687D-7C24-B86CC286E737}"/>
              </a:ext>
            </a:extLst>
          </p:cNvPr>
          <p:cNvSpPr>
            <a:spLocks noGrp="1"/>
          </p:cNvSpPr>
          <p:nvPr>
            <p:ph type="title"/>
          </p:nvPr>
        </p:nvSpPr>
        <p:spPr/>
        <p:txBody>
          <a:bodyPr/>
          <a:lstStyle/>
          <a:p>
            <a:r>
              <a:rPr lang="it-IT" dirty="0">
                <a:solidFill>
                  <a:srgbClr val="FF0000"/>
                </a:solidFill>
              </a:rPr>
              <a:t>Parameter values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DD0B84B4-C261-00C8-426B-65B0E2791810}"/>
                  </a:ext>
                </a:extLst>
              </p:cNvPr>
              <p:cNvGraphicFramePr>
                <a:graphicFrameLocks noGrp="1"/>
              </p:cNvGraphicFramePr>
              <p:nvPr>
                <p:ph idx="1"/>
                <p:extLst>
                  <p:ext uri="{D42A27DB-BD31-4B8C-83A1-F6EECF244321}">
                    <p14:modId xmlns:p14="http://schemas.microsoft.com/office/powerpoint/2010/main" val="1734548978"/>
                  </p:ext>
                </p:extLst>
              </p:nvPr>
            </p:nvGraphicFramePr>
            <p:xfrm>
              <a:off x="800100" y="2124900"/>
              <a:ext cx="10591800" cy="2608199"/>
            </p:xfrm>
            <a:graphic>
              <a:graphicData uri="http://schemas.openxmlformats.org/drawingml/2006/table">
                <a:tbl>
                  <a:tblPr firstRow="1" bandRow="1">
                    <a:tableStyleId>{5C22544A-7EE6-4342-B048-85BDC9FD1C3A}</a:tableStyleId>
                  </a:tblPr>
                  <a:tblGrid>
                    <a:gridCol w="2647950">
                      <a:extLst>
                        <a:ext uri="{9D8B030D-6E8A-4147-A177-3AD203B41FA5}">
                          <a16:colId xmlns:a16="http://schemas.microsoft.com/office/drawing/2014/main" val="987392356"/>
                        </a:ext>
                      </a:extLst>
                    </a:gridCol>
                    <a:gridCol w="2647950">
                      <a:extLst>
                        <a:ext uri="{9D8B030D-6E8A-4147-A177-3AD203B41FA5}">
                          <a16:colId xmlns:a16="http://schemas.microsoft.com/office/drawing/2014/main" val="4113713930"/>
                        </a:ext>
                      </a:extLst>
                    </a:gridCol>
                    <a:gridCol w="2647950">
                      <a:extLst>
                        <a:ext uri="{9D8B030D-6E8A-4147-A177-3AD203B41FA5}">
                          <a16:colId xmlns:a16="http://schemas.microsoft.com/office/drawing/2014/main" val="4244897437"/>
                        </a:ext>
                      </a:extLst>
                    </a:gridCol>
                    <a:gridCol w="2647950">
                      <a:extLst>
                        <a:ext uri="{9D8B030D-6E8A-4147-A177-3AD203B41FA5}">
                          <a16:colId xmlns:a16="http://schemas.microsoft.com/office/drawing/2014/main" val="66662860"/>
                        </a:ext>
                      </a:extLst>
                    </a:gridCol>
                  </a:tblGrid>
                  <a:tr h="370840">
                    <a:tc>
                      <a:txBody>
                        <a:bodyPr/>
                        <a:lstStyle/>
                        <a:p>
                          <a:pPr algn="ctr"/>
                          <a:r>
                            <a:rPr lang="it-IT" dirty="0"/>
                            <a:t>Parameters</a:t>
                          </a:r>
                        </a:p>
                      </a:txBody>
                      <a:tcPr>
                        <a:lnB w="38100" cmpd="sng">
                          <a:noFill/>
                        </a:lnB>
                      </a:tcPr>
                    </a:tc>
                    <a:tc>
                      <a:txBody>
                        <a:bodyPr/>
                        <a:lstStyle/>
                        <a:p>
                          <a:pPr algn="ctr"/>
                          <a:r>
                            <a:rPr lang="it-IT" dirty="0"/>
                            <a:t>Mean ± std</a:t>
                          </a:r>
                        </a:p>
                      </a:txBody>
                      <a:tcPr>
                        <a:lnB w="38100" cmpd="sng">
                          <a:noFill/>
                        </a:lnB>
                      </a:tcPr>
                    </a:tc>
                    <a:tc>
                      <a:txBody>
                        <a:bodyPr/>
                        <a:lstStyle/>
                        <a:p>
                          <a:pPr algn="ctr"/>
                          <a:r>
                            <a:rPr lang="it-IT" dirty="0"/>
                            <a:t>Median±</a:t>
                          </a:r>
                          <a14:m>
                            <m:oMath xmlns:m="http://schemas.openxmlformats.org/officeDocument/2006/math">
                              <m:d>
                                <m:dPr>
                                  <m:begChr m:val="["/>
                                  <m:endChr m:val="]"/>
                                  <m:ctrlPr>
                                    <a:rPr lang="it-IT" b="1" i="1" smtClean="0">
                                      <a:latin typeface="Cambria Math" panose="02040503050406030204" pitchFamily="18" charset="0"/>
                                    </a:rPr>
                                  </m:ctrlPr>
                                </m:dPr>
                                <m:e>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𝟏𝟔</m:t>
                                      </m:r>
                                    </m:sub>
                                  </m:sSub>
                                  <m:r>
                                    <a:rPr lang="it-IT" b="1" i="1" smtClean="0">
                                      <a:latin typeface="Cambria Math" panose="02040503050406030204" pitchFamily="18" charset="0"/>
                                    </a:rPr>
                                    <m:t>,</m:t>
                                  </m:r>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𝟖𝟒</m:t>
                                      </m:r>
                                    </m:sub>
                                  </m:sSub>
                                </m:e>
                              </m:d>
                            </m:oMath>
                          </a14:m>
                          <a:r>
                            <a:rPr lang="it-IT" dirty="0"/>
                            <a:t>(68%)</a:t>
                          </a:r>
                        </a:p>
                      </a:txBody>
                      <a:tcPr>
                        <a:lnB w="38100" cmpd="sng">
                          <a:noFill/>
                        </a:lnB>
                      </a:tcPr>
                    </a:tc>
                    <a:tc>
                      <a:txBody>
                        <a:bodyPr/>
                        <a:lstStyle/>
                        <a:p>
                          <a:pPr algn="ctr"/>
                          <a14:m>
                            <m:oMath xmlns:m="http://schemas.openxmlformats.org/officeDocument/2006/math">
                              <m:d>
                                <m:dPr>
                                  <m:begChr m:val="["/>
                                  <m:endChr m:val="]"/>
                                  <m:ctrlPr>
                                    <a:rPr lang="it-IT" b="1" i="1" smtClean="0">
                                      <a:latin typeface="Cambria Math" panose="02040503050406030204" pitchFamily="18" charset="0"/>
                                    </a:rPr>
                                  </m:ctrlPr>
                                </m:dPr>
                                <m:e>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5</m:t>
                                      </m:r>
                                    </m:sub>
                                  </m:sSub>
                                  <m:r>
                                    <a:rPr lang="it-IT" b="1" i="1" smtClean="0">
                                      <a:latin typeface="Cambria Math" panose="02040503050406030204" pitchFamily="18" charset="0"/>
                                    </a:rPr>
                                    <m:t>,</m:t>
                                  </m:r>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95</m:t>
                                      </m:r>
                                    </m:sub>
                                  </m:sSub>
                                </m:e>
                              </m:d>
                            </m:oMath>
                          </a14:m>
                          <a:r>
                            <a:rPr lang="it-IT" dirty="0"/>
                            <a:t> (90%)</a:t>
                          </a:r>
                        </a:p>
                      </a:txBody>
                      <a:tcPr>
                        <a:lnB w="38100" cmpd="sng">
                          <a:noFill/>
                        </a:lnB>
                      </a:tcPr>
                    </a:tc>
                    <a:extLst>
                      <a:ext uri="{0D108BD9-81ED-4DB2-BD59-A6C34878D82A}">
                        <a16:rowId xmlns:a16="http://schemas.microsoft.com/office/drawing/2014/main" val="138773895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𝑤</m:t>
                                    </m:r>
                                  </m:e>
                                  <m:sub>
                                    <m:r>
                                      <a:rPr lang="it-IT" b="0" i="1" smtClean="0">
                                        <a:latin typeface="Cambria Math" panose="02040503050406030204" pitchFamily="18" charset="0"/>
                                      </a:rPr>
                                      <m:t>1</m:t>
                                    </m:r>
                                  </m:sub>
                                </m:sSub>
                              </m:oMath>
                            </m:oMathPara>
                          </a14:m>
                          <a:endParaRPr lang="it-IT"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it-IT" dirty="0"/>
                            <a:t>0.319 ± 0.020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0.318</m:t>
                                    </m:r>
                                  </m:e>
                                  <m:sub>
                                    <m:r>
                                      <a:rPr lang="it-IT" b="0" i="1" smtClean="0">
                                        <a:latin typeface="Cambria Math" panose="02040503050406030204" pitchFamily="18" charset="0"/>
                                      </a:rPr>
                                      <m:t>−0.019</m:t>
                                    </m:r>
                                  </m:sub>
                                  <m:sup>
                                    <m:r>
                                      <a:rPr lang="it-IT" b="0" i="1" smtClean="0">
                                        <a:latin typeface="Cambria Math" panose="02040503050406030204" pitchFamily="18" charset="0"/>
                                      </a:rPr>
                                      <m:t>+0.021</m:t>
                                    </m:r>
                                  </m:sup>
                                </m:sSubSup>
                              </m:oMath>
                            </m:oMathPara>
                          </a14:m>
                          <a:endParaRPr lang="it-IT"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it-IT" dirty="0"/>
                            <a:t>[0.288, 0.353]</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74169945"/>
                      </a:ext>
                    </a:extLst>
                  </a:tr>
                  <a:tr h="370840">
                    <a:tc>
                      <a:txBody>
                        <a:bodyPr/>
                        <a:lstStyle/>
                        <a:p>
                          <a:pPr algn="ct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1</m:t>
                                  </m:r>
                                </m:sub>
                              </m:sSub>
                            </m:oMath>
                          </a14:m>
                          <a:r>
                            <a:rPr lang="it-IT" dirty="0"/>
                            <a:t> [log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-0.19 ± 0.13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−0.20</m:t>
                                    </m:r>
                                  </m:e>
                                  <m:sub>
                                    <m:r>
                                      <a:rPr lang="it-IT" b="0" i="1" smtClean="0">
                                        <a:latin typeface="Cambria Math" panose="02040503050406030204" pitchFamily="18" charset="0"/>
                                      </a:rPr>
                                      <m:t>−0.12</m:t>
                                    </m:r>
                                  </m:sub>
                                  <m:sup>
                                    <m:r>
                                      <a:rPr lang="it-IT" b="0" i="1" smtClean="0">
                                        <a:latin typeface="Cambria Math" panose="02040503050406030204" pitchFamily="18" charset="0"/>
                                      </a:rPr>
                                      <m:t>+0.14</m:t>
                                    </m:r>
                                  </m:sup>
                                </m:sSubSup>
                              </m:oMath>
                            </m:oMathPara>
                          </a14:m>
                          <a:endParaRPr lang="it-IT"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[-0.40, 0.03]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1335764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𝛿</m:t>
                                  </m:r>
                                </m:e>
                                <m:sub>
                                  <m:r>
                                    <a:rPr lang="it-IT" b="0" i="1" smtClean="0">
                                      <a:latin typeface="Cambria Math" panose="02040503050406030204" pitchFamily="18" charset="0"/>
                                    </a:rPr>
                                    <m:t>12</m:t>
                                  </m:r>
                                </m:sub>
                              </m:sSub>
                            </m:oMath>
                          </a14:m>
                          <a:r>
                            <a:rPr lang="it-IT" dirty="0"/>
                            <a:t> [log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3.74 ± 0.11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3.75</m:t>
                                    </m:r>
                                  </m:e>
                                  <m:sub>
                                    <m:r>
                                      <a:rPr lang="it-IT" b="0" i="1" smtClean="0">
                                        <a:latin typeface="Cambria Math" panose="02040503050406030204" pitchFamily="18" charset="0"/>
                                      </a:rPr>
                                      <m:t>−0.11</m:t>
                                    </m:r>
                                  </m:sub>
                                  <m:sup>
                                    <m:r>
                                      <a:rPr lang="it-IT" b="0" i="1" smtClean="0">
                                        <a:latin typeface="Cambria Math" panose="02040503050406030204" pitchFamily="18" charset="0"/>
                                      </a:rPr>
                                      <m:t>+0.10</m:t>
                                    </m:r>
                                  </m:sup>
                                </m:sSubSup>
                              </m:oMath>
                            </m:oMathPara>
                          </a14:m>
                          <a:endParaRPr lang="it-IT"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[3.56, 3.91]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4766532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2</m:t>
                                  </m:r>
                                </m:sub>
                              </m:sSub>
                            </m:oMath>
                          </a14:m>
                          <a:r>
                            <a:rPr lang="it-IT" dirty="0"/>
                            <a:t> [log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3.548 ± 0.045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3.548</m:t>
                                    </m:r>
                                  </m:e>
                                  <m:sub>
                                    <m:r>
                                      <a:rPr lang="it-IT" b="0" i="1" smtClean="0">
                                        <a:latin typeface="Cambria Math" panose="02040503050406030204" pitchFamily="18" charset="0"/>
                                      </a:rPr>
                                      <m:t>−0.044</m:t>
                                    </m:r>
                                  </m:sub>
                                  <m:sup>
                                    <m:r>
                                      <a:rPr lang="it-IT" b="0" i="1" smtClean="0">
                                        <a:latin typeface="Cambria Math" panose="02040503050406030204" pitchFamily="18" charset="0"/>
                                      </a:rPr>
                                      <m:t>+0.044</m:t>
                                    </m:r>
                                  </m:sup>
                                </m:sSubSup>
                              </m:oMath>
                            </m:oMathPara>
                          </a14:m>
                          <a:endParaRPr lang="it-IT"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[3.472, 3.621]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7049225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1</m:t>
                                  </m:r>
                                </m:sub>
                              </m:sSub>
                            </m:oMath>
                          </a14:m>
                          <a:r>
                            <a:rPr lang="it-IT" dirty="0"/>
                            <a:t> [log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1.415 ± 0.084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1.411</m:t>
                                    </m:r>
                                  </m:e>
                                  <m:sub>
                                    <m:r>
                                      <a:rPr lang="it-IT" b="0" i="1" smtClean="0">
                                        <a:latin typeface="Cambria Math" panose="02040503050406030204" pitchFamily="18" charset="0"/>
                                      </a:rPr>
                                      <m:t>−0.079</m:t>
                                    </m:r>
                                  </m:sub>
                                  <m:sup>
                                    <m:r>
                                      <a:rPr lang="it-IT" b="0" i="1" smtClean="0">
                                        <a:latin typeface="Cambria Math" panose="02040503050406030204" pitchFamily="18" charset="0"/>
                                      </a:rPr>
                                      <m:t>+0.087</m:t>
                                    </m:r>
                                  </m:sup>
                                </m:sSubSup>
                              </m:oMath>
                            </m:oMathPara>
                          </a14:m>
                          <a:endParaRPr lang="it-IT"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[1.287, 1.560]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49844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2</m:t>
                                  </m:r>
                                </m:sub>
                              </m:sSub>
                            </m:oMath>
                          </a14:m>
                          <a:r>
                            <a:rPr lang="it-IT" dirty="0"/>
                            <a:t> [log s]</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dirty="0"/>
                            <a:t>0.989 ± 0.032</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0.989</m:t>
                                    </m:r>
                                  </m:e>
                                  <m:sub>
                                    <m:r>
                                      <a:rPr lang="it-IT" b="0" i="1" smtClean="0">
                                        <a:latin typeface="Cambria Math" panose="02040503050406030204" pitchFamily="18" charset="0"/>
                                      </a:rPr>
                                      <m:t>−0.031</m:t>
                                    </m:r>
                                  </m:sub>
                                  <m:sup>
                                    <m:r>
                                      <a:rPr lang="it-IT" b="0" i="1" smtClean="0">
                                        <a:latin typeface="Cambria Math" panose="02040503050406030204" pitchFamily="18" charset="0"/>
                                      </a:rPr>
                                      <m:t>+0.032</m:t>
                                    </m:r>
                                  </m:sup>
                                </m:sSubSup>
                              </m:oMath>
                            </m:oMathPara>
                          </a14:m>
                          <a:endParaRPr lang="it-IT"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dirty="0"/>
                            <a:t>[0.938, 1.042]</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49795"/>
                      </a:ext>
                    </a:extLst>
                  </a:tr>
                </a:tbl>
              </a:graphicData>
            </a:graphic>
          </p:graphicFrame>
        </mc:Choice>
        <mc:Fallback xmlns="">
          <p:graphicFrame>
            <p:nvGraphicFramePr>
              <p:cNvPr id="4" name="Content Placeholder 3">
                <a:extLst>
                  <a:ext uri="{FF2B5EF4-FFF2-40B4-BE49-F238E27FC236}">
                    <a16:creationId xmlns:a16="http://schemas.microsoft.com/office/drawing/2014/main" id="{DD0B84B4-C261-00C8-426B-65B0E2791810}"/>
                  </a:ext>
                </a:extLst>
              </p:cNvPr>
              <p:cNvGraphicFramePr>
                <a:graphicFrameLocks noGrp="1"/>
              </p:cNvGraphicFramePr>
              <p:nvPr>
                <p:ph idx="1"/>
                <p:extLst>
                  <p:ext uri="{D42A27DB-BD31-4B8C-83A1-F6EECF244321}">
                    <p14:modId xmlns:p14="http://schemas.microsoft.com/office/powerpoint/2010/main" val="1734548978"/>
                  </p:ext>
                </p:extLst>
              </p:nvPr>
            </p:nvGraphicFramePr>
            <p:xfrm>
              <a:off x="800100" y="2124900"/>
              <a:ext cx="10591800" cy="2608199"/>
            </p:xfrm>
            <a:graphic>
              <a:graphicData uri="http://schemas.openxmlformats.org/drawingml/2006/table">
                <a:tbl>
                  <a:tblPr firstRow="1" bandRow="1">
                    <a:tableStyleId>{5C22544A-7EE6-4342-B048-85BDC9FD1C3A}</a:tableStyleId>
                  </a:tblPr>
                  <a:tblGrid>
                    <a:gridCol w="2647950">
                      <a:extLst>
                        <a:ext uri="{9D8B030D-6E8A-4147-A177-3AD203B41FA5}">
                          <a16:colId xmlns:a16="http://schemas.microsoft.com/office/drawing/2014/main" val="987392356"/>
                        </a:ext>
                      </a:extLst>
                    </a:gridCol>
                    <a:gridCol w="2647950">
                      <a:extLst>
                        <a:ext uri="{9D8B030D-6E8A-4147-A177-3AD203B41FA5}">
                          <a16:colId xmlns:a16="http://schemas.microsoft.com/office/drawing/2014/main" val="4113713930"/>
                        </a:ext>
                      </a:extLst>
                    </a:gridCol>
                    <a:gridCol w="2647950">
                      <a:extLst>
                        <a:ext uri="{9D8B030D-6E8A-4147-A177-3AD203B41FA5}">
                          <a16:colId xmlns:a16="http://schemas.microsoft.com/office/drawing/2014/main" val="4244897437"/>
                        </a:ext>
                      </a:extLst>
                    </a:gridCol>
                    <a:gridCol w="2647950">
                      <a:extLst>
                        <a:ext uri="{9D8B030D-6E8A-4147-A177-3AD203B41FA5}">
                          <a16:colId xmlns:a16="http://schemas.microsoft.com/office/drawing/2014/main" val="66662860"/>
                        </a:ext>
                      </a:extLst>
                    </a:gridCol>
                  </a:tblGrid>
                  <a:tr h="370840">
                    <a:tc>
                      <a:txBody>
                        <a:bodyPr/>
                        <a:lstStyle/>
                        <a:p>
                          <a:pPr algn="ctr"/>
                          <a:r>
                            <a:rPr lang="it-IT" dirty="0"/>
                            <a:t>Parameters</a:t>
                          </a:r>
                        </a:p>
                      </a:txBody>
                      <a:tcPr>
                        <a:lnB w="38100" cmpd="sng">
                          <a:noFill/>
                        </a:lnB>
                      </a:tcPr>
                    </a:tc>
                    <a:tc>
                      <a:txBody>
                        <a:bodyPr/>
                        <a:lstStyle/>
                        <a:p>
                          <a:pPr algn="ctr"/>
                          <a:r>
                            <a:rPr lang="it-IT" dirty="0"/>
                            <a:t>Mean ± std</a:t>
                          </a:r>
                        </a:p>
                      </a:txBody>
                      <a:tcPr>
                        <a:lnB w="38100" cmpd="sng">
                          <a:noFill/>
                        </a:lnB>
                      </a:tcPr>
                    </a:tc>
                    <a:tc>
                      <a:txBody>
                        <a:bodyPr/>
                        <a:lstStyle/>
                        <a:p>
                          <a:endParaRPr lang="it-IT"/>
                        </a:p>
                      </a:txBody>
                      <a:tcPr>
                        <a:lnB w="38100" cmpd="sng">
                          <a:noFill/>
                        </a:lnB>
                        <a:blipFill>
                          <a:blip r:embed="rId2"/>
                          <a:stretch>
                            <a:fillRect l="-200000" t="-8197" r="-100230" b="-626230"/>
                          </a:stretch>
                        </a:blipFill>
                      </a:tcPr>
                    </a:tc>
                    <a:tc>
                      <a:txBody>
                        <a:bodyPr/>
                        <a:lstStyle/>
                        <a:p>
                          <a:endParaRPr lang="it-IT"/>
                        </a:p>
                      </a:txBody>
                      <a:tcPr>
                        <a:lnB w="38100" cmpd="sng">
                          <a:noFill/>
                        </a:lnB>
                        <a:blipFill>
                          <a:blip r:embed="rId2"/>
                          <a:stretch>
                            <a:fillRect l="-300691" t="-8197" r="-461" b="-626230"/>
                          </a:stretch>
                        </a:blipFill>
                      </a:tcPr>
                    </a:tc>
                    <a:extLst>
                      <a:ext uri="{0D108BD9-81ED-4DB2-BD59-A6C34878D82A}">
                        <a16:rowId xmlns:a16="http://schemas.microsoft.com/office/drawing/2014/main" val="1387738951"/>
                      </a:ext>
                    </a:extLst>
                  </a:tr>
                  <a:tr h="372872">
                    <a:tc>
                      <a:txBody>
                        <a:bodyPr/>
                        <a:lstStyle/>
                        <a:p>
                          <a:endParaRPr lang="it-IT"/>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230" t="-108197" r="-300000" b="-526230"/>
                          </a:stretch>
                        </a:blipFill>
                      </a:tcPr>
                    </a:tc>
                    <a:tc>
                      <a:txBody>
                        <a:bodyPr/>
                        <a:lstStyle/>
                        <a:p>
                          <a:pPr algn="ctr"/>
                          <a:r>
                            <a:rPr lang="it-IT" dirty="0"/>
                            <a:t>0.319 ± 0.020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200000" t="-108197" r="-100230" b="-526230"/>
                          </a:stretch>
                        </a:blipFill>
                      </a:tcPr>
                    </a:tc>
                    <a:tc>
                      <a:txBody>
                        <a:bodyPr/>
                        <a:lstStyle/>
                        <a:p>
                          <a:pPr algn="ctr"/>
                          <a:r>
                            <a:rPr lang="it-IT" dirty="0"/>
                            <a:t>[0.288, 0.353]</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74169945"/>
                      </a:ext>
                    </a:extLst>
                  </a:tr>
                  <a:tr h="372872">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30" t="-204839" r="-300000" b="-417742"/>
                          </a:stretch>
                        </a:blipFill>
                      </a:tcPr>
                    </a:tc>
                    <a:tc>
                      <a:txBody>
                        <a:bodyPr/>
                        <a:lstStyle/>
                        <a:p>
                          <a:pPr algn="ctr"/>
                          <a:r>
                            <a:rPr lang="it-IT" dirty="0"/>
                            <a:t>-0.19 ± 0.13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00000" t="-204839" r="-100230" b="-417742"/>
                          </a:stretch>
                        </a:blipFill>
                      </a:tcPr>
                    </a:tc>
                    <a:tc>
                      <a:txBody>
                        <a:bodyPr/>
                        <a:lstStyle/>
                        <a:p>
                          <a:pPr algn="ctr"/>
                          <a:r>
                            <a:rPr lang="it-IT" dirty="0"/>
                            <a:t>[-0.40, 0.03]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13357640"/>
                      </a:ext>
                    </a:extLst>
                  </a:tr>
                  <a:tr h="372872">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30" t="-309836" r="-300000" b="-324590"/>
                          </a:stretch>
                        </a:blipFill>
                      </a:tcPr>
                    </a:tc>
                    <a:tc>
                      <a:txBody>
                        <a:bodyPr/>
                        <a:lstStyle/>
                        <a:p>
                          <a:pPr algn="ctr"/>
                          <a:r>
                            <a:rPr lang="it-IT" dirty="0"/>
                            <a:t>3.74 ± 0.11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00000" t="-309836" r="-100230" b="-324590"/>
                          </a:stretch>
                        </a:blipFill>
                      </a:tcPr>
                    </a:tc>
                    <a:tc>
                      <a:txBody>
                        <a:bodyPr/>
                        <a:lstStyle/>
                        <a:p>
                          <a:pPr algn="ctr"/>
                          <a:r>
                            <a:rPr lang="it-IT" dirty="0"/>
                            <a:t>[3.56, 3.91]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47665325"/>
                      </a:ext>
                    </a:extLst>
                  </a:tr>
                  <a:tr h="372872">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30" t="-409836" r="-300000" b="-224590"/>
                          </a:stretch>
                        </a:blipFill>
                      </a:tcPr>
                    </a:tc>
                    <a:tc>
                      <a:txBody>
                        <a:bodyPr/>
                        <a:lstStyle/>
                        <a:p>
                          <a:pPr algn="ctr"/>
                          <a:r>
                            <a:rPr lang="it-IT" dirty="0"/>
                            <a:t>3.548 ± 0.045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00000" t="-409836" r="-100230" b="-224590"/>
                          </a:stretch>
                        </a:blipFill>
                      </a:tcPr>
                    </a:tc>
                    <a:tc>
                      <a:txBody>
                        <a:bodyPr/>
                        <a:lstStyle/>
                        <a:p>
                          <a:pPr algn="ctr"/>
                          <a:r>
                            <a:rPr lang="it-IT" dirty="0"/>
                            <a:t>[3.472, 3.621]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70492251"/>
                      </a:ext>
                    </a:extLst>
                  </a:tr>
                  <a:tr h="372999">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30" t="-501613" r="-300000" b="-120968"/>
                          </a:stretch>
                        </a:blipFill>
                      </a:tcPr>
                    </a:tc>
                    <a:tc>
                      <a:txBody>
                        <a:bodyPr/>
                        <a:lstStyle/>
                        <a:p>
                          <a:pPr algn="ctr"/>
                          <a:r>
                            <a:rPr lang="it-IT" dirty="0"/>
                            <a:t>1.415 ± 0.084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00000" t="-501613" r="-100230" b="-120968"/>
                          </a:stretch>
                        </a:blipFill>
                      </a:tcPr>
                    </a:tc>
                    <a:tc>
                      <a:txBody>
                        <a:bodyPr/>
                        <a:lstStyle/>
                        <a:p>
                          <a:pPr algn="ctr"/>
                          <a:r>
                            <a:rPr lang="it-IT" dirty="0"/>
                            <a:t>[1.287, 1.560]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498442"/>
                      </a:ext>
                    </a:extLst>
                  </a:tr>
                  <a:tr h="372872">
                    <a:tc>
                      <a:txBody>
                        <a:bodyPr/>
                        <a:lstStyle/>
                        <a:p>
                          <a:endParaRPr lang="it-IT"/>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30" t="-611475" r="-300000" b="-22951"/>
                          </a:stretch>
                        </a:blipFill>
                      </a:tcPr>
                    </a:tc>
                    <a:tc>
                      <a:txBody>
                        <a:bodyPr/>
                        <a:lstStyle/>
                        <a:p>
                          <a:pPr algn="ctr"/>
                          <a:r>
                            <a:rPr lang="it-IT" dirty="0"/>
                            <a:t>0.989 ± 0.032</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00000" t="-611475" r="-100230" b="-22951"/>
                          </a:stretch>
                        </a:blipFill>
                      </a:tcPr>
                    </a:tc>
                    <a:tc>
                      <a:txBody>
                        <a:bodyPr/>
                        <a:lstStyle/>
                        <a:p>
                          <a:pPr algn="ctr"/>
                          <a:r>
                            <a:rPr lang="it-IT" dirty="0"/>
                            <a:t>[0.938, 1.042]</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49795"/>
                      </a:ext>
                    </a:extLst>
                  </a:tr>
                </a:tbl>
              </a:graphicData>
            </a:graphic>
          </p:graphicFrame>
        </mc:Fallback>
      </mc:AlternateContent>
    </p:spTree>
    <p:extLst>
      <p:ext uri="{BB962C8B-B14F-4D97-AF65-F5344CB8AC3E}">
        <p14:creationId xmlns:p14="http://schemas.microsoft.com/office/powerpoint/2010/main" val="1717090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D9399D-EF48-49DC-247C-E64CC5824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A1154-10F5-0626-A94E-018F2BD727FB}"/>
              </a:ext>
            </a:extLst>
          </p:cNvPr>
          <p:cNvSpPr>
            <a:spLocks noGrp="1"/>
          </p:cNvSpPr>
          <p:nvPr>
            <p:ph type="title"/>
          </p:nvPr>
        </p:nvSpPr>
        <p:spPr/>
        <p:txBody>
          <a:bodyPr/>
          <a:lstStyle/>
          <a:p>
            <a:r>
              <a:rPr lang="it-IT" dirty="0">
                <a:solidFill>
                  <a:srgbClr val="FF0000"/>
                </a:solidFill>
              </a:rPr>
              <a:t>Parameter values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6B6E2F99-1243-0935-95DD-D94AD90CE6D2}"/>
                  </a:ext>
                </a:extLst>
              </p:cNvPr>
              <p:cNvGraphicFramePr>
                <a:graphicFrameLocks noGrp="1"/>
              </p:cNvGraphicFramePr>
              <p:nvPr>
                <p:ph idx="1"/>
              </p:nvPr>
            </p:nvGraphicFramePr>
            <p:xfrm>
              <a:off x="800100" y="1750091"/>
              <a:ext cx="10591800" cy="3357817"/>
            </p:xfrm>
            <a:graphic>
              <a:graphicData uri="http://schemas.openxmlformats.org/drawingml/2006/table">
                <a:tbl>
                  <a:tblPr firstRow="1" bandRow="1">
                    <a:tableStyleId>{5C22544A-7EE6-4342-B048-85BDC9FD1C3A}</a:tableStyleId>
                  </a:tblPr>
                  <a:tblGrid>
                    <a:gridCol w="2647950">
                      <a:extLst>
                        <a:ext uri="{9D8B030D-6E8A-4147-A177-3AD203B41FA5}">
                          <a16:colId xmlns:a16="http://schemas.microsoft.com/office/drawing/2014/main" val="987392356"/>
                        </a:ext>
                      </a:extLst>
                    </a:gridCol>
                    <a:gridCol w="2647950">
                      <a:extLst>
                        <a:ext uri="{9D8B030D-6E8A-4147-A177-3AD203B41FA5}">
                          <a16:colId xmlns:a16="http://schemas.microsoft.com/office/drawing/2014/main" val="4113713930"/>
                        </a:ext>
                      </a:extLst>
                    </a:gridCol>
                    <a:gridCol w="2647950">
                      <a:extLst>
                        <a:ext uri="{9D8B030D-6E8A-4147-A177-3AD203B41FA5}">
                          <a16:colId xmlns:a16="http://schemas.microsoft.com/office/drawing/2014/main" val="4244897437"/>
                        </a:ext>
                      </a:extLst>
                    </a:gridCol>
                    <a:gridCol w="2647950">
                      <a:extLst>
                        <a:ext uri="{9D8B030D-6E8A-4147-A177-3AD203B41FA5}">
                          <a16:colId xmlns:a16="http://schemas.microsoft.com/office/drawing/2014/main" val="66662860"/>
                        </a:ext>
                      </a:extLst>
                    </a:gridCol>
                  </a:tblGrid>
                  <a:tr h="370840">
                    <a:tc>
                      <a:txBody>
                        <a:bodyPr/>
                        <a:lstStyle/>
                        <a:p>
                          <a:pPr algn="ctr"/>
                          <a:r>
                            <a:rPr lang="it-IT" dirty="0"/>
                            <a:t>Parameters</a:t>
                          </a:r>
                        </a:p>
                      </a:txBody>
                      <a:tcPr/>
                    </a:tc>
                    <a:tc>
                      <a:txBody>
                        <a:bodyPr/>
                        <a:lstStyle/>
                        <a:p>
                          <a:pPr algn="ctr"/>
                          <a:r>
                            <a:rPr lang="it-IT" dirty="0"/>
                            <a:t>Mean ± std</a:t>
                          </a:r>
                        </a:p>
                      </a:txBody>
                      <a:tcPr/>
                    </a:tc>
                    <a:tc>
                      <a:txBody>
                        <a:bodyPr/>
                        <a:lstStyle/>
                        <a:p>
                          <a:pPr algn="ctr"/>
                          <a:r>
                            <a:rPr lang="it-IT" dirty="0"/>
                            <a:t>Median±</a:t>
                          </a:r>
                          <a14:m>
                            <m:oMath xmlns:m="http://schemas.openxmlformats.org/officeDocument/2006/math">
                              <m:d>
                                <m:dPr>
                                  <m:begChr m:val="["/>
                                  <m:endChr m:val="]"/>
                                  <m:ctrlPr>
                                    <a:rPr lang="it-IT" b="1" i="1" smtClean="0">
                                      <a:latin typeface="Cambria Math" panose="02040503050406030204" pitchFamily="18" charset="0"/>
                                    </a:rPr>
                                  </m:ctrlPr>
                                </m:dPr>
                                <m:e>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𝟏𝟔</m:t>
                                      </m:r>
                                    </m:sub>
                                  </m:sSub>
                                  <m:r>
                                    <a:rPr lang="it-IT" b="1" i="1" smtClean="0">
                                      <a:latin typeface="Cambria Math" panose="02040503050406030204" pitchFamily="18" charset="0"/>
                                    </a:rPr>
                                    <m:t>,</m:t>
                                  </m:r>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𝟖𝟒</m:t>
                                      </m:r>
                                    </m:sub>
                                  </m:sSub>
                                </m:e>
                              </m:d>
                            </m:oMath>
                          </a14:m>
                          <a:r>
                            <a:rPr lang="it-IT" dirty="0"/>
                            <a:t>(68%)</a:t>
                          </a:r>
                        </a:p>
                      </a:txBody>
                      <a:tcPr/>
                    </a:tc>
                    <a:tc>
                      <a:txBody>
                        <a:bodyPr/>
                        <a:lstStyle/>
                        <a:p>
                          <a:pPr algn="ctr"/>
                          <a14:m>
                            <m:oMath xmlns:m="http://schemas.openxmlformats.org/officeDocument/2006/math">
                              <m:d>
                                <m:dPr>
                                  <m:begChr m:val="["/>
                                  <m:endChr m:val="]"/>
                                  <m:ctrlPr>
                                    <a:rPr lang="it-IT" b="1" i="1" smtClean="0">
                                      <a:latin typeface="Cambria Math" panose="02040503050406030204" pitchFamily="18" charset="0"/>
                                    </a:rPr>
                                  </m:ctrlPr>
                                </m:dPr>
                                <m:e>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5</m:t>
                                      </m:r>
                                    </m:sub>
                                  </m:sSub>
                                  <m:r>
                                    <a:rPr lang="it-IT" b="1" i="1" smtClean="0">
                                      <a:latin typeface="Cambria Math" panose="02040503050406030204" pitchFamily="18" charset="0"/>
                                    </a:rPr>
                                    <m:t>,</m:t>
                                  </m:r>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95</m:t>
                                      </m:r>
                                    </m:sub>
                                  </m:sSub>
                                </m:e>
                              </m:d>
                            </m:oMath>
                          </a14:m>
                          <a:r>
                            <a:rPr lang="it-IT" dirty="0"/>
                            <a:t> (90%)</a:t>
                          </a:r>
                        </a:p>
                      </a:txBody>
                      <a:tcPr/>
                    </a:tc>
                    <a:extLst>
                      <a:ext uri="{0D108BD9-81ED-4DB2-BD59-A6C34878D82A}">
                        <a16:rowId xmlns:a16="http://schemas.microsoft.com/office/drawing/2014/main" val="138773895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𝑤</m:t>
                                    </m:r>
                                  </m:e>
                                  <m:sub>
                                    <m:r>
                                      <a:rPr lang="it-IT" b="0" i="1" smtClean="0">
                                        <a:latin typeface="Cambria Math" panose="02040503050406030204" pitchFamily="18" charset="0"/>
                                      </a:rPr>
                                      <m:t>1</m:t>
                                    </m:r>
                                  </m:sub>
                                </m:sSub>
                              </m:oMath>
                            </m:oMathPara>
                          </a14:m>
                          <a:endParaRPr lang="it-IT" dirty="0"/>
                        </a:p>
                      </a:txBody>
                      <a:tcPr/>
                    </a:tc>
                    <a:tc>
                      <a:txBody>
                        <a:bodyPr/>
                        <a:lstStyle/>
                        <a:p>
                          <a:pPr algn="ctr"/>
                          <a:r>
                            <a:rPr lang="it-IT" dirty="0"/>
                            <a:t>0.319 ± 0.020</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0.318</m:t>
                                    </m:r>
                                  </m:e>
                                  <m:sub>
                                    <m:r>
                                      <a:rPr lang="it-IT" b="0" i="1" smtClean="0">
                                        <a:latin typeface="Cambria Math" panose="02040503050406030204" pitchFamily="18" charset="0"/>
                                      </a:rPr>
                                      <m:t>−0.019</m:t>
                                    </m:r>
                                  </m:sub>
                                  <m:sup>
                                    <m:r>
                                      <a:rPr lang="it-IT" b="0" i="1" smtClean="0">
                                        <a:latin typeface="Cambria Math" panose="02040503050406030204" pitchFamily="18" charset="0"/>
                                      </a:rPr>
                                      <m:t>+0.021</m:t>
                                    </m:r>
                                  </m:sup>
                                </m:sSubSup>
                              </m:oMath>
                            </m:oMathPara>
                          </a14:m>
                          <a:endParaRPr lang="it-IT" dirty="0"/>
                        </a:p>
                      </a:txBody>
                      <a:tcPr/>
                    </a:tc>
                    <a:tc>
                      <a:txBody>
                        <a:bodyPr/>
                        <a:lstStyle/>
                        <a:p>
                          <a:pPr algn="ctr"/>
                          <a:r>
                            <a:rPr lang="it-IT" dirty="0"/>
                            <a:t>[0.288, 0.353]</a:t>
                          </a:r>
                        </a:p>
                      </a:txBody>
                      <a:tcPr/>
                    </a:tc>
                    <a:extLst>
                      <a:ext uri="{0D108BD9-81ED-4DB2-BD59-A6C34878D82A}">
                        <a16:rowId xmlns:a16="http://schemas.microsoft.com/office/drawing/2014/main" val="2074169945"/>
                      </a:ext>
                    </a:extLst>
                  </a:tr>
                  <a:tr h="370840">
                    <a:tc>
                      <a:txBody>
                        <a:bodyPr/>
                        <a:lstStyle/>
                        <a:p>
                          <a:pPr algn="ct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1</m:t>
                                  </m:r>
                                </m:sub>
                              </m:sSub>
                            </m:oMath>
                          </a14:m>
                          <a:r>
                            <a:rPr lang="it-IT" dirty="0"/>
                            <a:t> [log s]</a:t>
                          </a:r>
                        </a:p>
                      </a:txBody>
                      <a:tcPr/>
                    </a:tc>
                    <a:tc>
                      <a:txBody>
                        <a:bodyPr/>
                        <a:lstStyle/>
                        <a:p>
                          <a:pPr algn="ctr"/>
                          <a:r>
                            <a:rPr lang="it-IT" dirty="0"/>
                            <a:t>-0.19 ± 0.13</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−0.20</m:t>
                                    </m:r>
                                  </m:e>
                                  <m:sub>
                                    <m:r>
                                      <a:rPr lang="it-IT" b="0" i="1" smtClean="0">
                                        <a:latin typeface="Cambria Math" panose="02040503050406030204" pitchFamily="18" charset="0"/>
                                      </a:rPr>
                                      <m:t>−0.12</m:t>
                                    </m:r>
                                  </m:sub>
                                  <m:sup>
                                    <m:r>
                                      <a:rPr lang="it-IT" b="0" i="1" smtClean="0">
                                        <a:latin typeface="Cambria Math" panose="02040503050406030204" pitchFamily="18" charset="0"/>
                                      </a:rPr>
                                      <m:t>+0.14</m:t>
                                    </m:r>
                                  </m:sup>
                                </m:sSubSup>
                              </m:oMath>
                            </m:oMathPara>
                          </a14:m>
                          <a:endParaRPr lang="it-IT" dirty="0"/>
                        </a:p>
                      </a:txBody>
                      <a:tcPr/>
                    </a:tc>
                    <a:tc>
                      <a:txBody>
                        <a:bodyPr/>
                        <a:lstStyle/>
                        <a:p>
                          <a:pPr algn="ctr"/>
                          <a:r>
                            <a:rPr lang="it-IT" dirty="0"/>
                            <a:t>[-0.40, 0.03]</a:t>
                          </a:r>
                        </a:p>
                      </a:txBody>
                      <a:tcPr/>
                    </a:tc>
                    <a:extLst>
                      <a:ext uri="{0D108BD9-81ED-4DB2-BD59-A6C34878D82A}">
                        <a16:rowId xmlns:a16="http://schemas.microsoft.com/office/drawing/2014/main" val="401335764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𝛿</m:t>
                                  </m:r>
                                </m:e>
                                <m:sub>
                                  <m:r>
                                    <a:rPr lang="it-IT" b="0" i="1" smtClean="0">
                                      <a:latin typeface="Cambria Math" panose="02040503050406030204" pitchFamily="18" charset="0"/>
                                    </a:rPr>
                                    <m:t>12</m:t>
                                  </m:r>
                                </m:sub>
                              </m:sSub>
                            </m:oMath>
                          </a14:m>
                          <a:r>
                            <a:rPr lang="it-IT" dirty="0"/>
                            <a:t> [log s]</a:t>
                          </a:r>
                        </a:p>
                      </a:txBody>
                      <a:tcPr/>
                    </a:tc>
                    <a:tc>
                      <a:txBody>
                        <a:bodyPr/>
                        <a:lstStyle/>
                        <a:p>
                          <a:pPr algn="ctr"/>
                          <a:r>
                            <a:rPr lang="it-IT" dirty="0"/>
                            <a:t>3.74 ± 0.11</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3.75</m:t>
                                    </m:r>
                                  </m:e>
                                  <m:sub>
                                    <m:r>
                                      <a:rPr lang="it-IT" b="0" i="1" smtClean="0">
                                        <a:latin typeface="Cambria Math" panose="02040503050406030204" pitchFamily="18" charset="0"/>
                                      </a:rPr>
                                      <m:t>−0.11</m:t>
                                    </m:r>
                                  </m:sub>
                                  <m:sup>
                                    <m:r>
                                      <a:rPr lang="it-IT" b="0" i="1" smtClean="0">
                                        <a:latin typeface="Cambria Math" panose="02040503050406030204" pitchFamily="18" charset="0"/>
                                      </a:rPr>
                                      <m:t>+0.10</m:t>
                                    </m:r>
                                  </m:sup>
                                </m:sSubSup>
                              </m:oMath>
                            </m:oMathPara>
                          </a14:m>
                          <a:endParaRPr lang="it-IT" dirty="0"/>
                        </a:p>
                      </a:txBody>
                      <a:tcPr/>
                    </a:tc>
                    <a:tc>
                      <a:txBody>
                        <a:bodyPr/>
                        <a:lstStyle/>
                        <a:p>
                          <a:pPr algn="ctr"/>
                          <a:r>
                            <a:rPr lang="it-IT" dirty="0"/>
                            <a:t>[3.56, 3.91]</a:t>
                          </a:r>
                        </a:p>
                      </a:txBody>
                      <a:tcPr/>
                    </a:tc>
                    <a:extLst>
                      <a:ext uri="{0D108BD9-81ED-4DB2-BD59-A6C34878D82A}">
                        <a16:rowId xmlns:a16="http://schemas.microsoft.com/office/drawing/2014/main" val="294766532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2</m:t>
                                  </m:r>
                                </m:sub>
                              </m:sSub>
                            </m:oMath>
                          </a14:m>
                          <a:r>
                            <a:rPr lang="it-IT" dirty="0"/>
                            <a:t> [log s]</a:t>
                          </a:r>
                        </a:p>
                      </a:txBody>
                      <a:tcPr/>
                    </a:tc>
                    <a:tc>
                      <a:txBody>
                        <a:bodyPr/>
                        <a:lstStyle/>
                        <a:p>
                          <a:pPr algn="ctr"/>
                          <a:r>
                            <a:rPr lang="it-IT" dirty="0"/>
                            <a:t>3.548 ± 0.045</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3.548</m:t>
                                    </m:r>
                                  </m:e>
                                  <m:sub>
                                    <m:r>
                                      <a:rPr lang="it-IT" b="0" i="1" smtClean="0">
                                        <a:latin typeface="Cambria Math" panose="02040503050406030204" pitchFamily="18" charset="0"/>
                                      </a:rPr>
                                      <m:t>−0.044</m:t>
                                    </m:r>
                                  </m:sub>
                                  <m:sup>
                                    <m:r>
                                      <a:rPr lang="it-IT" b="0" i="1" smtClean="0">
                                        <a:latin typeface="Cambria Math" panose="02040503050406030204" pitchFamily="18" charset="0"/>
                                      </a:rPr>
                                      <m:t>+0.044</m:t>
                                    </m:r>
                                  </m:sup>
                                </m:sSubSup>
                              </m:oMath>
                            </m:oMathPara>
                          </a14:m>
                          <a:endParaRPr lang="it-IT" dirty="0"/>
                        </a:p>
                      </a:txBody>
                      <a:tcPr/>
                    </a:tc>
                    <a:tc>
                      <a:txBody>
                        <a:bodyPr/>
                        <a:lstStyle/>
                        <a:p>
                          <a:pPr algn="ctr"/>
                          <a:r>
                            <a:rPr lang="it-IT" dirty="0"/>
                            <a:t>[3.472, 3.621]</a:t>
                          </a:r>
                        </a:p>
                      </a:txBody>
                      <a:tcPr/>
                    </a:tc>
                    <a:extLst>
                      <a:ext uri="{0D108BD9-81ED-4DB2-BD59-A6C34878D82A}">
                        <a16:rowId xmlns:a16="http://schemas.microsoft.com/office/drawing/2014/main" val="147049225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1</m:t>
                                  </m:r>
                                </m:sub>
                              </m:sSub>
                            </m:oMath>
                          </a14:m>
                          <a:r>
                            <a:rPr lang="it-IT" dirty="0"/>
                            <a:t> [log s]</a:t>
                          </a:r>
                        </a:p>
                      </a:txBody>
                      <a:tcPr>
                        <a:lnB w="12700" cmpd="sng">
                          <a:noFill/>
                        </a:lnB>
                      </a:tcPr>
                    </a:tc>
                    <a:tc>
                      <a:txBody>
                        <a:bodyPr/>
                        <a:lstStyle/>
                        <a:p>
                          <a:pPr algn="ctr"/>
                          <a:r>
                            <a:rPr lang="it-IT" dirty="0"/>
                            <a:t>1.415 ± 0.084</a:t>
                          </a:r>
                        </a:p>
                      </a:txBody>
                      <a:tcPr>
                        <a:lnB w="12700" cmpd="sng">
                          <a:noFill/>
                        </a:lnB>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1.411</m:t>
                                    </m:r>
                                  </m:e>
                                  <m:sub>
                                    <m:r>
                                      <a:rPr lang="it-IT" b="0" i="1" smtClean="0">
                                        <a:latin typeface="Cambria Math" panose="02040503050406030204" pitchFamily="18" charset="0"/>
                                      </a:rPr>
                                      <m:t>−0.079</m:t>
                                    </m:r>
                                  </m:sub>
                                  <m:sup>
                                    <m:r>
                                      <a:rPr lang="it-IT" b="0" i="1" smtClean="0">
                                        <a:latin typeface="Cambria Math" panose="02040503050406030204" pitchFamily="18" charset="0"/>
                                      </a:rPr>
                                      <m:t>+0.087</m:t>
                                    </m:r>
                                  </m:sup>
                                </m:sSubSup>
                              </m:oMath>
                            </m:oMathPara>
                          </a14:m>
                          <a:endParaRPr lang="it-IT" dirty="0"/>
                        </a:p>
                      </a:txBody>
                      <a:tcPr>
                        <a:lnB w="12700" cmpd="sng">
                          <a:noFill/>
                        </a:lnB>
                      </a:tcPr>
                    </a:tc>
                    <a:tc>
                      <a:txBody>
                        <a:bodyPr/>
                        <a:lstStyle/>
                        <a:p>
                          <a:pPr algn="ctr"/>
                          <a:r>
                            <a:rPr lang="it-IT" dirty="0"/>
                            <a:t>[1.287, 1.560]</a:t>
                          </a:r>
                        </a:p>
                      </a:txBody>
                      <a:tcPr>
                        <a:lnB w="12700" cmpd="sng">
                          <a:noFill/>
                        </a:lnB>
                      </a:tcPr>
                    </a:tc>
                    <a:extLst>
                      <a:ext uri="{0D108BD9-81ED-4DB2-BD59-A6C34878D82A}">
                        <a16:rowId xmlns:a16="http://schemas.microsoft.com/office/drawing/2014/main" val="171949844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2</m:t>
                                  </m:r>
                                </m:sub>
                              </m:sSub>
                            </m:oMath>
                          </a14:m>
                          <a:r>
                            <a:rPr lang="it-IT" dirty="0"/>
                            <a:t> [log 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dirty="0"/>
                            <a:t>0.989 ± 0.032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0.989</m:t>
                                    </m:r>
                                  </m:e>
                                  <m:sub>
                                    <m:r>
                                      <a:rPr lang="it-IT" b="0" i="1" smtClean="0">
                                        <a:latin typeface="Cambria Math" panose="02040503050406030204" pitchFamily="18" charset="0"/>
                                      </a:rPr>
                                      <m:t>−0.031</m:t>
                                    </m:r>
                                  </m:sub>
                                  <m:sup>
                                    <m:r>
                                      <a:rPr lang="it-IT" b="0" i="1" smtClean="0">
                                        <a:latin typeface="Cambria Math" panose="02040503050406030204" pitchFamily="18" charset="0"/>
                                      </a:rPr>
                                      <m:t>+0.032</m:t>
                                    </m:r>
                                  </m:sup>
                                </m:sSubSup>
                              </m:oMath>
                            </m:oMathPara>
                          </a14:m>
                          <a:endParaRPr lang="it-IT"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dirty="0"/>
                            <a:t>[0.938, 1.042]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49795"/>
                      </a:ext>
                    </a:extLst>
                  </a:tr>
                  <a:tr h="370840">
                    <a:tc>
                      <a:txBody>
                        <a:bodyPr/>
                        <a:lstStyle/>
                        <a:p>
                          <a:pPr algn="ctr"/>
                          <a14:m>
                            <m:oMath xmlns:m="http://schemas.openxmlformats.org/officeDocument/2006/math">
                              <m:sSub>
                                <m:sSubPr>
                                  <m:ctrlPr>
                                    <a:rPr lang="it-IT" b="0" i="1" smtClean="0">
                                      <a:latin typeface="Cambria Math" panose="02040503050406030204" pitchFamily="18" charset="0"/>
                                    </a:rPr>
                                  </m:ctrlPr>
                                </m:sSubPr>
                                <m:e>
                                  <m:r>
                                    <m:rPr>
                                      <m:nor/>
                                    </m:rPr>
                                    <a:rPr lang="it-IT" b="0" i="0" smtClean="0">
                                      <a:latin typeface="Cambria Math" panose="02040503050406030204" pitchFamily="18" charset="0"/>
                                    </a:rPr>
                                    <m:t>median</m:t>
                                  </m:r>
                                </m:e>
                                <m:sub>
                                  <m:r>
                                    <a:rPr lang="it-IT" b="0" i="1" smtClean="0">
                                      <a:latin typeface="Cambria Math" panose="02040503050406030204" pitchFamily="18" charset="0"/>
                                    </a:rPr>
                                    <m:t>1</m:t>
                                  </m:r>
                                </m:sub>
                              </m:sSub>
                            </m:oMath>
                          </a14:m>
                          <a:r>
                            <a:rPr lang="it-IT" dirty="0"/>
                            <a:t> [s]</a:t>
                          </a:r>
                        </a:p>
                      </a:txBody>
                      <a:tcPr>
                        <a:lnT w="12700" cap="flat" cmpd="sng" algn="ctr">
                          <a:solidFill>
                            <a:schemeClr val="tx1"/>
                          </a:solidFill>
                          <a:prstDash val="solid"/>
                          <a:round/>
                          <a:headEnd type="none" w="med" len="med"/>
                          <a:tailEnd type="none" w="med" len="med"/>
                        </a:lnT>
                      </a:tcPr>
                    </a:tc>
                    <a:tc>
                      <a:txBody>
                        <a:bodyPr/>
                        <a:lstStyle/>
                        <a:p>
                          <a:pPr algn="ctr"/>
                          <a:r>
                            <a:rPr lang="it-IT" dirty="0"/>
                            <a:t>0.83 ± 0.11</a:t>
                          </a:r>
                        </a:p>
                      </a:txBody>
                      <a:tcPr>
                        <a:lnT w="12700" cap="flat" cmpd="sng" algn="ctr">
                          <a:solidFill>
                            <a:schemeClr val="tx1"/>
                          </a:solidFill>
                          <a:prstDash val="solid"/>
                          <a:round/>
                          <a:headEnd type="none" w="med" len="med"/>
                          <a:tailEnd type="none" w="med" len="med"/>
                        </a:lnT>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0.82</m:t>
                                    </m:r>
                                  </m:e>
                                  <m:sub>
                                    <m:r>
                                      <a:rPr lang="it-IT" b="0" i="1" smtClean="0">
                                        <a:latin typeface="Cambria Math" panose="02040503050406030204" pitchFamily="18" charset="0"/>
                                      </a:rPr>
                                      <m:t>−0.10</m:t>
                                    </m:r>
                                  </m:sub>
                                  <m:sup>
                                    <m:r>
                                      <a:rPr lang="it-IT" b="0" i="1" smtClean="0">
                                        <a:latin typeface="Cambria Math" panose="02040503050406030204" pitchFamily="18" charset="0"/>
                                      </a:rPr>
                                      <m:t>+0.12</m:t>
                                    </m:r>
                                  </m:sup>
                                </m:sSubSup>
                              </m:oMath>
                            </m:oMathPara>
                          </a14:m>
                          <a:endParaRPr lang="it-IT" dirty="0"/>
                        </a:p>
                      </a:txBody>
                      <a:tcPr>
                        <a:lnT w="12700" cap="flat" cmpd="sng" algn="ctr">
                          <a:solidFill>
                            <a:schemeClr val="tx1"/>
                          </a:solidFill>
                          <a:prstDash val="solid"/>
                          <a:round/>
                          <a:headEnd type="none" w="med" len="med"/>
                          <a:tailEnd type="none" w="med" len="med"/>
                        </a:lnT>
                      </a:tcPr>
                    </a:tc>
                    <a:tc>
                      <a:txBody>
                        <a:bodyPr/>
                        <a:lstStyle/>
                        <a:p>
                          <a:pPr algn="ctr"/>
                          <a:r>
                            <a:rPr lang="it-IT" dirty="0"/>
                            <a:t>[0.67, 1.04]</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81534824"/>
                      </a:ext>
                    </a:extLst>
                  </a:tr>
                  <a:tr h="370840">
                    <a:tc>
                      <a:txBody>
                        <a:bodyPr/>
                        <a:lstStyle/>
                        <a:p>
                          <a:pPr algn="ctr"/>
                          <a14:m>
                            <m:oMath xmlns:m="http://schemas.openxmlformats.org/officeDocument/2006/math">
                              <m:sSub>
                                <m:sSubPr>
                                  <m:ctrlPr>
                                    <a:rPr lang="it-IT" b="0" i="1" smtClean="0">
                                      <a:latin typeface="Cambria Math" panose="02040503050406030204" pitchFamily="18" charset="0"/>
                                    </a:rPr>
                                  </m:ctrlPr>
                                </m:sSubPr>
                                <m:e>
                                  <m:r>
                                    <m:rPr>
                                      <m:sty m:val="p"/>
                                    </m:rPr>
                                    <a:rPr lang="it-IT" b="0" i="1" smtClean="0">
                                      <a:latin typeface="Cambria Math" panose="02040503050406030204" pitchFamily="18" charset="0"/>
                                    </a:rPr>
                                    <m:t>median</m:t>
                                  </m:r>
                                </m:e>
                                <m:sub>
                                  <m:r>
                                    <a:rPr lang="it-IT" b="0" i="1" smtClean="0">
                                      <a:latin typeface="Cambria Math" panose="02040503050406030204" pitchFamily="18" charset="0"/>
                                    </a:rPr>
                                    <m:t>2</m:t>
                                  </m:r>
                                </m:sub>
                              </m:sSub>
                            </m:oMath>
                          </a14:m>
                          <a:r>
                            <a:rPr lang="it-IT" dirty="0"/>
                            <a:t> [s]</a:t>
                          </a:r>
                        </a:p>
                      </a:txBody>
                      <a:tcPr/>
                    </a:tc>
                    <a:tc>
                      <a:txBody>
                        <a:bodyPr/>
                        <a:lstStyle/>
                        <a:p>
                          <a:pPr algn="ctr"/>
                          <a:r>
                            <a:rPr lang="it-IT" dirty="0"/>
                            <a:t>34.8 ± 1.6</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34.7</m:t>
                                    </m:r>
                                  </m:e>
                                  <m:sub>
                                    <m:r>
                                      <a:rPr lang="it-IT" b="0" i="1" smtClean="0">
                                        <a:latin typeface="Cambria Math" panose="02040503050406030204" pitchFamily="18" charset="0"/>
                                      </a:rPr>
                                      <m:t>−1.5</m:t>
                                    </m:r>
                                  </m:sub>
                                  <m:sup>
                                    <m:r>
                                      <a:rPr lang="it-IT" b="0" i="1" smtClean="0">
                                        <a:latin typeface="Cambria Math" panose="02040503050406030204" pitchFamily="18" charset="0"/>
                                      </a:rPr>
                                      <m:t>+1.6</m:t>
                                    </m:r>
                                  </m:sup>
                                </m:sSubSup>
                              </m:oMath>
                            </m:oMathPara>
                          </a14:m>
                          <a:endParaRPr lang="it-IT" dirty="0"/>
                        </a:p>
                      </a:txBody>
                      <a:tcPr/>
                    </a:tc>
                    <a:tc>
                      <a:txBody>
                        <a:bodyPr/>
                        <a:lstStyle/>
                        <a:p>
                          <a:pPr algn="ctr"/>
                          <a:r>
                            <a:rPr lang="it-IT" dirty="0"/>
                            <a:t>[32.2, 37.4]</a:t>
                          </a:r>
                        </a:p>
                      </a:txBody>
                      <a:tcPr/>
                    </a:tc>
                    <a:extLst>
                      <a:ext uri="{0D108BD9-81ED-4DB2-BD59-A6C34878D82A}">
                        <a16:rowId xmlns:a16="http://schemas.microsoft.com/office/drawing/2014/main" val="1704889264"/>
                      </a:ext>
                    </a:extLst>
                  </a:tr>
                </a:tbl>
              </a:graphicData>
            </a:graphic>
          </p:graphicFrame>
        </mc:Choice>
        <mc:Fallback xmlns="">
          <p:graphicFrame>
            <p:nvGraphicFramePr>
              <p:cNvPr id="4" name="Content Placeholder 3">
                <a:extLst>
                  <a:ext uri="{FF2B5EF4-FFF2-40B4-BE49-F238E27FC236}">
                    <a16:creationId xmlns:a16="http://schemas.microsoft.com/office/drawing/2014/main" id="{6B6E2F99-1243-0935-95DD-D94AD90CE6D2}"/>
                  </a:ext>
                </a:extLst>
              </p:cNvPr>
              <p:cNvGraphicFramePr>
                <a:graphicFrameLocks noGrp="1"/>
              </p:cNvGraphicFramePr>
              <p:nvPr>
                <p:ph idx="1"/>
              </p:nvPr>
            </p:nvGraphicFramePr>
            <p:xfrm>
              <a:off x="800100" y="1750091"/>
              <a:ext cx="10591800" cy="3357817"/>
            </p:xfrm>
            <a:graphic>
              <a:graphicData uri="http://schemas.openxmlformats.org/drawingml/2006/table">
                <a:tbl>
                  <a:tblPr firstRow="1" bandRow="1">
                    <a:tableStyleId>{5C22544A-7EE6-4342-B048-85BDC9FD1C3A}</a:tableStyleId>
                  </a:tblPr>
                  <a:tblGrid>
                    <a:gridCol w="2647950">
                      <a:extLst>
                        <a:ext uri="{9D8B030D-6E8A-4147-A177-3AD203B41FA5}">
                          <a16:colId xmlns:a16="http://schemas.microsoft.com/office/drawing/2014/main" val="987392356"/>
                        </a:ext>
                      </a:extLst>
                    </a:gridCol>
                    <a:gridCol w="2647950">
                      <a:extLst>
                        <a:ext uri="{9D8B030D-6E8A-4147-A177-3AD203B41FA5}">
                          <a16:colId xmlns:a16="http://schemas.microsoft.com/office/drawing/2014/main" val="4113713930"/>
                        </a:ext>
                      </a:extLst>
                    </a:gridCol>
                    <a:gridCol w="2647950">
                      <a:extLst>
                        <a:ext uri="{9D8B030D-6E8A-4147-A177-3AD203B41FA5}">
                          <a16:colId xmlns:a16="http://schemas.microsoft.com/office/drawing/2014/main" val="4244897437"/>
                        </a:ext>
                      </a:extLst>
                    </a:gridCol>
                    <a:gridCol w="2647950">
                      <a:extLst>
                        <a:ext uri="{9D8B030D-6E8A-4147-A177-3AD203B41FA5}">
                          <a16:colId xmlns:a16="http://schemas.microsoft.com/office/drawing/2014/main" val="66662860"/>
                        </a:ext>
                      </a:extLst>
                    </a:gridCol>
                  </a:tblGrid>
                  <a:tr h="370840">
                    <a:tc>
                      <a:txBody>
                        <a:bodyPr/>
                        <a:lstStyle/>
                        <a:p>
                          <a:pPr algn="ctr"/>
                          <a:r>
                            <a:rPr lang="it-IT" dirty="0"/>
                            <a:t>Parameters</a:t>
                          </a:r>
                        </a:p>
                      </a:txBody>
                      <a:tcPr/>
                    </a:tc>
                    <a:tc>
                      <a:txBody>
                        <a:bodyPr/>
                        <a:lstStyle/>
                        <a:p>
                          <a:pPr algn="ctr"/>
                          <a:r>
                            <a:rPr lang="it-IT" dirty="0"/>
                            <a:t>Mean ± std</a:t>
                          </a:r>
                        </a:p>
                      </a:txBody>
                      <a:tcPr/>
                    </a:tc>
                    <a:tc>
                      <a:txBody>
                        <a:bodyPr/>
                        <a:lstStyle/>
                        <a:p>
                          <a:endParaRPr lang="it-IT"/>
                        </a:p>
                      </a:txBody>
                      <a:tcPr>
                        <a:blipFill>
                          <a:blip r:embed="rId2"/>
                          <a:stretch>
                            <a:fillRect l="-200000" t="-8197" r="-100690" b="-826230"/>
                          </a:stretch>
                        </a:blipFill>
                      </a:tcPr>
                    </a:tc>
                    <a:tc>
                      <a:txBody>
                        <a:bodyPr/>
                        <a:lstStyle/>
                        <a:p>
                          <a:endParaRPr lang="it-IT"/>
                        </a:p>
                      </a:txBody>
                      <a:tcPr>
                        <a:blipFill>
                          <a:blip r:embed="rId2"/>
                          <a:stretch>
                            <a:fillRect l="-300691" t="-8197" r="-922" b="-826230"/>
                          </a:stretch>
                        </a:blipFill>
                      </a:tcPr>
                    </a:tc>
                    <a:extLst>
                      <a:ext uri="{0D108BD9-81ED-4DB2-BD59-A6C34878D82A}">
                        <a16:rowId xmlns:a16="http://schemas.microsoft.com/office/drawing/2014/main" val="1387738951"/>
                      </a:ext>
                    </a:extLst>
                  </a:tr>
                  <a:tr h="372872">
                    <a:tc>
                      <a:txBody>
                        <a:bodyPr/>
                        <a:lstStyle/>
                        <a:p>
                          <a:endParaRPr lang="it-IT"/>
                        </a:p>
                      </a:txBody>
                      <a:tcPr>
                        <a:blipFill>
                          <a:blip r:embed="rId2"/>
                          <a:stretch>
                            <a:fillRect l="-230" t="-108197" r="-300460" b="-726230"/>
                          </a:stretch>
                        </a:blipFill>
                      </a:tcPr>
                    </a:tc>
                    <a:tc>
                      <a:txBody>
                        <a:bodyPr/>
                        <a:lstStyle/>
                        <a:p>
                          <a:pPr algn="ctr"/>
                          <a:r>
                            <a:rPr lang="it-IT" dirty="0"/>
                            <a:t>0.319 ± 0.020</a:t>
                          </a:r>
                        </a:p>
                      </a:txBody>
                      <a:tcPr/>
                    </a:tc>
                    <a:tc>
                      <a:txBody>
                        <a:bodyPr/>
                        <a:lstStyle/>
                        <a:p>
                          <a:endParaRPr lang="it-IT"/>
                        </a:p>
                      </a:txBody>
                      <a:tcPr>
                        <a:blipFill>
                          <a:blip r:embed="rId2"/>
                          <a:stretch>
                            <a:fillRect l="-200000" t="-108197" r="-100690" b="-726230"/>
                          </a:stretch>
                        </a:blipFill>
                      </a:tcPr>
                    </a:tc>
                    <a:tc>
                      <a:txBody>
                        <a:bodyPr/>
                        <a:lstStyle/>
                        <a:p>
                          <a:pPr algn="ctr"/>
                          <a:r>
                            <a:rPr lang="it-IT" dirty="0"/>
                            <a:t>[0.288, 0.353]</a:t>
                          </a:r>
                        </a:p>
                      </a:txBody>
                      <a:tcPr/>
                    </a:tc>
                    <a:extLst>
                      <a:ext uri="{0D108BD9-81ED-4DB2-BD59-A6C34878D82A}">
                        <a16:rowId xmlns:a16="http://schemas.microsoft.com/office/drawing/2014/main" val="2074169945"/>
                      </a:ext>
                    </a:extLst>
                  </a:tr>
                  <a:tr h="372872">
                    <a:tc>
                      <a:txBody>
                        <a:bodyPr/>
                        <a:lstStyle/>
                        <a:p>
                          <a:endParaRPr lang="it-IT"/>
                        </a:p>
                      </a:txBody>
                      <a:tcPr>
                        <a:blipFill>
                          <a:blip r:embed="rId2"/>
                          <a:stretch>
                            <a:fillRect l="-230" t="-208197" r="-300460" b="-626230"/>
                          </a:stretch>
                        </a:blipFill>
                      </a:tcPr>
                    </a:tc>
                    <a:tc>
                      <a:txBody>
                        <a:bodyPr/>
                        <a:lstStyle/>
                        <a:p>
                          <a:pPr algn="ctr"/>
                          <a:r>
                            <a:rPr lang="it-IT" dirty="0"/>
                            <a:t>-0.19 ± 0.13</a:t>
                          </a:r>
                        </a:p>
                      </a:txBody>
                      <a:tcPr/>
                    </a:tc>
                    <a:tc>
                      <a:txBody>
                        <a:bodyPr/>
                        <a:lstStyle/>
                        <a:p>
                          <a:endParaRPr lang="it-IT"/>
                        </a:p>
                      </a:txBody>
                      <a:tcPr>
                        <a:blipFill>
                          <a:blip r:embed="rId2"/>
                          <a:stretch>
                            <a:fillRect l="-200000" t="-208197" r="-100690" b="-626230"/>
                          </a:stretch>
                        </a:blipFill>
                      </a:tcPr>
                    </a:tc>
                    <a:tc>
                      <a:txBody>
                        <a:bodyPr/>
                        <a:lstStyle/>
                        <a:p>
                          <a:pPr algn="ctr"/>
                          <a:r>
                            <a:rPr lang="it-IT" dirty="0"/>
                            <a:t>[-0.40, 0.03]</a:t>
                          </a:r>
                        </a:p>
                      </a:txBody>
                      <a:tcPr/>
                    </a:tc>
                    <a:extLst>
                      <a:ext uri="{0D108BD9-81ED-4DB2-BD59-A6C34878D82A}">
                        <a16:rowId xmlns:a16="http://schemas.microsoft.com/office/drawing/2014/main" val="4013357640"/>
                      </a:ext>
                    </a:extLst>
                  </a:tr>
                  <a:tr h="372872">
                    <a:tc>
                      <a:txBody>
                        <a:bodyPr/>
                        <a:lstStyle/>
                        <a:p>
                          <a:endParaRPr lang="it-IT"/>
                        </a:p>
                      </a:txBody>
                      <a:tcPr>
                        <a:blipFill>
                          <a:blip r:embed="rId2"/>
                          <a:stretch>
                            <a:fillRect l="-230" t="-308197" r="-300460" b="-526230"/>
                          </a:stretch>
                        </a:blipFill>
                      </a:tcPr>
                    </a:tc>
                    <a:tc>
                      <a:txBody>
                        <a:bodyPr/>
                        <a:lstStyle/>
                        <a:p>
                          <a:pPr algn="ctr"/>
                          <a:r>
                            <a:rPr lang="it-IT" dirty="0"/>
                            <a:t>3.74 ± 0.11</a:t>
                          </a:r>
                        </a:p>
                      </a:txBody>
                      <a:tcPr/>
                    </a:tc>
                    <a:tc>
                      <a:txBody>
                        <a:bodyPr/>
                        <a:lstStyle/>
                        <a:p>
                          <a:endParaRPr lang="it-IT"/>
                        </a:p>
                      </a:txBody>
                      <a:tcPr>
                        <a:blipFill>
                          <a:blip r:embed="rId2"/>
                          <a:stretch>
                            <a:fillRect l="-200000" t="-308197" r="-100690" b="-526230"/>
                          </a:stretch>
                        </a:blipFill>
                      </a:tcPr>
                    </a:tc>
                    <a:tc>
                      <a:txBody>
                        <a:bodyPr/>
                        <a:lstStyle/>
                        <a:p>
                          <a:pPr algn="ctr"/>
                          <a:r>
                            <a:rPr lang="it-IT" dirty="0"/>
                            <a:t>[3.56, 3.91]</a:t>
                          </a:r>
                        </a:p>
                      </a:txBody>
                      <a:tcPr/>
                    </a:tc>
                    <a:extLst>
                      <a:ext uri="{0D108BD9-81ED-4DB2-BD59-A6C34878D82A}">
                        <a16:rowId xmlns:a16="http://schemas.microsoft.com/office/drawing/2014/main" val="2947665325"/>
                      </a:ext>
                    </a:extLst>
                  </a:tr>
                  <a:tr h="372872">
                    <a:tc>
                      <a:txBody>
                        <a:bodyPr/>
                        <a:lstStyle/>
                        <a:p>
                          <a:endParaRPr lang="it-IT"/>
                        </a:p>
                      </a:txBody>
                      <a:tcPr>
                        <a:blipFill>
                          <a:blip r:embed="rId2"/>
                          <a:stretch>
                            <a:fillRect l="-230" t="-401613" r="-300460" b="-417742"/>
                          </a:stretch>
                        </a:blipFill>
                      </a:tcPr>
                    </a:tc>
                    <a:tc>
                      <a:txBody>
                        <a:bodyPr/>
                        <a:lstStyle/>
                        <a:p>
                          <a:pPr algn="ctr"/>
                          <a:r>
                            <a:rPr lang="it-IT" dirty="0"/>
                            <a:t>3.548 ± 0.045</a:t>
                          </a:r>
                        </a:p>
                      </a:txBody>
                      <a:tcPr/>
                    </a:tc>
                    <a:tc>
                      <a:txBody>
                        <a:bodyPr/>
                        <a:lstStyle/>
                        <a:p>
                          <a:endParaRPr lang="it-IT"/>
                        </a:p>
                      </a:txBody>
                      <a:tcPr>
                        <a:blipFill>
                          <a:blip r:embed="rId2"/>
                          <a:stretch>
                            <a:fillRect l="-200000" t="-401613" r="-100690" b="-417742"/>
                          </a:stretch>
                        </a:blipFill>
                      </a:tcPr>
                    </a:tc>
                    <a:tc>
                      <a:txBody>
                        <a:bodyPr/>
                        <a:lstStyle/>
                        <a:p>
                          <a:pPr algn="ctr"/>
                          <a:r>
                            <a:rPr lang="it-IT" dirty="0"/>
                            <a:t>[3.472, 3.621]</a:t>
                          </a:r>
                        </a:p>
                      </a:txBody>
                      <a:tcPr/>
                    </a:tc>
                    <a:extLst>
                      <a:ext uri="{0D108BD9-81ED-4DB2-BD59-A6C34878D82A}">
                        <a16:rowId xmlns:a16="http://schemas.microsoft.com/office/drawing/2014/main" val="1470492251"/>
                      </a:ext>
                    </a:extLst>
                  </a:tr>
                  <a:tr h="372999">
                    <a:tc>
                      <a:txBody>
                        <a:bodyPr/>
                        <a:lstStyle/>
                        <a:p>
                          <a:endParaRPr lang="it-IT"/>
                        </a:p>
                      </a:txBody>
                      <a:tcPr>
                        <a:lnB w="12700" cmpd="sng">
                          <a:noFill/>
                        </a:lnB>
                        <a:blipFill>
                          <a:blip r:embed="rId2"/>
                          <a:stretch>
                            <a:fillRect l="-230" t="-509836" r="-300460" b="-324590"/>
                          </a:stretch>
                        </a:blipFill>
                      </a:tcPr>
                    </a:tc>
                    <a:tc>
                      <a:txBody>
                        <a:bodyPr/>
                        <a:lstStyle/>
                        <a:p>
                          <a:pPr algn="ctr"/>
                          <a:r>
                            <a:rPr lang="it-IT" dirty="0"/>
                            <a:t>1.415 ± 0.084</a:t>
                          </a:r>
                        </a:p>
                      </a:txBody>
                      <a:tcPr>
                        <a:lnB w="12700" cmpd="sng">
                          <a:noFill/>
                        </a:lnB>
                      </a:tcPr>
                    </a:tc>
                    <a:tc>
                      <a:txBody>
                        <a:bodyPr/>
                        <a:lstStyle/>
                        <a:p>
                          <a:endParaRPr lang="it-IT"/>
                        </a:p>
                      </a:txBody>
                      <a:tcPr>
                        <a:lnB w="12700" cmpd="sng">
                          <a:noFill/>
                        </a:lnB>
                        <a:blipFill>
                          <a:blip r:embed="rId2"/>
                          <a:stretch>
                            <a:fillRect l="-200000" t="-509836" r="-100690" b="-324590"/>
                          </a:stretch>
                        </a:blipFill>
                      </a:tcPr>
                    </a:tc>
                    <a:tc>
                      <a:txBody>
                        <a:bodyPr/>
                        <a:lstStyle/>
                        <a:p>
                          <a:pPr algn="ctr"/>
                          <a:r>
                            <a:rPr lang="it-IT" dirty="0"/>
                            <a:t>[1.287, 1.560]</a:t>
                          </a:r>
                        </a:p>
                      </a:txBody>
                      <a:tcPr>
                        <a:lnB w="12700" cmpd="sng">
                          <a:noFill/>
                        </a:lnB>
                      </a:tcPr>
                    </a:tc>
                    <a:extLst>
                      <a:ext uri="{0D108BD9-81ED-4DB2-BD59-A6C34878D82A}">
                        <a16:rowId xmlns:a16="http://schemas.microsoft.com/office/drawing/2014/main" val="1719498442"/>
                      </a:ext>
                    </a:extLst>
                  </a:tr>
                  <a:tr h="372872">
                    <a:tc>
                      <a:txBody>
                        <a:bodyPr/>
                        <a:lstStyle/>
                        <a:p>
                          <a:endParaRPr lang="it-IT"/>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30" t="-609836" r="-300460" b="-224590"/>
                          </a:stretch>
                        </a:blipFill>
                      </a:tcPr>
                    </a:tc>
                    <a:tc>
                      <a:txBody>
                        <a:bodyPr/>
                        <a:lstStyle/>
                        <a:p>
                          <a:pPr algn="ctr"/>
                          <a:r>
                            <a:rPr lang="it-IT" dirty="0"/>
                            <a:t>0.989 ± 0.032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000" t="-609836" r="-100690" b="-224590"/>
                          </a:stretch>
                        </a:blipFill>
                      </a:tcPr>
                    </a:tc>
                    <a:tc>
                      <a:txBody>
                        <a:bodyPr/>
                        <a:lstStyle/>
                        <a:p>
                          <a:pPr algn="ctr"/>
                          <a:r>
                            <a:rPr lang="it-IT" dirty="0"/>
                            <a:t>[0.938, 1.042]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49795"/>
                      </a:ext>
                    </a:extLst>
                  </a:tr>
                  <a:tr h="372872">
                    <a:tc>
                      <a:txBody>
                        <a:bodyPr/>
                        <a:lstStyle/>
                        <a:p>
                          <a:endParaRPr lang="it-IT"/>
                        </a:p>
                      </a:txBody>
                      <a:tcPr>
                        <a:lnT w="12700" cap="flat" cmpd="sng" algn="ctr">
                          <a:solidFill>
                            <a:schemeClr val="tx1"/>
                          </a:solidFill>
                          <a:prstDash val="solid"/>
                          <a:round/>
                          <a:headEnd type="none" w="med" len="med"/>
                          <a:tailEnd type="none" w="med" len="med"/>
                        </a:lnT>
                        <a:blipFill>
                          <a:blip r:embed="rId2"/>
                          <a:stretch>
                            <a:fillRect l="-230" t="-709836" r="-300460" b="-124590"/>
                          </a:stretch>
                        </a:blipFill>
                      </a:tcPr>
                    </a:tc>
                    <a:tc>
                      <a:txBody>
                        <a:bodyPr/>
                        <a:lstStyle/>
                        <a:p>
                          <a:pPr algn="ctr"/>
                          <a:r>
                            <a:rPr lang="it-IT" dirty="0"/>
                            <a:t>0.83 ± 0.11</a:t>
                          </a:r>
                        </a:p>
                      </a:txBody>
                      <a:tcPr>
                        <a:lnT w="12700" cap="flat" cmpd="sng" algn="ctr">
                          <a:solidFill>
                            <a:schemeClr val="tx1"/>
                          </a:solidFill>
                          <a:prstDash val="solid"/>
                          <a:round/>
                          <a:headEnd type="none" w="med" len="med"/>
                          <a:tailEnd type="none" w="med" len="med"/>
                        </a:lnT>
                      </a:tcPr>
                    </a:tc>
                    <a:tc>
                      <a:txBody>
                        <a:bodyPr/>
                        <a:lstStyle/>
                        <a:p>
                          <a:endParaRPr lang="it-IT"/>
                        </a:p>
                      </a:txBody>
                      <a:tcPr>
                        <a:lnT w="12700" cap="flat" cmpd="sng" algn="ctr">
                          <a:solidFill>
                            <a:schemeClr val="tx1"/>
                          </a:solidFill>
                          <a:prstDash val="solid"/>
                          <a:round/>
                          <a:headEnd type="none" w="med" len="med"/>
                          <a:tailEnd type="none" w="med" len="med"/>
                        </a:lnT>
                        <a:blipFill>
                          <a:blip r:embed="rId2"/>
                          <a:stretch>
                            <a:fillRect l="-200000" t="-709836" r="-100690" b="-124590"/>
                          </a:stretch>
                        </a:blipFill>
                      </a:tcPr>
                    </a:tc>
                    <a:tc>
                      <a:txBody>
                        <a:bodyPr/>
                        <a:lstStyle/>
                        <a:p>
                          <a:pPr algn="ctr"/>
                          <a:r>
                            <a:rPr lang="it-IT" dirty="0"/>
                            <a:t>[0.67, 1.04]</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81534824"/>
                      </a:ext>
                    </a:extLst>
                  </a:tr>
                  <a:tr h="376746">
                    <a:tc>
                      <a:txBody>
                        <a:bodyPr/>
                        <a:lstStyle/>
                        <a:p>
                          <a:endParaRPr lang="it-IT"/>
                        </a:p>
                      </a:txBody>
                      <a:tcPr>
                        <a:blipFill>
                          <a:blip r:embed="rId2"/>
                          <a:stretch>
                            <a:fillRect l="-230" t="-796774" r="-300460" b="-22581"/>
                          </a:stretch>
                        </a:blipFill>
                      </a:tcPr>
                    </a:tc>
                    <a:tc>
                      <a:txBody>
                        <a:bodyPr/>
                        <a:lstStyle/>
                        <a:p>
                          <a:pPr algn="ctr"/>
                          <a:r>
                            <a:rPr lang="it-IT" dirty="0"/>
                            <a:t>34.8 ± 1.6</a:t>
                          </a:r>
                        </a:p>
                      </a:txBody>
                      <a:tcPr/>
                    </a:tc>
                    <a:tc>
                      <a:txBody>
                        <a:bodyPr/>
                        <a:lstStyle/>
                        <a:p>
                          <a:endParaRPr lang="it-IT"/>
                        </a:p>
                      </a:txBody>
                      <a:tcPr>
                        <a:blipFill>
                          <a:blip r:embed="rId2"/>
                          <a:stretch>
                            <a:fillRect l="-200000" t="-796774" r="-100690" b="-22581"/>
                          </a:stretch>
                        </a:blipFill>
                      </a:tcPr>
                    </a:tc>
                    <a:tc>
                      <a:txBody>
                        <a:bodyPr/>
                        <a:lstStyle/>
                        <a:p>
                          <a:pPr algn="ctr"/>
                          <a:r>
                            <a:rPr lang="it-IT" dirty="0"/>
                            <a:t>[32.2, 37.4]</a:t>
                          </a:r>
                        </a:p>
                      </a:txBody>
                      <a:tcPr/>
                    </a:tc>
                    <a:extLst>
                      <a:ext uri="{0D108BD9-81ED-4DB2-BD59-A6C34878D82A}">
                        <a16:rowId xmlns:a16="http://schemas.microsoft.com/office/drawing/2014/main" val="1704889264"/>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7F0A112-BE6C-3F46-ED9A-62BEE256D32D}"/>
                  </a:ext>
                </a:extLst>
              </p:cNvPr>
              <p:cNvSpPr txBox="1"/>
              <p:nvPr/>
            </p:nvSpPr>
            <p:spPr>
              <a:xfrm>
                <a:off x="700088" y="5224189"/>
                <a:ext cx="9184116" cy="6769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𝑃</m:t>
                      </m:r>
                      <m:d>
                        <m:dPr>
                          <m:ctrlPr>
                            <a:rPr lang="it-IT" b="0" i="1" smtClean="0">
                              <a:latin typeface="Cambria Math" panose="02040503050406030204" pitchFamily="18" charset="0"/>
                            </a:rPr>
                          </m:ctrlPr>
                        </m:dPr>
                        <m:e>
                          <m:r>
                            <a:rPr lang="it-IT" b="0" i="1" smtClean="0">
                              <a:latin typeface="Cambria Math" panose="02040503050406030204" pitchFamily="18" charset="0"/>
                            </a:rPr>
                            <m:t>𝑥</m:t>
                          </m:r>
                          <m:r>
                            <a:rPr lang="it-IT" b="0" i="1" smtClean="0">
                              <a:latin typeface="Cambria Math" panose="02040503050406030204" pitchFamily="18" charset="0"/>
                            </a:rPr>
                            <m:t>≤</m:t>
                          </m:r>
                          <m:r>
                            <a:rPr lang="it-IT" b="0" i="1" smtClean="0">
                              <a:latin typeface="Cambria Math" panose="02040503050406030204" pitchFamily="18" charset="0"/>
                            </a:rPr>
                            <m:t>𝑚𝑒𝑑𝑖𝑎</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𝑛</m:t>
                              </m:r>
                            </m:e>
                            <m:sub>
                              <m:r>
                                <a:rPr lang="it-IT" b="0" i="1" smtClean="0">
                                  <a:latin typeface="Cambria Math" panose="02040503050406030204" pitchFamily="18" charset="0"/>
                                </a:rPr>
                                <m:t>𝑥</m:t>
                              </m:r>
                            </m:sub>
                          </m:sSub>
                        </m:e>
                      </m:d>
                      <m:r>
                        <a:rPr lang="it-IT" b="0" i="1" smtClean="0">
                          <a:latin typeface="Cambria Math" panose="02040503050406030204" pitchFamily="18" charset="0"/>
                        </a:rPr>
                        <m:t>=</m:t>
                      </m:r>
                      <m:r>
                        <a:rPr lang="it-IT" b="0" i="1" smtClean="0">
                          <a:latin typeface="Cambria Math" panose="02040503050406030204" pitchFamily="18" charset="0"/>
                        </a:rPr>
                        <m:t>𝑃</m:t>
                      </m:r>
                      <m:d>
                        <m:dPr>
                          <m:ctrlPr>
                            <a:rPr lang="it-IT" b="0" i="1" smtClean="0">
                              <a:latin typeface="Cambria Math" panose="02040503050406030204" pitchFamily="18" charset="0"/>
                            </a:rPr>
                          </m:ctrlPr>
                        </m:dPr>
                        <m:e>
                          <m:r>
                            <a:rPr lang="it-IT" b="0" i="1" smtClean="0">
                              <a:latin typeface="Cambria Math" panose="02040503050406030204" pitchFamily="18" charset="0"/>
                            </a:rPr>
                            <m:t>𝑙𝑜𝑔</m:t>
                          </m:r>
                          <m:d>
                            <m:dPr>
                              <m:ctrlPr>
                                <a:rPr lang="it-IT" b="0" i="1" smtClean="0">
                                  <a:latin typeface="Cambria Math" panose="02040503050406030204" pitchFamily="18" charset="0"/>
                                </a:rPr>
                              </m:ctrlPr>
                            </m:dPr>
                            <m:e>
                              <m:r>
                                <a:rPr lang="it-IT" b="0" i="1" smtClean="0">
                                  <a:latin typeface="Cambria Math" panose="02040503050406030204" pitchFamily="18" charset="0"/>
                                </a:rPr>
                                <m:t>𝑥</m:t>
                              </m:r>
                            </m:e>
                          </m:d>
                          <m:r>
                            <a:rPr lang="it-IT" b="0" i="1" smtClean="0">
                              <a:latin typeface="Cambria Math" panose="02040503050406030204" pitchFamily="18" charset="0"/>
                            </a:rPr>
                            <m:t>≤</m:t>
                          </m:r>
                          <m:r>
                            <a:rPr lang="it-IT" b="0" i="1" smtClean="0">
                              <a:latin typeface="Cambria Math" panose="02040503050406030204" pitchFamily="18" charset="0"/>
                            </a:rPr>
                            <m:t>𝑙𝑜𝑔</m:t>
                          </m:r>
                          <m:d>
                            <m:dPr>
                              <m:ctrlPr>
                                <a:rPr lang="it-IT" b="0" i="1" smtClean="0">
                                  <a:latin typeface="Cambria Math" panose="02040503050406030204" pitchFamily="18" charset="0"/>
                                </a:rPr>
                              </m:ctrlPr>
                            </m:dPr>
                            <m:e>
                              <m:r>
                                <a:rPr lang="it-IT" b="0" i="1" smtClean="0">
                                  <a:latin typeface="Cambria Math" panose="02040503050406030204" pitchFamily="18" charset="0"/>
                                </a:rPr>
                                <m:t>𝑚𝑒𝑑𝑖</m:t>
                              </m:r>
                              <m:r>
                                <m:rPr>
                                  <m:sty m:val="p"/>
                                </m:rPr>
                                <a:rPr lang="it-IT" b="0" i="1" smtClean="0">
                                  <a:latin typeface="Cambria Math" panose="02040503050406030204" pitchFamily="18" charset="0"/>
                                </a:rPr>
                                <m:t>a</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𝑛</m:t>
                                  </m:r>
                                </m:e>
                                <m:sub>
                                  <m:r>
                                    <a:rPr lang="it-IT" b="0" i="1" smtClean="0">
                                      <a:latin typeface="Cambria Math" panose="02040503050406030204" pitchFamily="18" charset="0"/>
                                    </a:rPr>
                                    <m:t>𝑥</m:t>
                                  </m:r>
                                </m:sub>
                              </m:sSub>
                            </m:e>
                          </m:d>
                        </m:e>
                      </m:d>
                      <m:r>
                        <a:rPr lang="it-IT" b="0" i="1" smtClean="0">
                          <a:latin typeface="Cambria Math" panose="02040503050406030204" pitchFamily="18" charset="0"/>
                        </a:rPr>
                        <m:t>=0.5 ⇒ </m:t>
                      </m:r>
                      <m:r>
                        <a:rPr lang="it-IT" b="0" i="1" smtClean="0">
                          <a:latin typeface="Cambria Math" panose="02040503050406030204" pitchFamily="18" charset="0"/>
                        </a:rPr>
                        <m:t>𝑙𝑜𝑔</m:t>
                      </m:r>
                      <m:d>
                        <m:dPr>
                          <m:ctrlPr>
                            <a:rPr lang="it-IT" b="0" i="1" smtClean="0">
                              <a:latin typeface="Cambria Math" panose="02040503050406030204" pitchFamily="18" charset="0"/>
                            </a:rPr>
                          </m:ctrlPr>
                        </m:dPr>
                        <m:e>
                          <m:r>
                            <a:rPr lang="it-IT" b="0" i="1" smtClean="0">
                              <a:latin typeface="Cambria Math" panose="02040503050406030204" pitchFamily="18" charset="0"/>
                            </a:rPr>
                            <m:t>𝑚𝑒𝑑𝑖𝑎</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𝑛</m:t>
                              </m:r>
                            </m:e>
                            <m:sub>
                              <m:r>
                                <a:rPr lang="it-IT" b="0" i="1" smtClean="0">
                                  <a:latin typeface="Cambria Math" panose="02040503050406030204" pitchFamily="18" charset="0"/>
                                </a:rPr>
                                <m:t>𝑥</m:t>
                              </m:r>
                            </m:sub>
                          </m:sSub>
                        </m:e>
                      </m:d>
                      <m:r>
                        <a:rPr lang="it-IT" b="0" i="1" smtClean="0">
                          <a:latin typeface="Cambria Math" panose="02040503050406030204" pitchFamily="18" charset="0"/>
                        </a:rPr>
                        <m:t>=</m:t>
                      </m:r>
                      <m:r>
                        <a:rPr lang="it-IT" b="0" i="1" smtClean="0">
                          <a:latin typeface="Cambria Math" panose="02040503050406030204" pitchFamily="18" charset="0"/>
                        </a:rPr>
                        <m:t>𝑚𝑒𝑑𝑖𝑎</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𝑛</m:t>
                          </m:r>
                        </m:e>
                        <m:sub>
                          <m:r>
                            <a:rPr lang="it-IT" b="0" i="1" smtClean="0">
                              <a:latin typeface="Cambria Math" panose="02040503050406030204" pitchFamily="18" charset="0"/>
                            </a:rPr>
                            <m:t>𝑙𝑜𝑔</m:t>
                          </m:r>
                          <m:d>
                            <m:dPr>
                              <m:ctrlPr>
                                <a:rPr lang="it-IT" b="0" i="1" smtClean="0">
                                  <a:latin typeface="Cambria Math" panose="02040503050406030204" pitchFamily="18" charset="0"/>
                                </a:rPr>
                              </m:ctrlPr>
                            </m:dPr>
                            <m:e>
                              <m:r>
                                <a:rPr lang="it-IT" b="0" i="1" smtClean="0">
                                  <a:latin typeface="Cambria Math" panose="02040503050406030204" pitchFamily="18" charset="0"/>
                                </a:rPr>
                                <m:t>𝑥</m:t>
                              </m:r>
                            </m:e>
                          </m:d>
                        </m:sub>
                      </m:sSub>
                    </m:oMath>
                  </m:oMathPara>
                </a14:m>
                <a:endParaRPr lang="it-IT" b="0" dirty="0"/>
              </a:p>
              <a:p>
                <a:pPr/>
                <a14:m>
                  <m:oMathPara xmlns:m="http://schemas.openxmlformats.org/officeDocument/2006/math">
                    <m:oMathParaPr>
                      <m:jc m:val="left"/>
                    </m:oMathParaPr>
                    <m:oMath xmlns:m="http://schemas.openxmlformats.org/officeDocument/2006/math">
                      <m:r>
                        <a:rPr lang="it-IT" b="0" i="1" smtClean="0">
                          <a:latin typeface="Cambria Math" panose="02040503050406030204" pitchFamily="18" charset="0"/>
                        </a:rPr>
                        <m:t> </m:t>
                      </m:r>
                      <m:r>
                        <a:rPr lang="it-IT" b="0" i="1" smtClean="0">
                          <a:latin typeface="Cambria Math" panose="02040503050406030204" pitchFamily="18" charset="0"/>
                        </a:rPr>
                        <m:t>𝑚𝑒𝑑𝑖𝑎</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𝑛</m:t>
                          </m:r>
                        </m:e>
                        <m:sub>
                          <m:r>
                            <a:rPr lang="it-IT" b="0" i="1" smtClean="0">
                              <a:latin typeface="Cambria Math" panose="02040503050406030204" pitchFamily="18" charset="0"/>
                            </a:rPr>
                            <m:t>𝑙𝑜𝑔</m:t>
                          </m:r>
                          <m:d>
                            <m:dPr>
                              <m:ctrlPr>
                                <a:rPr lang="it-IT" b="0" i="1" smtClean="0">
                                  <a:latin typeface="Cambria Math" panose="02040503050406030204" pitchFamily="18" charset="0"/>
                                </a:rPr>
                              </m:ctrlPr>
                            </m:dPr>
                            <m:e>
                              <m:r>
                                <a:rPr lang="it-IT" b="0" i="1" smtClean="0">
                                  <a:latin typeface="Cambria Math" panose="02040503050406030204" pitchFamily="18" charset="0"/>
                                </a:rPr>
                                <m:t>𝑥</m:t>
                              </m:r>
                            </m:e>
                          </m:d>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𝑙𝑜𝑔</m:t>
                          </m:r>
                          <m:d>
                            <m:dPr>
                              <m:ctrlPr>
                                <a:rPr lang="it-IT" b="0" i="1" smtClean="0">
                                  <a:latin typeface="Cambria Math" panose="02040503050406030204" pitchFamily="18" charset="0"/>
                                </a:rPr>
                              </m:ctrlPr>
                            </m:dPr>
                            <m:e>
                              <m:r>
                                <a:rPr lang="it-IT" b="0" i="1" smtClean="0">
                                  <a:latin typeface="Cambria Math" panose="02040503050406030204" pitchFamily="18" charset="0"/>
                                </a:rPr>
                                <m:t>𝑥</m:t>
                              </m:r>
                            </m:e>
                          </m:d>
                        </m:sub>
                      </m:sSub>
                      <m:r>
                        <a:rPr lang="it-IT" b="0" i="1" smtClean="0">
                          <a:latin typeface="Cambria Math" panose="02040503050406030204" pitchFamily="18" charset="0"/>
                        </a:rPr>
                        <m:t> ⇒ </m:t>
                      </m:r>
                      <m:r>
                        <a:rPr lang="it-IT" b="0" i="1" smtClean="0">
                          <a:latin typeface="Cambria Math" panose="02040503050406030204" pitchFamily="18" charset="0"/>
                        </a:rPr>
                        <m:t>𝑚𝑒𝑑𝑖𝑎</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𝑛</m:t>
                          </m:r>
                        </m:e>
                        <m:sub>
                          <m:r>
                            <a:rPr lang="it-IT" b="0" i="1" smtClean="0">
                              <a:latin typeface="Cambria Math" panose="02040503050406030204" pitchFamily="18" charset="0"/>
                            </a:rPr>
                            <m:t>𝑥</m:t>
                          </m:r>
                        </m:sub>
                      </m:sSub>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𝑒</m:t>
                          </m:r>
                        </m:e>
                        <m:sup>
                          <m:sSub>
                            <m:sSubPr>
                              <m:ctrlPr>
                                <a:rPr lang="it-IT" b="0" i="1" smtClean="0">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𝑙𝑜𝑔</m:t>
                              </m:r>
                              <m:d>
                                <m:dPr>
                                  <m:ctrlPr>
                                    <a:rPr lang="it-IT" i="1">
                                      <a:latin typeface="Cambria Math" panose="02040503050406030204" pitchFamily="18" charset="0"/>
                                    </a:rPr>
                                  </m:ctrlPr>
                                </m:dPr>
                                <m:e>
                                  <m:r>
                                    <a:rPr lang="it-IT" i="1">
                                      <a:latin typeface="Cambria Math" panose="02040503050406030204" pitchFamily="18" charset="0"/>
                                    </a:rPr>
                                    <m:t>𝑥</m:t>
                                  </m:r>
                                </m:e>
                              </m:d>
                            </m:sub>
                          </m:sSub>
                        </m:sup>
                      </m:sSup>
                    </m:oMath>
                  </m:oMathPara>
                </a14:m>
                <a:endParaRPr lang="it-IT" dirty="0"/>
              </a:p>
            </p:txBody>
          </p:sp>
        </mc:Choice>
        <mc:Fallback xmlns="">
          <p:sp>
            <p:nvSpPr>
              <p:cNvPr id="5" name="TextBox 4">
                <a:extLst>
                  <a:ext uri="{FF2B5EF4-FFF2-40B4-BE49-F238E27FC236}">
                    <a16:creationId xmlns:a16="http://schemas.microsoft.com/office/drawing/2014/main" id="{E7F0A112-BE6C-3F46-ED9A-62BEE256D32D}"/>
                  </a:ext>
                </a:extLst>
              </p:cNvPr>
              <p:cNvSpPr txBox="1">
                <a:spLocks noRot="1" noChangeAspect="1" noMove="1" noResize="1" noEditPoints="1" noAdjustHandles="1" noChangeArrowheads="1" noChangeShapeType="1" noTextEdit="1"/>
              </p:cNvSpPr>
              <p:nvPr/>
            </p:nvSpPr>
            <p:spPr>
              <a:xfrm>
                <a:off x="700088" y="5224189"/>
                <a:ext cx="9184116" cy="676980"/>
              </a:xfrm>
              <a:prstGeom prst="rect">
                <a:avLst/>
              </a:prstGeom>
              <a:blipFill>
                <a:blip r:embed="rId3"/>
                <a:stretch>
                  <a:fillRect l="-398" t="-7207" b="-15315"/>
                </a:stretch>
              </a:blipFill>
            </p:spPr>
            <p:txBody>
              <a:bodyPr/>
              <a:lstStyle/>
              <a:p>
                <a:r>
                  <a:rPr lang="it-IT">
                    <a:noFill/>
                  </a:rPr>
                  <a:t> </a:t>
                </a:r>
              </a:p>
            </p:txBody>
          </p:sp>
        </mc:Fallback>
      </mc:AlternateContent>
    </p:spTree>
    <p:extLst>
      <p:ext uri="{BB962C8B-B14F-4D97-AF65-F5344CB8AC3E}">
        <p14:creationId xmlns:p14="http://schemas.microsoft.com/office/powerpoint/2010/main" val="689168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46BA8-6733-CC83-3809-E9E5B9E054AD}"/>
              </a:ext>
            </a:extLst>
          </p:cNvPr>
          <p:cNvSpPr>
            <a:spLocks noGrp="1"/>
          </p:cNvSpPr>
          <p:nvPr>
            <p:ph type="title"/>
          </p:nvPr>
        </p:nvSpPr>
        <p:spPr/>
        <p:txBody>
          <a:bodyPr/>
          <a:lstStyle/>
          <a:p>
            <a:r>
              <a:rPr lang="it-IT" dirty="0">
                <a:solidFill>
                  <a:srgbClr val="FF0000"/>
                </a:solidFill>
              </a:rPr>
              <a:t>Problem 1b - Gaussian uncertainties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224B6A-AB1B-BD3A-D819-4E72BE624DDD}"/>
                  </a:ext>
                </a:extLst>
              </p:cNvPr>
              <p:cNvSpPr>
                <a:spLocks noGrp="1"/>
              </p:cNvSpPr>
              <p:nvPr>
                <p:ph idx="1"/>
              </p:nvPr>
            </p:nvSpPr>
            <p:spPr>
              <a:xfrm>
                <a:off x="700635" y="1570892"/>
                <a:ext cx="10691265" cy="4579816"/>
              </a:xfrm>
            </p:spPr>
            <p:txBody>
              <a:bodyPr/>
              <a:lstStyle/>
              <a:p>
                <a:r>
                  <a:rPr lang="it-IT" b="1" dirty="0"/>
                  <a:t>Problem 1b: </a:t>
                </a:r>
                <a:r>
                  <a:rPr lang="en-US" sz="1900" dirty="0"/>
                  <a:t>estimate the distribution parameters assuming </a:t>
                </a:r>
                <a:r>
                  <a:rPr lang="en-US" sz="1900" b="1" dirty="0"/>
                  <a:t>Gaussian uncertainties </a:t>
                </a:r>
                <a:r>
                  <a:rPr lang="en-US" sz="1900" dirty="0"/>
                  <a:t>on each </a:t>
                </a:r>
                <a:r>
                  <a:rPr lang="en-US" sz="1900" i="1" dirty="0"/>
                  <a:t>logT90.</a:t>
                </a:r>
              </a:p>
              <a:p>
                <a:pPr marL="0" indent="0">
                  <a:lnSpc>
                    <a:spcPct val="150000"/>
                  </a:lnSpc>
                  <a:buNone/>
                </a:pPr>
                <a14:m>
                  <m:oMathPara xmlns:m="http://schemas.openxmlformats.org/officeDocument/2006/math">
                    <m:oMathParaPr>
                      <m:jc m:val="center"/>
                    </m:oMathParaPr>
                    <m:oMath xmlns:m="http://schemas.openxmlformats.org/officeDocument/2006/math">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𝑥</m:t>
                          </m:r>
                        </m:e>
                        <m:sub>
                          <m:r>
                            <a:rPr lang="it-IT" sz="1900" b="0" i="1" smtClean="0">
                              <a:latin typeface="Cambria Math" panose="02040503050406030204" pitchFamily="18" charset="0"/>
                            </a:rPr>
                            <m:t>𝑜𝑏𝑠</m:t>
                          </m:r>
                        </m:sub>
                      </m:sSub>
                      <m:r>
                        <a:rPr lang="it-IT" sz="1900" b="0" i="1" smtClean="0">
                          <a:latin typeface="Cambria Math" panose="02040503050406030204" pitchFamily="18" charset="0"/>
                        </a:rPr>
                        <m:t>=</m:t>
                      </m:r>
                      <m:r>
                        <a:rPr lang="it-IT" sz="1900" b="0" i="1" smtClean="0">
                          <a:latin typeface="Cambria Math" panose="02040503050406030204" pitchFamily="18" charset="0"/>
                        </a:rPr>
                        <m:t>𝑥</m:t>
                      </m:r>
                      <m:r>
                        <a:rPr lang="it-IT" sz="1900" b="0" i="1" smtClean="0">
                          <a:latin typeface="Cambria Math" panose="02040503050406030204" pitchFamily="18" charset="0"/>
                        </a:rPr>
                        <m:t>+</m:t>
                      </m:r>
                      <m:r>
                        <m:rPr>
                          <m:sty m:val="p"/>
                        </m:rPr>
                        <a:rPr lang="it-IT" sz="1900" b="0" i="1" smtClean="0">
                          <a:latin typeface="Cambria Math" panose="02040503050406030204" pitchFamily="18" charset="0"/>
                        </a:rPr>
                        <m:t>ε</m:t>
                      </m:r>
                      <m:r>
                        <a:rPr lang="it-IT" sz="1900" b="0" i="1" smtClean="0">
                          <a:latin typeface="Cambria Math" panose="02040503050406030204" pitchFamily="18" charset="0"/>
                        </a:rPr>
                        <m:t>   </m:t>
                      </m:r>
                      <m:r>
                        <a:rPr lang="it-IT" sz="1900" b="0" i="1" smtClean="0">
                          <a:latin typeface="Cambria Math" panose="02040503050406030204" pitchFamily="18" charset="0"/>
                        </a:rPr>
                        <m:t>𝜀</m:t>
                      </m:r>
                      <m:r>
                        <a:rPr lang="it-IT" sz="1900" b="0" i="1" smtClean="0">
                          <a:latin typeface="Cambria Math" panose="02040503050406030204" pitchFamily="18" charset="0"/>
                        </a:rPr>
                        <m:t>∼</m:t>
                      </m:r>
                      <m:r>
                        <a:rPr lang="it-IT" sz="1900" b="0" i="1" smtClean="0">
                          <a:latin typeface="Cambria Math" panose="02040503050406030204" pitchFamily="18" charset="0"/>
                        </a:rPr>
                        <m:t>𝒩</m:t>
                      </m:r>
                      <m:d>
                        <m:dPr>
                          <m:ctrlPr>
                            <a:rPr lang="it-IT" sz="1900" b="0" i="1" smtClean="0">
                              <a:latin typeface="Cambria Math" panose="02040503050406030204" pitchFamily="18" charset="0"/>
                            </a:rPr>
                          </m:ctrlPr>
                        </m:dPr>
                        <m:e>
                          <m:r>
                            <a:rPr lang="it-IT" sz="1900" b="0" i="1" smtClean="0">
                              <a:latin typeface="Cambria Math" panose="02040503050406030204" pitchFamily="18" charset="0"/>
                            </a:rPr>
                            <m:t>0,</m:t>
                          </m:r>
                          <m:sSubSup>
                            <m:sSubSupPr>
                              <m:ctrlPr>
                                <a:rPr lang="it-IT" sz="1900" b="0" i="1" smtClean="0">
                                  <a:latin typeface="Cambria Math" panose="02040503050406030204" pitchFamily="18" charset="0"/>
                                </a:rPr>
                              </m:ctrlPr>
                            </m:sSubSupPr>
                            <m:e>
                              <m:r>
                                <a:rPr lang="it-IT" sz="1900" b="0" i="1" smtClean="0">
                                  <a:latin typeface="Cambria Math" panose="02040503050406030204" pitchFamily="18" charset="0"/>
                                </a:rPr>
                                <m:t>𝜎</m:t>
                              </m:r>
                            </m:e>
                            <m:sub>
                              <m:r>
                                <a:rPr lang="it-IT" sz="1900" b="0" i="1" smtClean="0">
                                  <a:latin typeface="Cambria Math" panose="02040503050406030204" pitchFamily="18" charset="0"/>
                                </a:rPr>
                                <m:t>𝑜𝑏𝑠</m:t>
                              </m:r>
                            </m:sub>
                            <m:sup>
                              <m:r>
                                <a:rPr lang="it-IT" sz="1900" b="0" i="1" smtClean="0">
                                  <a:latin typeface="Cambria Math" panose="02040503050406030204" pitchFamily="18" charset="0"/>
                                </a:rPr>
                                <m:t>2</m:t>
                              </m:r>
                            </m:sup>
                          </m:sSubSup>
                        </m:e>
                      </m:d>
                    </m:oMath>
                  </m:oMathPara>
                </a14:m>
                <a:endParaRPr lang="it-IT" sz="1900" dirty="0"/>
              </a:p>
              <a:p>
                <a:r>
                  <a:rPr lang="it-IT" sz="1900" dirty="0"/>
                  <a:t>Marginal in x:</a:t>
                </a:r>
              </a:p>
              <a:p>
                <a:pPr marL="0" indent="0">
                  <a:lnSpc>
                    <a:spcPct val="100000"/>
                  </a:lnSpc>
                  <a:buNone/>
                </a:pPr>
                <a14:m>
                  <m:oMathPara xmlns:m="http://schemas.openxmlformats.org/officeDocument/2006/math">
                    <m:oMathParaPr>
                      <m:jc m:val="centerGroup"/>
                    </m:oMathParaPr>
                    <m:oMath xmlns:m="http://schemas.openxmlformats.org/officeDocument/2006/math">
                      <m:r>
                        <a:rPr lang="it-IT" sz="1900" i="1" smtClean="0">
                          <a:latin typeface="Cambria Math" panose="02040503050406030204" pitchFamily="18" charset="0"/>
                        </a:rPr>
                        <m:t>𝑝</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e>
                        <m:e>
                          <m:r>
                            <a:rPr lang="it-IT" sz="1900" i="1">
                              <a:latin typeface="Cambria Math" panose="02040503050406030204" pitchFamily="18" charset="0"/>
                            </a:rPr>
                            <m:t>𝜽</m:t>
                          </m:r>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𝜎</m:t>
                              </m:r>
                            </m:e>
                            <m:sub>
                              <m:r>
                                <a:rPr lang="it-IT" sz="1900" i="1">
                                  <a:latin typeface="Cambria Math" panose="02040503050406030204" pitchFamily="18" charset="0"/>
                                </a:rPr>
                                <m:t>𝑜𝑏𝑠</m:t>
                              </m:r>
                            </m:sub>
                          </m:sSub>
                        </m:e>
                      </m:d>
                      <m:r>
                        <a:rPr lang="it-IT" sz="1900" i="1">
                          <a:latin typeface="Cambria Math" panose="02040503050406030204" pitchFamily="18" charset="0"/>
                        </a:rPr>
                        <m:t>=</m:t>
                      </m:r>
                      <m:nary>
                        <m:naryPr>
                          <m:ctrlPr>
                            <a:rPr lang="it-IT" sz="1900" i="1">
                              <a:latin typeface="Cambria Math" panose="02040503050406030204" pitchFamily="18" charset="0"/>
                            </a:rPr>
                          </m:ctrlPr>
                        </m:naryPr>
                        <m:sub>
                          <m:r>
                            <a:rPr lang="it-IT" sz="1900" i="1">
                              <a:latin typeface="Cambria Math" panose="02040503050406030204" pitchFamily="18" charset="0"/>
                            </a:rPr>
                            <m:t>−∞</m:t>
                          </m:r>
                        </m:sub>
                        <m:sup>
                          <m:r>
                            <a:rPr lang="it-IT" sz="1900" i="1">
                              <a:latin typeface="Cambria Math" panose="02040503050406030204" pitchFamily="18" charset="0"/>
                            </a:rPr>
                            <m:t>+∞</m:t>
                          </m:r>
                        </m:sup>
                        <m:e>
                          <m:r>
                            <a:rPr lang="it-IT" sz="1900" i="1">
                              <a:latin typeface="Cambria Math" panose="02040503050406030204" pitchFamily="18" charset="0"/>
                            </a:rPr>
                            <m:t>𝑝</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e>
                            <m:e>
                              <m:r>
                                <a:rPr lang="it-IT" sz="1900" i="1">
                                  <a:latin typeface="Cambria Math" panose="02040503050406030204" pitchFamily="18" charset="0"/>
                                </a:rPr>
                                <m:t>𝑥</m:t>
                              </m:r>
                              <m:r>
                                <a:rPr lang="it-IT" sz="1900" i="1">
                                  <a:latin typeface="Cambria Math" panose="02040503050406030204" pitchFamily="18" charset="0"/>
                                </a:rPr>
                                <m:t>,</m:t>
                              </m:r>
                              <m:r>
                                <a:rPr lang="it-IT" sz="1900" i="1">
                                  <a:latin typeface="Cambria Math" panose="02040503050406030204" pitchFamily="18" charset="0"/>
                                </a:rPr>
                                <m:t>𝜽</m:t>
                              </m:r>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𝜎</m:t>
                                  </m:r>
                                </m:e>
                                <m:sub>
                                  <m:r>
                                    <a:rPr lang="it-IT" sz="1900" i="1">
                                      <a:latin typeface="Cambria Math" panose="02040503050406030204" pitchFamily="18" charset="0"/>
                                    </a:rPr>
                                    <m:t>𝑜𝑏𝑠</m:t>
                                  </m:r>
                                </m:sub>
                              </m:sSub>
                            </m:e>
                          </m:d>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𝑥</m:t>
                              </m:r>
                            </m:e>
                            <m:e>
                              <m:r>
                                <a:rPr lang="it-IT" sz="1900" i="1">
                                  <a:latin typeface="Cambria Math" panose="02040503050406030204" pitchFamily="18" charset="0"/>
                                </a:rPr>
                                <m:t>𝜽</m:t>
                              </m:r>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𝜎</m:t>
                                  </m:r>
                                </m:e>
                                <m:sub>
                                  <m:r>
                                    <a:rPr lang="it-IT" sz="1900" i="1">
                                      <a:latin typeface="Cambria Math" panose="02040503050406030204" pitchFamily="18" charset="0"/>
                                    </a:rPr>
                                    <m:t>𝑜𝑏𝑠</m:t>
                                  </m:r>
                                </m:sub>
                              </m:sSub>
                            </m:e>
                          </m:d>
                          <m:r>
                            <a:rPr lang="it-IT" sz="1900" i="1">
                              <a:latin typeface="Cambria Math" panose="02040503050406030204" pitchFamily="18" charset="0"/>
                            </a:rPr>
                            <m:t>𝑑𝑥</m:t>
                          </m:r>
                        </m:e>
                      </m:nary>
                    </m:oMath>
                  </m:oMathPara>
                </a14:m>
                <a:endParaRPr lang="it-IT" sz="1900" dirty="0"/>
              </a:p>
              <a:p>
                <a:r>
                  <a:rPr lang="it-IT" sz="1900" dirty="0"/>
                  <a:t> The second term in the integral is indipendent of </a:t>
                </a:r>
                <a14:m>
                  <m:oMath xmlns:m="http://schemas.openxmlformats.org/officeDocument/2006/math">
                    <m:sSub>
                      <m:sSubPr>
                        <m:ctrlPr>
                          <a:rPr lang="it-IT" sz="1900" i="1" dirty="0">
                            <a:latin typeface="Cambria Math" panose="02040503050406030204" pitchFamily="18" charset="0"/>
                          </a:rPr>
                        </m:ctrlPr>
                      </m:sSubPr>
                      <m:e>
                        <m:r>
                          <a:rPr lang="it-IT" sz="1900" i="1" dirty="0">
                            <a:latin typeface="Cambria Math" panose="02040503050406030204" pitchFamily="18" charset="0"/>
                          </a:rPr>
                          <m:t>𝜎</m:t>
                        </m:r>
                      </m:e>
                      <m:sub>
                        <m:r>
                          <a:rPr lang="it-IT" sz="1900" i="1" dirty="0">
                            <a:latin typeface="Cambria Math" panose="02040503050406030204" pitchFamily="18" charset="0"/>
                          </a:rPr>
                          <m:t>𝑜𝑏𝑠</m:t>
                        </m:r>
                      </m:sub>
                    </m:sSub>
                  </m:oMath>
                </a14:m>
                <a:r>
                  <a:rPr lang="it-IT" sz="1900" dirty="0"/>
                  <a:t>. </a:t>
                </a:r>
                <a:r>
                  <a:rPr lang="en-US" sz="1900" dirty="0"/>
                  <a:t>Let us assume only </a:t>
                </a:r>
                <a:r>
                  <a:rPr lang="en-US" sz="1900" b="1" dirty="0"/>
                  <a:t>one component</a:t>
                </a:r>
                <a:r>
                  <a:rPr lang="en-US" sz="1900" dirty="0"/>
                  <a:t>.</a:t>
                </a:r>
                <a:endParaRPr lang="it-IT" sz="1900" dirty="0"/>
              </a:p>
              <a:p>
                <a:pPr marL="0" indent="0">
                  <a:lnSpc>
                    <a:spcPct val="150000"/>
                  </a:lnSpc>
                  <a:buNone/>
                </a:pPr>
                <a14:m>
                  <m:oMathPara xmlns:m="http://schemas.openxmlformats.org/officeDocument/2006/math">
                    <m:oMathParaPr>
                      <m:jc m:val="centerGroup"/>
                    </m:oMathParaPr>
                    <m:oMath xmlns:m="http://schemas.openxmlformats.org/officeDocument/2006/math">
                      <m:r>
                        <a:rPr lang="it-IT" sz="1900" i="1" dirty="0" smtClean="0">
                          <a:latin typeface="Cambria Math" panose="02040503050406030204" pitchFamily="18" charset="0"/>
                        </a:rPr>
                        <m:t>𝑝</m:t>
                      </m:r>
                      <m:d>
                        <m:dPr>
                          <m:ctrlPr>
                            <a:rPr lang="it-IT" sz="1900" i="1" dirty="0" smtClean="0">
                              <a:latin typeface="Cambria Math" panose="02040503050406030204" pitchFamily="18" charset="0"/>
                            </a:rPr>
                          </m:ctrlPr>
                        </m:dPr>
                        <m:e>
                          <m:r>
                            <a:rPr lang="it-IT" sz="1900" i="1" dirty="0" smtClean="0">
                              <a:latin typeface="Cambria Math" panose="02040503050406030204" pitchFamily="18" charset="0"/>
                            </a:rPr>
                            <m:t>𝑥</m:t>
                          </m:r>
                        </m:e>
                        <m:e>
                          <m:r>
                            <a:rPr lang="it-IT" sz="1900" i="1" dirty="0" smtClean="0">
                              <a:latin typeface="Cambria Math" panose="02040503050406030204" pitchFamily="18" charset="0"/>
                            </a:rPr>
                            <m:t>𝜽</m:t>
                          </m:r>
                          <m:r>
                            <a:rPr lang="it-IT" sz="1900" i="1" dirty="0" smtClean="0">
                              <a:latin typeface="Cambria Math" panose="02040503050406030204" pitchFamily="18" charset="0"/>
                            </a:rPr>
                            <m:t>,</m:t>
                          </m:r>
                          <m:sSub>
                            <m:sSubPr>
                              <m:ctrlPr>
                                <a:rPr lang="it-IT" sz="1900" i="1" dirty="0" smtClean="0">
                                  <a:latin typeface="Cambria Math" panose="02040503050406030204" pitchFamily="18" charset="0"/>
                                </a:rPr>
                              </m:ctrlPr>
                            </m:sSubPr>
                            <m:e>
                              <m:r>
                                <a:rPr lang="it-IT" sz="1900" i="1" dirty="0" smtClean="0">
                                  <a:latin typeface="Cambria Math" panose="02040503050406030204" pitchFamily="18" charset="0"/>
                                </a:rPr>
                                <m:t>𝜎</m:t>
                              </m:r>
                            </m:e>
                            <m:sub>
                              <m:r>
                                <a:rPr lang="it-IT" sz="1900" i="1" dirty="0" smtClean="0">
                                  <a:latin typeface="Cambria Math" panose="02040503050406030204" pitchFamily="18" charset="0"/>
                                </a:rPr>
                                <m:t>𝑜𝑏𝑠</m:t>
                              </m:r>
                            </m:sub>
                          </m:sSub>
                        </m:e>
                      </m:d>
                      <m:r>
                        <a:rPr lang="it-IT" sz="1900" i="1" dirty="0" smtClean="0">
                          <a:latin typeface="Cambria Math" panose="02040503050406030204" pitchFamily="18" charset="0"/>
                        </a:rPr>
                        <m:t>=</m:t>
                      </m:r>
                      <m:r>
                        <a:rPr lang="it-IT" sz="1900" i="1" dirty="0" smtClean="0">
                          <a:latin typeface="Cambria Math" panose="02040503050406030204" pitchFamily="18" charset="0"/>
                        </a:rPr>
                        <m:t>𝑝</m:t>
                      </m:r>
                      <m:d>
                        <m:dPr>
                          <m:ctrlPr>
                            <a:rPr lang="it-IT" sz="1900" i="1" dirty="0" smtClean="0">
                              <a:latin typeface="Cambria Math" panose="02040503050406030204" pitchFamily="18" charset="0"/>
                            </a:rPr>
                          </m:ctrlPr>
                        </m:dPr>
                        <m:e>
                          <m:r>
                            <a:rPr lang="it-IT" sz="1900" i="1" dirty="0" smtClean="0">
                              <a:latin typeface="Cambria Math" panose="02040503050406030204" pitchFamily="18" charset="0"/>
                            </a:rPr>
                            <m:t>𝑥</m:t>
                          </m:r>
                        </m:e>
                        <m:e>
                          <m:r>
                            <a:rPr lang="it-IT" sz="1900" i="1" dirty="0" smtClean="0">
                              <a:latin typeface="Cambria Math" panose="02040503050406030204" pitchFamily="18" charset="0"/>
                            </a:rPr>
                            <m:t>𝜽</m:t>
                          </m:r>
                        </m:e>
                      </m:d>
                      <m:r>
                        <a:rPr lang="it-IT" sz="1900" i="1" dirty="0" smtClean="0">
                          <a:latin typeface="Cambria Math" panose="02040503050406030204" pitchFamily="18" charset="0"/>
                        </a:rPr>
                        <m:t>=</m:t>
                      </m:r>
                      <m:r>
                        <a:rPr lang="it-IT" sz="1900" i="1" dirty="0" smtClean="0">
                          <a:latin typeface="Cambria Math" panose="02040503050406030204" pitchFamily="18" charset="0"/>
                        </a:rPr>
                        <m:t>𝒩</m:t>
                      </m:r>
                      <m:d>
                        <m:dPr>
                          <m:ctrlPr>
                            <a:rPr lang="it-IT" sz="1900" i="1" dirty="0" smtClean="0">
                              <a:latin typeface="Cambria Math" panose="02040503050406030204" pitchFamily="18" charset="0"/>
                            </a:rPr>
                          </m:ctrlPr>
                        </m:dPr>
                        <m:e>
                          <m:r>
                            <a:rPr lang="it-IT" sz="1900" i="1" dirty="0" smtClean="0">
                              <a:latin typeface="Cambria Math" panose="02040503050406030204" pitchFamily="18" charset="0"/>
                            </a:rPr>
                            <m:t>𝑥</m:t>
                          </m:r>
                        </m:e>
                        <m:e>
                          <m:sSub>
                            <m:sSubPr>
                              <m:ctrlPr>
                                <a:rPr lang="it-IT" sz="1900" i="1" dirty="0" smtClean="0">
                                  <a:latin typeface="Cambria Math" panose="02040503050406030204" pitchFamily="18" charset="0"/>
                                </a:rPr>
                              </m:ctrlPr>
                            </m:sSubPr>
                            <m:e>
                              <m:r>
                                <a:rPr lang="it-IT" sz="1900" i="1" dirty="0" smtClean="0">
                                  <a:latin typeface="Cambria Math" panose="02040503050406030204" pitchFamily="18" charset="0"/>
                                </a:rPr>
                                <m:t>𝜇</m:t>
                              </m:r>
                            </m:e>
                            <m:sub>
                              <m:r>
                                <a:rPr lang="it-IT" sz="1900" i="1" dirty="0" smtClean="0">
                                  <a:latin typeface="Cambria Math" panose="02040503050406030204" pitchFamily="18" charset="0"/>
                                </a:rPr>
                                <m:t>1</m:t>
                              </m:r>
                            </m:sub>
                          </m:sSub>
                          <m:r>
                            <a:rPr lang="it-IT" sz="1900" i="1" dirty="0" smtClean="0">
                              <a:latin typeface="Cambria Math" panose="02040503050406030204" pitchFamily="18" charset="0"/>
                            </a:rPr>
                            <m:t>,</m:t>
                          </m:r>
                          <m:sSubSup>
                            <m:sSubSupPr>
                              <m:ctrlPr>
                                <a:rPr lang="it-IT" sz="1900" i="1" dirty="0" smtClean="0">
                                  <a:latin typeface="Cambria Math" panose="02040503050406030204" pitchFamily="18" charset="0"/>
                                </a:rPr>
                              </m:ctrlPr>
                            </m:sSubSupPr>
                            <m:e>
                              <m:r>
                                <a:rPr lang="it-IT" sz="1900" i="1" dirty="0" smtClean="0">
                                  <a:latin typeface="Cambria Math" panose="02040503050406030204" pitchFamily="18" charset="0"/>
                                </a:rPr>
                                <m:t>𝜎</m:t>
                              </m:r>
                            </m:e>
                            <m:sub>
                              <m:r>
                                <a:rPr lang="it-IT" sz="1900" i="1" dirty="0" smtClean="0">
                                  <a:latin typeface="Cambria Math" panose="02040503050406030204" pitchFamily="18" charset="0"/>
                                </a:rPr>
                                <m:t>1</m:t>
                              </m:r>
                            </m:sub>
                            <m:sup>
                              <m:r>
                                <a:rPr lang="it-IT" sz="1900" i="1" dirty="0" smtClean="0">
                                  <a:latin typeface="Cambria Math" panose="02040503050406030204" pitchFamily="18" charset="0"/>
                                </a:rPr>
                                <m:t>2</m:t>
                              </m:r>
                            </m:sup>
                          </m:sSubSup>
                        </m:e>
                      </m:d>
                      <m:r>
                        <a:rPr lang="it-IT" sz="1900" b="0" i="1" dirty="0" smtClean="0">
                          <a:latin typeface="Cambria Math" panose="02040503050406030204" pitchFamily="18" charset="0"/>
                        </a:rPr>
                        <m:t>  </m:t>
                      </m:r>
                    </m:oMath>
                  </m:oMathPara>
                </a14:m>
                <a:endParaRPr lang="it-IT" sz="1900" b="0" i="1" dirty="0">
                  <a:latin typeface="Cambria Math" panose="02040503050406030204" pitchFamily="18" charset="0"/>
                </a:endParaRPr>
              </a:p>
              <a:p>
                <a:r>
                  <a:rPr lang="it-IT" sz="1900" i="1" dirty="0">
                    <a:latin typeface="Cambria Math" panose="02040503050406030204" pitchFamily="18" charset="0"/>
                  </a:rPr>
                  <a:t> </a:t>
                </a:r>
                <a:r>
                  <a:rPr lang="it-IT" sz="1900" dirty="0"/>
                  <a:t>The first term in the integral is indipendent of </a:t>
                </a:r>
                <a14:m>
                  <m:oMath xmlns:m="http://schemas.openxmlformats.org/officeDocument/2006/math">
                    <m:r>
                      <a:rPr lang="it-IT" sz="1900" i="1">
                        <a:latin typeface="Cambria Math" panose="02040503050406030204" pitchFamily="18" charset="0"/>
                      </a:rPr>
                      <m:t>𝜽</m:t>
                    </m:r>
                  </m:oMath>
                </a14:m>
                <a:r>
                  <a:rPr lang="it-IT" sz="1900" i="1" dirty="0">
                    <a:latin typeface="Cambria Math" panose="02040503050406030204" pitchFamily="18" charset="0"/>
                  </a:rPr>
                  <a:t>.</a:t>
                </a:r>
              </a:p>
              <a:p>
                <a:pPr marL="0" indent="0">
                  <a:buNone/>
                </a:pPr>
                <a14:m>
                  <m:oMathPara xmlns:m="http://schemas.openxmlformats.org/officeDocument/2006/math">
                    <m:oMathParaPr>
                      <m:jc m:val="centerGroup"/>
                    </m:oMathParaPr>
                    <m:oMath xmlns:m="http://schemas.openxmlformats.org/officeDocument/2006/math">
                      <m:r>
                        <a:rPr lang="it-IT" sz="1900" i="1" dirty="0" smtClean="0">
                          <a:latin typeface="Cambria Math" panose="02040503050406030204" pitchFamily="18" charset="0"/>
                        </a:rPr>
                        <m:t>𝑝</m:t>
                      </m:r>
                      <m:d>
                        <m:dPr>
                          <m:ctrlPr>
                            <a:rPr lang="it-IT" sz="1900" i="1" dirty="0" smtClean="0">
                              <a:latin typeface="Cambria Math" panose="02040503050406030204" pitchFamily="18" charset="0"/>
                            </a:rPr>
                          </m:ctrlPr>
                        </m:dPr>
                        <m:e>
                          <m:sSub>
                            <m:sSubPr>
                              <m:ctrlPr>
                                <a:rPr lang="it-IT" sz="1900" i="1" dirty="0" smtClean="0">
                                  <a:latin typeface="Cambria Math" panose="02040503050406030204" pitchFamily="18" charset="0"/>
                                </a:rPr>
                              </m:ctrlPr>
                            </m:sSubPr>
                            <m:e>
                              <m:r>
                                <a:rPr lang="it-IT" sz="1900" i="1" dirty="0" smtClean="0">
                                  <a:latin typeface="Cambria Math" panose="02040503050406030204" pitchFamily="18" charset="0"/>
                                </a:rPr>
                                <m:t>𝑥</m:t>
                              </m:r>
                            </m:e>
                            <m:sub>
                              <m:r>
                                <a:rPr lang="it-IT" sz="1900" i="1" dirty="0" smtClean="0">
                                  <a:latin typeface="Cambria Math" panose="02040503050406030204" pitchFamily="18" charset="0"/>
                                </a:rPr>
                                <m:t>𝑜𝑏𝑠</m:t>
                              </m:r>
                            </m:sub>
                          </m:sSub>
                        </m:e>
                        <m:e>
                          <m:r>
                            <a:rPr lang="it-IT" sz="1900" i="1" dirty="0" smtClean="0">
                              <a:latin typeface="Cambria Math" panose="02040503050406030204" pitchFamily="18" charset="0"/>
                            </a:rPr>
                            <m:t>𝜽</m:t>
                          </m:r>
                          <m:r>
                            <a:rPr lang="it-IT" sz="1900" i="1" dirty="0" smtClean="0">
                              <a:latin typeface="Cambria Math" panose="02040503050406030204" pitchFamily="18" charset="0"/>
                            </a:rPr>
                            <m:t>,</m:t>
                          </m:r>
                          <m:sSub>
                            <m:sSubPr>
                              <m:ctrlPr>
                                <a:rPr lang="it-IT" sz="1900" i="1" dirty="0" smtClean="0">
                                  <a:latin typeface="Cambria Math" panose="02040503050406030204" pitchFamily="18" charset="0"/>
                                </a:rPr>
                              </m:ctrlPr>
                            </m:sSubPr>
                            <m:e>
                              <m:r>
                                <a:rPr lang="it-IT" sz="1900" i="1" dirty="0" smtClean="0">
                                  <a:latin typeface="Cambria Math" panose="02040503050406030204" pitchFamily="18" charset="0"/>
                                </a:rPr>
                                <m:t>𝜎</m:t>
                              </m:r>
                            </m:e>
                            <m:sub>
                              <m:r>
                                <a:rPr lang="it-IT" sz="1900" i="1" dirty="0" smtClean="0">
                                  <a:latin typeface="Cambria Math" panose="02040503050406030204" pitchFamily="18" charset="0"/>
                                </a:rPr>
                                <m:t>𝑜𝑏𝑠</m:t>
                              </m:r>
                            </m:sub>
                          </m:sSub>
                        </m:e>
                      </m:d>
                      <m:r>
                        <a:rPr lang="it-IT" sz="1900" i="1" dirty="0" smtClean="0">
                          <a:latin typeface="Cambria Math" panose="02040503050406030204" pitchFamily="18" charset="0"/>
                        </a:rPr>
                        <m:t>=</m:t>
                      </m:r>
                      <m:nary>
                        <m:naryPr>
                          <m:ctrlPr>
                            <a:rPr lang="it-IT" sz="1900" i="1" dirty="0" smtClean="0">
                              <a:latin typeface="Cambria Math" panose="02040503050406030204" pitchFamily="18" charset="0"/>
                            </a:rPr>
                          </m:ctrlPr>
                        </m:naryPr>
                        <m:sub>
                          <m:r>
                            <a:rPr lang="it-IT" sz="1900" i="1" dirty="0" smtClean="0">
                              <a:latin typeface="Cambria Math" panose="02040503050406030204" pitchFamily="18" charset="0"/>
                            </a:rPr>
                            <m:t>−∞</m:t>
                          </m:r>
                        </m:sub>
                        <m:sup>
                          <m:r>
                            <a:rPr lang="it-IT" sz="1900" i="1" dirty="0" smtClean="0">
                              <a:latin typeface="Cambria Math" panose="02040503050406030204" pitchFamily="18" charset="0"/>
                            </a:rPr>
                            <m:t>+∞</m:t>
                          </m:r>
                        </m:sup>
                        <m:e>
                          <m:r>
                            <a:rPr lang="it-IT" sz="1900" i="1" dirty="0">
                              <a:latin typeface="Cambria Math" panose="02040503050406030204" pitchFamily="18" charset="0"/>
                            </a:rPr>
                            <m:t>𝒩</m:t>
                          </m:r>
                          <m:d>
                            <m:dPr>
                              <m:ctrlPr>
                                <a:rPr lang="it-IT" sz="1900" i="1" dirty="0" smtClean="0">
                                  <a:latin typeface="Cambria Math" panose="02040503050406030204" pitchFamily="18" charset="0"/>
                                </a:rPr>
                              </m:ctrlPr>
                            </m:dPr>
                            <m:e>
                              <m:sSub>
                                <m:sSubPr>
                                  <m:ctrlPr>
                                    <a:rPr lang="it-IT" sz="1900" i="1" dirty="0" smtClean="0">
                                      <a:latin typeface="Cambria Math" panose="02040503050406030204" pitchFamily="18" charset="0"/>
                                    </a:rPr>
                                  </m:ctrlPr>
                                </m:sSubPr>
                                <m:e>
                                  <m:r>
                                    <a:rPr lang="it-IT" sz="1900" i="1" dirty="0" smtClean="0">
                                      <a:latin typeface="Cambria Math" panose="02040503050406030204" pitchFamily="18" charset="0"/>
                                    </a:rPr>
                                    <m:t>𝑥</m:t>
                                  </m:r>
                                </m:e>
                                <m:sub>
                                  <m:r>
                                    <a:rPr lang="it-IT" sz="1900" i="1" dirty="0" smtClean="0">
                                      <a:latin typeface="Cambria Math" panose="02040503050406030204" pitchFamily="18" charset="0"/>
                                    </a:rPr>
                                    <m:t>𝑜𝑏𝑠</m:t>
                                  </m:r>
                                </m:sub>
                              </m:sSub>
                            </m:e>
                            <m:e>
                              <m:r>
                                <a:rPr lang="it-IT" sz="1900" i="1" dirty="0" smtClean="0">
                                  <a:latin typeface="Cambria Math" panose="02040503050406030204" pitchFamily="18" charset="0"/>
                                </a:rPr>
                                <m:t>𝑥</m:t>
                              </m:r>
                              <m:r>
                                <a:rPr lang="it-IT" sz="1900" i="1" dirty="0" smtClean="0">
                                  <a:latin typeface="Cambria Math" panose="02040503050406030204" pitchFamily="18" charset="0"/>
                                </a:rPr>
                                <m:t>,</m:t>
                              </m:r>
                              <m:sSubSup>
                                <m:sSubSupPr>
                                  <m:ctrlPr>
                                    <a:rPr lang="it-IT" sz="1900" i="1" dirty="0" smtClean="0">
                                      <a:latin typeface="Cambria Math" panose="02040503050406030204" pitchFamily="18" charset="0"/>
                                    </a:rPr>
                                  </m:ctrlPr>
                                </m:sSubSupPr>
                                <m:e>
                                  <m:r>
                                    <a:rPr lang="it-IT" sz="1900" i="1" dirty="0" smtClean="0">
                                      <a:latin typeface="Cambria Math" panose="02040503050406030204" pitchFamily="18" charset="0"/>
                                    </a:rPr>
                                    <m:t>𝜎</m:t>
                                  </m:r>
                                </m:e>
                                <m:sub>
                                  <m:r>
                                    <a:rPr lang="it-IT" sz="1900" i="1" dirty="0" smtClean="0">
                                      <a:latin typeface="Cambria Math" panose="02040503050406030204" pitchFamily="18" charset="0"/>
                                    </a:rPr>
                                    <m:t>𝑜𝑏𝑠</m:t>
                                  </m:r>
                                </m:sub>
                                <m:sup>
                                  <m:r>
                                    <a:rPr lang="it-IT" sz="1900" i="1" dirty="0" smtClean="0">
                                      <a:latin typeface="Cambria Math" panose="02040503050406030204" pitchFamily="18" charset="0"/>
                                    </a:rPr>
                                    <m:t>2</m:t>
                                  </m:r>
                                </m:sup>
                              </m:sSubSup>
                            </m:e>
                          </m:d>
                          <m:r>
                            <a:rPr lang="it-IT" sz="1900" i="1" dirty="0" smtClean="0">
                              <a:latin typeface="Cambria Math" panose="02040503050406030204" pitchFamily="18" charset="0"/>
                            </a:rPr>
                            <m:t>𝒩</m:t>
                          </m:r>
                          <m:d>
                            <m:dPr>
                              <m:ctrlPr>
                                <a:rPr lang="it-IT" sz="1900" i="1" dirty="0" smtClean="0">
                                  <a:latin typeface="Cambria Math" panose="02040503050406030204" pitchFamily="18" charset="0"/>
                                </a:rPr>
                              </m:ctrlPr>
                            </m:dPr>
                            <m:e>
                              <m:r>
                                <a:rPr lang="it-IT" sz="1900" i="1" dirty="0" smtClean="0">
                                  <a:latin typeface="Cambria Math" panose="02040503050406030204" pitchFamily="18" charset="0"/>
                                </a:rPr>
                                <m:t>𝑥</m:t>
                              </m:r>
                            </m:e>
                            <m:e>
                              <m:sSub>
                                <m:sSubPr>
                                  <m:ctrlPr>
                                    <a:rPr lang="it-IT" sz="1900" i="1" dirty="0" smtClean="0">
                                      <a:latin typeface="Cambria Math" panose="02040503050406030204" pitchFamily="18" charset="0"/>
                                    </a:rPr>
                                  </m:ctrlPr>
                                </m:sSubPr>
                                <m:e>
                                  <m:r>
                                    <a:rPr lang="it-IT" sz="1900" i="1" dirty="0" smtClean="0">
                                      <a:latin typeface="Cambria Math" panose="02040503050406030204" pitchFamily="18" charset="0"/>
                                    </a:rPr>
                                    <m:t>𝜇</m:t>
                                  </m:r>
                                </m:e>
                                <m:sub>
                                  <m:r>
                                    <a:rPr lang="it-IT" sz="1900" i="1" dirty="0" smtClean="0">
                                      <a:latin typeface="Cambria Math" panose="02040503050406030204" pitchFamily="18" charset="0"/>
                                    </a:rPr>
                                    <m:t>1</m:t>
                                  </m:r>
                                </m:sub>
                              </m:sSub>
                              <m:r>
                                <a:rPr lang="it-IT" sz="1900" i="1" dirty="0" smtClean="0">
                                  <a:latin typeface="Cambria Math" panose="02040503050406030204" pitchFamily="18" charset="0"/>
                                </a:rPr>
                                <m:t>,</m:t>
                              </m:r>
                              <m:sSubSup>
                                <m:sSubSupPr>
                                  <m:ctrlPr>
                                    <a:rPr lang="it-IT" sz="1900" i="1" dirty="0" smtClean="0">
                                      <a:latin typeface="Cambria Math" panose="02040503050406030204" pitchFamily="18" charset="0"/>
                                    </a:rPr>
                                  </m:ctrlPr>
                                </m:sSubSupPr>
                                <m:e>
                                  <m:r>
                                    <a:rPr lang="it-IT" sz="1900" i="1" dirty="0" smtClean="0">
                                      <a:latin typeface="Cambria Math" panose="02040503050406030204" pitchFamily="18" charset="0"/>
                                    </a:rPr>
                                    <m:t>𝜎</m:t>
                                  </m:r>
                                </m:e>
                                <m:sub>
                                  <m:r>
                                    <a:rPr lang="it-IT" sz="1900" i="1" dirty="0" smtClean="0">
                                      <a:latin typeface="Cambria Math" panose="02040503050406030204" pitchFamily="18" charset="0"/>
                                    </a:rPr>
                                    <m:t>1</m:t>
                                  </m:r>
                                </m:sub>
                                <m:sup>
                                  <m:r>
                                    <a:rPr lang="it-IT" sz="1900" i="1" dirty="0" smtClean="0">
                                      <a:latin typeface="Cambria Math" panose="02040503050406030204" pitchFamily="18" charset="0"/>
                                    </a:rPr>
                                    <m:t>2</m:t>
                                  </m:r>
                                </m:sup>
                              </m:sSubSup>
                            </m:e>
                          </m:d>
                          <m:r>
                            <a:rPr lang="it-IT" sz="1900" i="1" dirty="0" smtClean="0">
                              <a:latin typeface="Cambria Math" panose="02040503050406030204" pitchFamily="18" charset="0"/>
                            </a:rPr>
                            <m:t>𝑑𝑥</m:t>
                          </m:r>
                        </m:e>
                      </m:nary>
                    </m:oMath>
                  </m:oMathPara>
                </a14:m>
                <a:endParaRPr lang="it-IT" sz="1900" i="1" dirty="0">
                  <a:latin typeface="Cambria Math" panose="02040503050406030204" pitchFamily="18" charset="0"/>
                </a:endParaRPr>
              </a:p>
              <a:p>
                <a:pPr marL="0" indent="0">
                  <a:buNone/>
                </a:pPr>
                <a:endParaRPr lang="it-IT" sz="1900" i="1" dirty="0">
                  <a:latin typeface="Cambria Math" panose="02040503050406030204" pitchFamily="18" charset="0"/>
                </a:endParaRPr>
              </a:p>
              <a:p>
                <a:pPr marL="0" indent="0">
                  <a:buNone/>
                </a:pPr>
                <a:endParaRPr lang="it-IT" sz="1900" b="0" i="1" dirty="0">
                  <a:latin typeface="Cambria Math" panose="02040503050406030204" pitchFamily="18" charset="0"/>
                </a:endParaRPr>
              </a:p>
              <a:p>
                <a:endParaRPr lang="it-IT" sz="1900" b="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D1224B6A-AB1B-BD3A-D819-4E72BE624DDD}"/>
                  </a:ext>
                </a:extLst>
              </p:cNvPr>
              <p:cNvSpPr>
                <a:spLocks noGrp="1" noRot="1" noChangeAspect="1" noMove="1" noResize="1" noEditPoints="1" noAdjustHandles="1" noChangeArrowheads="1" noChangeShapeType="1" noTextEdit="1"/>
              </p:cNvSpPr>
              <p:nvPr>
                <p:ph idx="1"/>
              </p:nvPr>
            </p:nvSpPr>
            <p:spPr>
              <a:xfrm>
                <a:off x="700635" y="1570892"/>
                <a:ext cx="10691265" cy="4579816"/>
              </a:xfrm>
              <a:blipFill>
                <a:blip r:embed="rId3"/>
                <a:stretch>
                  <a:fillRect l="-513" t="-666" b="-21571"/>
                </a:stretch>
              </a:blipFill>
            </p:spPr>
            <p:txBody>
              <a:bodyPr/>
              <a:lstStyle/>
              <a:p>
                <a:r>
                  <a:rPr lang="it-IT">
                    <a:noFill/>
                  </a:rPr>
                  <a:t> </a:t>
                </a:r>
              </a:p>
            </p:txBody>
          </p:sp>
        </mc:Fallback>
      </mc:AlternateContent>
    </p:spTree>
    <p:extLst>
      <p:ext uri="{BB962C8B-B14F-4D97-AF65-F5344CB8AC3E}">
        <p14:creationId xmlns:p14="http://schemas.microsoft.com/office/powerpoint/2010/main" val="2433289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B76EE-DF48-7771-3A81-9514F6B8A7B0}"/>
              </a:ext>
            </a:extLst>
          </p:cNvPr>
          <p:cNvSpPr>
            <a:spLocks noGrp="1"/>
          </p:cNvSpPr>
          <p:nvPr>
            <p:ph type="title"/>
          </p:nvPr>
        </p:nvSpPr>
        <p:spPr>
          <a:xfrm>
            <a:off x="700635" y="914400"/>
            <a:ext cx="10691265" cy="1307592"/>
          </a:xfrm>
        </p:spPr>
        <p:txBody>
          <a:bodyPr/>
          <a:lstStyle/>
          <a:p>
            <a:r>
              <a:rPr lang="it-IT" dirty="0">
                <a:solidFill>
                  <a:srgbClr val="FF0000"/>
                </a:solidFill>
              </a:rPr>
              <a:t>Method 1: completing the square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4CB3FA-EB1D-BC78-2AA0-B7E03E1BC4CF}"/>
                  </a:ext>
                </a:extLst>
              </p:cNvPr>
              <p:cNvSpPr>
                <a:spLocks noGrp="1"/>
              </p:cNvSpPr>
              <p:nvPr>
                <p:ph idx="1"/>
              </p:nvPr>
            </p:nvSpPr>
            <p:spPr>
              <a:xfrm>
                <a:off x="700635" y="1563077"/>
                <a:ext cx="10691265" cy="4398811"/>
              </a:xfrm>
            </p:spPr>
            <p:txBody>
              <a:bodyPr>
                <a:normAutofit lnSpcReduction="10000"/>
              </a:bodyPr>
              <a:lstStyle/>
              <a:p>
                <a14:m>
                  <m:oMath xmlns:m="http://schemas.openxmlformats.org/officeDocument/2006/math">
                    <m:r>
                      <a:rPr lang="it-IT" sz="1800" i="1" dirty="0" smtClean="0">
                        <a:latin typeface="Cambria Math" panose="02040503050406030204" pitchFamily="18" charset="0"/>
                      </a:rPr>
                      <m:t>𝑝</m:t>
                    </m:r>
                    <m:d>
                      <m:dPr>
                        <m:ctrlPr>
                          <a:rPr lang="it-IT" sz="1800" i="1" dirty="0" smtClean="0">
                            <a:latin typeface="Cambria Math" panose="02040503050406030204" pitchFamily="18" charset="0"/>
                          </a:rPr>
                        </m:ctrlPr>
                      </m:dPr>
                      <m:e>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𝑥</m:t>
                            </m:r>
                          </m:e>
                          <m:sub>
                            <m:r>
                              <a:rPr lang="it-IT" sz="1800" i="1" dirty="0" smtClean="0">
                                <a:latin typeface="Cambria Math" panose="02040503050406030204" pitchFamily="18" charset="0"/>
                              </a:rPr>
                              <m:t>𝑜𝑏𝑠</m:t>
                            </m:r>
                          </m:sub>
                        </m:sSub>
                      </m:e>
                      <m:e>
                        <m:r>
                          <a:rPr lang="it-IT" sz="1800" i="1" dirty="0" smtClean="0">
                            <a:latin typeface="Cambria Math" panose="02040503050406030204" pitchFamily="18" charset="0"/>
                          </a:rPr>
                          <m:t>𝜽</m:t>
                        </m:r>
                        <m:r>
                          <a:rPr lang="it-IT" sz="1800" i="1" dirty="0" smtClean="0">
                            <a:latin typeface="Cambria Math" panose="02040503050406030204" pitchFamily="18" charset="0"/>
                          </a:rPr>
                          <m:t>,</m:t>
                        </m:r>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𝜎</m:t>
                            </m:r>
                          </m:e>
                          <m:sub>
                            <m:r>
                              <a:rPr lang="it-IT" sz="1800" i="1" dirty="0" smtClean="0">
                                <a:latin typeface="Cambria Math" panose="02040503050406030204" pitchFamily="18" charset="0"/>
                              </a:rPr>
                              <m:t>𝑜𝑏𝑠</m:t>
                            </m:r>
                          </m:sub>
                        </m:sSub>
                      </m:e>
                    </m:d>
                    <m:r>
                      <a:rPr lang="it-IT" sz="1800" i="1" dirty="0" smtClean="0">
                        <a:latin typeface="Cambria Math" panose="02040503050406030204" pitchFamily="18" charset="0"/>
                      </a:rPr>
                      <m:t>=</m:t>
                    </m:r>
                    <m:f>
                      <m:fPr>
                        <m:ctrlPr>
                          <a:rPr lang="it-IT" sz="1800" i="1" dirty="0" smtClean="0">
                            <a:latin typeface="Cambria Math" panose="02040503050406030204" pitchFamily="18" charset="0"/>
                          </a:rPr>
                        </m:ctrlPr>
                      </m:fPr>
                      <m:num>
                        <m:r>
                          <a:rPr lang="it-IT" sz="1800" i="1" dirty="0" smtClean="0">
                            <a:latin typeface="Cambria Math" panose="02040503050406030204" pitchFamily="18" charset="0"/>
                          </a:rPr>
                          <m:t>1</m:t>
                        </m:r>
                      </m:num>
                      <m:den>
                        <m:r>
                          <a:rPr lang="it-IT" sz="1800" i="1" dirty="0" smtClean="0">
                            <a:latin typeface="Cambria Math" panose="02040503050406030204" pitchFamily="18" charset="0"/>
                          </a:rPr>
                          <m:t>2</m:t>
                        </m:r>
                        <m:r>
                          <a:rPr lang="it-IT" sz="1800" i="1" dirty="0" smtClean="0">
                            <a:latin typeface="Cambria Math" panose="02040503050406030204" pitchFamily="18" charset="0"/>
                          </a:rPr>
                          <m:t>𝜋𝜎</m:t>
                        </m:r>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𝜎</m:t>
                            </m:r>
                          </m:e>
                          <m:sub>
                            <m:r>
                              <a:rPr lang="it-IT" sz="1800" i="1" dirty="0" smtClean="0">
                                <a:latin typeface="Cambria Math" panose="02040503050406030204" pitchFamily="18" charset="0"/>
                              </a:rPr>
                              <m:t>𝑜𝑏𝑠</m:t>
                            </m:r>
                          </m:sub>
                        </m:sSub>
                      </m:den>
                    </m:f>
                    <m:nary>
                      <m:naryPr>
                        <m:ctrlPr>
                          <a:rPr lang="it-IT" sz="1800" i="1" dirty="0" smtClean="0">
                            <a:latin typeface="Cambria Math" panose="02040503050406030204" pitchFamily="18" charset="0"/>
                          </a:rPr>
                        </m:ctrlPr>
                      </m:naryPr>
                      <m:sub>
                        <m:r>
                          <a:rPr lang="it-IT" sz="1800" i="1" dirty="0" smtClean="0">
                            <a:latin typeface="Cambria Math" panose="02040503050406030204" pitchFamily="18" charset="0"/>
                          </a:rPr>
                          <m:t>−</m:t>
                        </m:r>
                        <m:r>
                          <a:rPr lang="it-IT" sz="1800" i="1" dirty="0" smtClean="0">
                            <a:latin typeface="Cambria Math" panose="02040503050406030204" pitchFamily="18" charset="0"/>
                          </a:rPr>
                          <m:t>∞</m:t>
                        </m:r>
                      </m:sub>
                      <m:sup>
                        <m:r>
                          <a:rPr lang="it-IT" sz="1800" i="1" dirty="0" smtClean="0">
                            <a:latin typeface="Cambria Math" panose="02040503050406030204" pitchFamily="18" charset="0"/>
                          </a:rPr>
                          <m:t>+</m:t>
                        </m:r>
                        <m:r>
                          <a:rPr lang="it-IT" sz="1800" i="1" dirty="0" smtClean="0">
                            <a:latin typeface="Cambria Math" panose="02040503050406030204" pitchFamily="18" charset="0"/>
                          </a:rPr>
                          <m:t>∞</m:t>
                        </m:r>
                      </m:sup>
                      <m:e>
                        <m:r>
                          <a:rPr lang="it-IT" sz="1800" i="1" dirty="0" smtClean="0">
                            <a:latin typeface="Cambria Math" panose="02040503050406030204" pitchFamily="18" charset="0"/>
                          </a:rPr>
                          <m:t>𝑒𝑥</m:t>
                        </m:r>
                        <m:func>
                          <m:funcPr>
                            <m:ctrlPr>
                              <a:rPr lang="it-IT" sz="1800" i="1" dirty="0" smtClean="0">
                                <a:latin typeface="Cambria Math" panose="02040503050406030204" pitchFamily="18" charset="0"/>
                              </a:rPr>
                            </m:ctrlPr>
                          </m:funcPr>
                          <m:fName>
                            <m:r>
                              <a:rPr lang="it-IT" sz="1800" i="1" dirty="0" smtClean="0">
                                <a:latin typeface="Cambria Math" panose="02040503050406030204" pitchFamily="18" charset="0"/>
                              </a:rPr>
                              <m:t>𝑝</m:t>
                            </m:r>
                          </m:fName>
                          <m:e>
                            <m:d>
                              <m:dPr>
                                <m:begChr m:val="["/>
                                <m:endChr m:val="]"/>
                                <m:ctrlPr>
                                  <a:rPr lang="it-IT" sz="1800" i="1" dirty="0" smtClean="0">
                                    <a:latin typeface="Cambria Math" panose="02040503050406030204" pitchFamily="18" charset="0"/>
                                  </a:rPr>
                                </m:ctrlPr>
                              </m:dPr>
                              <m:e>
                                <m:r>
                                  <a:rPr lang="it-IT" sz="1800" i="1" dirty="0" smtClean="0">
                                    <a:latin typeface="Cambria Math" panose="02040503050406030204" pitchFamily="18" charset="0"/>
                                  </a:rPr>
                                  <m:t>−</m:t>
                                </m:r>
                                <m:f>
                                  <m:fPr>
                                    <m:ctrlPr>
                                      <a:rPr lang="it-IT" sz="1800" i="1" dirty="0" smtClean="0">
                                        <a:latin typeface="Cambria Math" panose="02040503050406030204" pitchFamily="18" charset="0"/>
                                      </a:rPr>
                                    </m:ctrlPr>
                                  </m:fPr>
                                  <m:num>
                                    <m:r>
                                      <a:rPr lang="it-IT" sz="1800" i="1" dirty="0" smtClean="0">
                                        <a:latin typeface="Cambria Math" panose="02040503050406030204" pitchFamily="18" charset="0"/>
                                      </a:rPr>
                                      <m:t>1</m:t>
                                    </m:r>
                                  </m:num>
                                  <m:den>
                                    <m:r>
                                      <a:rPr lang="it-IT" sz="1800" i="1" dirty="0" smtClean="0">
                                        <a:latin typeface="Cambria Math" panose="02040503050406030204" pitchFamily="18" charset="0"/>
                                      </a:rPr>
                                      <m:t>2</m:t>
                                    </m:r>
                                  </m:den>
                                </m:f>
                                <m:d>
                                  <m:dPr>
                                    <m:ctrlPr>
                                      <a:rPr lang="it-IT" sz="1800" i="1" dirty="0" smtClean="0">
                                        <a:latin typeface="Cambria Math" panose="02040503050406030204" pitchFamily="18" charset="0"/>
                                      </a:rPr>
                                    </m:ctrlPr>
                                  </m:dPr>
                                  <m:e>
                                    <m:f>
                                      <m:fPr>
                                        <m:ctrlPr>
                                          <a:rPr lang="it-IT" sz="1800" i="1" dirty="0" smtClean="0">
                                            <a:latin typeface="Cambria Math" panose="02040503050406030204" pitchFamily="18" charset="0"/>
                                          </a:rPr>
                                        </m:ctrlPr>
                                      </m:fPr>
                                      <m:num>
                                        <m:sSup>
                                          <m:sSupPr>
                                            <m:ctrlPr>
                                              <a:rPr lang="it-IT" sz="1800" i="1" dirty="0" smtClean="0">
                                                <a:latin typeface="Cambria Math" panose="02040503050406030204" pitchFamily="18" charset="0"/>
                                              </a:rPr>
                                            </m:ctrlPr>
                                          </m:sSupPr>
                                          <m:e>
                                            <m:d>
                                              <m:dPr>
                                                <m:ctrlPr>
                                                  <a:rPr lang="it-IT" sz="1800" i="1" dirty="0" smtClean="0">
                                                    <a:latin typeface="Cambria Math" panose="02040503050406030204" pitchFamily="18" charset="0"/>
                                                  </a:rPr>
                                                </m:ctrlPr>
                                              </m:dPr>
                                              <m:e>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𝑥</m:t>
                                                    </m:r>
                                                  </m:e>
                                                  <m:sub>
                                                    <m:r>
                                                      <a:rPr lang="it-IT" sz="1800" i="1" dirty="0" smtClean="0">
                                                        <a:latin typeface="Cambria Math" panose="02040503050406030204" pitchFamily="18" charset="0"/>
                                                      </a:rPr>
                                                      <m:t>𝑜𝑏𝑠</m:t>
                                                    </m:r>
                                                  </m:sub>
                                                </m:sSub>
                                                <m:r>
                                                  <a:rPr lang="it-IT" sz="1800" i="1" dirty="0" smtClean="0">
                                                    <a:latin typeface="Cambria Math" panose="02040503050406030204" pitchFamily="18" charset="0"/>
                                                  </a:rPr>
                                                  <m:t>−</m:t>
                                                </m:r>
                                                <m:r>
                                                  <a:rPr lang="it-IT" sz="1800" i="1" dirty="0" smtClean="0">
                                                    <a:latin typeface="Cambria Math" panose="02040503050406030204" pitchFamily="18" charset="0"/>
                                                  </a:rPr>
                                                  <m:t>𝑥</m:t>
                                                </m:r>
                                              </m:e>
                                            </m:d>
                                          </m:e>
                                          <m:sup>
                                            <m:r>
                                              <a:rPr lang="it-IT" sz="1800" i="1" dirty="0" smtClean="0">
                                                <a:latin typeface="Cambria Math" panose="02040503050406030204" pitchFamily="18" charset="0"/>
                                              </a:rPr>
                                              <m:t>2</m:t>
                                            </m:r>
                                          </m:sup>
                                        </m:sSup>
                                      </m:num>
                                      <m:den>
                                        <m:sSubSup>
                                          <m:sSubSupPr>
                                            <m:ctrlPr>
                                              <a:rPr lang="it-IT" sz="1800" i="1" dirty="0" smtClean="0">
                                                <a:latin typeface="Cambria Math" panose="02040503050406030204" pitchFamily="18" charset="0"/>
                                              </a:rPr>
                                            </m:ctrlPr>
                                          </m:sSubSupPr>
                                          <m:e>
                                            <m:r>
                                              <a:rPr lang="it-IT" sz="1800" i="1" dirty="0" smtClean="0">
                                                <a:latin typeface="Cambria Math" panose="02040503050406030204" pitchFamily="18" charset="0"/>
                                              </a:rPr>
                                              <m:t>𝜎</m:t>
                                            </m:r>
                                          </m:e>
                                          <m:sub>
                                            <m:r>
                                              <a:rPr lang="it-IT" sz="1800" i="1" dirty="0" smtClean="0">
                                                <a:latin typeface="Cambria Math" panose="02040503050406030204" pitchFamily="18" charset="0"/>
                                              </a:rPr>
                                              <m:t>𝑜𝑏𝑠</m:t>
                                            </m:r>
                                          </m:sub>
                                          <m:sup>
                                            <m:r>
                                              <a:rPr lang="it-IT" sz="1800" i="1" dirty="0" smtClean="0">
                                                <a:latin typeface="Cambria Math" panose="02040503050406030204" pitchFamily="18" charset="0"/>
                                              </a:rPr>
                                              <m:t>2</m:t>
                                            </m:r>
                                          </m:sup>
                                        </m:sSubSup>
                                      </m:den>
                                    </m:f>
                                    <m:r>
                                      <a:rPr lang="it-IT" sz="1800" i="1" dirty="0" smtClean="0">
                                        <a:latin typeface="Cambria Math" panose="02040503050406030204" pitchFamily="18" charset="0"/>
                                      </a:rPr>
                                      <m:t>+</m:t>
                                    </m:r>
                                    <m:f>
                                      <m:fPr>
                                        <m:ctrlPr>
                                          <a:rPr lang="it-IT" sz="1800" i="1" dirty="0" smtClean="0">
                                            <a:latin typeface="Cambria Math" panose="02040503050406030204" pitchFamily="18" charset="0"/>
                                          </a:rPr>
                                        </m:ctrlPr>
                                      </m:fPr>
                                      <m:num>
                                        <m:sSup>
                                          <m:sSupPr>
                                            <m:ctrlPr>
                                              <a:rPr lang="it-IT" sz="1800" i="1" dirty="0" smtClean="0">
                                                <a:latin typeface="Cambria Math" panose="02040503050406030204" pitchFamily="18" charset="0"/>
                                              </a:rPr>
                                            </m:ctrlPr>
                                          </m:sSupPr>
                                          <m:e>
                                            <m:d>
                                              <m:dPr>
                                                <m:ctrlPr>
                                                  <a:rPr lang="it-IT" sz="1800" i="1" dirty="0" smtClean="0">
                                                    <a:latin typeface="Cambria Math" panose="02040503050406030204" pitchFamily="18" charset="0"/>
                                                  </a:rPr>
                                                </m:ctrlPr>
                                              </m:dPr>
                                              <m:e>
                                                <m:r>
                                                  <a:rPr lang="it-IT" sz="1800" i="1" dirty="0" smtClean="0">
                                                    <a:latin typeface="Cambria Math" panose="02040503050406030204" pitchFamily="18" charset="0"/>
                                                  </a:rPr>
                                                  <m:t>𝑥</m:t>
                                                </m:r>
                                                <m:r>
                                                  <a:rPr lang="it-IT" sz="1800" i="1" dirty="0" smtClean="0">
                                                    <a:latin typeface="Cambria Math" panose="02040503050406030204" pitchFamily="18" charset="0"/>
                                                  </a:rPr>
                                                  <m:t>−</m:t>
                                                </m:r>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𝜇</m:t>
                                                    </m:r>
                                                  </m:e>
                                                  <m:sub>
                                                    <m:r>
                                                      <a:rPr lang="it-IT" sz="1800" i="1" dirty="0" smtClean="0">
                                                        <a:latin typeface="Cambria Math" panose="02040503050406030204" pitchFamily="18" charset="0"/>
                                                      </a:rPr>
                                                      <m:t>1</m:t>
                                                    </m:r>
                                                  </m:sub>
                                                </m:sSub>
                                              </m:e>
                                            </m:d>
                                          </m:e>
                                          <m:sup>
                                            <m:r>
                                              <a:rPr lang="it-IT" sz="1800" i="1" dirty="0" smtClean="0">
                                                <a:latin typeface="Cambria Math" panose="02040503050406030204" pitchFamily="18" charset="0"/>
                                              </a:rPr>
                                              <m:t>2</m:t>
                                            </m:r>
                                          </m:sup>
                                        </m:sSup>
                                      </m:num>
                                      <m:den>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1</m:t>
                                            </m:r>
                                          </m:sub>
                                          <m:sup>
                                            <m:r>
                                              <a:rPr lang="it-IT" sz="1800" i="1" dirty="0">
                                                <a:latin typeface="Cambria Math" panose="02040503050406030204" pitchFamily="18" charset="0"/>
                                              </a:rPr>
                                              <m:t>2</m:t>
                                            </m:r>
                                          </m:sup>
                                        </m:sSubSup>
                                      </m:den>
                                    </m:f>
                                  </m:e>
                                </m:d>
                              </m:e>
                            </m:d>
                          </m:e>
                        </m:func>
                        <m:r>
                          <a:rPr lang="it-IT" sz="1800" i="1" dirty="0" smtClean="0">
                            <a:latin typeface="Cambria Math" panose="02040503050406030204" pitchFamily="18" charset="0"/>
                          </a:rPr>
                          <m:t>𝑑𝑥</m:t>
                        </m:r>
                      </m:e>
                    </m:nary>
                  </m:oMath>
                </a14:m>
                <a:endParaRPr lang="it-IT" sz="1800" i="1" dirty="0">
                  <a:latin typeface="Cambria Math" panose="02040503050406030204" pitchFamily="18" charset="0"/>
                </a:endParaRPr>
              </a:p>
              <a:p>
                <a14:m>
                  <m:oMath xmlns:m="http://schemas.openxmlformats.org/officeDocument/2006/math">
                    <m:d>
                      <m:dPr>
                        <m:begChr m:val="{"/>
                        <m:endChr m:val=""/>
                        <m:ctrlPr>
                          <a:rPr lang="it-IT" sz="1800" i="1" smtClean="0">
                            <a:latin typeface="Cambria Math" panose="02040503050406030204" pitchFamily="18" charset="0"/>
                          </a:rPr>
                        </m:ctrlPr>
                      </m:dPr>
                      <m:e>
                        <m:eqArr>
                          <m:eqArrPr>
                            <m:ctrlPr>
                              <a:rPr lang="it-IT" sz="1800" i="1" smtClean="0">
                                <a:latin typeface="Cambria Math" panose="02040503050406030204" pitchFamily="18" charset="0"/>
                              </a:rPr>
                            </m:ctrlPr>
                          </m:eqArrPr>
                          <m:e>
                            <m:r>
                              <a:rPr lang="pt-BR" sz="1800" i="1" smtClean="0">
                                <a:latin typeface="Cambria Math" panose="02040503050406030204" pitchFamily="18" charset="0"/>
                              </a:rPr>
                              <m:t>𝐴</m:t>
                            </m:r>
                            <m:r>
                              <a:rPr lang="pt-BR" sz="1800" i="1" smtClean="0">
                                <a:latin typeface="Cambria Math" panose="02040503050406030204" pitchFamily="18" charset="0"/>
                              </a:rPr>
                              <m:t>=</m:t>
                            </m:r>
                            <m:r>
                              <a:rPr lang="pt-BR" sz="1800" i="1" smtClean="0">
                                <a:latin typeface="Cambria Math" panose="02040503050406030204" pitchFamily="18" charset="0"/>
                              </a:rPr>
                              <m:t>1</m:t>
                            </m:r>
                            <m:r>
                              <m:rPr>
                                <m:lit/>
                              </m:rPr>
                              <a:rPr lang="pt-BR" sz="1800" i="1">
                                <a:latin typeface="Cambria Math" panose="02040503050406030204" pitchFamily="18" charset="0"/>
                              </a:rPr>
                              <m:t>/</m:t>
                            </m:r>
                            <m:sSubSup>
                              <m:sSubSupPr>
                                <m:ctrlPr>
                                  <a:rPr lang="pt-BR" sz="1800" i="1">
                                    <a:latin typeface="Cambria Math" panose="02040503050406030204" pitchFamily="18" charset="0"/>
                                  </a:rPr>
                                </m:ctrlPr>
                              </m:sSubSupPr>
                              <m:e>
                                <m:r>
                                  <a:rPr lang="pt-BR" sz="1800" i="1">
                                    <a:latin typeface="Cambria Math" panose="02040503050406030204" pitchFamily="18" charset="0"/>
                                  </a:rPr>
                                  <m:t>𝜎</m:t>
                                </m:r>
                              </m:e>
                              <m:sub>
                                <m:r>
                                  <a:rPr lang="pt-BR" sz="1800" i="1">
                                    <a:latin typeface="Cambria Math" panose="02040503050406030204" pitchFamily="18" charset="0"/>
                                  </a:rPr>
                                  <m:t>𝑜𝑏𝑠</m:t>
                                </m:r>
                              </m:sub>
                              <m:sup>
                                <m:r>
                                  <a:rPr lang="pt-BR" sz="1800" i="1">
                                    <a:latin typeface="Cambria Math" panose="02040503050406030204" pitchFamily="18" charset="0"/>
                                  </a:rPr>
                                  <m:t>2</m:t>
                                </m:r>
                              </m:sup>
                            </m:sSubSup>
                            <m:r>
                              <a:rPr lang="pt-BR" sz="1800" i="1">
                                <a:latin typeface="Cambria Math" panose="02040503050406030204" pitchFamily="18" charset="0"/>
                              </a:rPr>
                              <m:t>+</m:t>
                            </m:r>
                            <m:r>
                              <a:rPr lang="pt-BR" sz="1800" i="1">
                                <a:latin typeface="Cambria Math" panose="02040503050406030204" pitchFamily="18" charset="0"/>
                              </a:rPr>
                              <m:t>1</m:t>
                            </m:r>
                            <m:r>
                              <m:rPr>
                                <m:lit/>
                              </m:rPr>
                              <a:rPr lang="pt-BR" sz="1800" i="1">
                                <a:latin typeface="Cambria Math" panose="02040503050406030204" pitchFamily="18" charset="0"/>
                              </a:rPr>
                              <m:t>/</m:t>
                            </m:r>
                            <m:sSubSup>
                              <m:sSubSupPr>
                                <m:ctrlPr>
                                  <a:rPr lang="pt-BR" sz="1800" i="1">
                                    <a:latin typeface="Cambria Math" panose="02040503050406030204" pitchFamily="18" charset="0"/>
                                  </a:rPr>
                                </m:ctrlPr>
                              </m:sSubSupPr>
                              <m:e>
                                <m:r>
                                  <a:rPr lang="pt-BR" sz="1800" i="1">
                                    <a:latin typeface="Cambria Math" panose="02040503050406030204" pitchFamily="18" charset="0"/>
                                  </a:rPr>
                                  <m:t>𝜎</m:t>
                                </m:r>
                              </m:e>
                              <m:sub>
                                <m:r>
                                  <a:rPr lang="pt-BR" sz="1800" i="1">
                                    <a:latin typeface="Cambria Math" panose="02040503050406030204" pitchFamily="18" charset="0"/>
                                  </a:rPr>
                                  <m:t>1</m:t>
                                </m:r>
                              </m:sub>
                              <m:sup>
                                <m:r>
                                  <a:rPr lang="pt-BR" sz="1800" i="1">
                                    <a:latin typeface="Cambria Math" panose="02040503050406030204" pitchFamily="18" charset="0"/>
                                  </a:rPr>
                                  <m:t>2</m:t>
                                </m:r>
                              </m:sup>
                            </m:sSubSup>
                          </m:e>
                          <m:e>
                            <m:r>
                              <a:rPr lang="it-IT" sz="1800" i="1" smtClean="0">
                                <a:latin typeface="Cambria Math" panose="02040503050406030204" pitchFamily="18" charset="0"/>
                              </a:rPr>
                              <m:t>𝐵</m:t>
                            </m:r>
                            <m:r>
                              <a:rPr lang="it-IT" sz="180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r>
                              <m:rPr>
                                <m:lit/>
                              </m:rP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1</m:t>
                                </m:r>
                              </m:sub>
                            </m:sSub>
                            <m:r>
                              <m:rPr>
                                <m:lit/>
                              </m:rP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1</m:t>
                                </m:r>
                              </m:sub>
                              <m:sup>
                                <m:r>
                                  <a:rPr lang="it-IT" sz="1800" i="1">
                                    <a:latin typeface="Cambria Math" panose="02040503050406030204" pitchFamily="18" charset="0"/>
                                  </a:rPr>
                                  <m:t>2</m:t>
                                </m:r>
                              </m:sup>
                            </m:sSubSup>
                          </m:e>
                          <m:e>
                            <m:r>
                              <a:rPr lang="it-IT" sz="1800" i="1" smtClean="0">
                                <a:latin typeface="Cambria Math" panose="02040503050406030204" pitchFamily="18" charset="0"/>
                              </a:rPr>
                              <m:t>𝐶</m:t>
                            </m:r>
                            <m:r>
                              <a:rPr lang="it-IT" sz="1800" i="1" smtClean="0">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𝑥</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r>
                              <m:rPr>
                                <m:lit/>
                              </m:rP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𝜇</m:t>
                                </m:r>
                              </m:e>
                              <m:sub>
                                <m:r>
                                  <a:rPr lang="it-IT" sz="1800" i="1">
                                    <a:latin typeface="Cambria Math" panose="02040503050406030204" pitchFamily="18" charset="0"/>
                                  </a:rPr>
                                  <m:t>1</m:t>
                                </m:r>
                              </m:sub>
                              <m:sup>
                                <m:r>
                                  <a:rPr lang="it-IT" sz="1800" i="1">
                                    <a:latin typeface="Cambria Math" panose="02040503050406030204" pitchFamily="18" charset="0"/>
                                  </a:rPr>
                                  <m:t>2</m:t>
                                </m:r>
                              </m:sup>
                            </m:sSubSup>
                            <m:r>
                              <m:rPr>
                                <m:lit/>
                              </m:rP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1</m:t>
                                </m:r>
                              </m:sub>
                              <m:sup>
                                <m:r>
                                  <a:rPr lang="it-IT" sz="1800" i="1">
                                    <a:latin typeface="Cambria Math" panose="02040503050406030204" pitchFamily="18" charset="0"/>
                                  </a:rPr>
                                  <m:t>2</m:t>
                                </m:r>
                              </m:sup>
                            </m:sSubSup>
                          </m:e>
                        </m:eqArr>
                      </m:e>
                    </m:d>
                    <m:r>
                      <a:rPr lang="it-IT" sz="1800" i="1" smtClean="0">
                        <a:latin typeface="Cambria Math" panose="02040503050406030204" pitchFamily="18" charset="0"/>
                      </a:rPr>
                      <m:t> ⟹ </m:t>
                    </m:r>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r>
                                  <a:rPr lang="it-IT" sz="1800" i="1">
                                    <a:latin typeface="Cambria Math" panose="02040503050406030204" pitchFamily="18" charset="0"/>
                                  </a:rPr>
                                  <m:t>−</m:t>
                                </m:r>
                                <m:r>
                                  <a:rPr lang="it-IT" sz="1800" i="1">
                                    <a:latin typeface="Cambria Math" panose="02040503050406030204" pitchFamily="18" charset="0"/>
                                  </a:rPr>
                                  <m:t>𝑥</m:t>
                                </m:r>
                              </m:e>
                            </m:d>
                          </m:e>
                          <m:sup>
                            <m:r>
                              <a:rPr lang="it-IT" sz="1800" i="1">
                                <a:latin typeface="Cambria Math" panose="02040503050406030204" pitchFamily="18" charset="0"/>
                              </a:rPr>
                              <m:t>2</m:t>
                            </m:r>
                          </m:sup>
                        </m:sSup>
                      </m:num>
                      <m:den>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den>
                    </m:f>
                    <m:r>
                      <a:rPr lang="it-IT" sz="1800" i="1">
                        <a:latin typeface="Cambria Math" panose="02040503050406030204" pitchFamily="18" charset="0"/>
                      </a:rPr>
                      <m:t>+</m:t>
                    </m:r>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r>
                                  <a:rPr lang="it-IT" sz="1800" i="1">
                                    <a:latin typeface="Cambria Math" panose="02040503050406030204" pitchFamily="18" charset="0"/>
                                  </a:rPr>
                                  <m:t>𝑥</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1</m:t>
                                    </m:r>
                                  </m:sub>
                                </m:sSub>
                              </m:e>
                            </m:d>
                          </m:e>
                          <m:sup>
                            <m:r>
                              <a:rPr lang="it-IT" sz="1800" i="1">
                                <a:latin typeface="Cambria Math" panose="02040503050406030204" pitchFamily="18" charset="0"/>
                              </a:rPr>
                              <m:t>2</m:t>
                            </m:r>
                          </m:sup>
                        </m:sSup>
                      </m:num>
                      <m:den>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1</m:t>
                            </m:r>
                          </m:sub>
                          <m:sup>
                            <m:r>
                              <a:rPr lang="it-IT" sz="1800" i="1">
                                <a:latin typeface="Cambria Math" panose="02040503050406030204" pitchFamily="18" charset="0"/>
                              </a:rPr>
                              <m:t>2</m:t>
                            </m:r>
                          </m:sup>
                        </m:sSubSup>
                      </m:den>
                    </m:f>
                    <m:r>
                      <a:rPr lang="it-IT" sz="1800" i="1">
                        <a:latin typeface="Cambria Math" panose="02040503050406030204" pitchFamily="18" charset="0"/>
                      </a:rPr>
                      <m:t>=</m:t>
                    </m:r>
                    <m:r>
                      <a:rPr lang="it-IT" sz="1800" i="1">
                        <a:latin typeface="Cambria Math" panose="02040503050406030204" pitchFamily="18" charset="0"/>
                      </a:rPr>
                      <m:t>𝐴</m:t>
                    </m:r>
                    <m:sSup>
                      <m:sSupPr>
                        <m:ctrlPr>
                          <a:rPr lang="it-IT" sz="1800" i="1">
                            <a:latin typeface="Cambria Math" panose="02040503050406030204" pitchFamily="18" charset="0"/>
                          </a:rPr>
                        </m:ctrlPr>
                      </m:sSupPr>
                      <m:e>
                        <m:r>
                          <a:rPr lang="it-IT" sz="1800" i="1">
                            <a:latin typeface="Cambria Math" panose="02040503050406030204" pitchFamily="18" charset="0"/>
                          </a:rPr>
                          <m:t>𝑥</m:t>
                        </m:r>
                      </m:e>
                      <m:sup>
                        <m:r>
                          <a:rPr lang="it-IT" sz="1800" i="1">
                            <a:latin typeface="Cambria Math" panose="02040503050406030204" pitchFamily="18" charset="0"/>
                          </a:rPr>
                          <m:t>2</m:t>
                        </m:r>
                      </m:sup>
                    </m:sSup>
                    <m:r>
                      <a:rPr lang="it-IT" sz="1800" i="1">
                        <a:latin typeface="Cambria Math" panose="02040503050406030204" pitchFamily="18" charset="0"/>
                      </a:rPr>
                      <m:t>−</m:t>
                    </m:r>
                    <m:r>
                      <a:rPr lang="it-IT" sz="1800" i="1">
                        <a:latin typeface="Cambria Math" panose="02040503050406030204" pitchFamily="18" charset="0"/>
                      </a:rPr>
                      <m:t>2</m:t>
                    </m:r>
                    <m:r>
                      <a:rPr lang="it-IT" sz="1800" i="1">
                        <a:latin typeface="Cambria Math" panose="02040503050406030204" pitchFamily="18" charset="0"/>
                      </a:rPr>
                      <m:t>𝐵𝑥</m:t>
                    </m:r>
                    <m:r>
                      <a:rPr lang="it-IT" sz="1800" i="1">
                        <a:latin typeface="Cambria Math" panose="02040503050406030204" pitchFamily="18" charset="0"/>
                      </a:rPr>
                      <m:t>+</m:t>
                    </m:r>
                    <m:r>
                      <a:rPr lang="it-IT" sz="1800" i="1">
                        <a:latin typeface="Cambria Math" panose="02040503050406030204" pitchFamily="18" charset="0"/>
                      </a:rPr>
                      <m:t>𝐶</m:t>
                    </m:r>
                    <m:r>
                      <a:rPr lang="it-IT" sz="1800" i="1">
                        <a:latin typeface="Cambria Math" panose="02040503050406030204" pitchFamily="18" charset="0"/>
                      </a:rPr>
                      <m:t>=</m:t>
                    </m:r>
                    <m:r>
                      <a:rPr lang="it-IT" sz="1800" i="1">
                        <a:latin typeface="Cambria Math" panose="02040503050406030204" pitchFamily="18" charset="0"/>
                      </a:rPr>
                      <m:t>𝐴</m:t>
                    </m:r>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r>
                              <a:rPr lang="it-IT" sz="1800" i="1">
                                <a:latin typeface="Cambria Math" panose="02040503050406030204" pitchFamily="18" charset="0"/>
                              </a:rPr>
                              <m:t>𝑥</m:t>
                            </m:r>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𝐵</m:t>
                                </m:r>
                              </m:num>
                              <m:den>
                                <m:r>
                                  <a:rPr lang="it-IT" sz="1800" i="1">
                                    <a:latin typeface="Cambria Math" panose="02040503050406030204" pitchFamily="18" charset="0"/>
                                  </a:rPr>
                                  <m:t>𝐴</m:t>
                                </m:r>
                              </m:den>
                            </m:f>
                          </m:e>
                        </m:d>
                      </m:e>
                      <m:sup>
                        <m:r>
                          <a:rPr lang="it-IT" sz="1800" i="1">
                            <a:latin typeface="Cambria Math" panose="02040503050406030204" pitchFamily="18" charset="0"/>
                          </a:rPr>
                          <m:t>2</m:t>
                        </m:r>
                      </m:sup>
                    </m:sSup>
                    <m:r>
                      <a:rPr lang="it-IT" sz="1800" i="1">
                        <a:latin typeface="Cambria Math" panose="02040503050406030204" pitchFamily="18" charset="0"/>
                      </a:rPr>
                      <m:t>+</m:t>
                    </m:r>
                    <m:r>
                      <a:rPr lang="it-IT" sz="1800" i="1">
                        <a:latin typeface="Cambria Math" panose="02040503050406030204" pitchFamily="18" charset="0"/>
                      </a:rPr>
                      <m:t>𝐶</m:t>
                    </m:r>
                    <m:r>
                      <a:rPr lang="it-IT" sz="1800" i="1">
                        <a:latin typeface="Cambria Math" panose="02040503050406030204" pitchFamily="18" charset="0"/>
                      </a:rPr>
                      <m:t>−</m:t>
                    </m:r>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r>
                              <a:rPr lang="it-IT" sz="1800" i="1">
                                <a:latin typeface="Cambria Math" panose="02040503050406030204" pitchFamily="18" charset="0"/>
                              </a:rPr>
                              <m:t>𝐵</m:t>
                            </m:r>
                          </m:e>
                          <m:sup>
                            <m:r>
                              <a:rPr lang="it-IT" sz="1800" i="1">
                                <a:latin typeface="Cambria Math" panose="02040503050406030204" pitchFamily="18" charset="0"/>
                              </a:rPr>
                              <m:t>2</m:t>
                            </m:r>
                          </m:sup>
                        </m:sSup>
                      </m:num>
                      <m:den>
                        <m:r>
                          <a:rPr lang="it-IT" sz="1800" i="1">
                            <a:latin typeface="Cambria Math" panose="02040503050406030204" pitchFamily="18" charset="0"/>
                          </a:rPr>
                          <m:t>𝐴</m:t>
                        </m:r>
                      </m:den>
                    </m:f>
                  </m:oMath>
                </a14:m>
                <a:endParaRPr lang="it-IT" sz="1800" dirty="0"/>
              </a:p>
              <a:p>
                <a14:m>
                  <m:oMath xmlns:m="http://schemas.openxmlformats.org/officeDocument/2006/math">
                    <m: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e>
                      <m:e>
                        <m:r>
                          <a:rPr lang="it-IT" sz="1800" i="1">
                            <a:latin typeface="Cambria Math" panose="02040503050406030204" pitchFamily="18" charset="0"/>
                          </a:rPr>
                          <m:t>𝜽</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𝜎</m:t>
                            </m:r>
                          </m:e>
                          <m:sub>
                            <m:r>
                              <a:rPr lang="it-IT" sz="1800" i="1">
                                <a:latin typeface="Cambria Math" panose="02040503050406030204" pitchFamily="18" charset="0"/>
                              </a:rPr>
                              <m:t>𝑜𝑏𝑠</m:t>
                            </m:r>
                          </m:sub>
                        </m:sSub>
                      </m:e>
                    </m:d>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2</m:t>
                        </m:r>
                        <m:r>
                          <a:rPr lang="it-IT" sz="1800" i="1">
                            <a:latin typeface="Cambria Math" panose="02040503050406030204" pitchFamily="18" charset="0"/>
                          </a:rPr>
                          <m:t>𝜋𝜎</m:t>
                        </m:r>
                        <m:sSub>
                          <m:sSubPr>
                            <m:ctrlPr>
                              <a:rPr lang="it-IT" sz="1800" i="1">
                                <a:latin typeface="Cambria Math" panose="02040503050406030204" pitchFamily="18" charset="0"/>
                              </a:rPr>
                            </m:ctrlPr>
                          </m:sSubPr>
                          <m:e>
                            <m:r>
                              <a:rPr lang="it-IT" sz="1800" i="1">
                                <a:latin typeface="Cambria Math" panose="02040503050406030204" pitchFamily="18" charset="0"/>
                              </a:rPr>
                              <m:t>𝜎</m:t>
                            </m:r>
                          </m:e>
                          <m:sub>
                            <m:r>
                              <a:rPr lang="it-IT" sz="1800" i="1">
                                <a:latin typeface="Cambria Math" panose="02040503050406030204" pitchFamily="18" charset="0"/>
                              </a:rPr>
                              <m:t>𝑜𝑏𝑠</m:t>
                            </m:r>
                          </m:sub>
                        </m:sSub>
                      </m:den>
                    </m:f>
                    <m:r>
                      <a:rPr lang="it-IT" sz="1800" i="1">
                        <a:latin typeface="Cambria Math" panose="02040503050406030204" pitchFamily="18" charset="0"/>
                      </a:rPr>
                      <m:t>𝑒𝑥𝑝</m:t>
                    </m:r>
                    <m:d>
                      <m:dPr>
                        <m:begChr m:val="["/>
                        <m:endChr m:val="]"/>
                        <m:ctrlPr>
                          <a:rPr lang="it-IT" sz="1800" i="1">
                            <a:latin typeface="Cambria Math" panose="02040503050406030204" pitchFamily="18" charset="0"/>
                          </a:rPr>
                        </m:ctrlPr>
                      </m:dPr>
                      <m:e>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2</m:t>
                            </m:r>
                          </m:den>
                        </m:f>
                        <m:d>
                          <m:dPr>
                            <m:ctrlPr>
                              <a:rPr lang="it-IT" sz="1800" i="1">
                                <a:latin typeface="Cambria Math" panose="02040503050406030204" pitchFamily="18" charset="0"/>
                              </a:rPr>
                            </m:ctrlPr>
                          </m:dPr>
                          <m:e>
                            <m:r>
                              <a:rPr lang="it-IT" sz="1800" i="1">
                                <a:latin typeface="Cambria Math" panose="02040503050406030204" pitchFamily="18" charset="0"/>
                              </a:rPr>
                              <m:t>𝐶</m:t>
                            </m:r>
                            <m:r>
                              <a:rPr lang="it-IT" sz="1800" i="1">
                                <a:latin typeface="Cambria Math" panose="02040503050406030204" pitchFamily="18" charset="0"/>
                              </a:rPr>
                              <m:t>−</m:t>
                            </m:r>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r>
                                      <a:rPr lang="it-IT" sz="1800" i="1">
                                        <a:latin typeface="Cambria Math" panose="02040503050406030204" pitchFamily="18" charset="0"/>
                                      </a:rPr>
                                      <m:t>𝐵</m:t>
                                    </m:r>
                                  </m:e>
                                  <m:sup>
                                    <m:r>
                                      <a:rPr lang="it-IT" sz="1800" i="1">
                                        <a:latin typeface="Cambria Math" panose="02040503050406030204" pitchFamily="18" charset="0"/>
                                      </a:rPr>
                                      <m:t>2</m:t>
                                    </m:r>
                                  </m:sup>
                                </m:sSup>
                              </m:num>
                              <m:den>
                                <m:r>
                                  <a:rPr lang="it-IT" sz="1800" i="1">
                                    <a:latin typeface="Cambria Math" panose="02040503050406030204" pitchFamily="18" charset="0"/>
                                  </a:rPr>
                                  <m:t>𝐴</m:t>
                                </m:r>
                              </m:den>
                            </m:f>
                          </m:e>
                        </m:d>
                      </m:e>
                    </m:d>
                    <m:nary>
                      <m:naryPr>
                        <m:ctrlPr>
                          <a:rPr lang="it-IT" sz="1800" i="1">
                            <a:latin typeface="Cambria Math" panose="02040503050406030204" pitchFamily="18" charset="0"/>
                          </a:rPr>
                        </m:ctrlPr>
                      </m:naryPr>
                      <m:sub>
                        <m:r>
                          <a:rPr lang="it-IT" sz="1800" i="1">
                            <a:latin typeface="Cambria Math" panose="02040503050406030204" pitchFamily="18" charset="0"/>
                          </a:rPr>
                          <m:t>−</m:t>
                        </m:r>
                        <m:r>
                          <a:rPr lang="it-IT" sz="1800" i="1">
                            <a:latin typeface="Cambria Math" panose="02040503050406030204" pitchFamily="18" charset="0"/>
                          </a:rPr>
                          <m:t>∞</m:t>
                        </m:r>
                      </m:sub>
                      <m:sup>
                        <m:r>
                          <a:rPr lang="it-IT" sz="1800" i="1">
                            <a:latin typeface="Cambria Math" panose="02040503050406030204" pitchFamily="18" charset="0"/>
                          </a:rPr>
                          <m:t>+</m:t>
                        </m:r>
                        <m:r>
                          <a:rPr lang="it-IT" sz="1800" i="1">
                            <a:latin typeface="Cambria Math" panose="02040503050406030204" pitchFamily="18" charset="0"/>
                          </a:rPr>
                          <m:t>∞</m:t>
                        </m:r>
                      </m:sup>
                      <m:e>
                        <m:r>
                          <a:rPr lang="it-IT" sz="1800" i="1">
                            <a:latin typeface="Cambria Math" panose="02040503050406030204" pitchFamily="18" charset="0"/>
                          </a:rPr>
                          <m:t>𝑒𝑥𝑝</m:t>
                        </m:r>
                        <m:d>
                          <m:dPr>
                            <m:begChr m:val="["/>
                            <m:endChr m:val="]"/>
                            <m:ctrlPr>
                              <a:rPr lang="it-IT" sz="1800" i="1">
                                <a:latin typeface="Cambria Math" panose="02040503050406030204" pitchFamily="18" charset="0"/>
                              </a:rPr>
                            </m:ctrlPr>
                          </m:dPr>
                          <m:e>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2</m:t>
                                </m:r>
                              </m:den>
                            </m:f>
                            <m:r>
                              <a:rPr lang="it-IT" sz="1800" i="1">
                                <a:latin typeface="Cambria Math" panose="02040503050406030204" pitchFamily="18" charset="0"/>
                              </a:rPr>
                              <m:t>𝐴</m:t>
                            </m:r>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r>
                                      <a:rPr lang="it-IT" sz="1800" i="1">
                                        <a:latin typeface="Cambria Math" panose="02040503050406030204" pitchFamily="18" charset="0"/>
                                      </a:rPr>
                                      <m:t>𝑥</m:t>
                                    </m:r>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𝐵</m:t>
                                        </m:r>
                                      </m:num>
                                      <m:den>
                                        <m:r>
                                          <a:rPr lang="it-IT" sz="1800" i="1">
                                            <a:latin typeface="Cambria Math" panose="02040503050406030204" pitchFamily="18" charset="0"/>
                                          </a:rPr>
                                          <m:t>𝐴</m:t>
                                        </m:r>
                                      </m:den>
                                    </m:f>
                                  </m:e>
                                </m:d>
                              </m:e>
                              <m:sup>
                                <m:r>
                                  <a:rPr lang="it-IT" sz="1800" i="1">
                                    <a:latin typeface="Cambria Math" panose="02040503050406030204" pitchFamily="18" charset="0"/>
                                  </a:rPr>
                                  <m:t>2</m:t>
                                </m:r>
                              </m:sup>
                            </m:sSup>
                          </m:e>
                        </m:d>
                        <m:r>
                          <a:rPr lang="it-IT" sz="1800" i="1">
                            <a:latin typeface="Cambria Math" panose="02040503050406030204" pitchFamily="18" charset="0"/>
                          </a:rPr>
                          <m:t>𝑑𝑥</m:t>
                        </m:r>
                      </m:e>
                    </m:nary>
                  </m:oMath>
                </a14:m>
                <a:endParaRPr lang="it-IT" sz="1800" dirty="0"/>
              </a:p>
              <a:p>
                <a:pPr marL="0" indent="0">
                  <a:buNone/>
                </a:pPr>
                <a:endParaRPr lang="it-IT" sz="1800" dirty="0"/>
              </a:p>
              <a:p>
                <a:r>
                  <a:rPr lang="en-US" sz="1800" dirty="0"/>
                  <a:t>Replacing A, B, and C:</a:t>
                </a:r>
                <a:endParaRPr lang="it-IT" sz="1800" dirty="0"/>
              </a:p>
              <a:p>
                <a:pPr marL="0" indent="0">
                  <a:buNone/>
                </a:pPr>
                <a14:m>
                  <m:oMathPara xmlns:m="http://schemas.openxmlformats.org/officeDocument/2006/math">
                    <m:oMathParaPr>
                      <m:jc m:val="centerGroup"/>
                    </m:oMathParaPr>
                    <m:oMath xmlns:m="http://schemas.openxmlformats.org/officeDocument/2006/math">
                      <m:r>
                        <a:rPr lang="it-IT" sz="1800" b="0" i="1" smtClean="0">
                          <a:latin typeface="Cambria Math" panose="02040503050406030204" pitchFamily="18" charset="0"/>
                        </a:rPr>
                        <m:t>⟹ </m:t>
                      </m:r>
                      <m: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e>
                        <m:e>
                          <m:r>
                            <a:rPr lang="it-IT" sz="1800" i="1">
                              <a:latin typeface="Cambria Math" panose="02040503050406030204" pitchFamily="18" charset="0"/>
                            </a:rPr>
                            <m:t>𝜽</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𝜎</m:t>
                              </m:r>
                            </m:e>
                            <m:sub>
                              <m:r>
                                <a:rPr lang="it-IT" sz="1800" i="1">
                                  <a:latin typeface="Cambria Math" panose="02040503050406030204" pitchFamily="18" charset="0"/>
                                </a:rPr>
                                <m:t>𝑜𝑏𝑠</m:t>
                              </m:r>
                            </m:sub>
                          </m:sSub>
                        </m:e>
                      </m:d>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ad>
                            <m:radPr>
                              <m:degHide m:val="on"/>
                              <m:ctrlPr>
                                <a:rPr lang="it-IT" sz="1800" i="1">
                                  <a:latin typeface="Cambria Math" panose="02040503050406030204" pitchFamily="18" charset="0"/>
                                </a:rPr>
                              </m:ctrlPr>
                            </m:radPr>
                            <m:deg/>
                            <m:e>
                              <m:r>
                                <a:rPr lang="it-IT" sz="1800" i="1">
                                  <a:latin typeface="Cambria Math" panose="02040503050406030204" pitchFamily="18" charset="0"/>
                                </a:rPr>
                                <m:t>2</m:t>
                              </m:r>
                              <m:r>
                                <a:rPr lang="it-IT" sz="1800" i="1">
                                  <a:latin typeface="Cambria Math" panose="02040503050406030204" pitchFamily="18" charset="0"/>
                                </a:rPr>
                                <m:t>𝜋</m:t>
                              </m:r>
                              <m:d>
                                <m:dPr>
                                  <m:ctrlPr>
                                    <a:rPr lang="it-IT" sz="1800" i="1">
                                      <a:latin typeface="Cambria Math" panose="02040503050406030204" pitchFamily="18" charset="0"/>
                                    </a:rPr>
                                  </m:ctrlPr>
                                </m:dPr>
                                <m:e>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1</m:t>
                                      </m:r>
                                    </m:sub>
                                    <m:sup>
                                      <m:r>
                                        <a:rPr lang="it-IT" sz="1800" i="1">
                                          <a:latin typeface="Cambria Math" panose="02040503050406030204" pitchFamily="18" charset="0"/>
                                        </a:rPr>
                                        <m:t>2</m:t>
                                      </m:r>
                                    </m:sup>
                                  </m:sSubSup>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e>
                              </m:d>
                            </m:e>
                          </m:rad>
                        </m:den>
                      </m:f>
                      <m:r>
                        <a:rPr lang="it-IT" sz="1800" i="1">
                          <a:latin typeface="Cambria Math" panose="02040503050406030204" pitchFamily="18" charset="0"/>
                        </a:rPr>
                        <m:t>𝑒𝑥𝑝</m:t>
                      </m:r>
                      <m:d>
                        <m:dPr>
                          <m:begChr m:val="["/>
                          <m:endChr m:val="]"/>
                          <m:ctrlPr>
                            <a:rPr lang="it-IT" sz="1800" i="1">
                              <a:latin typeface="Cambria Math" panose="02040503050406030204" pitchFamily="18" charset="0"/>
                            </a:rPr>
                          </m:ctrlPr>
                        </m:dPr>
                        <m:e>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2</m:t>
                              </m:r>
                            </m:den>
                          </m:f>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1</m:t>
                                          </m:r>
                                        </m:sub>
                                      </m:sSub>
                                    </m:e>
                                  </m:d>
                                </m:e>
                                <m:sup>
                                  <m:r>
                                    <a:rPr lang="it-IT" sz="1800" i="1">
                                      <a:latin typeface="Cambria Math" panose="02040503050406030204" pitchFamily="18" charset="0"/>
                                    </a:rPr>
                                    <m:t>2</m:t>
                                  </m:r>
                                </m:sup>
                              </m:sSup>
                            </m:num>
                            <m:den>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1</m:t>
                                  </m:r>
                                </m:sub>
                                <m:sup>
                                  <m:r>
                                    <a:rPr lang="it-IT" sz="1800" i="1">
                                      <a:latin typeface="Cambria Math" panose="02040503050406030204" pitchFamily="18" charset="0"/>
                                    </a:rPr>
                                    <m:t>2</m:t>
                                  </m:r>
                                </m:sup>
                              </m:sSubSup>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den>
                          </m:f>
                        </m:e>
                      </m:d>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1</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1</m:t>
                              </m:r>
                            </m:sub>
                            <m:sup>
                              <m:r>
                                <a:rPr lang="it-IT" sz="1800" i="1">
                                  <a:latin typeface="Cambria Math" panose="02040503050406030204" pitchFamily="18" charset="0"/>
                                </a:rPr>
                                <m:t>2</m:t>
                              </m:r>
                            </m:sup>
                          </m:sSubSup>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e>
                      </m:d>
                    </m:oMath>
                  </m:oMathPara>
                </a14:m>
                <a:endParaRPr lang="it-IT" sz="1800" dirty="0"/>
              </a:p>
            </p:txBody>
          </p:sp>
        </mc:Choice>
        <mc:Fallback xmlns="">
          <p:sp>
            <p:nvSpPr>
              <p:cNvPr id="3" name="Content Placeholder 2">
                <a:extLst>
                  <a:ext uri="{FF2B5EF4-FFF2-40B4-BE49-F238E27FC236}">
                    <a16:creationId xmlns:a16="http://schemas.microsoft.com/office/drawing/2014/main" id="{874CB3FA-EB1D-BC78-2AA0-B7E03E1BC4CF}"/>
                  </a:ext>
                </a:extLst>
              </p:cNvPr>
              <p:cNvSpPr>
                <a:spLocks noGrp="1" noRot="1" noChangeAspect="1" noMove="1" noResize="1" noEditPoints="1" noAdjustHandles="1" noChangeArrowheads="1" noChangeShapeType="1" noTextEdit="1"/>
              </p:cNvSpPr>
              <p:nvPr>
                <p:ph idx="1"/>
              </p:nvPr>
            </p:nvSpPr>
            <p:spPr>
              <a:xfrm>
                <a:off x="700635" y="1563077"/>
                <a:ext cx="10691265" cy="4398811"/>
              </a:xfrm>
              <a:blipFill>
                <a:blip r:embed="rId2"/>
                <a:stretch>
                  <a:fillRect l="-399"/>
                </a:stretch>
              </a:blipFill>
            </p:spPr>
            <p:txBody>
              <a:bodyPr/>
              <a:lstStyle/>
              <a:p>
                <a:r>
                  <a:rPr lang="it-IT">
                    <a:noFill/>
                  </a:rPr>
                  <a:t> </a:t>
                </a:r>
              </a:p>
            </p:txBody>
          </p:sp>
        </mc:Fallback>
      </mc:AlternateContent>
      <p:sp>
        <p:nvSpPr>
          <p:cNvPr id="4" name="Right Brace 3">
            <a:extLst>
              <a:ext uri="{FF2B5EF4-FFF2-40B4-BE49-F238E27FC236}">
                <a16:creationId xmlns:a16="http://schemas.microsoft.com/office/drawing/2014/main" id="{BD24A2B0-79C2-C72B-88E0-BC2D3719367E}"/>
              </a:ext>
            </a:extLst>
          </p:cNvPr>
          <p:cNvSpPr/>
          <p:nvPr/>
        </p:nvSpPr>
        <p:spPr>
          <a:xfrm rot="5400000">
            <a:off x="6463321" y="2775048"/>
            <a:ext cx="336061" cy="277446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it-IT">
              <a:solidFill>
                <a:srgbClr val="FF000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EABF222-D349-5805-83E4-D32C57FF18D3}"/>
                  </a:ext>
                </a:extLst>
              </p:cNvPr>
              <p:cNvSpPr txBox="1"/>
              <p:nvPr/>
            </p:nvSpPr>
            <p:spPr>
              <a:xfrm>
                <a:off x="6125801" y="4330308"/>
                <a:ext cx="999376" cy="3354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rad>
                        <m:radPr>
                          <m:degHide m:val="on"/>
                          <m:ctrlPr>
                            <a:rPr lang="it-IT" b="0" i="1" smtClean="0">
                              <a:latin typeface="Cambria Math" panose="02040503050406030204" pitchFamily="18" charset="0"/>
                            </a:rPr>
                          </m:ctrlPr>
                        </m:radPr>
                        <m:deg/>
                        <m:e>
                          <m:r>
                            <a:rPr lang="it-IT" b="0" i="1" smtClean="0">
                              <a:latin typeface="Cambria Math" panose="02040503050406030204" pitchFamily="18" charset="0"/>
                            </a:rPr>
                            <m:t>2</m:t>
                          </m:r>
                          <m:r>
                            <a:rPr lang="it-IT" b="0" i="1" smtClean="0">
                              <a:latin typeface="Cambria Math" panose="02040503050406030204" pitchFamily="18" charset="0"/>
                            </a:rPr>
                            <m:t>𝜋</m:t>
                          </m:r>
                          <m:r>
                            <m:rPr>
                              <m:lit/>
                            </m:rPr>
                            <a:rPr lang="it-IT" b="0" i="1" smtClean="0">
                              <a:latin typeface="Cambria Math" panose="02040503050406030204" pitchFamily="18" charset="0"/>
                            </a:rPr>
                            <m:t>/</m:t>
                          </m:r>
                          <m:r>
                            <a:rPr lang="it-IT" b="0" i="1" smtClean="0">
                              <a:latin typeface="Cambria Math" panose="02040503050406030204" pitchFamily="18" charset="0"/>
                            </a:rPr>
                            <m:t>𝐴</m:t>
                          </m:r>
                        </m:e>
                      </m:rad>
                    </m:oMath>
                  </m:oMathPara>
                </a14:m>
                <a:endParaRPr lang="it-IT" dirty="0"/>
              </a:p>
            </p:txBody>
          </p:sp>
        </mc:Choice>
        <mc:Fallback xmlns="">
          <p:sp>
            <p:nvSpPr>
              <p:cNvPr id="5" name="TextBox 4">
                <a:extLst>
                  <a:ext uri="{FF2B5EF4-FFF2-40B4-BE49-F238E27FC236}">
                    <a16:creationId xmlns:a16="http://schemas.microsoft.com/office/drawing/2014/main" id="{1EABF222-D349-5805-83E4-D32C57FF18D3}"/>
                  </a:ext>
                </a:extLst>
              </p:cNvPr>
              <p:cNvSpPr txBox="1">
                <a:spLocks noRot="1" noChangeAspect="1" noMove="1" noResize="1" noEditPoints="1" noAdjustHandles="1" noChangeArrowheads="1" noChangeShapeType="1" noTextEdit="1"/>
              </p:cNvSpPr>
              <p:nvPr/>
            </p:nvSpPr>
            <p:spPr>
              <a:xfrm>
                <a:off x="6125801" y="4330308"/>
                <a:ext cx="999376" cy="335413"/>
              </a:xfrm>
              <a:prstGeom prst="rect">
                <a:avLst/>
              </a:prstGeom>
              <a:blipFill>
                <a:blip r:embed="rId3"/>
                <a:stretch>
                  <a:fillRect l="-1829" r="-4878" b="-25455"/>
                </a:stretch>
              </a:blipFill>
            </p:spPr>
            <p:txBody>
              <a:bodyPr/>
              <a:lstStyle/>
              <a:p>
                <a:r>
                  <a:rPr lang="it-IT">
                    <a:noFill/>
                  </a:rPr>
                  <a:t> </a:t>
                </a:r>
              </a:p>
            </p:txBody>
          </p:sp>
        </mc:Fallback>
      </mc:AlternateContent>
    </p:spTree>
    <p:extLst>
      <p:ext uri="{BB962C8B-B14F-4D97-AF65-F5344CB8AC3E}">
        <p14:creationId xmlns:p14="http://schemas.microsoft.com/office/powerpoint/2010/main" val="1585937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74F4D-BB6D-0C06-FF56-0ADFE84B8F41}"/>
              </a:ext>
            </a:extLst>
          </p:cNvPr>
          <p:cNvSpPr>
            <a:spLocks noGrp="1"/>
          </p:cNvSpPr>
          <p:nvPr>
            <p:ph type="title"/>
          </p:nvPr>
        </p:nvSpPr>
        <p:spPr>
          <a:xfrm>
            <a:off x="700635" y="914400"/>
            <a:ext cx="10691265" cy="1307592"/>
          </a:xfrm>
        </p:spPr>
        <p:txBody>
          <a:bodyPr/>
          <a:lstStyle/>
          <a:p>
            <a:r>
              <a:rPr lang="it-IT" dirty="0">
                <a:solidFill>
                  <a:srgbClr val="FF0000"/>
                </a:solidFill>
              </a:rPr>
              <a:t>Method 2: Fourier Trasform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045149-62D8-AC7C-C0A1-AC2652D7BCDA}"/>
                  </a:ext>
                </a:extLst>
              </p:cNvPr>
              <p:cNvSpPr>
                <a:spLocks noGrp="1"/>
              </p:cNvSpPr>
              <p:nvPr>
                <p:ph idx="1"/>
              </p:nvPr>
            </p:nvSpPr>
            <p:spPr>
              <a:xfrm>
                <a:off x="700635" y="1570892"/>
                <a:ext cx="10691265" cy="4603262"/>
              </a:xfrm>
            </p:spPr>
            <p:txBody>
              <a:bodyPr>
                <a:normAutofit/>
              </a:bodyPr>
              <a:lstStyle/>
              <a:p>
                <a14:m>
                  <m:oMath xmlns:m="http://schemas.openxmlformats.org/officeDocument/2006/math">
                    <m: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e>
                      <m:e>
                        <m:r>
                          <a:rPr lang="it-IT" sz="1800" i="1">
                            <a:latin typeface="Cambria Math" panose="02040503050406030204" pitchFamily="18" charset="0"/>
                          </a:rPr>
                          <m:t>𝜽</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𝜎</m:t>
                            </m:r>
                          </m:e>
                          <m:sub>
                            <m:r>
                              <a:rPr lang="it-IT" sz="1800" i="1">
                                <a:latin typeface="Cambria Math" panose="02040503050406030204" pitchFamily="18" charset="0"/>
                              </a:rPr>
                              <m:t>𝑜𝑏𝑠</m:t>
                            </m:r>
                          </m:sub>
                        </m:sSub>
                      </m:e>
                    </m:d>
                    <m:r>
                      <a:rPr lang="it-IT" sz="1800" i="1">
                        <a:latin typeface="Cambria Math" panose="02040503050406030204" pitchFamily="18" charset="0"/>
                      </a:rPr>
                      <m:t>=</m:t>
                    </m:r>
                    <m:nary>
                      <m:naryPr>
                        <m:ctrlPr>
                          <a:rPr lang="it-IT" sz="1800" i="1">
                            <a:latin typeface="Cambria Math" panose="02040503050406030204" pitchFamily="18" charset="0"/>
                          </a:rPr>
                        </m:ctrlPr>
                      </m:naryPr>
                      <m:sub>
                        <m:r>
                          <a:rPr lang="it-IT" sz="1800" i="1">
                            <a:latin typeface="Cambria Math" panose="02040503050406030204" pitchFamily="18" charset="0"/>
                          </a:rPr>
                          <m:t>−</m:t>
                        </m:r>
                        <m:r>
                          <a:rPr lang="it-IT" sz="1800" i="1">
                            <a:latin typeface="Cambria Math" panose="02040503050406030204" pitchFamily="18" charset="0"/>
                          </a:rPr>
                          <m:t>∞</m:t>
                        </m:r>
                      </m:sub>
                      <m:sup>
                        <m:r>
                          <a:rPr lang="it-IT" sz="1800" i="1">
                            <a:latin typeface="Cambria Math" panose="02040503050406030204" pitchFamily="18" charset="0"/>
                          </a:rPr>
                          <m:t>+</m:t>
                        </m:r>
                        <m:r>
                          <a:rPr lang="it-IT" sz="1800" i="1">
                            <a:latin typeface="Cambria Math" panose="02040503050406030204" pitchFamily="18" charset="0"/>
                          </a:rPr>
                          <m:t>∞</m:t>
                        </m:r>
                      </m:sup>
                      <m:e>
                        <m:r>
                          <a:rPr lang="it-IT" sz="1800" i="1">
                            <a:latin typeface="Cambria Math" panose="02040503050406030204" pitchFamily="18" charset="0"/>
                          </a:rPr>
                          <m:t>𝑔</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r>
                              <a:rPr lang="it-IT" sz="1800" i="1">
                                <a:latin typeface="Cambria Math" panose="02040503050406030204" pitchFamily="18" charset="0"/>
                              </a:rPr>
                              <m:t>−</m:t>
                            </m:r>
                            <m:r>
                              <a:rPr lang="it-IT" sz="1800" i="1">
                                <a:latin typeface="Cambria Math" panose="02040503050406030204" pitchFamily="18" charset="0"/>
                              </a:rPr>
                              <m:t>𝑥</m:t>
                            </m:r>
                          </m:e>
                        </m:d>
                        <m:r>
                          <a:rPr lang="it-IT" sz="1800" i="1">
                            <a:latin typeface="Cambria Math" panose="02040503050406030204" pitchFamily="18" charset="0"/>
                          </a:rPr>
                          <m:t>𝑓</m:t>
                        </m:r>
                        <m:d>
                          <m:dPr>
                            <m:ctrlPr>
                              <a:rPr lang="it-IT" sz="1800" i="1">
                                <a:latin typeface="Cambria Math" panose="02040503050406030204" pitchFamily="18" charset="0"/>
                              </a:rPr>
                            </m:ctrlPr>
                          </m:dPr>
                          <m:e>
                            <m:r>
                              <a:rPr lang="it-IT" sz="1800" i="1">
                                <a:latin typeface="Cambria Math" panose="02040503050406030204" pitchFamily="18" charset="0"/>
                              </a:rPr>
                              <m:t>𝑥</m:t>
                            </m:r>
                          </m:e>
                        </m:d>
                        <m:r>
                          <a:rPr lang="it-IT" sz="1800" i="1">
                            <a:latin typeface="Cambria Math" panose="02040503050406030204" pitchFamily="18" charset="0"/>
                          </a:rPr>
                          <m:t>𝑑𝑥</m:t>
                        </m:r>
                      </m:e>
                    </m:nary>
                    <m:r>
                      <a:rPr lang="it-IT" sz="1800" i="1">
                        <a:latin typeface="Cambria Math" panose="02040503050406030204" pitchFamily="18" charset="0"/>
                      </a:rPr>
                      <m:t>=</m:t>
                    </m:r>
                    <m:d>
                      <m:dPr>
                        <m:ctrlPr>
                          <a:rPr lang="it-IT" sz="1800" i="1">
                            <a:latin typeface="Cambria Math" panose="02040503050406030204" pitchFamily="18" charset="0"/>
                          </a:rPr>
                        </m:ctrlPr>
                      </m:dPr>
                      <m:e>
                        <m:r>
                          <a:rPr lang="it-IT" sz="1800" i="1">
                            <a:latin typeface="Cambria Math" panose="02040503050406030204" pitchFamily="18" charset="0"/>
                          </a:rPr>
                          <m:t>𝑓</m:t>
                        </m:r>
                        <m:r>
                          <a:rPr lang="it-IT" sz="1800" i="1">
                            <a:latin typeface="Cambria Math" panose="02040503050406030204" pitchFamily="18" charset="0"/>
                          </a:rPr>
                          <m:t>∗</m:t>
                        </m:r>
                        <m:r>
                          <a:rPr lang="it-IT" sz="1800" i="1">
                            <a:latin typeface="Cambria Math" panose="02040503050406030204" pitchFamily="18" charset="0"/>
                          </a:rPr>
                          <m:t>𝑔</m:t>
                        </m:r>
                      </m:e>
                    </m:d>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e>
                    </m:d>
                    <m:r>
                      <a:rPr lang="it-IT" sz="1800" i="1">
                        <a:latin typeface="Cambria Math" panose="02040503050406030204" pitchFamily="18" charset="0"/>
                      </a:rPr>
                      <m:t>=</m:t>
                    </m:r>
                    <m:sSup>
                      <m:sSupPr>
                        <m:ctrlPr>
                          <a:rPr lang="it-IT" sz="1800" i="1">
                            <a:latin typeface="Cambria Math" panose="02040503050406030204" pitchFamily="18" charset="0"/>
                          </a:rPr>
                        </m:ctrlPr>
                      </m:sSupPr>
                      <m:e>
                        <m:r>
                          <a:rPr lang="it-IT" sz="1800" i="1">
                            <a:latin typeface="Cambria Math" panose="02040503050406030204" pitchFamily="18" charset="0"/>
                          </a:rPr>
                          <m:t>ℱ</m:t>
                        </m:r>
                      </m:e>
                      <m:sup>
                        <m:r>
                          <a:rPr lang="it-IT" sz="1800" i="1">
                            <a:latin typeface="Cambria Math" panose="02040503050406030204" pitchFamily="18" charset="0"/>
                          </a:rPr>
                          <m:t>−</m:t>
                        </m:r>
                        <m:r>
                          <a:rPr lang="it-IT" sz="1800" i="1">
                            <a:latin typeface="Cambria Math" panose="02040503050406030204" pitchFamily="18" charset="0"/>
                          </a:rPr>
                          <m:t>1</m:t>
                        </m:r>
                      </m:sup>
                    </m:sSup>
                    <m:d>
                      <m:dPr>
                        <m:ctrlPr>
                          <a:rPr lang="it-IT" sz="1800" i="1">
                            <a:latin typeface="Cambria Math" panose="02040503050406030204" pitchFamily="18" charset="0"/>
                          </a:rPr>
                        </m:ctrlPr>
                      </m:dPr>
                      <m:e>
                        <m:acc>
                          <m:accPr>
                            <m:chr m:val="̃"/>
                            <m:ctrlPr>
                              <a:rPr lang="it-IT" sz="1800" i="1">
                                <a:latin typeface="Cambria Math" panose="02040503050406030204" pitchFamily="18" charset="0"/>
                              </a:rPr>
                            </m:ctrlPr>
                          </m:accPr>
                          <m:e>
                            <m:r>
                              <a:rPr lang="it-IT" sz="1800" b="0" i="1" smtClean="0">
                                <a:latin typeface="Cambria Math" panose="02040503050406030204" pitchFamily="18" charset="0"/>
                              </a:rPr>
                              <m:t>𝑔</m:t>
                            </m:r>
                          </m:e>
                        </m:acc>
                        <m:d>
                          <m:dPr>
                            <m:ctrlPr>
                              <a:rPr lang="it-IT" sz="1800" i="1">
                                <a:latin typeface="Cambria Math" panose="02040503050406030204" pitchFamily="18" charset="0"/>
                              </a:rPr>
                            </m:ctrlPr>
                          </m:dPr>
                          <m:e>
                            <m:r>
                              <a:rPr lang="it-IT" sz="1800" i="1">
                                <a:latin typeface="Cambria Math" panose="02040503050406030204" pitchFamily="18" charset="0"/>
                              </a:rPr>
                              <m:t>𝑘</m:t>
                            </m:r>
                          </m:e>
                        </m:d>
                        <m:acc>
                          <m:accPr>
                            <m:chr m:val="̃"/>
                            <m:ctrlPr>
                              <a:rPr lang="it-IT" sz="1800" i="1">
                                <a:latin typeface="Cambria Math" panose="02040503050406030204" pitchFamily="18" charset="0"/>
                              </a:rPr>
                            </m:ctrlPr>
                          </m:accPr>
                          <m:e>
                            <m:r>
                              <a:rPr lang="it-IT" sz="1800" b="0" i="1" smtClean="0">
                                <a:latin typeface="Cambria Math" panose="02040503050406030204" pitchFamily="18" charset="0"/>
                              </a:rPr>
                              <m:t>𝑓</m:t>
                            </m:r>
                          </m:e>
                        </m:acc>
                        <m:d>
                          <m:dPr>
                            <m:ctrlPr>
                              <a:rPr lang="it-IT" sz="1800" i="1">
                                <a:latin typeface="Cambria Math" panose="02040503050406030204" pitchFamily="18" charset="0"/>
                              </a:rPr>
                            </m:ctrlPr>
                          </m:dPr>
                          <m:e>
                            <m:r>
                              <a:rPr lang="it-IT" sz="1800" i="1">
                                <a:latin typeface="Cambria Math" panose="02040503050406030204" pitchFamily="18" charset="0"/>
                              </a:rPr>
                              <m:t>𝑘</m:t>
                            </m:r>
                          </m:e>
                        </m:d>
                      </m:e>
                    </m:d>
                  </m:oMath>
                </a14:m>
                <a:endParaRPr lang="it-IT" sz="1800" i="1" dirty="0"/>
              </a:p>
              <a:p>
                <a:pPr>
                  <a:lnSpc>
                    <a:spcPct val="100000"/>
                  </a:lnSpc>
                </a:pPr>
                <a14:m>
                  <m:oMath xmlns:m="http://schemas.openxmlformats.org/officeDocument/2006/math">
                    <m:r>
                      <a:rPr lang="it-IT" sz="1600" b="0" i="1" smtClean="0">
                        <a:latin typeface="Cambria Math" panose="02040503050406030204" pitchFamily="18" charset="0"/>
                      </a:rPr>
                      <m:t>ℱ</m:t>
                    </m:r>
                    <m:d>
                      <m:dPr>
                        <m:ctrlPr>
                          <a:rPr lang="it-IT" sz="1600" b="0" i="1" smtClean="0">
                            <a:latin typeface="Cambria Math" panose="02040503050406030204" pitchFamily="18" charset="0"/>
                          </a:rPr>
                        </m:ctrlPr>
                      </m:dPr>
                      <m:e>
                        <m:sSup>
                          <m:sSupPr>
                            <m:ctrlPr>
                              <a:rPr lang="it-IT" sz="1600" b="0" i="1" smtClean="0">
                                <a:latin typeface="Cambria Math" panose="02040503050406030204" pitchFamily="18" charset="0"/>
                              </a:rPr>
                            </m:ctrlPr>
                          </m:sSupPr>
                          <m:e>
                            <m:r>
                              <a:rPr lang="it-IT" sz="1600" i="1">
                                <a:latin typeface="Cambria Math" panose="02040503050406030204" pitchFamily="18" charset="0"/>
                              </a:rPr>
                              <m:t>𝑒</m:t>
                            </m:r>
                          </m:e>
                          <m:sup>
                            <m:r>
                              <a:rPr lang="it-IT" sz="1600" i="1">
                                <a:latin typeface="Cambria Math" panose="02040503050406030204" pitchFamily="18" charset="0"/>
                              </a:rPr>
                              <m:t>−</m:t>
                            </m:r>
                            <m:r>
                              <a:rPr lang="it-IT" sz="1600" i="1">
                                <a:latin typeface="Cambria Math" panose="02040503050406030204" pitchFamily="18" charset="0"/>
                              </a:rPr>
                              <m:t>𝑎</m:t>
                            </m:r>
                            <m:sSup>
                              <m:sSupPr>
                                <m:ctrlPr>
                                  <a:rPr lang="it-IT" sz="1600" i="1">
                                    <a:latin typeface="Cambria Math" panose="02040503050406030204" pitchFamily="18" charset="0"/>
                                  </a:rPr>
                                </m:ctrlPr>
                              </m:sSupPr>
                              <m:e>
                                <m:r>
                                  <a:rPr lang="it-IT" sz="1600" i="1">
                                    <a:latin typeface="Cambria Math" panose="02040503050406030204" pitchFamily="18" charset="0"/>
                                  </a:rPr>
                                  <m:t>𝑥</m:t>
                                </m:r>
                              </m:e>
                              <m:sup>
                                <m:r>
                                  <a:rPr lang="it-IT" sz="1600" i="1">
                                    <a:latin typeface="Cambria Math" panose="02040503050406030204" pitchFamily="18" charset="0"/>
                                  </a:rPr>
                                  <m:t>2</m:t>
                                </m:r>
                              </m:sup>
                            </m:sSup>
                          </m:sup>
                        </m:sSup>
                      </m:e>
                    </m:d>
                    <m:r>
                      <a:rPr lang="it-IT" sz="1600" i="1">
                        <a:latin typeface="Cambria Math" panose="02040503050406030204" pitchFamily="18" charset="0"/>
                      </a:rPr>
                      <m:t>=</m:t>
                    </m:r>
                    <m:rad>
                      <m:radPr>
                        <m:degHide m:val="on"/>
                        <m:ctrlPr>
                          <a:rPr lang="it-IT" sz="1600" i="1">
                            <a:latin typeface="Cambria Math" panose="02040503050406030204" pitchFamily="18" charset="0"/>
                          </a:rPr>
                        </m:ctrlPr>
                      </m:radPr>
                      <m:deg/>
                      <m:e>
                        <m:f>
                          <m:fPr>
                            <m:ctrlPr>
                              <a:rPr lang="it-IT" sz="1600" i="1">
                                <a:latin typeface="Cambria Math" panose="02040503050406030204" pitchFamily="18" charset="0"/>
                              </a:rPr>
                            </m:ctrlPr>
                          </m:fPr>
                          <m:num>
                            <m:r>
                              <a:rPr lang="it-IT" sz="1600" i="1">
                                <a:latin typeface="Cambria Math" panose="02040503050406030204" pitchFamily="18" charset="0"/>
                              </a:rPr>
                              <m:t>𝜋</m:t>
                            </m:r>
                          </m:num>
                          <m:den>
                            <m:r>
                              <a:rPr lang="it-IT" sz="1600" i="1">
                                <a:latin typeface="Cambria Math" panose="02040503050406030204" pitchFamily="18" charset="0"/>
                              </a:rPr>
                              <m:t>𝑎</m:t>
                            </m:r>
                          </m:den>
                        </m:f>
                      </m:e>
                    </m:rad>
                    <m:sSup>
                      <m:sSupPr>
                        <m:ctrlPr>
                          <a:rPr lang="it-IT" sz="1600" i="1">
                            <a:latin typeface="Cambria Math" panose="02040503050406030204" pitchFamily="18" charset="0"/>
                          </a:rPr>
                        </m:ctrlPr>
                      </m:sSupPr>
                      <m:e>
                        <m:r>
                          <a:rPr lang="it-IT" sz="1600" i="1">
                            <a:latin typeface="Cambria Math" panose="02040503050406030204" pitchFamily="18" charset="0"/>
                          </a:rPr>
                          <m:t>𝑒</m:t>
                        </m:r>
                      </m:e>
                      <m:sup>
                        <m:r>
                          <a:rPr lang="it-IT" sz="1600" i="1">
                            <a:latin typeface="Cambria Math" panose="02040503050406030204" pitchFamily="18" charset="0"/>
                          </a:rPr>
                          <m:t>−</m:t>
                        </m:r>
                        <m:f>
                          <m:fPr>
                            <m:ctrlPr>
                              <a:rPr lang="it-IT" sz="1600" i="1">
                                <a:latin typeface="Cambria Math" panose="02040503050406030204" pitchFamily="18" charset="0"/>
                              </a:rPr>
                            </m:ctrlPr>
                          </m:fPr>
                          <m:num>
                            <m:sSup>
                              <m:sSupPr>
                                <m:ctrlPr>
                                  <a:rPr lang="it-IT" sz="1600" i="1">
                                    <a:latin typeface="Cambria Math" panose="02040503050406030204" pitchFamily="18" charset="0"/>
                                  </a:rPr>
                                </m:ctrlPr>
                              </m:sSupPr>
                              <m:e>
                                <m:r>
                                  <a:rPr lang="it-IT" sz="1600" i="1">
                                    <a:latin typeface="Cambria Math" panose="02040503050406030204" pitchFamily="18" charset="0"/>
                                  </a:rPr>
                                  <m:t>𝑘</m:t>
                                </m:r>
                              </m:e>
                              <m:sup>
                                <m:r>
                                  <a:rPr lang="it-IT" sz="1600" i="1">
                                    <a:latin typeface="Cambria Math" panose="02040503050406030204" pitchFamily="18" charset="0"/>
                                  </a:rPr>
                                  <m:t>2</m:t>
                                </m:r>
                              </m:sup>
                            </m:sSup>
                          </m:num>
                          <m:den>
                            <m:r>
                              <a:rPr lang="it-IT" sz="1600" i="1">
                                <a:latin typeface="Cambria Math" panose="02040503050406030204" pitchFamily="18" charset="0"/>
                              </a:rPr>
                              <m:t>4</m:t>
                            </m:r>
                            <m:r>
                              <a:rPr lang="it-IT" sz="1600" i="1">
                                <a:latin typeface="Cambria Math" panose="02040503050406030204" pitchFamily="18" charset="0"/>
                              </a:rPr>
                              <m:t>𝑎</m:t>
                            </m:r>
                          </m:den>
                        </m:f>
                      </m:sup>
                    </m:sSup>
                    <m:r>
                      <a:rPr lang="it-IT" sz="1600" i="1">
                        <a:latin typeface="Cambria Math" panose="02040503050406030204" pitchFamily="18" charset="0"/>
                      </a:rPr>
                      <m:t> ⇒ </m:t>
                    </m:r>
                    <m:d>
                      <m:dPr>
                        <m:begChr m:val="{"/>
                        <m:endChr m:val=""/>
                        <m:ctrlPr>
                          <a:rPr lang="it-IT" sz="1600" i="1" smtClean="0">
                            <a:latin typeface="Cambria Math" panose="02040503050406030204" pitchFamily="18" charset="0"/>
                          </a:rPr>
                        </m:ctrlPr>
                      </m:dPr>
                      <m:e>
                        <m:eqArr>
                          <m:eqArrPr>
                            <m:ctrlPr>
                              <a:rPr lang="it-IT" sz="1600" i="1" smtClean="0">
                                <a:latin typeface="Cambria Math" panose="02040503050406030204" pitchFamily="18" charset="0"/>
                              </a:rPr>
                            </m:ctrlPr>
                          </m:eqArrPr>
                          <m:e>
                            <m:acc>
                              <m:accPr>
                                <m:chr m:val="̃"/>
                                <m:ctrlPr>
                                  <a:rPr lang="it-IT" sz="1600" i="1">
                                    <a:latin typeface="Cambria Math" panose="02040503050406030204" pitchFamily="18" charset="0"/>
                                  </a:rPr>
                                </m:ctrlPr>
                              </m:accPr>
                              <m:e>
                                <m:r>
                                  <m:rPr>
                                    <m:sty m:val="p"/>
                                  </m:rPr>
                                  <a:rPr lang="it-IT" sz="1600" b="0" i="1" smtClean="0">
                                    <a:latin typeface="Cambria Math" panose="02040503050406030204" pitchFamily="18" charset="0"/>
                                  </a:rPr>
                                  <m:t>g</m:t>
                                </m:r>
                              </m:e>
                            </m:acc>
                            <m:d>
                              <m:dPr>
                                <m:ctrlPr>
                                  <a:rPr lang="it-IT" sz="1600" i="1">
                                    <a:latin typeface="Cambria Math" panose="02040503050406030204" pitchFamily="18" charset="0"/>
                                  </a:rPr>
                                </m:ctrlPr>
                              </m:dPr>
                              <m:e>
                                <m:r>
                                  <a:rPr lang="it-IT" sz="1600" i="1">
                                    <a:latin typeface="Cambria Math" panose="02040503050406030204" pitchFamily="18" charset="0"/>
                                  </a:rPr>
                                  <m:t>𝑘</m:t>
                                </m:r>
                              </m:e>
                            </m:d>
                            <m:r>
                              <a:rPr lang="it-IT" sz="1600" i="1">
                                <a:latin typeface="Cambria Math" panose="02040503050406030204" pitchFamily="18" charset="0"/>
                              </a:rPr>
                              <m:t>=</m:t>
                            </m:r>
                            <m:r>
                              <a:rPr lang="it-IT" sz="1600" i="1">
                                <a:latin typeface="Cambria Math" panose="02040503050406030204" pitchFamily="18" charset="0"/>
                              </a:rPr>
                              <m:t>ℱ</m:t>
                            </m:r>
                            <m:d>
                              <m:dPr>
                                <m:ctrlPr>
                                  <a:rPr lang="it-IT" sz="1600" i="1">
                                    <a:latin typeface="Cambria Math" panose="02040503050406030204" pitchFamily="18" charset="0"/>
                                  </a:rPr>
                                </m:ctrlPr>
                              </m:dPr>
                              <m:e>
                                <m:r>
                                  <m:rPr>
                                    <m:sty m:val="p"/>
                                  </m:rPr>
                                  <a:rPr lang="it-IT" sz="1600" b="0" i="1" smtClean="0">
                                    <a:latin typeface="Cambria Math" panose="02040503050406030204" pitchFamily="18" charset="0"/>
                                  </a:rPr>
                                  <m:t>g</m:t>
                                </m:r>
                                <m:d>
                                  <m:dPr>
                                    <m:ctrlPr>
                                      <a:rPr lang="it-IT" sz="1600" i="1">
                                        <a:latin typeface="Cambria Math" panose="02040503050406030204" pitchFamily="18" charset="0"/>
                                      </a:rPr>
                                    </m:ctrlPr>
                                  </m:dPr>
                                  <m:e>
                                    <m:r>
                                      <m:rPr>
                                        <m:sty m:val="p"/>
                                      </m:rPr>
                                      <a:rPr lang="it-IT" sz="1600" b="0" i="1" smtClean="0">
                                        <a:latin typeface="Cambria Math" panose="02040503050406030204" pitchFamily="18" charset="0"/>
                                      </a:rPr>
                                      <m:t>x</m:t>
                                    </m:r>
                                  </m:e>
                                </m:d>
                              </m:e>
                            </m:d>
                            <m:r>
                              <a:rPr lang="it-IT" sz="1600" i="1">
                                <a:latin typeface="Cambria Math" panose="02040503050406030204" pitchFamily="18" charset="0"/>
                              </a:rPr>
                              <m:t>=</m:t>
                            </m:r>
                            <m:r>
                              <a:rPr lang="it-IT" sz="1600" i="1">
                                <a:latin typeface="Cambria Math" panose="02040503050406030204" pitchFamily="18" charset="0"/>
                              </a:rPr>
                              <m:t>ℱ</m:t>
                            </m:r>
                            <m:d>
                              <m:dPr>
                                <m:ctrlPr>
                                  <a:rPr lang="it-IT" sz="1600" i="1">
                                    <a:latin typeface="Cambria Math" panose="02040503050406030204" pitchFamily="18" charset="0"/>
                                  </a:rPr>
                                </m:ctrlPr>
                              </m:dPr>
                              <m:e>
                                <m:f>
                                  <m:fPr>
                                    <m:ctrlPr>
                                      <a:rPr lang="it-IT" sz="1600" i="1">
                                        <a:latin typeface="Cambria Math" panose="02040503050406030204" pitchFamily="18" charset="0"/>
                                      </a:rPr>
                                    </m:ctrlPr>
                                  </m:fPr>
                                  <m:num>
                                    <m:r>
                                      <a:rPr lang="it-IT" sz="1600" i="1">
                                        <a:latin typeface="Cambria Math" panose="02040503050406030204" pitchFamily="18" charset="0"/>
                                      </a:rPr>
                                      <m:t>1</m:t>
                                    </m:r>
                                  </m:num>
                                  <m:den>
                                    <m:rad>
                                      <m:radPr>
                                        <m:degHide m:val="on"/>
                                        <m:ctrlPr>
                                          <a:rPr lang="it-IT" sz="1600" i="1">
                                            <a:latin typeface="Cambria Math" panose="02040503050406030204" pitchFamily="18" charset="0"/>
                                          </a:rPr>
                                        </m:ctrlPr>
                                      </m:radPr>
                                      <m:deg/>
                                      <m:e>
                                        <m:r>
                                          <a:rPr lang="it-IT" sz="1600" i="1">
                                            <a:latin typeface="Cambria Math" panose="02040503050406030204" pitchFamily="18" charset="0"/>
                                          </a:rPr>
                                          <m:t>2</m:t>
                                        </m:r>
                                        <m:r>
                                          <a:rPr lang="it-IT" sz="1600" i="1">
                                            <a:latin typeface="Cambria Math" panose="02040503050406030204" pitchFamily="18" charset="0"/>
                                          </a:rPr>
                                          <m:t>𝜋</m:t>
                                        </m:r>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𝑜𝑏𝑠</m:t>
                                            </m:r>
                                          </m:sub>
                                          <m:sup>
                                            <m:r>
                                              <a:rPr lang="it-IT" sz="1600" i="1">
                                                <a:latin typeface="Cambria Math" panose="02040503050406030204" pitchFamily="18" charset="0"/>
                                              </a:rPr>
                                              <m:t>2</m:t>
                                            </m:r>
                                          </m:sup>
                                        </m:sSubSup>
                                      </m:e>
                                    </m:rad>
                                  </m:den>
                                </m:f>
                                <m:sSup>
                                  <m:sSupPr>
                                    <m:ctrlPr>
                                      <a:rPr lang="it-IT" sz="1600" i="1">
                                        <a:latin typeface="Cambria Math" panose="02040503050406030204" pitchFamily="18" charset="0"/>
                                      </a:rPr>
                                    </m:ctrlPr>
                                  </m:sSupPr>
                                  <m:e>
                                    <m:r>
                                      <a:rPr lang="it-IT" sz="1600" i="1">
                                        <a:latin typeface="Cambria Math" panose="02040503050406030204" pitchFamily="18" charset="0"/>
                                      </a:rPr>
                                      <m:t>𝑒</m:t>
                                    </m:r>
                                  </m:e>
                                  <m:sup>
                                    <m:r>
                                      <a:rPr lang="it-IT" sz="1600" i="1">
                                        <a:latin typeface="Cambria Math" panose="02040503050406030204" pitchFamily="18" charset="0"/>
                                      </a:rPr>
                                      <m:t>−</m:t>
                                    </m:r>
                                    <m:f>
                                      <m:fPr>
                                        <m:ctrlPr>
                                          <a:rPr lang="it-IT" sz="1600" i="1">
                                            <a:latin typeface="Cambria Math" panose="02040503050406030204" pitchFamily="18" charset="0"/>
                                          </a:rPr>
                                        </m:ctrlPr>
                                      </m:fPr>
                                      <m:num>
                                        <m:sSup>
                                          <m:sSupPr>
                                            <m:ctrlPr>
                                              <a:rPr lang="it-IT" sz="1600" i="1">
                                                <a:latin typeface="Cambria Math" panose="02040503050406030204" pitchFamily="18" charset="0"/>
                                              </a:rPr>
                                            </m:ctrlPr>
                                          </m:sSupPr>
                                          <m:e>
                                            <m:r>
                                              <a:rPr lang="it-IT" sz="1600" i="1">
                                                <a:latin typeface="Cambria Math" panose="02040503050406030204" pitchFamily="18" charset="0"/>
                                              </a:rPr>
                                              <m:t>𝑥</m:t>
                                            </m:r>
                                          </m:e>
                                          <m:sup>
                                            <m:r>
                                              <a:rPr lang="it-IT" sz="1600" i="1">
                                                <a:latin typeface="Cambria Math" panose="02040503050406030204" pitchFamily="18" charset="0"/>
                                              </a:rPr>
                                              <m:t>2</m:t>
                                            </m:r>
                                          </m:sup>
                                        </m:sSup>
                                      </m:num>
                                      <m:den>
                                        <m:r>
                                          <a:rPr lang="it-IT" sz="1600" i="1">
                                            <a:latin typeface="Cambria Math" panose="02040503050406030204" pitchFamily="18" charset="0"/>
                                          </a:rPr>
                                          <m:t>2</m:t>
                                        </m:r>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m:rPr>
                                                <m:sty m:val="p"/>
                                              </m:rPr>
                                              <a:rPr lang="it-IT" sz="1600" b="0" i="1" smtClean="0">
                                                <a:latin typeface="Cambria Math" panose="02040503050406030204" pitchFamily="18" charset="0"/>
                                              </a:rPr>
                                              <m:t>obs</m:t>
                                            </m:r>
                                          </m:sub>
                                          <m:sup>
                                            <m:r>
                                              <a:rPr lang="it-IT" sz="1600" i="1">
                                                <a:latin typeface="Cambria Math" panose="02040503050406030204" pitchFamily="18" charset="0"/>
                                              </a:rPr>
                                              <m:t>2</m:t>
                                            </m:r>
                                          </m:sup>
                                        </m:sSubSup>
                                      </m:den>
                                    </m:f>
                                  </m:sup>
                                </m:sSup>
                              </m:e>
                            </m:d>
                            <m:r>
                              <a:rPr lang="it-IT" sz="1600" i="1">
                                <a:latin typeface="Cambria Math" panose="02040503050406030204" pitchFamily="18" charset="0"/>
                              </a:rPr>
                              <m:t>=</m:t>
                            </m:r>
                            <m:sSup>
                              <m:sSupPr>
                                <m:ctrlPr>
                                  <a:rPr lang="it-IT" sz="1600" i="1">
                                    <a:latin typeface="Cambria Math" panose="02040503050406030204" pitchFamily="18" charset="0"/>
                                  </a:rPr>
                                </m:ctrlPr>
                              </m:sSupPr>
                              <m:e>
                                <m:r>
                                  <a:rPr lang="it-IT" sz="1600" i="1">
                                    <a:latin typeface="Cambria Math" panose="02040503050406030204" pitchFamily="18" charset="0"/>
                                  </a:rPr>
                                  <m:t>𝑒</m:t>
                                </m:r>
                              </m:e>
                              <m:sup>
                                <m:r>
                                  <a:rPr lang="it-IT" sz="1600" i="1">
                                    <a:latin typeface="Cambria Math" panose="02040503050406030204" pitchFamily="18" charset="0"/>
                                  </a:rPr>
                                  <m:t>−</m:t>
                                </m:r>
                                <m:f>
                                  <m:fPr>
                                    <m:ctrlPr>
                                      <a:rPr lang="it-IT" sz="1600" i="1">
                                        <a:latin typeface="Cambria Math" panose="02040503050406030204" pitchFamily="18" charset="0"/>
                                      </a:rPr>
                                    </m:ctrlPr>
                                  </m:fPr>
                                  <m:num>
                                    <m:r>
                                      <a:rPr lang="it-IT" sz="1600" i="1">
                                        <a:latin typeface="Cambria Math" panose="02040503050406030204" pitchFamily="18" charset="0"/>
                                      </a:rPr>
                                      <m:t>1</m:t>
                                    </m:r>
                                  </m:num>
                                  <m:den>
                                    <m:r>
                                      <a:rPr lang="it-IT" sz="1600" i="1">
                                        <a:latin typeface="Cambria Math" panose="02040503050406030204" pitchFamily="18" charset="0"/>
                                      </a:rPr>
                                      <m:t>2</m:t>
                                    </m:r>
                                  </m:den>
                                </m:f>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m:rPr>
                                        <m:sty m:val="p"/>
                                      </m:rPr>
                                      <a:rPr lang="it-IT" sz="1600" b="0" i="1" smtClean="0">
                                        <a:latin typeface="Cambria Math" panose="02040503050406030204" pitchFamily="18" charset="0"/>
                                      </a:rPr>
                                      <m:t>obs</m:t>
                                    </m:r>
                                  </m:sub>
                                  <m:sup>
                                    <m:r>
                                      <a:rPr lang="it-IT" sz="1600" i="1">
                                        <a:latin typeface="Cambria Math" panose="02040503050406030204" pitchFamily="18" charset="0"/>
                                      </a:rPr>
                                      <m:t>2</m:t>
                                    </m:r>
                                  </m:sup>
                                </m:sSubSup>
                                <m:sSup>
                                  <m:sSupPr>
                                    <m:ctrlPr>
                                      <a:rPr lang="it-IT" sz="1600" i="1">
                                        <a:latin typeface="Cambria Math" panose="02040503050406030204" pitchFamily="18" charset="0"/>
                                      </a:rPr>
                                    </m:ctrlPr>
                                  </m:sSupPr>
                                  <m:e>
                                    <m:r>
                                      <a:rPr lang="it-IT" sz="1600" i="1">
                                        <a:latin typeface="Cambria Math" panose="02040503050406030204" pitchFamily="18" charset="0"/>
                                      </a:rPr>
                                      <m:t>𝑘</m:t>
                                    </m:r>
                                  </m:e>
                                  <m:sup>
                                    <m:r>
                                      <a:rPr lang="it-IT" sz="1600" i="1">
                                        <a:latin typeface="Cambria Math" panose="02040503050406030204" pitchFamily="18" charset="0"/>
                                      </a:rPr>
                                      <m:t>2</m:t>
                                    </m:r>
                                  </m:sup>
                                </m:sSup>
                              </m:sup>
                            </m:sSup>
                            <m:r>
                              <m:rPr>
                                <m:nor/>
                              </m:rPr>
                              <a:rPr lang="it-IT" sz="1600" dirty="0"/>
                              <m:t> </m:t>
                            </m:r>
                          </m:e>
                          <m:e>
                            <m:acc>
                              <m:accPr>
                                <m:chr m:val="̃"/>
                                <m:ctrlPr>
                                  <a:rPr lang="it-IT" sz="1600" i="1">
                                    <a:latin typeface="Cambria Math" panose="02040503050406030204" pitchFamily="18" charset="0"/>
                                  </a:rPr>
                                </m:ctrlPr>
                              </m:accPr>
                              <m:e>
                                <m:r>
                                  <a:rPr lang="it-IT" sz="1600" i="1">
                                    <a:latin typeface="Cambria Math" panose="02040503050406030204" pitchFamily="18" charset="0"/>
                                  </a:rPr>
                                  <m:t>𝑓</m:t>
                                </m:r>
                              </m:e>
                            </m:acc>
                            <m:d>
                              <m:dPr>
                                <m:ctrlPr>
                                  <a:rPr lang="it-IT" sz="1600" i="1">
                                    <a:latin typeface="Cambria Math" panose="02040503050406030204" pitchFamily="18" charset="0"/>
                                  </a:rPr>
                                </m:ctrlPr>
                              </m:dPr>
                              <m:e>
                                <m:r>
                                  <a:rPr lang="it-IT" sz="1600" i="1">
                                    <a:latin typeface="Cambria Math" panose="02040503050406030204" pitchFamily="18" charset="0"/>
                                  </a:rPr>
                                  <m:t>𝑘</m:t>
                                </m:r>
                              </m:e>
                            </m:d>
                            <m:r>
                              <a:rPr lang="it-IT" sz="1600" i="1">
                                <a:latin typeface="Cambria Math" panose="02040503050406030204" pitchFamily="18" charset="0"/>
                              </a:rPr>
                              <m:t>=</m:t>
                            </m:r>
                            <m:r>
                              <a:rPr lang="it-IT" sz="1600" i="1">
                                <a:latin typeface="Cambria Math" panose="02040503050406030204" pitchFamily="18" charset="0"/>
                              </a:rPr>
                              <m:t>ℱ</m:t>
                            </m:r>
                            <m:d>
                              <m:dPr>
                                <m:ctrlPr>
                                  <a:rPr lang="it-IT" sz="1600" i="1">
                                    <a:latin typeface="Cambria Math" panose="02040503050406030204" pitchFamily="18" charset="0"/>
                                  </a:rPr>
                                </m:ctrlPr>
                              </m:dPr>
                              <m:e>
                                <m:r>
                                  <a:rPr lang="it-IT" sz="1600" i="1">
                                    <a:latin typeface="Cambria Math" panose="02040503050406030204" pitchFamily="18" charset="0"/>
                                  </a:rPr>
                                  <m:t>𝑓</m:t>
                                </m:r>
                                <m:d>
                                  <m:dPr>
                                    <m:ctrlPr>
                                      <a:rPr lang="it-IT" sz="1600" i="1">
                                        <a:latin typeface="Cambria Math" panose="02040503050406030204" pitchFamily="18" charset="0"/>
                                      </a:rPr>
                                    </m:ctrlPr>
                                  </m:dPr>
                                  <m:e>
                                    <m:r>
                                      <a:rPr lang="it-IT" sz="1600" i="1">
                                        <a:latin typeface="Cambria Math" panose="02040503050406030204" pitchFamily="18" charset="0"/>
                                      </a:rPr>
                                      <m:t>𝑥</m:t>
                                    </m:r>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𝜇</m:t>
                                        </m:r>
                                      </m:e>
                                      <m:sub>
                                        <m:r>
                                          <a:rPr lang="it-IT" sz="1600" i="1">
                                            <a:latin typeface="Cambria Math" panose="02040503050406030204" pitchFamily="18" charset="0"/>
                                          </a:rPr>
                                          <m:t>1</m:t>
                                        </m:r>
                                      </m:sub>
                                    </m:sSub>
                                  </m:e>
                                </m:d>
                              </m:e>
                            </m:d>
                            <m:r>
                              <a:rPr lang="it-IT" sz="1600" i="1">
                                <a:latin typeface="Cambria Math" panose="02040503050406030204" pitchFamily="18" charset="0"/>
                              </a:rPr>
                              <m:t>=</m:t>
                            </m:r>
                            <m:sSup>
                              <m:sSupPr>
                                <m:ctrlPr>
                                  <a:rPr lang="it-IT" sz="1600" i="1">
                                    <a:latin typeface="Cambria Math" panose="02040503050406030204" pitchFamily="18" charset="0"/>
                                  </a:rPr>
                                </m:ctrlPr>
                              </m:sSupPr>
                              <m:e>
                                <m:r>
                                  <a:rPr lang="it-IT" sz="1600" i="1">
                                    <a:latin typeface="Cambria Math" panose="02040503050406030204" pitchFamily="18" charset="0"/>
                                  </a:rPr>
                                  <m:t>𝑒</m:t>
                                </m:r>
                              </m:e>
                              <m:sup>
                                <m:r>
                                  <a:rPr lang="it-IT" sz="1600" i="1">
                                    <a:latin typeface="Cambria Math" panose="02040503050406030204" pitchFamily="18" charset="0"/>
                                  </a:rPr>
                                  <m:t>−</m:t>
                                </m:r>
                                <m:r>
                                  <a:rPr lang="it-IT" sz="1600" i="1">
                                    <a:latin typeface="Cambria Math" panose="02040503050406030204" pitchFamily="18" charset="0"/>
                                  </a:rPr>
                                  <m:t>𝑖</m:t>
                                </m:r>
                                <m:sSub>
                                  <m:sSubPr>
                                    <m:ctrlPr>
                                      <a:rPr lang="it-IT" sz="1600" i="1">
                                        <a:latin typeface="Cambria Math" panose="02040503050406030204" pitchFamily="18" charset="0"/>
                                      </a:rPr>
                                    </m:ctrlPr>
                                  </m:sSubPr>
                                  <m:e>
                                    <m:r>
                                      <a:rPr lang="it-IT" sz="1600" i="1">
                                        <a:latin typeface="Cambria Math" panose="02040503050406030204" pitchFamily="18" charset="0"/>
                                      </a:rPr>
                                      <m:t>𝜇</m:t>
                                    </m:r>
                                  </m:e>
                                  <m:sub>
                                    <m:r>
                                      <a:rPr lang="it-IT" sz="1600" i="1">
                                        <a:latin typeface="Cambria Math" panose="02040503050406030204" pitchFamily="18" charset="0"/>
                                      </a:rPr>
                                      <m:t>1</m:t>
                                    </m:r>
                                  </m:sub>
                                </m:sSub>
                                <m:r>
                                  <a:rPr lang="it-IT" sz="1600" i="1">
                                    <a:latin typeface="Cambria Math" panose="02040503050406030204" pitchFamily="18" charset="0"/>
                                  </a:rPr>
                                  <m:t>𝑘</m:t>
                                </m:r>
                              </m:sup>
                            </m:sSup>
                            <m:r>
                              <a:rPr lang="it-IT" sz="1600" i="1">
                                <a:latin typeface="Cambria Math" panose="02040503050406030204" pitchFamily="18" charset="0"/>
                              </a:rPr>
                              <m:t>ℱ</m:t>
                            </m:r>
                            <m:d>
                              <m:dPr>
                                <m:ctrlPr>
                                  <a:rPr lang="it-IT" sz="1600" i="1">
                                    <a:latin typeface="Cambria Math" panose="02040503050406030204" pitchFamily="18" charset="0"/>
                                  </a:rPr>
                                </m:ctrlPr>
                              </m:dPr>
                              <m:e>
                                <m:f>
                                  <m:fPr>
                                    <m:ctrlPr>
                                      <a:rPr lang="it-IT" sz="1600" i="1">
                                        <a:latin typeface="Cambria Math" panose="02040503050406030204" pitchFamily="18" charset="0"/>
                                      </a:rPr>
                                    </m:ctrlPr>
                                  </m:fPr>
                                  <m:num>
                                    <m:r>
                                      <a:rPr lang="it-IT" sz="1600" i="1">
                                        <a:latin typeface="Cambria Math" panose="02040503050406030204" pitchFamily="18" charset="0"/>
                                      </a:rPr>
                                      <m:t>1</m:t>
                                    </m:r>
                                  </m:num>
                                  <m:den>
                                    <m:rad>
                                      <m:radPr>
                                        <m:degHide m:val="on"/>
                                        <m:ctrlPr>
                                          <a:rPr lang="it-IT" sz="1600" i="1">
                                            <a:latin typeface="Cambria Math" panose="02040503050406030204" pitchFamily="18" charset="0"/>
                                          </a:rPr>
                                        </m:ctrlPr>
                                      </m:radPr>
                                      <m:deg/>
                                      <m:e>
                                        <m:r>
                                          <a:rPr lang="it-IT" sz="1600" i="1">
                                            <a:latin typeface="Cambria Math" panose="02040503050406030204" pitchFamily="18" charset="0"/>
                                          </a:rPr>
                                          <m:t>2</m:t>
                                        </m:r>
                                        <m:r>
                                          <a:rPr lang="it-IT" sz="1600" i="1">
                                            <a:latin typeface="Cambria Math" panose="02040503050406030204" pitchFamily="18" charset="0"/>
                                          </a:rPr>
                                          <m:t>𝜋</m:t>
                                        </m:r>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1</m:t>
                                            </m:r>
                                          </m:sub>
                                          <m:sup>
                                            <m:r>
                                              <a:rPr lang="it-IT" sz="1600" i="1">
                                                <a:latin typeface="Cambria Math" panose="02040503050406030204" pitchFamily="18" charset="0"/>
                                              </a:rPr>
                                              <m:t>2</m:t>
                                            </m:r>
                                          </m:sup>
                                        </m:sSubSup>
                                      </m:e>
                                    </m:rad>
                                  </m:den>
                                </m:f>
                                <m:sSup>
                                  <m:sSupPr>
                                    <m:ctrlPr>
                                      <a:rPr lang="it-IT" sz="1600" i="1">
                                        <a:latin typeface="Cambria Math" panose="02040503050406030204" pitchFamily="18" charset="0"/>
                                      </a:rPr>
                                    </m:ctrlPr>
                                  </m:sSupPr>
                                  <m:e>
                                    <m:r>
                                      <a:rPr lang="it-IT" sz="1600" i="1">
                                        <a:latin typeface="Cambria Math" panose="02040503050406030204" pitchFamily="18" charset="0"/>
                                      </a:rPr>
                                      <m:t>𝑒</m:t>
                                    </m:r>
                                  </m:e>
                                  <m:sup>
                                    <m:r>
                                      <a:rPr lang="it-IT" sz="1600" i="1">
                                        <a:latin typeface="Cambria Math" panose="02040503050406030204" pitchFamily="18" charset="0"/>
                                      </a:rPr>
                                      <m:t>−</m:t>
                                    </m:r>
                                    <m:f>
                                      <m:fPr>
                                        <m:ctrlPr>
                                          <a:rPr lang="it-IT" sz="1600" i="1">
                                            <a:latin typeface="Cambria Math" panose="02040503050406030204" pitchFamily="18" charset="0"/>
                                          </a:rPr>
                                        </m:ctrlPr>
                                      </m:fPr>
                                      <m:num>
                                        <m:sSup>
                                          <m:sSupPr>
                                            <m:ctrlPr>
                                              <a:rPr lang="it-IT" sz="1600" i="1">
                                                <a:latin typeface="Cambria Math" panose="02040503050406030204" pitchFamily="18" charset="0"/>
                                              </a:rPr>
                                            </m:ctrlPr>
                                          </m:sSupPr>
                                          <m:e>
                                            <m:r>
                                              <a:rPr lang="it-IT" sz="1600" i="1">
                                                <a:latin typeface="Cambria Math" panose="02040503050406030204" pitchFamily="18" charset="0"/>
                                              </a:rPr>
                                              <m:t>𝑥</m:t>
                                            </m:r>
                                          </m:e>
                                          <m:sup>
                                            <m:r>
                                              <a:rPr lang="it-IT" sz="1600" i="1">
                                                <a:latin typeface="Cambria Math" panose="02040503050406030204" pitchFamily="18" charset="0"/>
                                              </a:rPr>
                                              <m:t>2</m:t>
                                            </m:r>
                                          </m:sup>
                                        </m:sSup>
                                      </m:num>
                                      <m:den>
                                        <m:r>
                                          <a:rPr lang="it-IT" sz="1600" i="1">
                                            <a:latin typeface="Cambria Math" panose="02040503050406030204" pitchFamily="18" charset="0"/>
                                          </a:rPr>
                                          <m:t>2</m:t>
                                        </m:r>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1</m:t>
                                            </m:r>
                                          </m:sub>
                                          <m:sup>
                                            <m:r>
                                              <a:rPr lang="it-IT" sz="1600" i="1">
                                                <a:latin typeface="Cambria Math" panose="02040503050406030204" pitchFamily="18" charset="0"/>
                                              </a:rPr>
                                              <m:t>2</m:t>
                                            </m:r>
                                          </m:sup>
                                        </m:sSubSup>
                                      </m:den>
                                    </m:f>
                                  </m:sup>
                                </m:sSup>
                              </m:e>
                            </m:d>
                            <m:r>
                              <a:rPr lang="it-IT" sz="1600" i="1">
                                <a:latin typeface="Cambria Math" panose="02040503050406030204" pitchFamily="18" charset="0"/>
                              </a:rPr>
                              <m:t>=</m:t>
                            </m:r>
                            <m:sSup>
                              <m:sSupPr>
                                <m:ctrlPr>
                                  <a:rPr lang="it-IT" sz="1600" i="1">
                                    <a:latin typeface="Cambria Math" panose="02040503050406030204" pitchFamily="18" charset="0"/>
                                  </a:rPr>
                                </m:ctrlPr>
                              </m:sSupPr>
                              <m:e>
                                <m:r>
                                  <a:rPr lang="it-IT" sz="1600" i="1">
                                    <a:latin typeface="Cambria Math" panose="02040503050406030204" pitchFamily="18" charset="0"/>
                                  </a:rPr>
                                  <m:t>𝑒</m:t>
                                </m:r>
                              </m:e>
                              <m:sup>
                                <m:r>
                                  <a:rPr lang="it-IT" sz="1600" i="1">
                                    <a:latin typeface="Cambria Math" panose="02040503050406030204" pitchFamily="18" charset="0"/>
                                  </a:rPr>
                                  <m:t>−</m:t>
                                </m:r>
                                <m:r>
                                  <a:rPr lang="it-IT" sz="1600" i="1">
                                    <a:latin typeface="Cambria Math" panose="02040503050406030204" pitchFamily="18" charset="0"/>
                                  </a:rPr>
                                  <m:t>𝑖</m:t>
                                </m:r>
                                <m:sSub>
                                  <m:sSubPr>
                                    <m:ctrlPr>
                                      <a:rPr lang="it-IT" sz="1600" i="1">
                                        <a:latin typeface="Cambria Math" panose="02040503050406030204" pitchFamily="18" charset="0"/>
                                      </a:rPr>
                                    </m:ctrlPr>
                                  </m:sSubPr>
                                  <m:e>
                                    <m:r>
                                      <a:rPr lang="it-IT" sz="1600" i="1">
                                        <a:latin typeface="Cambria Math" panose="02040503050406030204" pitchFamily="18" charset="0"/>
                                      </a:rPr>
                                      <m:t>𝜇</m:t>
                                    </m:r>
                                  </m:e>
                                  <m:sub>
                                    <m:r>
                                      <a:rPr lang="it-IT" sz="1600" i="1">
                                        <a:latin typeface="Cambria Math" panose="02040503050406030204" pitchFamily="18" charset="0"/>
                                      </a:rPr>
                                      <m:t>1</m:t>
                                    </m:r>
                                  </m:sub>
                                </m:sSub>
                                <m:r>
                                  <a:rPr lang="it-IT" sz="1600" i="1">
                                    <a:latin typeface="Cambria Math" panose="02040503050406030204" pitchFamily="18" charset="0"/>
                                  </a:rPr>
                                  <m:t>𝑘</m:t>
                                </m:r>
                              </m:sup>
                            </m:sSup>
                            <m:sSup>
                              <m:sSupPr>
                                <m:ctrlPr>
                                  <a:rPr lang="it-IT" sz="1600" i="1">
                                    <a:latin typeface="Cambria Math" panose="02040503050406030204" pitchFamily="18" charset="0"/>
                                  </a:rPr>
                                </m:ctrlPr>
                              </m:sSupPr>
                              <m:e>
                                <m:r>
                                  <a:rPr lang="it-IT" sz="1600" i="1">
                                    <a:latin typeface="Cambria Math" panose="02040503050406030204" pitchFamily="18" charset="0"/>
                                  </a:rPr>
                                  <m:t>𝑒</m:t>
                                </m:r>
                              </m:e>
                              <m:sup>
                                <m:r>
                                  <a:rPr lang="it-IT" sz="1600" i="1">
                                    <a:latin typeface="Cambria Math" panose="02040503050406030204" pitchFamily="18" charset="0"/>
                                  </a:rPr>
                                  <m:t>−</m:t>
                                </m:r>
                                <m:f>
                                  <m:fPr>
                                    <m:ctrlPr>
                                      <a:rPr lang="it-IT" sz="1600" i="1">
                                        <a:latin typeface="Cambria Math" panose="02040503050406030204" pitchFamily="18" charset="0"/>
                                      </a:rPr>
                                    </m:ctrlPr>
                                  </m:fPr>
                                  <m:num>
                                    <m:r>
                                      <a:rPr lang="it-IT" sz="1600" i="1">
                                        <a:latin typeface="Cambria Math" panose="02040503050406030204" pitchFamily="18" charset="0"/>
                                      </a:rPr>
                                      <m:t>1</m:t>
                                    </m:r>
                                  </m:num>
                                  <m:den>
                                    <m:r>
                                      <a:rPr lang="it-IT" sz="1600" i="1">
                                        <a:latin typeface="Cambria Math" panose="02040503050406030204" pitchFamily="18" charset="0"/>
                                      </a:rPr>
                                      <m:t>2</m:t>
                                    </m:r>
                                  </m:den>
                                </m:f>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1</m:t>
                                    </m:r>
                                  </m:sub>
                                  <m:sup>
                                    <m:r>
                                      <a:rPr lang="it-IT" sz="1600" i="1">
                                        <a:latin typeface="Cambria Math" panose="02040503050406030204" pitchFamily="18" charset="0"/>
                                      </a:rPr>
                                      <m:t>2</m:t>
                                    </m:r>
                                  </m:sup>
                                </m:sSubSup>
                                <m:sSup>
                                  <m:sSupPr>
                                    <m:ctrlPr>
                                      <a:rPr lang="it-IT" sz="1600" i="1">
                                        <a:latin typeface="Cambria Math" panose="02040503050406030204" pitchFamily="18" charset="0"/>
                                      </a:rPr>
                                    </m:ctrlPr>
                                  </m:sSupPr>
                                  <m:e>
                                    <m:r>
                                      <a:rPr lang="it-IT" sz="1600" i="1">
                                        <a:latin typeface="Cambria Math" panose="02040503050406030204" pitchFamily="18" charset="0"/>
                                      </a:rPr>
                                      <m:t>𝑘</m:t>
                                    </m:r>
                                  </m:e>
                                  <m:sup>
                                    <m:r>
                                      <a:rPr lang="it-IT" sz="1600" i="1">
                                        <a:latin typeface="Cambria Math" panose="02040503050406030204" pitchFamily="18" charset="0"/>
                                      </a:rPr>
                                      <m:t>2</m:t>
                                    </m:r>
                                  </m:sup>
                                </m:sSup>
                              </m:sup>
                            </m:sSup>
                          </m:e>
                        </m:eqArr>
                      </m:e>
                    </m:d>
                  </m:oMath>
                </a14:m>
                <a:endParaRPr lang="it-IT" sz="1600" dirty="0"/>
              </a:p>
              <a:p>
                <a:pPr>
                  <a:lnSpc>
                    <a:spcPct val="100000"/>
                  </a:lnSpc>
                </a:pPr>
                <a14:m>
                  <m:oMath xmlns:m="http://schemas.openxmlformats.org/officeDocument/2006/math">
                    <m:acc>
                      <m:accPr>
                        <m:chr m:val="̃"/>
                        <m:ctrlPr>
                          <a:rPr lang="it-IT" sz="1600" i="1" dirty="0" smtClean="0">
                            <a:latin typeface="Cambria Math" panose="02040503050406030204" pitchFamily="18" charset="0"/>
                          </a:rPr>
                        </m:ctrlPr>
                      </m:accPr>
                      <m:e>
                        <m:r>
                          <a:rPr lang="it-IT" sz="1600" i="1" dirty="0" smtClean="0">
                            <a:latin typeface="Cambria Math" panose="02040503050406030204" pitchFamily="18" charset="0"/>
                          </a:rPr>
                          <m:t>𝑓</m:t>
                        </m:r>
                      </m:e>
                    </m:acc>
                    <m:d>
                      <m:dPr>
                        <m:ctrlPr>
                          <a:rPr lang="it-IT" sz="1600" i="1" dirty="0" smtClean="0">
                            <a:latin typeface="Cambria Math" panose="02040503050406030204" pitchFamily="18" charset="0"/>
                          </a:rPr>
                        </m:ctrlPr>
                      </m:dPr>
                      <m:e>
                        <m:r>
                          <a:rPr lang="it-IT" sz="1600" i="1" dirty="0" smtClean="0">
                            <a:latin typeface="Cambria Math" panose="02040503050406030204" pitchFamily="18" charset="0"/>
                          </a:rPr>
                          <m:t>𝑘</m:t>
                        </m:r>
                      </m:e>
                    </m:d>
                    <m:acc>
                      <m:accPr>
                        <m:chr m:val="̃"/>
                        <m:ctrlPr>
                          <a:rPr lang="it-IT" sz="1600" i="1" dirty="0" smtClean="0">
                            <a:latin typeface="Cambria Math" panose="02040503050406030204" pitchFamily="18" charset="0"/>
                          </a:rPr>
                        </m:ctrlPr>
                      </m:accPr>
                      <m:e>
                        <m:r>
                          <a:rPr lang="it-IT" sz="1600" i="1" dirty="0" smtClean="0">
                            <a:latin typeface="Cambria Math" panose="02040503050406030204" pitchFamily="18" charset="0"/>
                          </a:rPr>
                          <m:t>𝑔</m:t>
                        </m:r>
                      </m:e>
                    </m:acc>
                    <m:d>
                      <m:dPr>
                        <m:ctrlPr>
                          <a:rPr lang="it-IT" sz="1600" i="1" dirty="0" smtClean="0">
                            <a:latin typeface="Cambria Math" panose="02040503050406030204" pitchFamily="18" charset="0"/>
                          </a:rPr>
                        </m:ctrlPr>
                      </m:dPr>
                      <m:e>
                        <m:r>
                          <a:rPr lang="it-IT" sz="1600" i="1" dirty="0" smtClean="0">
                            <a:latin typeface="Cambria Math" panose="02040503050406030204" pitchFamily="18" charset="0"/>
                          </a:rPr>
                          <m:t>𝑘</m:t>
                        </m:r>
                      </m:e>
                    </m:d>
                    <m:r>
                      <a:rPr lang="it-IT" sz="1600" i="1" dirty="0" smtClean="0">
                        <a:latin typeface="Cambria Math" panose="02040503050406030204" pitchFamily="18" charset="0"/>
                      </a:rPr>
                      <m:t>=</m:t>
                    </m:r>
                    <m:sSup>
                      <m:sSupPr>
                        <m:ctrlPr>
                          <a:rPr lang="it-IT" sz="1600" i="1" dirty="0" smtClean="0">
                            <a:latin typeface="Cambria Math" panose="02040503050406030204" pitchFamily="18" charset="0"/>
                          </a:rPr>
                        </m:ctrlPr>
                      </m:sSupPr>
                      <m:e>
                        <m:r>
                          <a:rPr lang="it-IT" sz="1600" i="1" dirty="0" smtClean="0">
                            <a:latin typeface="Cambria Math" panose="02040503050406030204" pitchFamily="18" charset="0"/>
                          </a:rPr>
                          <m:t>𝑒</m:t>
                        </m:r>
                      </m:e>
                      <m:sup>
                        <m:r>
                          <a:rPr lang="it-IT" sz="1600" i="1" dirty="0" smtClean="0">
                            <a:latin typeface="Cambria Math" panose="02040503050406030204" pitchFamily="18" charset="0"/>
                          </a:rPr>
                          <m:t>−</m:t>
                        </m:r>
                        <m:f>
                          <m:fPr>
                            <m:ctrlPr>
                              <a:rPr lang="it-IT" sz="1600" i="1" dirty="0" smtClean="0">
                                <a:latin typeface="Cambria Math" panose="02040503050406030204" pitchFamily="18" charset="0"/>
                              </a:rPr>
                            </m:ctrlPr>
                          </m:fPr>
                          <m:num>
                            <m:r>
                              <a:rPr lang="it-IT" sz="1600" i="1" dirty="0" smtClean="0">
                                <a:latin typeface="Cambria Math" panose="02040503050406030204" pitchFamily="18" charset="0"/>
                              </a:rPr>
                              <m:t>1</m:t>
                            </m:r>
                          </m:num>
                          <m:den>
                            <m:r>
                              <a:rPr lang="it-IT" sz="1600" i="1" dirty="0" smtClean="0">
                                <a:latin typeface="Cambria Math" panose="02040503050406030204" pitchFamily="18" charset="0"/>
                              </a:rPr>
                              <m:t>2</m:t>
                            </m:r>
                          </m:den>
                        </m:f>
                        <m:d>
                          <m:dPr>
                            <m:ctrlPr>
                              <a:rPr lang="it-IT" sz="1600" i="1" dirty="0" smtClean="0">
                                <a:latin typeface="Cambria Math" panose="02040503050406030204" pitchFamily="18" charset="0"/>
                              </a:rPr>
                            </m:ctrlPr>
                          </m:dPr>
                          <m:e>
                            <m:sSubSup>
                              <m:sSubSupPr>
                                <m:ctrlPr>
                                  <a:rPr lang="it-IT" sz="1600" i="1" dirty="0" smtClean="0">
                                    <a:latin typeface="Cambria Math" panose="02040503050406030204" pitchFamily="18" charset="0"/>
                                  </a:rPr>
                                </m:ctrlPr>
                              </m:sSubSupPr>
                              <m:e>
                                <m:r>
                                  <a:rPr lang="it-IT" sz="1600" i="1" dirty="0" smtClean="0">
                                    <a:latin typeface="Cambria Math" panose="02040503050406030204" pitchFamily="18" charset="0"/>
                                  </a:rPr>
                                  <m:t>𝜎</m:t>
                                </m:r>
                              </m:e>
                              <m:sub>
                                <m:r>
                                  <a:rPr lang="it-IT" sz="1600" i="1" dirty="0" smtClean="0">
                                    <a:latin typeface="Cambria Math" panose="02040503050406030204" pitchFamily="18" charset="0"/>
                                  </a:rPr>
                                  <m:t>1</m:t>
                                </m:r>
                              </m:sub>
                              <m:sup>
                                <m:r>
                                  <a:rPr lang="it-IT" sz="1600" i="1" dirty="0" smtClean="0">
                                    <a:latin typeface="Cambria Math" panose="02040503050406030204" pitchFamily="18" charset="0"/>
                                  </a:rPr>
                                  <m:t>2</m:t>
                                </m:r>
                              </m:sup>
                            </m:sSubSup>
                            <m:r>
                              <a:rPr lang="it-IT" sz="1600" i="1" dirty="0" smtClean="0">
                                <a:latin typeface="Cambria Math" panose="02040503050406030204" pitchFamily="18" charset="0"/>
                              </a:rPr>
                              <m:t>+</m:t>
                            </m:r>
                            <m:sSubSup>
                              <m:sSubSupPr>
                                <m:ctrlPr>
                                  <a:rPr lang="it-IT" sz="1600" i="1" dirty="0" smtClean="0">
                                    <a:latin typeface="Cambria Math" panose="02040503050406030204" pitchFamily="18" charset="0"/>
                                  </a:rPr>
                                </m:ctrlPr>
                              </m:sSubSupPr>
                              <m:e>
                                <m:r>
                                  <a:rPr lang="it-IT" sz="1600" i="1" dirty="0" smtClean="0">
                                    <a:latin typeface="Cambria Math" panose="02040503050406030204" pitchFamily="18" charset="0"/>
                                  </a:rPr>
                                  <m:t>𝜎</m:t>
                                </m:r>
                              </m:e>
                              <m:sub>
                                <m:r>
                                  <a:rPr lang="it-IT" sz="1600" i="1" dirty="0" smtClean="0">
                                    <a:latin typeface="Cambria Math" panose="02040503050406030204" pitchFamily="18" charset="0"/>
                                  </a:rPr>
                                  <m:t>𝑜𝑏𝑠</m:t>
                                </m:r>
                              </m:sub>
                              <m:sup>
                                <m:r>
                                  <a:rPr lang="it-IT" sz="1600" i="1" dirty="0" smtClean="0">
                                    <a:latin typeface="Cambria Math" panose="02040503050406030204" pitchFamily="18" charset="0"/>
                                  </a:rPr>
                                  <m:t>2</m:t>
                                </m:r>
                              </m:sup>
                            </m:sSubSup>
                          </m:e>
                        </m:d>
                        <m:sSup>
                          <m:sSupPr>
                            <m:ctrlPr>
                              <a:rPr lang="it-IT" sz="1600" i="1" dirty="0" smtClean="0">
                                <a:latin typeface="Cambria Math" panose="02040503050406030204" pitchFamily="18" charset="0"/>
                              </a:rPr>
                            </m:ctrlPr>
                          </m:sSupPr>
                          <m:e>
                            <m:r>
                              <a:rPr lang="it-IT" sz="1600" i="1" dirty="0" smtClean="0">
                                <a:latin typeface="Cambria Math" panose="02040503050406030204" pitchFamily="18" charset="0"/>
                              </a:rPr>
                              <m:t>𝑘</m:t>
                            </m:r>
                          </m:e>
                          <m:sup>
                            <m:r>
                              <a:rPr lang="it-IT" sz="1600" i="1" dirty="0" smtClean="0">
                                <a:latin typeface="Cambria Math" panose="02040503050406030204" pitchFamily="18" charset="0"/>
                              </a:rPr>
                              <m:t>2</m:t>
                            </m:r>
                          </m:sup>
                        </m:sSup>
                      </m:sup>
                    </m:sSup>
                    <m:sSup>
                      <m:sSupPr>
                        <m:ctrlPr>
                          <a:rPr lang="it-IT" sz="1600" i="1" dirty="0" smtClean="0">
                            <a:latin typeface="Cambria Math" panose="02040503050406030204" pitchFamily="18" charset="0"/>
                          </a:rPr>
                        </m:ctrlPr>
                      </m:sSupPr>
                      <m:e>
                        <m:r>
                          <a:rPr lang="it-IT" sz="1600" i="1" dirty="0" smtClean="0">
                            <a:latin typeface="Cambria Math" panose="02040503050406030204" pitchFamily="18" charset="0"/>
                          </a:rPr>
                          <m:t>𝑒</m:t>
                        </m:r>
                      </m:e>
                      <m:sup>
                        <m:r>
                          <a:rPr lang="it-IT" sz="1600" i="1" dirty="0" smtClean="0">
                            <a:latin typeface="Cambria Math" panose="02040503050406030204" pitchFamily="18" charset="0"/>
                          </a:rPr>
                          <m:t>−</m:t>
                        </m:r>
                        <m:r>
                          <a:rPr lang="it-IT" sz="1600" i="1" dirty="0" smtClean="0">
                            <a:latin typeface="Cambria Math" panose="02040503050406030204" pitchFamily="18" charset="0"/>
                          </a:rPr>
                          <m:t>𝑖</m:t>
                        </m:r>
                        <m:sSub>
                          <m:sSubPr>
                            <m:ctrlPr>
                              <a:rPr lang="it-IT" sz="1600" i="1">
                                <a:latin typeface="Cambria Math" panose="02040503050406030204" pitchFamily="18" charset="0"/>
                              </a:rPr>
                            </m:ctrlPr>
                          </m:sSubPr>
                          <m:e>
                            <m:r>
                              <a:rPr lang="it-IT" sz="1600" i="1">
                                <a:latin typeface="Cambria Math" panose="02040503050406030204" pitchFamily="18" charset="0"/>
                              </a:rPr>
                              <m:t>𝜇</m:t>
                            </m:r>
                          </m:e>
                          <m:sub>
                            <m:r>
                              <a:rPr lang="it-IT" sz="1600" i="1">
                                <a:latin typeface="Cambria Math" panose="02040503050406030204" pitchFamily="18" charset="0"/>
                              </a:rPr>
                              <m:t>1</m:t>
                            </m:r>
                          </m:sub>
                        </m:sSub>
                        <m:r>
                          <a:rPr lang="it-IT" sz="1600" i="1" dirty="0" smtClean="0">
                            <a:latin typeface="Cambria Math" panose="02040503050406030204" pitchFamily="18" charset="0"/>
                          </a:rPr>
                          <m:t>𝑘</m:t>
                        </m:r>
                      </m:sup>
                    </m:sSup>
                    <m:r>
                      <a:rPr lang="it-IT" sz="1600" i="1" dirty="0" smtClean="0">
                        <a:latin typeface="Cambria Math" panose="02040503050406030204" pitchFamily="18" charset="0"/>
                      </a:rPr>
                      <m:t>≝</m:t>
                    </m:r>
                    <m:acc>
                      <m:accPr>
                        <m:chr m:val="̃"/>
                        <m:ctrlPr>
                          <a:rPr lang="it-IT" sz="1600" i="1" dirty="0" smtClean="0">
                            <a:latin typeface="Cambria Math" panose="02040503050406030204" pitchFamily="18" charset="0"/>
                          </a:rPr>
                        </m:ctrlPr>
                      </m:accPr>
                      <m:e>
                        <m:r>
                          <a:rPr lang="it-IT" sz="1600" i="1" dirty="0" smtClean="0">
                            <a:latin typeface="Cambria Math" panose="02040503050406030204" pitchFamily="18" charset="0"/>
                          </a:rPr>
                          <m:t>h</m:t>
                        </m:r>
                      </m:e>
                    </m:acc>
                    <m:d>
                      <m:dPr>
                        <m:ctrlPr>
                          <a:rPr lang="it-IT" sz="1600" i="1" dirty="0" smtClean="0">
                            <a:latin typeface="Cambria Math" panose="02040503050406030204" pitchFamily="18" charset="0"/>
                          </a:rPr>
                        </m:ctrlPr>
                      </m:dPr>
                      <m:e>
                        <m:r>
                          <a:rPr lang="it-IT" sz="1600" i="1" dirty="0" smtClean="0">
                            <a:latin typeface="Cambria Math" panose="02040503050406030204" pitchFamily="18" charset="0"/>
                          </a:rPr>
                          <m:t>𝑘</m:t>
                        </m:r>
                      </m:e>
                    </m:d>
                    <m:sSup>
                      <m:sSupPr>
                        <m:ctrlPr>
                          <a:rPr lang="it-IT" sz="1600" i="1" dirty="0" smtClean="0">
                            <a:latin typeface="Cambria Math" panose="02040503050406030204" pitchFamily="18" charset="0"/>
                          </a:rPr>
                        </m:ctrlPr>
                      </m:sSupPr>
                      <m:e>
                        <m:r>
                          <a:rPr lang="it-IT" sz="1600" i="1" dirty="0" smtClean="0">
                            <a:latin typeface="Cambria Math" panose="02040503050406030204" pitchFamily="18" charset="0"/>
                          </a:rPr>
                          <m:t>𝑒</m:t>
                        </m:r>
                      </m:e>
                      <m:sup>
                        <m:r>
                          <a:rPr lang="it-IT" sz="1600" i="1" dirty="0" smtClean="0">
                            <a:latin typeface="Cambria Math" panose="02040503050406030204" pitchFamily="18" charset="0"/>
                          </a:rPr>
                          <m:t>−</m:t>
                        </m:r>
                        <m:r>
                          <a:rPr lang="it-IT" sz="1600" i="1" dirty="0" smtClean="0">
                            <a:latin typeface="Cambria Math" panose="02040503050406030204" pitchFamily="18" charset="0"/>
                          </a:rPr>
                          <m:t>𝑖</m:t>
                        </m:r>
                        <m:sSub>
                          <m:sSubPr>
                            <m:ctrlPr>
                              <a:rPr lang="it-IT" sz="1600" i="1">
                                <a:latin typeface="Cambria Math" panose="02040503050406030204" pitchFamily="18" charset="0"/>
                              </a:rPr>
                            </m:ctrlPr>
                          </m:sSubPr>
                          <m:e>
                            <m:r>
                              <a:rPr lang="it-IT" sz="1600" i="1">
                                <a:latin typeface="Cambria Math" panose="02040503050406030204" pitchFamily="18" charset="0"/>
                              </a:rPr>
                              <m:t>𝜇</m:t>
                            </m:r>
                          </m:e>
                          <m:sub>
                            <m:r>
                              <a:rPr lang="it-IT" sz="1600" i="1">
                                <a:latin typeface="Cambria Math" panose="02040503050406030204" pitchFamily="18" charset="0"/>
                              </a:rPr>
                              <m:t>1</m:t>
                            </m:r>
                          </m:sub>
                        </m:sSub>
                        <m:r>
                          <a:rPr lang="it-IT" sz="1600" i="1" dirty="0" smtClean="0">
                            <a:latin typeface="Cambria Math" panose="02040503050406030204" pitchFamily="18" charset="0"/>
                          </a:rPr>
                          <m:t>𝑘</m:t>
                        </m:r>
                      </m:sup>
                    </m:sSup>
                  </m:oMath>
                </a14:m>
                <a:endParaRPr lang="it-IT" sz="1600" i="1" dirty="0">
                  <a:latin typeface="Cambria Math" panose="02040503050406030204" pitchFamily="18" charset="0"/>
                </a:endParaRPr>
              </a:p>
              <a:p>
                <a:pPr>
                  <a:lnSpc>
                    <a:spcPct val="100000"/>
                  </a:lnSpc>
                </a:pPr>
                <a14:m>
                  <m:oMath xmlns:m="http://schemas.openxmlformats.org/officeDocument/2006/math">
                    <m:sSup>
                      <m:sSupPr>
                        <m:ctrlPr>
                          <a:rPr lang="it-IT" sz="1600" i="1" dirty="0" smtClean="0">
                            <a:latin typeface="Cambria Math" panose="02040503050406030204" pitchFamily="18" charset="0"/>
                          </a:rPr>
                        </m:ctrlPr>
                      </m:sSupPr>
                      <m:e>
                        <m:r>
                          <a:rPr lang="it-IT" sz="1600" i="1" dirty="0">
                            <a:latin typeface="Cambria Math" panose="02040503050406030204" pitchFamily="18" charset="0"/>
                          </a:rPr>
                          <m:t>ℱ</m:t>
                        </m:r>
                      </m:e>
                      <m:sup>
                        <m:r>
                          <a:rPr lang="it-IT" sz="1600" i="1" dirty="0">
                            <a:latin typeface="Cambria Math" panose="02040503050406030204" pitchFamily="18" charset="0"/>
                          </a:rPr>
                          <m:t>−</m:t>
                        </m:r>
                        <m:r>
                          <a:rPr lang="it-IT" sz="1600" i="1" dirty="0">
                            <a:latin typeface="Cambria Math" panose="02040503050406030204" pitchFamily="18" charset="0"/>
                          </a:rPr>
                          <m:t>1</m:t>
                        </m:r>
                      </m:sup>
                    </m:sSup>
                    <m:d>
                      <m:dPr>
                        <m:ctrlPr>
                          <a:rPr lang="it-IT" sz="1600" i="1" dirty="0">
                            <a:latin typeface="Cambria Math" panose="02040503050406030204" pitchFamily="18" charset="0"/>
                          </a:rPr>
                        </m:ctrlPr>
                      </m:dPr>
                      <m:e>
                        <m:acc>
                          <m:accPr>
                            <m:chr m:val="̃"/>
                            <m:ctrlPr>
                              <a:rPr lang="it-IT" sz="1600" i="1" dirty="0">
                                <a:latin typeface="Cambria Math" panose="02040503050406030204" pitchFamily="18" charset="0"/>
                              </a:rPr>
                            </m:ctrlPr>
                          </m:accPr>
                          <m:e>
                            <m:r>
                              <a:rPr lang="it-IT" sz="1600" i="1" dirty="0">
                                <a:latin typeface="Cambria Math" panose="02040503050406030204" pitchFamily="18" charset="0"/>
                              </a:rPr>
                              <m:t>h</m:t>
                            </m:r>
                          </m:e>
                        </m:acc>
                        <m:d>
                          <m:dPr>
                            <m:ctrlPr>
                              <a:rPr lang="it-IT" sz="1600" i="1" dirty="0">
                                <a:latin typeface="Cambria Math" panose="02040503050406030204" pitchFamily="18" charset="0"/>
                              </a:rPr>
                            </m:ctrlPr>
                          </m:dPr>
                          <m:e>
                            <m:r>
                              <a:rPr lang="it-IT" sz="1600" i="1" dirty="0">
                                <a:latin typeface="Cambria Math" panose="02040503050406030204" pitchFamily="18" charset="0"/>
                              </a:rPr>
                              <m:t>𝑘</m:t>
                            </m:r>
                          </m:e>
                        </m:d>
                      </m:e>
                    </m:d>
                    <m:r>
                      <a:rPr lang="it-IT" sz="1600" i="1" dirty="0">
                        <a:latin typeface="Cambria Math" panose="02040503050406030204" pitchFamily="18" charset="0"/>
                      </a:rPr>
                      <m:t>=</m:t>
                    </m:r>
                    <m:f>
                      <m:fPr>
                        <m:ctrlPr>
                          <a:rPr lang="it-IT" sz="1600" i="1" dirty="0">
                            <a:latin typeface="Cambria Math" panose="02040503050406030204" pitchFamily="18" charset="0"/>
                          </a:rPr>
                        </m:ctrlPr>
                      </m:fPr>
                      <m:num>
                        <m:r>
                          <a:rPr lang="it-IT" sz="1600" i="1" dirty="0">
                            <a:latin typeface="Cambria Math" panose="02040503050406030204" pitchFamily="18" charset="0"/>
                          </a:rPr>
                          <m:t>1</m:t>
                        </m:r>
                      </m:num>
                      <m:den>
                        <m:rad>
                          <m:radPr>
                            <m:degHide m:val="on"/>
                            <m:ctrlPr>
                              <a:rPr lang="it-IT" sz="1600" i="1" dirty="0">
                                <a:latin typeface="Cambria Math" panose="02040503050406030204" pitchFamily="18" charset="0"/>
                              </a:rPr>
                            </m:ctrlPr>
                          </m:radPr>
                          <m:deg/>
                          <m:e>
                            <m:r>
                              <a:rPr lang="it-IT" sz="1600" i="1" dirty="0">
                                <a:latin typeface="Cambria Math" panose="02040503050406030204" pitchFamily="18" charset="0"/>
                              </a:rPr>
                              <m:t>2</m:t>
                            </m:r>
                            <m:r>
                              <a:rPr lang="it-IT" sz="1600" i="1" dirty="0">
                                <a:latin typeface="Cambria Math" panose="02040503050406030204" pitchFamily="18" charset="0"/>
                              </a:rPr>
                              <m:t>𝜋</m:t>
                            </m:r>
                            <m:d>
                              <m:dPr>
                                <m:ctrlPr>
                                  <a:rPr lang="it-IT" sz="1600" i="1" dirty="0">
                                    <a:latin typeface="Cambria Math" panose="02040503050406030204" pitchFamily="18" charset="0"/>
                                  </a:rPr>
                                </m:ctrlPr>
                              </m:dPr>
                              <m:e>
                                <m:sSubSup>
                                  <m:sSubSupPr>
                                    <m:ctrlPr>
                                      <a:rPr lang="it-IT" sz="1600" i="1" dirty="0">
                                        <a:latin typeface="Cambria Math" panose="02040503050406030204" pitchFamily="18" charset="0"/>
                                      </a:rPr>
                                    </m:ctrlPr>
                                  </m:sSubSupPr>
                                  <m:e>
                                    <m:r>
                                      <a:rPr lang="it-IT" sz="1600" i="1" dirty="0">
                                        <a:latin typeface="Cambria Math" panose="02040503050406030204" pitchFamily="18" charset="0"/>
                                      </a:rPr>
                                      <m:t>𝜎</m:t>
                                    </m:r>
                                  </m:e>
                                  <m:sub>
                                    <m:r>
                                      <a:rPr lang="it-IT" sz="1600" i="1" dirty="0">
                                        <a:latin typeface="Cambria Math" panose="02040503050406030204" pitchFamily="18" charset="0"/>
                                      </a:rPr>
                                      <m:t>1</m:t>
                                    </m:r>
                                  </m:sub>
                                  <m:sup>
                                    <m:r>
                                      <a:rPr lang="it-IT" sz="1600" i="1" dirty="0">
                                        <a:latin typeface="Cambria Math" panose="02040503050406030204" pitchFamily="18" charset="0"/>
                                      </a:rPr>
                                      <m:t>2</m:t>
                                    </m:r>
                                  </m:sup>
                                </m:sSubSup>
                                <m:r>
                                  <a:rPr lang="it-IT" sz="1600" i="1" dirty="0">
                                    <a:latin typeface="Cambria Math" panose="02040503050406030204" pitchFamily="18" charset="0"/>
                                  </a:rPr>
                                  <m:t>+</m:t>
                                </m:r>
                                <m:sSubSup>
                                  <m:sSubSupPr>
                                    <m:ctrlPr>
                                      <a:rPr lang="it-IT" sz="1600" i="1" dirty="0">
                                        <a:latin typeface="Cambria Math" panose="02040503050406030204" pitchFamily="18" charset="0"/>
                                      </a:rPr>
                                    </m:ctrlPr>
                                  </m:sSubSupPr>
                                  <m:e>
                                    <m:r>
                                      <a:rPr lang="it-IT" sz="1600" i="1" dirty="0">
                                        <a:latin typeface="Cambria Math" panose="02040503050406030204" pitchFamily="18" charset="0"/>
                                      </a:rPr>
                                      <m:t>𝜎</m:t>
                                    </m:r>
                                  </m:e>
                                  <m:sub>
                                    <m:r>
                                      <a:rPr lang="it-IT" sz="1600" i="1" dirty="0">
                                        <a:latin typeface="Cambria Math" panose="02040503050406030204" pitchFamily="18" charset="0"/>
                                      </a:rPr>
                                      <m:t>𝑜𝑏𝑠</m:t>
                                    </m:r>
                                  </m:sub>
                                  <m:sup>
                                    <m:r>
                                      <a:rPr lang="it-IT" sz="1600" i="1" dirty="0">
                                        <a:latin typeface="Cambria Math" panose="02040503050406030204" pitchFamily="18" charset="0"/>
                                      </a:rPr>
                                      <m:t>2</m:t>
                                    </m:r>
                                  </m:sup>
                                </m:sSubSup>
                              </m:e>
                            </m:d>
                          </m:e>
                        </m:rad>
                      </m:den>
                    </m:f>
                    <m:sSup>
                      <m:sSupPr>
                        <m:ctrlPr>
                          <a:rPr lang="it-IT" sz="1600" i="1" dirty="0">
                            <a:latin typeface="Cambria Math" panose="02040503050406030204" pitchFamily="18" charset="0"/>
                          </a:rPr>
                        </m:ctrlPr>
                      </m:sSupPr>
                      <m:e>
                        <m:r>
                          <a:rPr lang="it-IT" sz="1600" i="1" dirty="0">
                            <a:latin typeface="Cambria Math" panose="02040503050406030204" pitchFamily="18" charset="0"/>
                          </a:rPr>
                          <m:t>𝑒</m:t>
                        </m:r>
                      </m:e>
                      <m:sup>
                        <m:r>
                          <a:rPr lang="it-IT" sz="1600" i="1" dirty="0">
                            <a:latin typeface="Cambria Math" panose="02040503050406030204" pitchFamily="18" charset="0"/>
                          </a:rPr>
                          <m:t>−</m:t>
                        </m:r>
                        <m:f>
                          <m:fPr>
                            <m:ctrlPr>
                              <a:rPr lang="it-IT" sz="1600" i="1" dirty="0">
                                <a:latin typeface="Cambria Math" panose="02040503050406030204" pitchFamily="18" charset="0"/>
                              </a:rPr>
                            </m:ctrlPr>
                          </m:fPr>
                          <m:num>
                            <m:r>
                              <a:rPr lang="it-IT" sz="1600" i="1" dirty="0">
                                <a:latin typeface="Cambria Math" panose="02040503050406030204" pitchFamily="18" charset="0"/>
                              </a:rPr>
                              <m:t>1</m:t>
                            </m:r>
                          </m:num>
                          <m:den>
                            <m:r>
                              <a:rPr lang="it-IT" sz="1600" i="1" dirty="0">
                                <a:latin typeface="Cambria Math" panose="02040503050406030204" pitchFamily="18" charset="0"/>
                              </a:rPr>
                              <m:t>2</m:t>
                            </m:r>
                          </m:den>
                        </m:f>
                        <m:f>
                          <m:fPr>
                            <m:ctrlPr>
                              <a:rPr lang="it-IT" sz="1600" i="1" dirty="0" smtClean="0">
                                <a:latin typeface="Cambria Math" panose="02040503050406030204" pitchFamily="18" charset="0"/>
                              </a:rPr>
                            </m:ctrlPr>
                          </m:fPr>
                          <m:num>
                            <m:sSubSup>
                              <m:sSubSupPr>
                                <m:ctrlPr>
                                  <a:rPr lang="it-IT" sz="1600" i="1" dirty="0">
                                    <a:latin typeface="Cambria Math" panose="02040503050406030204" pitchFamily="18" charset="0"/>
                                  </a:rPr>
                                </m:ctrlPr>
                              </m:sSubSupPr>
                              <m:e>
                                <m:r>
                                  <a:rPr lang="it-IT" sz="1600" i="1" dirty="0">
                                    <a:latin typeface="Cambria Math" panose="02040503050406030204" pitchFamily="18" charset="0"/>
                                  </a:rPr>
                                  <m:t>𝑥</m:t>
                                </m:r>
                              </m:e>
                              <m:sub>
                                <m:r>
                                  <a:rPr lang="it-IT" sz="1600" i="1" dirty="0">
                                    <a:latin typeface="Cambria Math" panose="02040503050406030204" pitchFamily="18" charset="0"/>
                                  </a:rPr>
                                  <m:t>𝑜𝑏𝑠</m:t>
                                </m:r>
                              </m:sub>
                              <m:sup>
                                <m:r>
                                  <a:rPr lang="it-IT" sz="1600" i="1" dirty="0">
                                    <a:latin typeface="Cambria Math" panose="02040503050406030204" pitchFamily="18" charset="0"/>
                                  </a:rPr>
                                  <m:t>2</m:t>
                                </m:r>
                              </m:sup>
                            </m:sSubSup>
                          </m:num>
                          <m:den>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1</m:t>
                                </m:r>
                              </m:sub>
                              <m:sup>
                                <m:r>
                                  <a:rPr lang="it-IT" sz="1600" i="1">
                                    <a:latin typeface="Cambria Math" panose="02040503050406030204" pitchFamily="18" charset="0"/>
                                  </a:rPr>
                                  <m:t>2</m:t>
                                </m:r>
                              </m:sup>
                            </m:sSubSup>
                            <m:r>
                              <a:rPr lang="it-IT" sz="1600" i="1">
                                <a:latin typeface="Cambria Math" panose="02040503050406030204" pitchFamily="18" charset="0"/>
                              </a:rPr>
                              <m:t>+</m:t>
                            </m:r>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𝑜𝑏𝑠</m:t>
                                </m:r>
                              </m:sub>
                              <m:sup>
                                <m:r>
                                  <a:rPr lang="it-IT" sz="1600" i="1">
                                    <a:latin typeface="Cambria Math" panose="02040503050406030204" pitchFamily="18" charset="0"/>
                                  </a:rPr>
                                  <m:t>2</m:t>
                                </m:r>
                              </m:sup>
                            </m:sSubSup>
                          </m:den>
                        </m:f>
                      </m:sup>
                    </m:sSup>
                  </m:oMath>
                </a14:m>
                <a:endParaRPr lang="it-IT" sz="160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it-IT" sz="1600" i="1" dirty="0" smtClean="0">
                          <a:latin typeface="Cambria Math" panose="02040503050406030204" pitchFamily="18" charset="0"/>
                        </a:rPr>
                        <m:t>⟹ </m:t>
                      </m:r>
                      <m:sSup>
                        <m:sSupPr>
                          <m:ctrlPr>
                            <a:rPr lang="it-IT" sz="1600" i="1" dirty="0" smtClean="0">
                              <a:latin typeface="Cambria Math" panose="02040503050406030204" pitchFamily="18" charset="0"/>
                            </a:rPr>
                          </m:ctrlPr>
                        </m:sSupPr>
                        <m:e>
                          <m:r>
                            <a:rPr lang="it-IT" sz="1600" i="1" dirty="0" smtClean="0">
                              <a:latin typeface="Cambria Math" panose="02040503050406030204" pitchFamily="18" charset="0"/>
                            </a:rPr>
                            <m:t>ℱ</m:t>
                          </m:r>
                        </m:e>
                        <m:sup>
                          <m:r>
                            <a:rPr lang="it-IT" sz="1600" i="1" dirty="0" smtClean="0">
                              <a:latin typeface="Cambria Math" panose="02040503050406030204" pitchFamily="18" charset="0"/>
                            </a:rPr>
                            <m:t>−</m:t>
                          </m:r>
                          <m:r>
                            <a:rPr lang="it-IT" sz="1600" i="1" dirty="0" smtClean="0">
                              <a:latin typeface="Cambria Math" panose="02040503050406030204" pitchFamily="18" charset="0"/>
                            </a:rPr>
                            <m:t>1</m:t>
                          </m:r>
                        </m:sup>
                      </m:sSup>
                      <m:d>
                        <m:dPr>
                          <m:ctrlPr>
                            <a:rPr lang="it-IT" sz="1600" i="1" dirty="0" smtClean="0">
                              <a:latin typeface="Cambria Math" panose="02040503050406030204" pitchFamily="18" charset="0"/>
                            </a:rPr>
                          </m:ctrlPr>
                        </m:dPr>
                        <m:e>
                          <m:acc>
                            <m:accPr>
                              <m:chr m:val="̃"/>
                              <m:ctrlPr>
                                <a:rPr lang="it-IT" sz="1600" i="1" dirty="0" smtClean="0">
                                  <a:latin typeface="Cambria Math" panose="02040503050406030204" pitchFamily="18" charset="0"/>
                                </a:rPr>
                              </m:ctrlPr>
                            </m:accPr>
                            <m:e>
                              <m:r>
                                <a:rPr lang="it-IT" sz="1600" i="1" dirty="0" smtClean="0">
                                  <a:latin typeface="Cambria Math" panose="02040503050406030204" pitchFamily="18" charset="0"/>
                                </a:rPr>
                                <m:t>𝑓</m:t>
                              </m:r>
                            </m:e>
                          </m:acc>
                          <m:d>
                            <m:dPr>
                              <m:ctrlPr>
                                <a:rPr lang="it-IT" sz="1600" i="1" dirty="0" smtClean="0">
                                  <a:latin typeface="Cambria Math" panose="02040503050406030204" pitchFamily="18" charset="0"/>
                                </a:rPr>
                              </m:ctrlPr>
                            </m:dPr>
                            <m:e>
                              <m:r>
                                <a:rPr lang="it-IT" sz="1600" i="1" dirty="0" smtClean="0">
                                  <a:latin typeface="Cambria Math" panose="02040503050406030204" pitchFamily="18" charset="0"/>
                                </a:rPr>
                                <m:t>𝑘</m:t>
                              </m:r>
                            </m:e>
                          </m:d>
                          <m:acc>
                            <m:accPr>
                              <m:chr m:val="̃"/>
                              <m:ctrlPr>
                                <a:rPr lang="it-IT" sz="1600" i="1" dirty="0" smtClean="0">
                                  <a:latin typeface="Cambria Math" panose="02040503050406030204" pitchFamily="18" charset="0"/>
                                </a:rPr>
                              </m:ctrlPr>
                            </m:accPr>
                            <m:e>
                              <m:r>
                                <a:rPr lang="it-IT" sz="1600" i="1" dirty="0" smtClean="0">
                                  <a:latin typeface="Cambria Math" panose="02040503050406030204" pitchFamily="18" charset="0"/>
                                </a:rPr>
                                <m:t>𝑔</m:t>
                              </m:r>
                            </m:e>
                          </m:acc>
                          <m:d>
                            <m:dPr>
                              <m:ctrlPr>
                                <a:rPr lang="it-IT" sz="1600" i="1" dirty="0" smtClean="0">
                                  <a:latin typeface="Cambria Math" panose="02040503050406030204" pitchFamily="18" charset="0"/>
                                </a:rPr>
                              </m:ctrlPr>
                            </m:dPr>
                            <m:e>
                              <m:r>
                                <a:rPr lang="it-IT" sz="1600" i="1" dirty="0" smtClean="0">
                                  <a:latin typeface="Cambria Math" panose="02040503050406030204" pitchFamily="18" charset="0"/>
                                </a:rPr>
                                <m:t>𝑘</m:t>
                              </m:r>
                            </m:e>
                          </m:d>
                        </m:e>
                      </m:d>
                      <m:r>
                        <a:rPr lang="it-IT" sz="1600" i="1" dirty="0" smtClean="0">
                          <a:latin typeface="Cambria Math" panose="02040503050406030204" pitchFamily="18" charset="0"/>
                        </a:rPr>
                        <m:t>=</m:t>
                      </m:r>
                      <m:r>
                        <a:rPr lang="it-IT" sz="1600" i="1" dirty="0" smtClean="0">
                          <a:latin typeface="Cambria Math" panose="02040503050406030204" pitchFamily="18" charset="0"/>
                        </a:rPr>
                        <m:t>h</m:t>
                      </m:r>
                      <m:d>
                        <m:dPr>
                          <m:ctrlPr>
                            <a:rPr lang="it-IT" sz="1600" i="1" dirty="0" smtClean="0">
                              <a:latin typeface="Cambria Math" panose="02040503050406030204" pitchFamily="18" charset="0"/>
                            </a:rPr>
                          </m:ctrlPr>
                        </m:d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𝑥</m:t>
                              </m:r>
                            </m:e>
                            <m:sub>
                              <m:r>
                                <a:rPr lang="it-IT" sz="1600" i="1" dirty="0" smtClean="0">
                                  <a:latin typeface="Cambria Math" panose="02040503050406030204" pitchFamily="18" charset="0"/>
                                </a:rPr>
                                <m:t>𝑜𝑏𝑠</m:t>
                              </m:r>
                            </m:sub>
                          </m:sSub>
                          <m:r>
                            <a:rPr lang="it-IT" sz="1600" i="1" dirty="0" smtClean="0">
                              <a:latin typeface="Cambria Math" panose="02040503050406030204" pitchFamily="18" charset="0"/>
                            </a:rPr>
                            <m:t>−</m:t>
                          </m:r>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𝜇</m:t>
                              </m:r>
                            </m:e>
                            <m:sub>
                              <m:r>
                                <a:rPr lang="it-IT" sz="1600" i="1" dirty="0" smtClean="0">
                                  <a:latin typeface="Cambria Math" panose="02040503050406030204" pitchFamily="18" charset="0"/>
                                </a:rPr>
                                <m:t>1</m:t>
                              </m:r>
                            </m:sub>
                          </m:sSub>
                        </m:e>
                      </m:d>
                      <m:r>
                        <a:rPr lang="it-IT" sz="1600" i="1" dirty="0" smtClean="0">
                          <a:latin typeface="Cambria Math" panose="02040503050406030204" pitchFamily="18" charset="0"/>
                        </a:rPr>
                        <m:t>=</m:t>
                      </m:r>
                      <m:f>
                        <m:fPr>
                          <m:ctrlPr>
                            <a:rPr lang="it-IT" sz="1600" i="1" dirty="0" smtClean="0">
                              <a:latin typeface="Cambria Math" panose="02040503050406030204" pitchFamily="18" charset="0"/>
                            </a:rPr>
                          </m:ctrlPr>
                        </m:fPr>
                        <m:num>
                          <m:r>
                            <a:rPr lang="it-IT" sz="1600" i="1" dirty="0" smtClean="0">
                              <a:latin typeface="Cambria Math" panose="02040503050406030204" pitchFamily="18" charset="0"/>
                            </a:rPr>
                            <m:t>1</m:t>
                          </m:r>
                        </m:num>
                        <m:den>
                          <m:rad>
                            <m:radPr>
                              <m:degHide m:val="on"/>
                              <m:ctrlPr>
                                <a:rPr lang="it-IT" sz="1600" i="1" dirty="0" smtClean="0">
                                  <a:latin typeface="Cambria Math" panose="02040503050406030204" pitchFamily="18" charset="0"/>
                                </a:rPr>
                              </m:ctrlPr>
                            </m:radPr>
                            <m:deg/>
                            <m:e>
                              <m:r>
                                <a:rPr lang="it-IT" sz="1600" i="1" dirty="0" smtClean="0">
                                  <a:latin typeface="Cambria Math" panose="02040503050406030204" pitchFamily="18" charset="0"/>
                                </a:rPr>
                                <m:t>2</m:t>
                              </m:r>
                              <m:r>
                                <a:rPr lang="it-IT" sz="1600" i="1" dirty="0" smtClean="0">
                                  <a:latin typeface="Cambria Math" panose="02040503050406030204" pitchFamily="18" charset="0"/>
                                </a:rPr>
                                <m:t>𝜋</m:t>
                              </m:r>
                              <m:d>
                                <m:dPr>
                                  <m:ctrlPr>
                                    <a:rPr lang="it-IT" sz="1600" i="1" dirty="0" smtClean="0">
                                      <a:latin typeface="Cambria Math" panose="02040503050406030204" pitchFamily="18" charset="0"/>
                                    </a:rPr>
                                  </m:ctrlPr>
                                </m:dPr>
                                <m:e>
                                  <m:sSubSup>
                                    <m:sSubSupPr>
                                      <m:ctrlPr>
                                        <a:rPr lang="it-IT" sz="1600" i="1" dirty="0" smtClean="0">
                                          <a:latin typeface="Cambria Math" panose="02040503050406030204" pitchFamily="18" charset="0"/>
                                        </a:rPr>
                                      </m:ctrlPr>
                                    </m:sSubSupPr>
                                    <m:e>
                                      <m:r>
                                        <a:rPr lang="it-IT" sz="1600" i="1" dirty="0" smtClean="0">
                                          <a:latin typeface="Cambria Math" panose="02040503050406030204" pitchFamily="18" charset="0"/>
                                        </a:rPr>
                                        <m:t>𝜎</m:t>
                                      </m:r>
                                    </m:e>
                                    <m:sub>
                                      <m:r>
                                        <a:rPr lang="it-IT" sz="1600" i="1" dirty="0" smtClean="0">
                                          <a:latin typeface="Cambria Math" panose="02040503050406030204" pitchFamily="18" charset="0"/>
                                        </a:rPr>
                                        <m:t>1</m:t>
                                      </m:r>
                                    </m:sub>
                                    <m:sup>
                                      <m:r>
                                        <a:rPr lang="it-IT" sz="1600" i="1" dirty="0" smtClean="0">
                                          <a:latin typeface="Cambria Math" panose="02040503050406030204" pitchFamily="18" charset="0"/>
                                        </a:rPr>
                                        <m:t>2</m:t>
                                      </m:r>
                                    </m:sup>
                                  </m:sSubSup>
                                  <m:r>
                                    <a:rPr lang="it-IT" sz="1600" i="1" dirty="0" smtClean="0">
                                      <a:latin typeface="Cambria Math" panose="02040503050406030204" pitchFamily="18" charset="0"/>
                                    </a:rPr>
                                    <m:t>+</m:t>
                                  </m:r>
                                  <m:sSubSup>
                                    <m:sSubSupPr>
                                      <m:ctrlPr>
                                        <a:rPr lang="it-IT" sz="1600" i="1" dirty="0" smtClean="0">
                                          <a:latin typeface="Cambria Math" panose="02040503050406030204" pitchFamily="18" charset="0"/>
                                        </a:rPr>
                                      </m:ctrlPr>
                                    </m:sSubSupPr>
                                    <m:e>
                                      <m:r>
                                        <a:rPr lang="it-IT" sz="1600" i="1" dirty="0" smtClean="0">
                                          <a:latin typeface="Cambria Math" panose="02040503050406030204" pitchFamily="18" charset="0"/>
                                        </a:rPr>
                                        <m:t>𝜎</m:t>
                                      </m:r>
                                    </m:e>
                                    <m:sub>
                                      <m:r>
                                        <a:rPr lang="it-IT" sz="1600" i="1" dirty="0" smtClean="0">
                                          <a:latin typeface="Cambria Math" panose="02040503050406030204" pitchFamily="18" charset="0"/>
                                        </a:rPr>
                                        <m:t>𝑜𝑏𝑠</m:t>
                                      </m:r>
                                    </m:sub>
                                    <m:sup>
                                      <m:r>
                                        <a:rPr lang="it-IT" sz="1600" i="1" dirty="0" smtClean="0">
                                          <a:latin typeface="Cambria Math" panose="02040503050406030204" pitchFamily="18" charset="0"/>
                                        </a:rPr>
                                        <m:t>2</m:t>
                                      </m:r>
                                    </m:sup>
                                  </m:sSubSup>
                                </m:e>
                              </m:d>
                            </m:e>
                          </m:rad>
                        </m:den>
                      </m:f>
                      <m:sSup>
                        <m:sSupPr>
                          <m:ctrlPr>
                            <a:rPr lang="it-IT" sz="1600" i="1" dirty="0" smtClean="0">
                              <a:latin typeface="Cambria Math" panose="02040503050406030204" pitchFamily="18" charset="0"/>
                            </a:rPr>
                          </m:ctrlPr>
                        </m:sSupPr>
                        <m:e>
                          <m:r>
                            <a:rPr lang="it-IT" sz="1600" i="1" dirty="0" smtClean="0">
                              <a:latin typeface="Cambria Math" panose="02040503050406030204" pitchFamily="18" charset="0"/>
                            </a:rPr>
                            <m:t>𝑒</m:t>
                          </m:r>
                        </m:e>
                        <m:sup>
                          <m:r>
                            <a:rPr lang="it-IT" sz="1600" i="1" dirty="0" smtClean="0">
                              <a:latin typeface="Cambria Math" panose="02040503050406030204" pitchFamily="18" charset="0"/>
                            </a:rPr>
                            <m:t>−</m:t>
                          </m:r>
                          <m:f>
                            <m:fPr>
                              <m:ctrlPr>
                                <a:rPr lang="it-IT" sz="1600" i="1" dirty="0" smtClean="0">
                                  <a:latin typeface="Cambria Math" panose="02040503050406030204" pitchFamily="18" charset="0"/>
                                </a:rPr>
                              </m:ctrlPr>
                            </m:fPr>
                            <m:num>
                              <m:r>
                                <a:rPr lang="it-IT" sz="1600" i="1" dirty="0" smtClean="0">
                                  <a:latin typeface="Cambria Math" panose="02040503050406030204" pitchFamily="18" charset="0"/>
                                </a:rPr>
                                <m:t>1</m:t>
                              </m:r>
                            </m:num>
                            <m:den>
                              <m:r>
                                <a:rPr lang="it-IT" sz="1600" i="1" dirty="0" smtClean="0">
                                  <a:latin typeface="Cambria Math" panose="02040503050406030204" pitchFamily="18" charset="0"/>
                                </a:rPr>
                                <m:t>2</m:t>
                              </m:r>
                            </m:den>
                          </m:f>
                          <m:f>
                            <m:fPr>
                              <m:ctrlPr>
                                <a:rPr lang="it-IT" sz="1600" i="1" dirty="0" smtClean="0">
                                  <a:latin typeface="Cambria Math" panose="02040503050406030204" pitchFamily="18" charset="0"/>
                                </a:rPr>
                              </m:ctrlPr>
                            </m:fPr>
                            <m:num>
                              <m:sSup>
                                <m:sSupPr>
                                  <m:ctrlPr>
                                    <a:rPr lang="it-IT" sz="1600" i="1" dirty="0" smtClean="0">
                                      <a:latin typeface="Cambria Math" panose="02040503050406030204" pitchFamily="18" charset="0"/>
                                    </a:rPr>
                                  </m:ctrlPr>
                                </m:sSupPr>
                                <m:e>
                                  <m:d>
                                    <m:dPr>
                                      <m:ctrlPr>
                                        <a:rPr lang="it-IT" sz="1600" i="1" dirty="0" smtClean="0">
                                          <a:latin typeface="Cambria Math" panose="02040503050406030204" pitchFamily="18" charset="0"/>
                                        </a:rPr>
                                      </m:ctrlPr>
                                    </m:d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𝑥</m:t>
                                          </m:r>
                                        </m:e>
                                        <m:sub>
                                          <m:r>
                                            <a:rPr lang="it-IT" sz="1600" i="1" dirty="0" smtClean="0">
                                              <a:latin typeface="Cambria Math" panose="02040503050406030204" pitchFamily="18" charset="0"/>
                                            </a:rPr>
                                            <m:t>𝑜𝑏𝑠</m:t>
                                          </m:r>
                                        </m:sub>
                                      </m:sSub>
                                      <m:r>
                                        <a:rPr lang="it-IT" sz="1600" i="1" dirty="0" smtClean="0">
                                          <a:latin typeface="Cambria Math" panose="02040503050406030204" pitchFamily="18" charset="0"/>
                                        </a:rPr>
                                        <m:t>−</m:t>
                                      </m:r>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𝜇</m:t>
                                          </m:r>
                                        </m:e>
                                        <m:sub>
                                          <m:r>
                                            <a:rPr lang="it-IT" sz="1600" i="1" dirty="0" smtClean="0">
                                              <a:latin typeface="Cambria Math" panose="02040503050406030204" pitchFamily="18" charset="0"/>
                                            </a:rPr>
                                            <m:t>1</m:t>
                                          </m:r>
                                        </m:sub>
                                      </m:sSub>
                                    </m:e>
                                  </m:d>
                                </m:e>
                                <m:sup>
                                  <m:r>
                                    <a:rPr lang="it-IT" sz="1600" i="1" dirty="0" smtClean="0">
                                      <a:latin typeface="Cambria Math" panose="02040503050406030204" pitchFamily="18" charset="0"/>
                                    </a:rPr>
                                    <m:t>2</m:t>
                                  </m:r>
                                </m:sup>
                              </m:sSup>
                            </m:num>
                            <m:den>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1</m:t>
                                  </m:r>
                                </m:sub>
                                <m:sup>
                                  <m:r>
                                    <a:rPr lang="it-IT" sz="1600" i="1">
                                      <a:latin typeface="Cambria Math" panose="02040503050406030204" pitchFamily="18" charset="0"/>
                                    </a:rPr>
                                    <m:t>2</m:t>
                                  </m:r>
                                </m:sup>
                              </m:sSubSup>
                              <m:r>
                                <a:rPr lang="it-IT" sz="1600" i="1">
                                  <a:latin typeface="Cambria Math" panose="02040503050406030204" pitchFamily="18" charset="0"/>
                                </a:rPr>
                                <m:t>+</m:t>
                              </m:r>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𝑜𝑏𝑠</m:t>
                                  </m:r>
                                </m:sub>
                                <m:sup>
                                  <m:r>
                                    <a:rPr lang="it-IT" sz="1600" i="1">
                                      <a:latin typeface="Cambria Math" panose="02040503050406030204" pitchFamily="18" charset="0"/>
                                    </a:rPr>
                                    <m:t>2</m:t>
                                  </m:r>
                                </m:sup>
                              </m:sSubSup>
                            </m:den>
                          </m:f>
                        </m:sup>
                      </m:sSup>
                      <m:r>
                        <a:rPr lang="it-IT" sz="1600" i="1" dirty="0" smtClean="0">
                          <a:latin typeface="Cambria Math" panose="02040503050406030204" pitchFamily="18" charset="0"/>
                        </a:rPr>
                        <m:t>=</m:t>
                      </m:r>
                      <m:r>
                        <a:rPr lang="it-IT" sz="1600" i="1" dirty="0" smtClean="0">
                          <a:latin typeface="Cambria Math" panose="02040503050406030204" pitchFamily="18" charset="0"/>
                        </a:rPr>
                        <m:t>𝒩</m:t>
                      </m:r>
                      <m:d>
                        <m:dPr>
                          <m:ctrlPr>
                            <a:rPr lang="it-IT" sz="1600" i="1" dirty="0" smtClean="0">
                              <a:latin typeface="Cambria Math" panose="02040503050406030204" pitchFamily="18" charset="0"/>
                            </a:rPr>
                          </m:ctrlPr>
                        </m:d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𝑥</m:t>
                              </m:r>
                            </m:e>
                            <m:sub>
                              <m:r>
                                <a:rPr lang="it-IT" sz="1600" i="1" dirty="0" smtClean="0">
                                  <a:latin typeface="Cambria Math" panose="02040503050406030204" pitchFamily="18" charset="0"/>
                                </a:rPr>
                                <m:t>𝑜𝑏𝑠</m:t>
                              </m:r>
                            </m:sub>
                          </m:sSub>
                        </m:e>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𝜇</m:t>
                              </m:r>
                            </m:e>
                            <m:sub>
                              <m:r>
                                <a:rPr lang="it-IT" sz="1600" i="1" dirty="0" smtClean="0">
                                  <a:latin typeface="Cambria Math" panose="02040503050406030204" pitchFamily="18" charset="0"/>
                                </a:rPr>
                                <m:t>1</m:t>
                              </m:r>
                            </m:sub>
                          </m:sSub>
                          <m:r>
                            <a:rPr lang="it-IT" sz="1600" i="1" dirty="0" smtClean="0">
                              <a:latin typeface="Cambria Math" panose="02040503050406030204" pitchFamily="18" charset="0"/>
                            </a:rPr>
                            <m:t>,</m:t>
                          </m:r>
                          <m:sSubSup>
                            <m:sSubSupPr>
                              <m:ctrlPr>
                                <a:rPr lang="it-IT" sz="1600" i="1" dirty="0" smtClean="0">
                                  <a:latin typeface="Cambria Math" panose="02040503050406030204" pitchFamily="18" charset="0"/>
                                </a:rPr>
                              </m:ctrlPr>
                            </m:sSubSupPr>
                            <m:e>
                              <m:r>
                                <a:rPr lang="it-IT" sz="1600" i="1" dirty="0" smtClean="0">
                                  <a:latin typeface="Cambria Math" panose="02040503050406030204" pitchFamily="18" charset="0"/>
                                </a:rPr>
                                <m:t>𝜎</m:t>
                              </m:r>
                            </m:e>
                            <m:sub>
                              <m:r>
                                <a:rPr lang="it-IT" sz="1600" i="1" dirty="0" smtClean="0">
                                  <a:latin typeface="Cambria Math" panose="02040503050406030204" pitchFamily="18" charset="0"/>
                                </a:rPr>
                                <m:t>1</m:t>
                              </m:r>
                            </m:sub>
                            <m:sup>
                              <m:r>
                                <a:rPr lang="it-IT" sz="1600" i="1" dirty="0" smtClean="0">
                                  <a:latin typeface="Cambria Math" panose="02040503050406030204" pitchFamily="18" charset="0"/>
                                </a:rPr>
                                <m:t>2</m:t>
                              </m:r>
                            </m:sup>
                          </m:sSubSup>
                          <m:r>
                            <a:rPr lang="it-IT" sz="1600" i="1" dirty="0" smtClean="0">
                              <a:latin typeface="Cambria Math" panose="02040503050406030204" pitchFamily="18" charset="0"/>
                            </a:rPr>
                            <m:t>+</m:t>
                          </m:r>
                          <m:sSubSup>
                            <m:sSubSupPr>
                              <m:ctrlPr>
                                <a:rPr lang="it-IT" sz="1600" i="1" dirty="0" smtClean="0">
                                  <a:latin typeface="Cambria Math" panose="02040503050406030204" pitchFamily="18" charset="0"/>
                                </a:rPr>
                              </m:ctrlPr>
                            </m:sSubSupPr>
                            <m:e>
                              <m:r>
                                <a:rPr lang="it-IT" sz="1600" i="1" dirty="0" smtClean="0">
                                  <a:latin typeface="Cambria Math" panose="02040503050406030204" pitchFamily="18" charset="0"/>
                                </a:rPr>
                                <m:t>𝜎</m:t>
                              </m:r>
                            </m:e>
                            <m:sub>
                              <m:r>
                                <a:rPr lang="it-IT" sz="1600" i="1" dirty="0" smtClean="0">
                                  <a:latin typeface="Cambria Math" panose="02040503050406030204" pitchFamily="18" charset="0"/>
                                </a:rPr>
                                <m:t>𝑜𝑏𝑠</m:t>
                              </m:r>
                            </m:sub>
                            <m:sup>
                              <m:r>
                                <a:rPr lang="it-IT" sz="1600" i="1" dirty="0" smtClean="0">
                                  <a:latin typeface="Cambria Math" panose="02040503050406030204" pitchFamily="18" charset="0"/>
                                </a:rPr>
                                <m:t>2</m:t>
                              </m:r>
                            </m:sup>
                          </m:sSubSup>
                        </m:e>
                      </m:d>
                    </m:oMath>
                  </m:oMathPara>
                </a14:m>
                <a:endParaRPr lang="it-IT" sz="160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29045149-62D8-AC7C-C0A1-AC2652D7BCDA}"/>
                  </a:ext>
                </a:extLst>
              </p:cNvPr>
              <p:cNvSpPr>
                <a:spLocks noGrp="1" noRot="1" noChangeAspect="1" noMove="1" noResize="1" noEditPoints="1" noAdjustHandles="1" noChangeArrowheads="1" noChangeShapeType="1" noTextEdit="1"/>
              </p:cNvSpPr>
              <p:nvPr>
                <p:ph idx="1"/>
              </p:nvPr>
            </p:nvSpPr>
            <p:spPr>
              <a:xfrm>
                <a:off x="700635" y="1570892"/>
                <a:ext cx="10691265" cy="4603262"/>
              </a:xfrm>
              <a:blipFill>
                <a:blip r:embed="rId2"/>
                <a:stretch>
                  <a:fillRect l="-399" t="-9536"/>
                </a:stretch>
              </a:blipFill>
            </p:spPr>
            <p:txBody>
              <a:bodyPr/>
              <a:lstStyle/>
              <a:p>
                <a:r>
                  <a:rPr lang="it-IT">
                    <a:noFill/>
                  </a:rPr>
                  <a:t> </a:t>
                </a:r>
              </a:p>
            </p:txBody>
          </p:sp>
        </mc:Fallback>
      </mc:AlternateContent>
    </p:spTree>
    <p:extLst>
      <p:ext uri="{BB962C8B-B14F-4D97-AF65-F5344CB8AC3E}">
        <p14:creationId xmlns:p14="http://schemas.microsoft.com/office/powerpoint/2010/main" val="380181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0CB7C-A8B9-D7C6-3FB5-9432FDD92D0E}"/>
              </a:ext>
            </a:extLst>
          </p:cNvPr>
          <p:cNvSpPr>
            <a:spLocks noGrp="1"/>
          </p:cNvSpPr>
          <p:nvPr>
            <p:ph type="title"/>
          </p:nvPr>
        </p:nvSpPr>
        <p:spPr/>
        <p:txBody>
          <a:bodyPr/>
          <a:lstStyle/>
          <a:p>
            <a:r>
              <a:rPr lang="it-IT" dirty="0">
                <a:solidFill>
                  <a:srgbClr val="FF0000"/>
                </a:solidFill>
              </a:rPr>
              <a:t>Gaussian mixture generalization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5FDA05-1810-F7E4-7015-A1C6E282D3CB}"/>
                  </a:ext>
                </a:extLst>
              </p:cNvPr>
              <p:cNvSpPr>
                <a:spLocks noGrp="1"/>
              </p:cNvSpPr>
              <p:nvPr>
                <p:ph idx="1"/>
              </p:nvPr>
            </p:nvSpPr>
            <p:spPr>
              <a:xfrm>
                <a:off x="700635" y="1570892"/>
                <a:ext cx="10691265" cy="4390996"/>
              </a:xfrm>
            </p:spPr>
            <p:txBody>
              <a:bodyPr>
                <a:normAutofit/>
              </a:bodyPr>
              <a:lstStyle/>
              <a:p>
                <a14:m>
                  <m:oMath xmlns:m="http://schemas.openxmlformats.org/officeDocument/2006/math">
                    <m:r>
                      <a:rPr lang="it-IT" i="1" dirty="0" smtClean="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𝑥</m:t>
                        </m:r>
                      </m:e>
                      <m:e>
                        <m:r>
                          <a:rPr lang="it-IT" i="1" dirty="0">
                            <a:latin typeface="Cambria Math" panose="02040503050406030204" pitchFamily="18" charset="0"/>
                          </a:rPr>
                          <m:t>𝜽</m:t>
                        </m:r>
                      </m:e>
                    </m:d>
                    <m:r>
                      <a:rPr lang="it-IT" i="1" dirty="0">
                        <a:latin typeface="Cambria Math" panose="02040503050406030204" pitchFamily="18" charset="0"/>
                      </a:rPr>
                      <m:t>=</m:t>
                    </m:r>
                    <m:nary>
                      <m:naryPr>
                        <m:chr m:val="∑"/>
                        <m:supHide m:val="on"/>
                        <m:ctrlPr>
                          <a:rPr lang="it-IT" i="1" dirty="0" smtClean="0">
                            <a:latin typeface="Cambria Math" panose="02040503050406030204" pitchFamily="18" charset="0"/>
                          </a:rPr>
                        </m:ctrlPr>
                      </m:naryPr>
                      <m:sub>
                        <m:r>
                          <m:rPr>
                            <m:sty m:val="p"/>
                            <m:brk m:alnAt="7"/>
                          </m:rPr>
                          <a:rPr lang="it-IT" b="0" i="1" dirty="0" smtClean="0">
                            <a:latin typeface="Cambria Math" panose="02040503050406030204" pitchFamily="18" charset="0"/>
                          </a:rPr>
                          <m:t>i</m:t>
                        </m:r>
                      </m:sub>
                      <m:sup/>
                      <m:e>
                        <m:sSub>
                          <m:sSubPr>
                            <m:ctrlPr>
                              <a:rPr lang="it-IT" b="0" i="1" dirty="0" smtClean="0">
                                <a:latin typeface="Cambria Math" panose="02040503050406030204" pitchFamily="18" charset="0"/>
                              </a:rPr>
                            </m:ctrlPr>
                          </m:sSubPr>
                          <m:e>
                            <m:r>
                              <a:rPr lang="it-IT" b="0" i="1" dirty="0" smtClean="0">
                                <a:latin typeface="Cambria Math" panose="02040503050406030204" pitchFamily="18" charset="0"/>
                              </a:rPr>
                              <m:t>𝑤</m:t>
                            </m:r>
                          </m:e>
                          <m:sub>
                            <m:r>
                              <a:rPr lang="it-IT" b="0" i="1" dirty="0" smtClean="0">
                                <a:latin typeface="Cambria Math" panose="02040503050406030204" pitchFamily="18" charset="0"/>
                              </a:rPr>
                              <m:t>𝑖</m:t>
                            </m:r>
                          </m:sub>
                        </m:sSub>
                        <m:r>
                          <a:rPr lang="it-IT" i="1" dirty="0">
                            <a:latin typeface="Cambria Math" panose="02040503050406030204" pitchFamily="18" charset="0"/>
                          </a:rPr>
                          <m:t>𝒩</m:t>
                        </m:r>
                        <m:d>
                          <m:dPr>
                            <m:ctrlPr>
                              <a:rPr lang="it-IT" i="1" dirty="0">
                                <a:latin typeface="Cambria Math" panose="02040503050406030204" pitchFamily="18" charset="0"/>
                              </a:rPr>
                            </m:ctrlPr>
                          </m:dPr>
                          <m:e>
                            <m:r>
                              <a:rPr lang="it-IT" i="1" dirty="0">
                                <a:latin typeface="Cambria Math" panose="02040503050406030204" pitchFamily="18" charset="0"/>
                              </a:rPr>
                              <m:t>𝑥</m:t>
                            </m:r>
                          </m:e>
                          <m:e>
                            <m:sSub>
                              <m:sSubPr>
                                <m:ctrlPr>
                                  <a:rPr lang="it-IT" i="1" dirty="0">
                                    <a:latin typeface="Cambria Math" panose="02040503050406030204" pitchFamily="18" charset="0"/>
                                  </a:rPr>
                                </m:ctrlPr>
                              </m:sSubPr>
                              <m:e>
                                <m:r>
                                  <a:rPr lang="it-IT" i="1" dirty="0">
                                    <a:latin typeface="Cambria Math" panose="02040503050406030204" pitchFamily="18" charset="0"/>
                                  </a:rPr>
                                  <m:t>𝜇</m:t>
                                </m:r>
                              </m:e>
                              <m:sub>
                                <m:r>
                                  <m:rPr>
                                    <m:sty m:val="p"/>
                                  </m:rPr>
                                  <a:rPr lang="it-IT" b="0" i="1" dirty="0" smtClean="0">
                                    <a:latin typeface="Cambria Math" panose="02040503050406030204" pitchFamily="18" charset="0"/>
                                  </a:rPr>
                                  <m:t>i</m:t>
                                </m:r>
                              </m:sub>
                            </m:sSub>
                            <m:r>
                              <a:rPr lang="it-IT" i="1" dirty="0">
                                <a:latin typeface="Cambria Math" panose="02040503050406030204" pitchFamily="18" charset="0"/>
                              </a:rPr>
                              <m:t>,</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m:rPr>
                                    <m:sty m:val="p"/>
                                  </m:rPr>
                                  <a:rPr lang="it-IT" b="0" i="1" dirty="0" smtClean="0">
                                    <a:latin typeface="Cambria Math" panose="02040503050406030204" pitchFamily="18" charset="0"/>
                                  </a:rPr>
                                  <m:t>i</m:t>
                                </m:r>
                              </m:sub>
                              <m:sup>
                                <m:r>
                                  <a:rPr lang="it-IT" i="1" dirty="0">
                                    <a:latin typeface="Cambria Math" panose="02040503050406030204" pitchFamily="18" charset="0"/>
                                  </a:rPr>
                                  <m:t>2</m:t>
                                </m:r>
                              </m:sup>
                            </m:sSubSup>
                          </m:e>
                        </m:d>
                      </m:e>
                    </m:nary>
                  </m:oMath>
                </a14:m>
                <a:endParaRPr lang="it-IT" dirty="0"/>
              </a:p>
              <a:p>
                <a:pPr marL="0" indent="0">
                  <a:buNone/>
                </a:pPr>
                <a14:m>
                  <m:oMathPara xmlns:m="http://schemas.openxmlformats.org/officeDocument/2006/math">
                    <m:oMathParaPr>
                      <m:jc m:val="center"/>
                    </m:oMathParaPr>
                    <m:oMath xmlns:m="http://schemas.openxmlformats.org/officeDocument/2006/math">
                      <m:m>
                        <m:mPr>
                          <m:plcHide m:val="on"/>
                          <m:mcs>
                            <m:mc>
                              <m:mcPr>
                                <m:count m:val="3"/>
                                <m:mcJc m:val="center"/>
                              </m:mcPr>
                            </m:mc>
                          </m:mcs>
                          <m:ctrlPr>
                            <a:rPr lang="it-IT" sz="1800" i="1" smtClean="0">
                              <a:latin typeface="Cambria Math" panose="02040503050406030204" pitchFamily="18" charset="0"/>
                            </a:rPr>
                          </m:ctrlPr>
                        </m:mPr>
                        <m:mr>
                          <m:e>
                            <m:r>
                              <m:rPr>
                                <m:brk m:alnAt="7"/>
                              </m:rPr>
                              <a:rPr lang="it-IT" sz="1800" i="1" smtClean="0">
                                <a:latin typeface="Cambria Math" panose="02040503050406030204" pitchFamily="18" charset="0"/>
                              </a:rPr>
                              <m:t>𝑝</m:t>
                            </m:r>
                            <m:d>
                              <m:dPr>
                                <m:sep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brk m:alnAt="7"/>
                                      </m:rPr>
                                      <a:rPr lang="it-IT" sz="1800" i="1">
                                        <a:latin typeface="Cambria Math" panose="02040503050406030204" pitchFamily="18" charset="0"/>
                                      </a:rPr>
                                      <m:t>𝑥</m:t>
                                    </m:r>
                                  </m:e>
                                  <m:sub>
                                    <m:r>
                                      <m:rPr>
                                        <m:brk m:alnAt="7"/>
                                      </m:rPr>
                                      <a:rPr lang="it-IT" sz="1800" i="1">
                                        <a:latin typeface="Cambria Math" panose="02040503050406030204" pitchFamily="18" charset="0"/>
                                      </a:rPr>
                                      <m:t>𝑜</m:t>
                                    </m:r>
                                    <m:r>
                                      <a:rPr lang="it-IT" sz="1800" i="1">
                                        <a:latin typeface="Cambria Math" panose="02040503050406030204" pitchFamily="18" charset="0"/>
                                      </a:rPr>
                                      <m:t>𝑏𝑠</m:t>
                                    </m:r>
                                  </m:sub>
                                </m:sSub>
                              </m:e>
                              <m:e>
                                <m:r>
                                  <m:rPr>
                                    <m:brk m:alnAt="7"/>
                                  </m:rPr>
                                  <a:rPr lang="it-IT" sz="1800" b="1" i="1">
                                    <a:latin typeface="Cambria Math" panose="02040503050406030204" pitchFamily="18" charset="0"/>
                                  </a:rPr>
                                  <m:t>𝜽</m:t>
                                </m:r>
                                <m:r>
                                  <a:rPr lang="it-IT" sz="1800" i="1">
                                    <a:latin typeface="Cambria Math" panose="02040503050406030204" pitchFamily="18" charset="0"/>
                                  </a:rPr>
                                  <m:t>,</m:t>
                                </m:r>
                                <m:sSub>
                                  <m:sSubPr>
                                    <m:ctrlPr>
                                      <a:rPr lang="it-IT" sz="1800" i="1">
                                        <a:latin typeface="Cambria Math" panose="02040503050406030204" pitchFamily="18" charset="0"/>
                                      </a:rPr>
                                    </m:ctrlPr>
                                  </m:sSubPr>
                                  <m:e>
                                    <m:r>
                                      <m:rPr>
                                        <m:brk m:alnAt="7"/>
                                      </m:rPr>
                                      <a:rPr lang="it-IT" sz="1800" i="1">
                                        <a:latin typeface="Cambria Math" panose="02040503050406030204" pitchFamily="18" charset="0"/>
                                      </a:rPr>
                                      <m:t>𝜎</m:t>
                                    </m:r>
                                  </m:e>
                                  <m:sub>
                                    <m:r>
                                      <m:rPr>
                                        <m:brk m:alnAt="7"/>
                                      </m:rPr>
                                      <a:rPr lang="it-IT" sz="1800" i="1">
                                        <a:latin typeface="Cambria Math" panose="02040503050406030204" pitchFamily="18" charset="0"/>
                                      </a:rPr>
                                      <m:t>𝑜</m:t>
                                    </m:r>
                                    <m:r>
                                      <a:rPr lang="it-IT" sz="1800" i="1">
                                        <a:latin typeface="Cambria Math" panose="02040503050406030204" pitchFamily="18" charset="0"/>
                                      </a:rPr>
                                      <m:t>𝑏𝑠</m:t>
                                    </m:r>
                                  </m:sub>
                                </m:sSub>
                              </m:e>
                            </m:d>
                          </m:e>
                          <m:e>
                            <m:r>
                              <a:rPr lang="it-IT" sz="1800" b="0" i="1" smtClean="0">
                                <a:latin typeface="Cambria Math" panose="02040503050406030204" pitchFamily="18" charset="0"/>
                              </a:rPr>
                              <m:t>=</m:t>
                            </m:r>
                          </m:e>
                          <m:e>
                            <m:nary>
                              <m:naryPr>
                                <m:ctrlPr>
                                  <a:rPr lang="it-IT" sz="1800" i="1" smtClean="0">
                                    <a:latin typeface="Cambria Math" panose="02040503050406030204" pitchFamily="18" charset="0"/>
                                  </a:rPr>
                                </m:ctrlPr>
                              </m:naryPr>
                              <m:sub>
                                <m:r>
                                  <a:rPr lang="it-IT" sz="1800" i="1">
                                    <a:latin typeface="Cambria Math" panose="02040503050406030204" pitchFamily="18" charset="0"/>
                                  </a:rPr>
                                  <m:t>−</m:t>
                                </m:r>
                                <m:r>
                                  <a:rPr lang="it-IT" sz="1800" i="1">
                                    <a:latin typeface="Cambria Math" panose="02040503050406030204" pitchFamily="18" charset="0"/>
                                  </a:rPr>
                                  <m:t>∞</m:t>
                                </m:r>
                              </m:sub>
                              <m:sup>
                                <m:r>
                                  <a:rPr lang="it-IT" sz="1800" i="1">
                                    <a:latin typeface="Cambria Math" panose="02040503050406030204" pitchFamily="18" charset="0"/>
                                  </a:rPr>
                                  <m:t>+</m:t>
                                </m:r>
                                <m:r>
                                  <a:rPr lang="it-IT" sz="1800" i="1">
                                    <a:latin typeface="Cambria Math" panose="02040503050406030204" pitchFamily="18" charset="0"/>
                                  </a:rPr>
                                  <m:t>∞</m:t>
                                </m:r>
                              </m:sup>
                              <m:e>
                                <m:r>
                                  <a:rPr lang="it-IT" sz="1800" i="1" dirty="0">
                                    <a:latin typeface="Cambria Math" panose="02040503050406030204" pitchFamily="18" charset="0"/>
                                  </a:rPr>
                                  <m:t>𝒩</m:t>
                                </m:r>
                                <m:d>
                                  <m:dPr>
                                    <m:sep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e>
                                  <m:e>
                                    <m:r>
                                      <a:rPr lang="it-IT" sz="1800" i="1">
                                        <a:latin typeface="Cambria Math" panose="02040503050406030204" pitchFamily="18" charset="0"/>
                                      </a:rPr>
                                      <m:t>𝑥</m:t>
                                    </m:r>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e>
                                </m:d>
                              </m:e>
                            </m:nary>
                            <m:r>
                              <a:rPr lang="it-IT" sz="1800" i="1">
                                <a:latin typeface="Cambria Math" panose="02040503050406030204" pitchFamily="18" charset="0"/>
                              </a:rPr>
                              <m:t> </m:t>
                            </m:r>
                            <m:nary>
                              <m:naryPr>
                                <m:chr m:val="∑"/>
                                <m:supHide m:val="on"/>
                                <m:ctrlPr>
                                  <a:rPr lang="it-IT" sz="1800" i="1">
                                    <a:latin typeface="Cambria Math" panose="02040503050406030204" pitchFamily="18" charset="0"/>
                                  </a:rPr>
                                </m:ctrlPr>
                              </m:naryPr>
                              <m:sub>
                                <m:r>
                                  <a:rPr lang="it-IT" sz="1800" i="1">
                                    <a:latin typeface="Cambria Math" panose="02040503050406030204" pitchFamily="18" charset="0"/>
                                  </a:rPr>
                                  <m:t>𝑖</m:t>
                                </m:r>
                              </m:sub>
                              <m:sup/>
                              <m:e>
                                <m:sSub>
                                  <m:sSubPr>
                                    <m:ctrlPr>
                                      <a:rPr lang="it-IT" sz="1800" i="1">
                                        <a:latin typeface="Cambria Math" panose="02040503050406030204" pitchFamily="18" charset="0"/>
                                      </a:rPr>
                                    </m:ctrlPr>
                                  </m:sSubPr>
                                  <m:e>
                                    <m:r>
                                      <a:rPr lang="it-IT" sz="1800" i="1">
                                        <a:latin typeface="Cambria Math" panose="02040503050406030204" pitchFamily="18" charset="0"/>
                                      </a:rPr>
                                      <m:t>𝑤</m:t>
                                    </m:r>
                                  </m:e>
                                  <m:sub>
                                    <m:r>
                                      <a:rPr lang="it-IT" sz="1800" i="1">
                                        <a:latin typeface="Cambria Math" panose="02040503050406030204" pitchFamily="18" charset="0"/>
                                      </a:rPr>
                                      <m:t>𝑖</m:t>
                                    </m:r>
                                  </m:sub>
                                </m:sSub>
                              </m:e>
                            </m:nary>
                            <m:r>
                              <a:rPr lang="it-IT" sz="1800" i="1">
                                <a:latin typeface="Cambria Math" panose="02040503050406030204" pitchFamily="18" charset="0"/>
                              </a:rPr>
                              <m:t> </m:t>
                            </m:r>
                            <m:r>
                              <a:rPr lang="it-IT" sz="1800" i="1" dirty="0">
                                <a:latin typeface="Cambria Math" panose="02040503050406030204" pitchFamily="18" charset="0"/>
                              </a:rPr>
                              <m:t>𝒩</m:t>
                            </m:r>
                            <m:d>
                              <m:dPr>
                                <m:sepChr m:val="∣"/>
                                <m:ctrlPr>
                                  <a:rPr lang="it-IT" sz="1800" i="1">
                                    <a:latin typeface="Cambria Math" panose="02040503050406030204" pitchFamily="18" charset="0"/>
                                  </a:rPr>
                                </m:ctrlPr>
                              </m:dPr>
                              <m:e>
                                <m:r>
                                  <a:rPr lang="it-IT" sz="1800" i="1">
                                    <a:latin typeface="Cambria Math" panose="02040503050406030204" pitchFamily="18" charset="0"/>
                                  </a:rPr>
                                  <m:t>𝑥</m:t>
                                </m:r>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𝑖</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𝑖</m:t>
                                    </m:r>
                                  </m:sub>
                                  <m:sup>
                                    <m:r>
                                      <a:rPr lang="it-IT" sz="1800" i="1">
                                        <a:latin typeface="Cambria Math" panose="02040503050406030204" pitchFamily="18" charset="0"/>
                                      </a:rPr>
                                      <m:t>2</m:t>
                                    </m:r>
                                  </m:sup>
                                </m:sSubSup>
                              </m:e>
                            </m:d>
                            <m:r>
                              <a:rPr lang="it-IT" sz="1800" i="1">
                                <a:latin typeface="Cambria Math" panose="02040503050406030204" pitchFamily="18" charset="0"/>
                              </a:rPr>
                              <m:t> </m:t>
                            </m:r>
                            <m:r>
                              <a:rPr lang="it-IT" sz="1800" i="1">
                                <a:latin typeface="Cambria Math" panose="02040503050406030204" pitchFamily="18" charset="0"/>
                              </a:rPr>
                              <m:t>𝑑𝑥</m:t>
                            </m:r>
                            <m:r>
                              <a:rPr lang="it-IT" sz="1800" i="1">
                                <a:latin typeface="Cambria Math" panose="02040503050406030204" pitchFamily="18" charset="0"/>
                              </a:rPr>
                              <m:t> </m:t>
                            </m:r>
                          </m:e>
                        </m:mr>
                        <m:mr>
                          <m:e/>
                          <m:e>
                            <m:r>
                              <a:rPr lang="it-IT" sz="1800" b="0" i="1" smtClean="0">
                                <a:latin typeface="Cambria Math" panose="02040503050406030204" pitchFamily="18" charset="0"/>
                              </a:rPr>
                              <m:t>=</m:t>
                            </m:r>
                          </m:e>
                          <m:e>
                            <m:nary>
                              <m:naryPr>
                                <m:chr m:val="∑"/>
                                <m:supHide m:val="on"/>
                                <m:ctrlPr>
                                  <a:rPr lang="it-IT" sz="1800" i="1" smtClean="0">
                                    <a:latin typeface="Cambria Math" panose="02040503050406030204" pitchFamily="18" charset="0"/>
                                  </a:rPr>
                                </m:ctrlPr>
                              </m:naryPr>
                              <m:sub>
                                <m:r>
                                  <a:rPr lang="it-IT" sz="1800" i="1">
                                    <a:latin typeface="Cambria Math" panose="02040503050406030204" pitchFamily="18" charset="0"/>
                                  </a:rPr>
                                  <m:t>𝑖</m:t>
                                </m:r>
                              </m:sub>
                              <m:sup/>
                              <m:e>
                                <m:sSub>
                                  <m:sSubPr>
                                    <m:ctrlPr>
                                      <a:rPr lang="it-IT" sz="1800" i="1">
                                        <a:latin typeface="Cambria Math" panose="02040503050406030204" pitchFamily="18" charset="0"/>
                                      </a:rPr>
                                    </m:ctrlPr>
                                  </m:sSubPr>
                                  <m:e>
                                    <m:r>
                                      <a:rPr lang="it-IT" sz="1800" i="1">
                                        <a:latin typeface="Cambria Math" panose="02040503050406030204" pitchFamily="18" charset="0"/>
                                      </a:rPr>
                                      <m:t>𝑤</m:t>
                                    </m:r>
                                  </m:e>
                                  <m:sub>
                                    <m:r>
                                      <a:rPr lang="it-IT" sz="1800" i="1">
                                        <a:latin typeface="Cambria Math" panose="02040503050406030204" pitchFamily="18" charset="0"/>
                                      </a:rPr>
                                      <m:t>𝑖</m:t>
                                    </m:r>
                                  </m:sub>
                                </m:sSub>
                                <m:nary>
                                  <m:naryPr>
                                    <m:ctrlPr>
                                      <a:rPr lang="it-IT" sz="1800" i="1">
                                        <a:latin typeface="Cambria Math" panose="02040503050406030204" pitchFamily="18" charset="0"/>
                                      </a:rPr>
                                    </m:ctrlPr>
                                  </m:naryPr>
                                  <m:sub>
                                    <m:r>
                                      <a:rPr lang="it-IT" sz="1800" i="1">
                                        <a:latin typeface="Cambria Math" panose="02040503050406030204" pitchFamily="18" charset="0"/>
                                      </a:rPr>
                                      <m:t>−</m:t>
                                    </m:r>
                                    <m:r>
                                      <a:rPr lang="it-IT" sz="1800" i="1">
                                        <a:latin typeface="Cambria Math" panose="02040503050406030204" pitchFamily="18" charset="0"/>
                                      </a:rPr>
                                      <m:t>∞</m:t>
                                    </m:r>
                                  </m:sub>
                                  <m:sup>
                                    <m:r>
                                      <a:rPr lang="it-IT" sz="1800" i="1">
                                        <a:latin typeface="Cambria Math" panose="02040503050406030204" pitchFamily="18" charset="0"/>
                                      </a:rPr>
                                      <m:t>+</m:t>
                                    </m:r>
                                    <m:r>
                                      <a:rPr lang="it-IT" sz="1800" i="1">
                                        <a:latin typeface="Cambria Math" panose="02040503050406030204" pitchFamily="18" charset="0"/>
                                      </a:rPr>
                                      <m:t>∞</m:t>
                                    </m:r>
                                  </m:sup>
                                  <m:e>
                                    <m:r>
                                      <a:rPr lang="it-IT" sz="1800" i="1" dirty="0">
                                        <a:latin typeface="Cambria Math" panose="02040503050406030204" pitchFamily="18" charset="0"/>
                                      </a:rPr>
                                      <m:t>𝒩</m:t>
                                    </m:r>
                                    <m:d>
                                      <m:dPr>
                                        <m:sep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𝑜𝑏𝑠</m:t>
                                            </m:r>
                                          </m:sub>
                                        </m:sSub>
                                      </m:e>
                                      <m:e>
                                        <m:r>
                                          <a:rPr lang="it-IT" sz="1800" i="1">
                                            <a:latin typeface="Cambria Math" panose="02040503050406030204" pitchFamily="18" charset="0"/>
                                          </a:rPr>
                                          <m:t>𝑥</m:t>
                                        </m:r>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𝑜𝑏𝑠</m:t>
                                            </m:r>
                                          </m:sub>
                                          <m:sup>
                                            <m:r>
                                              <a:rPr lang="it-IT" sz="1800" i="1">
                                                <a:latin typeface="Cambria Math" panose="02040503050406030204" pitchFamily="18" charset="0"/>
                                              </a:rPr>
                                              <m:t>2</m:t>
                                            </m:r>
                                          </m:sup>
                                        </m:sSubSup>
                                      </m:e>
                                    </m:d>
                                  </m:e>
                                </m:nary>
                              </m:e>
                            </m:nary>
                            <m:r>
                              <a:rPr lang="it-IT" sz="1800" i="1">
                                <a:latin typeface="Cambria Math" panose="02040503050406030204" pitchFamily="18" charset="0"/>
                              </a:rPr>
                              <m:t> </m:t>
                            </m:r>
                            <m:r>
                              <a:rPr lang="it-IT" sz="1800" i="1" dirty="0">
                                <a:latin typeface="Cambria Math" panose="02040503050406030204" pitchFamily="18" charset="0"/>
                              </a:rPr>
                              <m:t>𝒩</m:t>
                            </m:r>
                            <m:d>
                              <m:dPr>
                                <m:sepChr m:val="∣"/>
                                <m:ctrlPr>
                                  <a:rPr lang="it-IT" sz="1800" i="1">
                                    <a:latin typeface="Cambria Math" panose="02040503050406030204" pitchFamily="18" charset="0"/>
                                  </a:rPr>
                                </m:ctrlPr>
                              </m:dPr>
                              <m:e>
                                <m:r>
                                  <a:rPr lang="it-IT" sz="1800" i="1">
                                    <a:latin typeface="Cambria Math" panose="02040503050406030204" pitchFamily="18" charset="0"/>
                                  </a:rPr>
                                  <m:t>𝑥</m:t>
                                </m:r>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𝑖</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𝑖</m:t>
                                    </m:r>
                                  </m:sub>
                                  <m:sup>
                                    <m:r>
                                      <a:rPr lang="it-IT" sz="1800" i="1">
                                        <a:latin typeface="Cambria Math" panose="02040503050406030204" pitchFamily="18" charset="0"/>
                                      </a:rPr>
                                      <m:t>2</m:t>
                                    </m:r>
                                  </m:sup>
                                </m:sSubSup>
                              </m:e>
                            </m:d>
                            <m:r>
                              <a:rPr lang="it-IT" sz="1800" i="1">
                                <a:latin typeface="Cambria Math" panose="02040503050406030204" pitchFamily="18" charset="0"/>
                              </a:rPr>
                              <m:t> </m:t>
                            </m:r>
                            <m:r>
                              <a:rPr lang="it-IT" sz="1800" i="1">
                                <a:latin typeface="Cambria Math" panose="02040503050406030204" pitchFamily="18" charset="0"/>
                              </a:rPr>
                              <m:t>𝑑𝑥</m:t>
                            </m:r>
                          </m:e>
                        </m:mr>
                        <m:mr>
                          <m:e/>
                          <m:e>
                            <m:r>
                              <a:rPr lang="it-IT" sz="1800" b="0" i="1" smtClean="0">
                                <a:latin typeface="Cambria Math" panose="02040503050406030204" pitchFamily="18" charset="0"/>
                              </a:rPr>
                              <m:t>=</m:t>
                            </m:r>
                          </m:e>
                          <m:e>
                            <m:nary>
                              <m:naryPr>
                                <m:chr m:val="∑"/>
                                <m:supHide m:val="on"/>
                                <m:ctrlPr>
                                  <a:rPr lang="pl-PL" sz="1800" i="1" smtClean="0">
                                    <a:latin typeface="Cambria Math" panose="02040503050406030204" pitchFamily="18" charset="0"/>
                                  </a:rPr>
                                </m:ctrlPr>
                              </m:naryPr>
                              <m:sub>
                                <m:r>
                                  <a:rPr lang="pl-PL" sz="1800" i="1">
                                    <a:latin typeface="Cambria Math" panose="02040503050406030204" pitchFamily="18" charset="0"/>
                                  </a:rPr>
                                  <m:t>𝑖</m:t>
                                </m:r>
                              </m:sub>
                              <m:sup/>
                              <m:e>
                                <m:sSub>
                                  <m:sSubPr>
                                    <m:ctrlPr>
                                      <a:rPr lang="pl-PL" sz="1800" i="1">
                                        <a:latin typeface="Cambria Math" panose="02040503050406030204" pitchFamily="18" charset="0"/>
                                      </a:rPr>
                                    </m:ctrlPr>
                                  </m:sSubPr>
                                  <m:e>
                                    <m:r>
                                      <a:rPr lang="pl-PL" sz="1800" i="1">
                                        <a:latin typeface="Cambria Math" panose="02040503050406030204" pitchFamily="18" charset="0"/>
                                      </a:rPr>
                                      <m:t>𝑤</m:t>
                                    </m:r>
                                  </m:e>
                                  <m:sub>
                                    <m:r>
                                      <a:rPr lang="pl-PL" sz="1800" i="1">
                                        <a:latin typeface="Cambria Math" panose="02040503050406030204" pitchFamily="18" charset="0"/>
                                      </a:rPr>
                                      <m:t>𝑖</m:t>
                                    </m:r>
                                  </m:sub>
                                </m:sSub>
                              </m:e>
                            </m:nary>
                            <m:r>
                              <a:rPr lang="pl-PL" sz="1800" i="1">
                                <a:latin typeface="Cambria Math" panose="02040503050406030204" pitchFamily="18" charset="0"/>
                              </a:rPr>
                              <m:t> </m:t>
                            </m:r>
                            <m:r>
                              <a:rPr lang="it-IT" sz="1800" i="1" dirty="0">
                                <a:latin typeface="Cambria Math" panose="02040503050406030204" pitchFamily="18" charset="0"/>
                              </a:rPr>
                              <m:t>𝒩</m:t>
                            </m:r>
                            <m:d>
                              <m:dPr>
                                <m:sepChr m:val="∣"/>
                                <m:ctrlPr>
                                  <a:rPr lang="pl-PL" sz="1800" i="1">
                                    <a:latin typeface="Cambria Math" panose="02040503050406030204" pitchFamily="18" charset="0"/>
                                  </a:rPr>
                                </m:ctrlPr>
                              </m:dPr>
                              <m:e>
                                <m:sSub>
                                  <m:sSubPr>
                                    <m:ctrlPr>
                                      <a:rPr lang="pl-PL" sz="1800" i="1">
                                        <a:latin typeface="Cambria Math" panose="02040503050406030204" pitchFamily="18" charset="0"/>
                                      </a:rPr>
                                    </m:ctrlPr>
                                  </m:sSubPr>
                                  <m:e>
                                    <m:r>
                                      <a:rPr lang="pl-PL" sz="1800" i="1">
                                        <a:latin typeface="Cambria Math" panose="02040503050406030204" pitchFamily="18" charset="0"/>
                                      </a:rPr>
                                      <m:t>𝑥</m:t>
                                    </m:r>
                                  </m:e>
                                  <m:sub>
                                    <m:r>
                                      <a:rPr lang="pl-PL" sz="1800" i="1">
                                        <a:latin typeface="Cambria Math" panose="02040503050406030204" pitchFamily="18" charset="0"/>
                                      </a:rPr>
                                      <m:t>𝑜𝑏𝑠</m:t>
                                    </m:r>
                                  </m:sub>
                                </m:sSub>
                              </m:e>
                              <m:e>
                                <m:sSub>
                                  <m:sSubPr>
                                    <m:ctrlPr>
                                      <a:rPr lang="pl-PL" sz="1800" i="1">
                                        <a:latin typeface="Cambria Math" panose="02040503050406030204" pitchFamily="18" charset="0"/>
                                      </a:rPr>
                                    </m:ctrlPr>
                                  </m:sSubPr>
                                  <m:e>
                                    <m:r>
                                      <a:rPr lang="pl-PL" sz="1800" i="1">
                                        <a:latin typeface="Cambria Math" panose="02040503050406030204" pitchFamily="18" charset="0"/>
                                      </a:rPr>
                                      <m:t>𝜇</m:t>
                                    </m:r>
                                  </m:e>
                                  <m:sub>
                                    <m:r>
                                      <a:rPr lang="pl-PL" sz="1800" i="1">
                                        <a:latin typeface="Cambria Math" panose="02040503050406030204" pitchFamily="18" charset="0"/>
                                      </a:rPr>
                                      <m:t>𝑖</m:t>
                                    </m:r>
                                  </m:sub>
                                </m:sSub>
                                <m:r>
                                  <a:rPr lang="pl-PL" sz="1800" i="1">
                                    <a:latin typeface="Cambria Math" panose="02040503050406030204" pitchFamily="18" charset="0"/>
                                  </a:rPr>
                                  <m:t>,</m:t>
                                </m:r>
                                <m:sSubSup>
                                  <m:sSubSupPr>
                                    <m:ctrlPr>
                                      <a:rPr lang="pl-PL" sz="1800" i="1">
                                        <a:latin typeface="Cambria Math" panose="02040503050406030204" pitchFamily="18" charset="0"/>
                                      </a:rPr>
                                    </m:ctrlPr>
                                  </m:sSubSupPr>
                                  <m:e>
                                    <m:r>
                                      <a:rPr lang="pl-PL" sz="1800" i="1">
                                        <a:latin typeface="Cambria Math" panose="02040503050406030204" pitchFamily="18" charset="0"/>
                                      </a:rPr>
                                      <m:t>𝜎</m:t>
                                    </m:r>
                                  </m:e>
                                  <m:sub>
                                    <m:r>
                                      <a:rPr lang="pl-PL" sz="1800" i="1">
                                        <a:latin typeface="Cambria Math" panose="02040503050406030204" pitchFamily="18" charset="0"/>
                                      </a:rPr>
                                      <m:t>𝑖</m:t>
                                    </m:r>
                                  </m:sub>
                                  <m:sup>
                                    <m:r>
                                      <a:rPr lang="pl-PL" sz="1800" i="1">
                                        <a:latin typeface="Cambria Math" panose="02040503050406030204" pitchFamily="18" charset="0"/>
                                      </a:rPr>
                                      <m:t>2</m:t>
                                    </m:r>
                                  </m:sup>
                                </m:sSubSup>
                                <m:r>
                                  <a:rPr lang="pl-PL" sz="1800" i="1">
                                    <a:latin typeface="Cambria Math" panose="02040503050406030204" pitchFamily="18" charset="0"/>
                                  </a:rPr>
                                  <m:t>+</m:t>
                                </m:r>
                                <m:sSubSup>
                                  <m:sSubSupPr>
                                    <m:ctrlPr>
                                      <a:rPr lang="pl-PL" sz="1800" i="1">
                                        <a:latin typeface="Cambria Math" panose="02040503050406030204" pitchFamily="18" charset="0"/>
                                      </a:rPr>
                                    </m:ctrlPr>
                                  </m:sSubSupPr>
                                  <m:e>
                                    <m:r>
                                      <a:rPr lang="pl-PL" sz="1800" i="1">
                                        <a:latin typeface="Cambria Math" panose="02040503050406030204" pitchFamily="18" charset="0"/>
                                      </a:rPr>
                                      <m:t>𝜎</m:t>
                                    </m:r>
                                  </m:e>
                                  <m:sub>
                                    <m:r>
                                      <a:rPr lang="pl-PL" sz="1800" i="1">
                                        <a:latin typeface="Cambria Math" panose="02040503050406030204" pitchFamily="18" charset="0"/>
                                      </a:rPr>
                                      <m:t>𝑜𝑏𝑠</m:t>
                                    </m:r>
                                  </m:sub>
                                  <m:sup>
                                    <m:r>
                                      <a:rPr lang="pl-PL" sz="1800" i="1">
                                        <a:latin typeface="Cambria Math" panose="02040503050406030204" pitchFamily="18" charset="0"/>
                                      </a:rPr>
                                      <m:t>2</m:t>
                                    </m:r>
                                  </m:sup>
                                </m:sSubSup>
                              </m:e>
                            </m:d>
                          </m:e>
                        </m:mr>
                      </m:m>
                    </m:oMath>
                  </m:oMathPara>
                </a14:m>
                <a:endParaRPr lang="it-IT" sz="1800" dirty="0"/>
              </a:p>
              <a:p>
                <a:endParaRPr lang="it-IT" dirty="0"/>
              </a:p>
              <a:p>
                <a:r>
                  <a:rPr lang="it-IT" dirty="0"/>
                  <a:t>The inference is analogous to Problem 1a; the values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𝜎</m:t>
                        </m:r>
                      </m:e>
                      <m:sub>
                        <m:r>
                          <m:rPr>
                            <m:sty m:val="p"/>
                          </m:rPr>
                          <a:rPr lang="it-IT">
                            <a:latin typeface="Cambria Math" panose="02040503050406030204" pitchFamily="18" charset="0"/>
                          </a:rPr>
                          <m:t>obs</m:t>
                        </m:r>
                        <m:r>
                          <a:rPr lang="it-IT">
                            <a:latin typeface="Cambria Math" panose="02040503050406030204" pitchFamily="18" charset="0"/>
                          </a:rPr>
                          <m:t>,</m:t>
                        </m:r>
                        <m:r>
                          <a:rPr lang="it-IT" i="1">
                            <a:latin typeface="Cambria Math" panose="02040503050406030204" pitchFamily="18" charset="0"/>
                          </a:rPr>
                          <m:t>𝑖</m:t>
                        </m:r>
                      </m:sub>
                      <m:sup>
                        <m:r>
                          <a:rPr lang="ar-AE">
                            <a:latin typeface="Cambria Math" panose="02040503050406030204" pitchFamily="18" charset="0"/>
                          </a:rPr>
                          <m:t>2</m:t>
                        </m:r>
                      </m:sup>
                    </m:sSubSup>
                  </m:oMath>
                </a14:m>
                <a:r>
                  <a:rPr lang="it-IT" dirty="0"/>
                  <a:t> for </a:t>
                </a:r>
                <a14:m>
                  <m:oMath xmlns:m="http://schemas.openxmlformats.org/officeDocument/2006/math">
                    <m:r>
                      <a:rPr lang="it-IT" i="1">
                        <a:latin typeface="Cambria Math" panose="02040503050406030204" pitchFamily="18" charset="0"/>
                      </a:rPr>
                      <m:t>𝑖</m:t>
                    </m:r>
                    <m:r>
                      <a:rPr lang="it-IT">
                        <a:latin typeface="Cambria Math" panose="02040503050406030204" pitchFamily="18" charset="0"/>
                      </a:rPr>
                      <m:t>=</m:t>
                    </m:r>
                    <m:r>
                      <a:rPr lang="it-IT">
                        <a:latin typeface="Cambria Math" panose="02040503050406030204" pitchFamily="18" charset="0"/>
                      </a:rPr>
                      <m:t>1</m:t>
                    </m:r>
                    <m:r>
                      <a:rPr lang="it-IT">
                        <a:latin typeface="Cambria Math" panose="02040503050406030204" pitchFamily="18" charset="0"/>
                      </a:rPr>
                      <m:t>,…,</m:t>
                    </m:r>
                    <m:r>
                      <a:rPr lang="it-IT" i="1">
                        <a:latin typeface="Cambria Math" panose="02040503050406030204" pitchFamily="18" charset="0"/>
                      </a:rPr>
                      <m:t>𝑁</m:t>
                    </m:r>
                  </m:oMath>
                </a14:m>
                <a:r>
                  <a:rPr lang="it-IT" dirty="0"/>
                  <a:t> are known, so for each measurement we add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𝜎</m:t>
                        </m:r>
                      </m:e>
                      <m:sub>
                        <m:r>
                          <m:rPr>
                            <m:sty m:val="p"/>
                          </m:rPr>
                          <a:rPr lang="it-IT">
                            <a:latin typeface="Cambria Math" panose="02040503050406030204" pitchFamily="18" charset="0"/>
                          </a:rPr>
                          <m:t>obs</m:t>
                        </m:r>
                        <m:r>
                          <a:rPr lang="it-IT">
                            <a:latin typeface="Cambria Math" panose="02040503050406030204" pitchFamily="18" charset="0"/>
                          </a:rPr>
                          <m:t>,</m:t>
                        </m:r>
                        <m:r>
                          <a:rPr lang="it-IT" i="1">
                            <a:latin typeface="Cambria Math" panose="02040503050406030204" pitchFamily="18" charset="0"/>
                          </a:rPr>
                          <m:t>𝑖</m:t>
                        </m:r>
                      </m:sub>
                      <m:sup>
                        <m:r>
                          <a:rPr lang="ar-AE">
                            <a:latin typeface="Cambria Math" panose="02040503050406030204" pitchFamily="18" charset="0"/>
                          </a:rPr>
                          <m:t>2</m:t>
                        </m:r>
                      </m:sup>
                    </m:sSubSup>
                  </m:oMath>
                </a14:m>
                <a:r>
                  <a:rPr lang="it-IT" dirty="0"/>
                  <a:t> to the corresponding variance.</a:t>
                </a:r>
              </a:p>
            </p:txBody>
          </p:sp>
        </mc:Choice>
        <mc:Fallback xmlns="">
          <p:sp>
            <p:nvSpPr>
              <p:cNvPr id="3" name="Content Placeholder 2">
                <a:extLst>
                  <a:ext uri="{FF2B5EF4-FFF2-40B4-BE49-F238E27FC236}">
                    <a16:creationId xmlns:a16="http://schemas.microsoft.com/office/drawing/2014/main" id="{1F5FDA05-1810-F7E4-7015-A1C6E282D3CB}"/>
                  </a:ext>
                </a:extLst>
              </p:cNvPr>
              <p:cNvSpPr>
                <a:spLocks noGrp="1" noRot="1" noChangeAspect="1" noMove="1" noResize="1" noEditPoints="1" noAdjustHandles="1" noChangeArrowheads="1" noChangeShapeType="1" noTextEdit="1"/>
              </p:cNvSpPr>
              <p:nvPr>
                <p:ph idx="1"/>
              </p:nvPr>
            </p:nvSpPr>
            <p:spPr>
              <a:xfrm>
                <a:off x="700635" y="1570892"/>
                <a:ext cx="10691265" cy="4390996"/>
              </a:xfrm>
              <a:blipFill>
                <a:blip r:embed="rId2"/>
                <a:stretch>
                  <a:fillRect l="-513" t="-10139"/>
                </a:stretch>
              </a:blipFill>
            </p:spPr>
            <p:txBody>
              <a:bodyPr/>
              <a:lstStyle/>
              <a:p>
                <a:r>
                  <a:rPr lang="it-IT">
                    <a:noFill/>
                  </a:rPr>
                  <a:t> </a:t>
                </a:r>
              </a:p>
            </p:txBody>
          </p:sp>
        </mc:Fallback>
      </mc:AlternateContent>
    </p:spTree>
    <p:extLst>
      <p:ext uri="{BB962C8B-B14F-4D97-AF65-F5344CB8AC3E}">
        <p14:creationId xmlns:p14="http://schemas.microsoft.com/office/powerpoint/2010/main" val="3395578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1BE8A-1BC8-422C-B31B-B70F19FF41C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F4DA25-2BC7-3D9B-69B4-FCBCE3E1ACA0}"/>
                  </a:ext>
                </a:extLst>
              </p:cNvPr>
              <p:cNvSpPr>
                <a:spLocks noGrp="1"/>
              </p:cNvSpPr>
              <p:nvPr>
                <p:ph idx="1"/>
              </p:nvPr>
            </p:nvSpPr>
            <p:spPr>
              <a:xfrm>
                <a:off x="700635" y="1570892"/>
                <a:ext cx="5458384" cy="4501662"/>
              </a:xfrm>
            </p:spPr>
            <p:txBody>
              <a:bodyPr>
                <a:normAutofit/>
              </a:bodyPr>
              <a:lstStyle/>
              <a:p>
                <a:r>
                  <a:rPr lang="en-US" dirty="0"/>
                  <a:t>Initial state validated on simulated data; real data stability uncertain.</a:t>
                </a:r>
              </a:p>
              <a:p>
                <a:r>
                  <a:rPr lang="en-US" dirty="0"/>
                  <a:t>Ensemble of </a:t>
                </a:r>
                <a:r>
                  <a:rPr lang="en-US" b="1" dirty="0"/>
                  <a:t>8 chains</a:t>
                </a:r>
                <a:r>
                  <a:rPr lang="en-US" dirty="0"/>
                  <a:t> with </a:t>
                </a:r>
                <a:r>
                  <a:rPr lang="en-US" b="1" dirty="0"/>
                  <a:t>different initial states</a:t>
                </a:r>
                <a:r>
                  <a:rPr lang="en-US" dirty="0"/>
                  <a:t>.</a:t>
                </a:r>
              </a:p>
              <a:p>
                <a:r>
                  <a:rPr lang="en-US" dirty="0"/>
                  <a:t>Initial states obtained by </a:t>
                </a:r>
                <a:r>
                  <a:rPr lang="en-US" b="1" dirty="0"/>
                  <a:t>Gaussian perturbation</a:t>
                </a:r>
                <a:r>
                  <a:rPr lang="en-US" dirty="0"/>
                  <a:t> (mean = base </a:t>
                </a:r>
                <a:r>
                  <a:rPr lang="en-US" dirty="0" err="1"/>
                  <a:t>init</a:t>
                </a:r>
                <a:r>
                  <a:rPr lang="en-US" dirty="0"/>
                  <a:t>; std = 10% of parameter range; clipped to prior boundaries).</a:t>
                </a:r>
              </a:p>
              <a:p>
                <a:r>
                  <a:rPr lang="en-US" dirty="0"/>
                  <a:t>2/8 chains stuck at </a:t>
                </a:r>
                <a14:m>
                  <m:oMath xmlns:m="http://schemas.openxmlformats.org/officeDocument/2006/math">
                    <m:r>
                      <a:rPr lang="en-US" i="1">
                        <a:latin typeface="Cambria Math" panose="02040503050406030204" pitchFamily="18" charset="0"/>
                      </a:rPr>
                      <m:t>𝑤</m:t>
                    </m:r>
                    <m:r>
                      <a:rPr lang="en-US">
                        <a:latin typeface="Cambria Math" panose="02040503050406030204" pitchFamily="18" charset="0"/>
                      </a:rPr>
                      <m:t>≈1</m:t>
                    </m:r>
                  </m:oMath>
                </a14:m>
                <a:r>
                  <a:rPr lang="en-US" dirty="0"/>
                  <a:t>→ discarded.</a:t>
                </a:r>
              </a:p>
              <a:p>
                <a:r>
                  <a:rPr lang="en-US" b="1" dirty="0"/>
                  <a:t>Thinning</a:t>
                </a:r>
                <a:r>
                  <a:rPr lang="en-US" dirty="0"/>
                  <a:t>: first lag where autocorrelation &lt; 0 (max across parameters).</a:t>
                </a:r>
                <a:endParaRPr lang="it-IT" dirty="0"/>
              </a:p>
              <a:p>
                <a:r>
                  <a:rPr lang="it-IT" b="1" dirty="0"/>
                  <a:t>Burnin</a:t>
                </a:r>
                <a:r>
                  <a:rPr lang="it-IT" dirty="0"/>
                  <a:t> = 1000.</a:t>
                </a:r>
              </a:p>
            </p:txBody>
          </p:sp>
        </mc:Choice>
        <mc:Fallback xmlns="">
          <p:sp>
            <p:nvSpPr>
              <p:cNvPr id="3" name="Content Placeholder 2">
                <a:extLst>
                  <a:ext uri="{FF2B5EF4-FFF2-40B4-BE49-F238E27FC236}">
                    <a16:creationId xmlns:a16="http://schemas.microsoft.com/office/drawing/2014/main" id="{CEF4DA25-2BC7-3D9B-69B4-FCBCE3E1ACA0}"/>
                  </a:ext>
                </a:extLst>
              </p:cNvPr>
              <p:cNvSpPr>
                <a:spLocks noGrp="1" noRot="1" noChangeAspect="1" noMove="1" noResize="1" noEditPoints="1" noAdjustHandles="1" noChangeArrowheads="1" noChangeShapeType="1" noTextEdit="1"/>
              </p:cNvSpPr>
              <p:nvPr>
                <p:ph idx="1"/>
              </p:nvPr>
            </p:nvSpPr>
            <p:spPr>
              <a:xfrm>
                <a:off x="700635" y="1570892"/>
                <a:ext cx="5458384" cy="4501662"/>
              </a:xfrm>
              <a:blipFill>
                <a:blip r:embed="rId2"/>
                <a:stretch>
                  <a:fillRect l="-1006" t="-678"/>
                </a:stretch>
              </a:blipFill>
            </p:spPr>
            <p:txBody>
              <a:bodyPr/>
              <a:lstStyle/>
              <a:p>
                <a:r>
                  <a:rPr lang="it-IT">
                    <a:noFill/>
                  </a:rPr>
                  <a:t> </a:t>
                </a:r>
              </a:p>
            </p:txBody>
          </p:sp>
        </mc:Fallback>
      </mc:AlternateContent>
      <p:pic>
        <p:nvPicPr>
          <p:cNvPr id="5" name="Picture 4" descr="A graph of a chain trace plot&#10;&#10;AI-generated content may be incorrect.">
            <a:extLst>
              <a:ext uri="{FF2B5EF4-FFF2-40B4-BE49-F238E27FC236}">
                <a16:creationId xmlns:a16="http://schemas.microsoft.com/office/drawing/2014/main" id="{AF160D60-33A7-DEE2-F070-B5FDB27F50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9019" y="787704"/>
            <a:ext cx="5232882" cy="5284850"/>
          </a:xfrm>
          <a:prstGeom prst="rect">
            <a:avLst/>
          </a:prstGeom>
        </p:spPr>
      </p:pic>
      <p:sp>
        <p:nvSpPr>
          <p:cNvPr id="2" name="Title 1">
            <a:extLst>
              <a:ext uri="{FF2B5EF4-FFF2-40B4-BE49-F238E27FC236}">
                <a16:creationId xmlns:a16="http://schemas.microsoft.com/office/drawing/2014/main" id="{45DB61CC-1B23-56A3-87AE-78096854276D}"/>
              </a:ext>
            </a:extLst>
          </p:cNvPr>
          <p:cNvSpPr>
            <a:spLocks noGrp="1"/>
          </p:cNvSpPr>
          <p:nvPr>
            <p:ph type="title"/>
          </p:nvPr>
        </p:nvSpPr>
        <p:spPr>
          <a:xfrm>
            <a:off x="591220" y="917096"/>
            <a:ext cx="10691265" cy="1307592"/>
          </a:xfrm>
        </p:spPr>
        <p:txBody>
          <a:bodyPr/>
          <a:lstStyle/>
          <a:p>
            <a:r>
              <a:rPr lang="it-IT" dirty="0">
                <a:solidFill>
                  <a:srgbClr val="FF0000"/>
                </a:solidFill>
              </a:rPr>
              <a:t>ENSEMBLE - uncertainties </a:t>
            </a:r>
          </a:p>
        </p:txBody>
      </p:sp>
    </p:spTree>
    <p:extLst>
      <p:ext uri="{BB962C8B-B14F-4D97-AF65-F5344CB8AC3E}">
        <p14:creationId xmlns:p14="http://schemas.microsoft.com/office/powerpoint/2010/main" val="524222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A1588-F0AD-51A2-4D59-AB047F0957E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F45FA57-D8EF-F348-A4DB-9EE05938044E}"/>
              </a:ext>
            </a:extLst>
          </p:cNvPr>
          <p:cNvSpPr txBox="1"/>
          <p:nvPr/>
        </p:nvSpPr>
        <p:spPr>
          <a:xfrm>
            <a:off x="750094" y="4591440"/>
            <a:ext cx="3426778" cy="646331"/>
          </a:xfrm>
          <a:prstGeom prst="rect">
            <a:avLst/>
          </a:prstGeom>
          <a:noFill/>
        </p:spPr>
        <p:txBody>
          <a:bodyPr wrap="square" rtlCol="0">
            <a:spAutoFit/>
          </a:bodyPr>
          <a:lstStyle/>
          <a:p>
            <a:pPr algn="ctr"/>
            <a:r>
              <a:rPr lang="it-IT" dirty="0"/>
              <a:t>Mean acceptace rate = 0.268</a:t>
            </a:r>
          </a:p>
          <a:p>
            <a:pPr algn="ctr"/>
            <a:r>
              <a:rPr lang="it-IT" dirty="0"/>
              <a:t>#samples = 4349</a:t>
            </a:r>
          </a:p>
        </p:txBody>
      </p:sp>
      <p:pic>
        <p:nvPicPr>
          <p:cNvPr id="3" name="Picture 2" descr="A graph of a graph of a person&#10;&#10;AI-generated content may be incorrect.">
            <a:extLst>
              <a:ext uri="{FF2B5EF4-FFF2-40B4-BE49-F238E27FC236}">
                <a16:creationId xmlns:a16="http://schemas.microsoft.com/office/drawing/2014/main" id="{3F46EA28-3586-06F7-7721-2D9F40D97E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3852" y="808962"/>
            <a:ext cx="9764295" cy="2791905"/>
          </a:xfrm>
          <a:prstGeom prst="rect">
            <a:avLst/>
          </a:prstGeom>
        </p:spPr>
      </p:pic>
      <p:pic>
        <p:nvPicPr>
          <p:cNvPr id="5" name="Picture 4" descr="A graph with a line&#10;&#10;AI-generated content may be incorrect.">
            <a:extLst>
              <a:ext uri="{FF2B5EF4-FFF2-40B4-BE49-F238E27FC236}">
                <a16:creationId xmlns:a16="http://schemas.microsoft.com/office/drawing/2014/main" id="{EF65D33D-7CD7-E3C1-9155-39BA765DF3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21333" y="3600867"/>
            <a:ext cx="4149332" cy="2533711"/>
          </a:xfrm>
          <a:prstGeom prst="rect">
            <a:avLst/>
          </a:prstGeom>
        </p:spPr>
      </p:pic>
    </p:spTree>
    <p:extLst>
      <p:ext uri="{BB962C8B-B14F-4D97-AF65-F5344CB8AC3E}">
        <p14:creationId xmlns:p14="http://schemas.microsoft.com/office/powerpoint/2010/main" val="2100158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9C9D-1D60-B367-7642-C7C18CBB4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7D63C-1D86-EEA5-47E9-A41B19560511}"/>
              </a:ext>
            </a:extLst>
          </p:cNvPr>
          <p:cNvSpPr>
            <a:spLocks noGrp="1"/>
          </p:cNvSpPr>
          <p:nvPr>
            <p:ph type="title"/>
          </p:nvPr>
        </p:nvSpPr>
        <p:spPr/>
        <p:txBody>
          <a:bodyPr/>
          <a:lstStyle/>
          <a:p>
            <a:r>
              <a:rPr lang="it-IT" dirty="0">
                <a:solidFill>
                  <a:srgbClr val="FF0000"/>
                </a:solidFill>
              </a:rPr>
              <a:t>Parameter values - uncertainties </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0CF78483-E8B7-5058-710A-950C7B6B5F4C}"/>
                  </a:ext>
                </a:extLst>
              </p:cNvPr>
              <p:cNvGraphicFramePr>
                <a:graphicFrameLocks noGrp="1"/>
              </p:cNvGraphicFramePr>
              <p:nvPr>
                <p:ph idx="1"/>
                <p:extLst>
                  <p:ext uri="{D42A27DB-BD31-4B8C-83A1-F6EECF244321}">
                    <p14:modId xmlns:p14="http://schemas.microsoft.com/office/powerpoint/2010/main" val="3433477046"/>
                  </p:ext>
                </p:extLst>
              </p:nvPr>
            </p:nvGraphicFramePr>
            <p:xfrm>
              <a:off x="800100" y="2122836"/>
              <a:ext cx="10591800" cy="2612327"/>
            </p:xfrm>
            <a:graphic>
              <a:graphicData uri="http://schemas.openxmlformats.org/drawingml/2006/table">
                <a:tbl>
                  <a:tblPr firstRow="1" bandRow="1">
                    <a:tableStyleId>{5C22544A-7EE6-4342-B048-85BDC9FD1C3A}</a:tableStyleId>
                  </a:tblPr>
                  <a:tblGrid>
                    <a:gridCol w="2647950">
                      <a:extLst>
                        <a:ext uri="{9D8B030D-6E8A-4147-A177-3AD203B41FA5}">
                          <a16:colId xmlns:a16="http://schemas.microsoft.com/office/drawing/2014/main" val="987392356"/>
                        </a:ext>
                      </a:extLst>
                    </a:gridCol>
                    <a:gridCol w="2647950">
                      <a:extLst>
                        <a:ext uri="{9D8B030D-6E8A-4147-A177-3AD203B41FA5}">
                          <a16:colId xmlns:a16="http://schemas.microsoft.com/office/drawing/2014/main" val="4113713930"/>
                        </a:ext>
                      </a:extLst>
                    </a:gridCol>
                    <a:gridCol w="2647950">
                      <a:extLst>
                        <a:ext uri="{9D8B030D-6E8A-4147-A177-3AD203B41FA5}">
                          <a16:colId xmlns:a16="http://schemas.microsoft.com/office/drawing/2014/main" val="4244897437"/>
                        </a:ext>
                      </a:extLst>
                    </a:gridCol>
                    <a:gridCol w="2647950">
                      <a:extLst>
                        <a:ext uri="{9D8B030D-6E8A-4147-A177-3AD203B41FA5}">
                          <a16:colId xmlns:a16="http://schemas.microsoft.com/office/drawing/2014/main" val="66662860"/>
                        </a:ext>
                      </a:extLst>
                    </a:gridCol>
                  </a:tblGrid>
                  <a:tr h="370840">
                    <a:tc>
                      <a:txBody>
                        <a:bodyPr/>
                        <a:lstStyle/>
                        <a:p>
                          <a:pPr algn="ctr"/>
                          <a:r>
                            <a:rPr lang="it-IT" dirty="0"/>
                            <a:t>Parameters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it-IT" dirty="0"/>
                            <a:t>Mean ± std</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it-IT" dirty="0"/>
                            <a:t>Median±</a:t>
                          </a:r>
                          <a14:m>
                            <m:oMath xmlns:m="http://schemas.openxmlformats.org/officeDocument/2006/math">
                              <m:d>
                                <m:dPr>
                                  <m:begChr m:val="["/>
                                  <m:endChr m:val="]"/>
                                  <m:ctrlPr>
                                    <a:rPr lang="it-IT" b="1" i="1" smtClean="0">
                                      <a:latin typeface="Cambria Math" panose="02040503050406030204" pitchFamily="18" charset="0"/>
                                    </a:rPr>
                                  </m:ctrlPr>
                                </m:dPr>
                                <m:e>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𝟏𝟔</m:t>
                                      </m:r>
                                    </m:sub>
                                  </m:sSub>
                                  <m:r>
                                    <a:rPr lang="it-IT" b="1" i="1" smtClean="0">
                                      <a:latin typeface="Cambria Math" panose="02040503050406030204" pitchFamily="18" charset="0"/>
                                    </a:rPr>
                                    <m:t>,</m:t>
                                  </m:r>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𝟖𝟒</m:t>
                                      </m:r>
                                    </m:sub>
                                  </m:sSub>
                                </m:e>
                              </m:d>
                            </m:oMath>
                          </a14:m>
                          <a:r>
                            <a:rPr lang="it-IT" dirty="0"/>
                            <a:t>(68%)</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14:m>
                            <m:oMath xmlns:m="http://schemas.openxmlformats.org/officeDocument/2006/math">
                              <m:d>
                                <m:dPr>
                                  <m:begChr m:val="["/>
                                  <m:endChr m:val="]"/>
                                  <m:ctrlPr>
                                    <a:rPr lang="it-IT" b="1" i="1" smtClean="0">
                                      <a:latin typeface="Cambria Math" panose="02040503050406030204" pitchFamily="18" charset="0"/>
                                    </a:rPr>
                                  </m:ctrlPr>
                                </m:dPr>
                                <m:e>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5</m:t>
                                      </m:r>
                                    </m:sub>
                                  </m:sSub>
                                  <m:r>
                                    <a:rPr lang="it-IT" b="1" i="1" smtClean="0">
                                      <a:latin typeface="Cambria Math" panose="02040503050406030204" pitchFamily="18" charset="0"/>
                                    </a:rPr>
                                    <m:t>,</m:t>
                                  </m:r>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95</m:t>
                                      </m:r>
                                    </m:sub>
                                  </m:sSub>
                                </m:e>
                              </m:d>
                            </m:oMath>
                          </a14:m>
                          <a:r>
                            <a:rPr lang="it-IT" dirty="0"/>
                            <a:t> (90%)</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38773895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𝑤</m:t>
                                    </m:r>
                                  </m:e>
                                  <m:sub>
                                    <m:r>
                                      <a:rPr lang="it-IT" b="0" i="1" smtClean="0">
                                        <a:latin typeface="Cambria Math" panose="02040503050406030204" pitchFamily="18" charset="0"/>
                                      </a:rPr>
                                      <m:t>1</m:t>
                                    </m:r>
                                  </m:sub>
                                </m:sSub>
                              </m:oMath>
                            </m:oMathPara>
                          </a14:m>
                          <a:endParaRPr lang="it-IT"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it-IT" dirty="0"/>
                            <a:t>0.310 ± 0.019</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0.309</m:t>
                                    </m:r>
                                  </m:e>
                                  <m:sub>
                                    <m:r>
                                      <a:rPr lang="it-IT" b="0" i="1" smtClean="0">
                                        <a:latin typeface="Cambria Math" panose="02040503050406030204" pitchFamily="18" charset="0"/>
                                      </a:rPr>
                                      <m:t>−0.018</m:t>
                                    </m:r>
                                  </m:sub>
                                  <m:sup>
                                    <m:r>
                                      <a:rPr lang="it-IT" b="0" i="1" smtClean="0">
                                        <a:latin typeface="Cambria Math" panose="02040503050406030204" pitchFamily="18" charset="0"/>
                                      </a:rPr>
                                      <m:t>+0.019</m:t>
                                    </m:r>
                                  </m:sup>
                                </m:sSubSup>
                              </m:oMath>
                            </m:oMathPara>
                          </a14:m>
                          <a:endParaRPr lang="it-IT"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it-IT" dirty="0"/>
                            <a:t>[0.280, 0.342]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74169945"/>
                      </a:ext>
                    </a:extLst>
                  </a:tr>
                  <a:tr h="370840">
                    <a:tc>
                      <a:txBody>
                        <a:bodyPr/>
                        <a:lstStyle/>
                        <a:p>
                          <a:pPr algn="ct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1</m:t>
                                  </m:r>
                                </m:sub>
                              </m:sSub>
                            </m:oMath>
                          </a14:m>
                          <a:r>
                            <a:rPr lang="it-IT" dirty="0"/>
                            <a:t> [log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-0.20 ± 0.13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−0.20</m:t>
                                    </m:r>
                                  </m:e>
                                  <m:sub>
                                    <m:r>
                                      <a:rPr lang="it-IT" b="0" i="1" smtClean="0">
                                        <a:latin typeface="Cambria Math" panose="02040503050406030204" pitchFamily="18" charset="0"/>
                                      </a:rPr>
                                      <m:t>−0.12</m:t>
                                    </m:r>
                                  </m:sub>
                                  <m:sup>
                                    <m:r>
                                      <a:rPr lang="it-IT" b="0" i="1" smtClean="0">
                                        <a:latin typeface="Cambria Math" panose="02040503050406030204" pitchFamily="18" charset="0"/>
                                      </a:rPr>
                                      <m:t>+0.13</m:t>
                                    </m:r>
                                  </m:sup>
                                </m:sSubSup>
                              </m:oMath>
                            </m:oMathPara>
                          </a14:m>
                          <a:endParaRPr lang="it-IT"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[-0.40, 0.03]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1335764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𝛿</m:t>
                                  </m:r>
                                </m:e>
                                <m:sub>
                                  <m:r>
                                    <a:rPr lang="it-IT" b="0" i="1" smtClean="0">
                                      <a:latin typeface="Cambria Math" panose="02040503050406030204" pitchFamily="18" charset="0"/>
                                    </a:rPr>
                                    <m:t>12</m:t>
                                  </m:r>
                                </m:sub>
                              </m:sSub>
                            </m:oMath>
                          </a14:m>
                          <a:r>
                            <a:rPr lang="it-IT" dirty="0"/>
                            <a:t> [log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3.75 ± 0.10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3.75</m:t>
                                    </m:r>
                                  </m:e>
                                  <m:sub>
                                    <m:r>
                                      <a:rPr lang="it-IT" b="0" i="1" smtClean="0">
                                        <a:latin typeface="Cambria Math" panose="02040503050406030204" pitchFamily="18" charset="0"/>
                                      </a:rPr>
                                      <m:t>−0.10</m:t>
                                    </m:r>
                                  </m:sub>
                                  <m:sup>
                                    <m:r>
                                      <a:rPr lang="it-IT" b="0" i="1" smtClean="0">
                                        <a:latin typeface="Cambria Math" panose="02040503050406030204" pitchFamily="18" charset="0"/>
                                      </a:rPr>
                                      <m:t>+0.10</m:t>
                                    </m:r>
                                  </m:sup>
                                </m:sSubSup>
                              </m:oMath>
                            </m:oMathPara>
                          </a14:m>
                          <a:endParaRPr lang="it-IT"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[3.57, 3.91]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4766532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2</m:t>
                                  </m:r>
                                </m:sub>
                              </m:sSub>
                            </m:oMath>
                          </a14:m>
                          <a:r>
                            <a:rPr lang="it-IT" dirty="0"/>
                            <a:t> [log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3.549 ± 0.045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3.550</m:t>
                                    </m:r>
                                  </m:e>
                                  <m:sub>
                                    <m:r>
                                      <a:rPr lang="it-IT" b="0" i="1" smtClean="0">
                                        <a:latin typeface="Cambria Math" panose="02040503050406030204" pitchFamily="18" charset="0"/>
                                      </a:rPr>
                                      <m:t>−0.045</m:t>
                                    </m:r>
                                  </m:sub>
                                  <m:sup>
                                    <m:r>
                                      <a:rPr lang="it-IT" b="0" i="1" smtClean="0">
                                        <a:latin typeface="Cambria Math" panose="02040503050406030204" pitchFamily="18" charset="0"/>
                                      </a:rPr>
                                      <m:t>+0.044</m:t>
                                    </m:r>
                                  </m:sup>
                                </m:sSubSup>
                              </m:oMath>
                            </m:oMathPara>
                          </a14:m>
                          <a:endParaRPr lang="it-IT"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[3.476, 3.623]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7049225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1</m:t>
                                  </m:r>
                                </m:sub>
                              </m:sSub>
                            </m:oMath>
                          </a14:m>
                          <a:r>
                            <a:rPr lang="it-IT" dirty="0"/>
                            <a:t> [log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1.351 ± 0.085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1.347</m:t>
                                    </m:r>
                                  </m:e>
                                  <m:sub>
                                    <m:r>
                                      <a:rPr lang="it-IT" b="0" i="1" smtClean="0">
                                        <a:latin typeface="Cambria Math" panose="02040503050406030204" pitchFamily="18" charset="0"/>
                                      </a:rPr>
                                      <m:t>−0.080</m:t>
                                    </m:r>
                                  </m:sub>
                                  <m:sup>
                                    <m:r>
                                      <a:rPr lang="it-IT" b="0" i="1" smtClean="0">
                                        <a:latin typeface="Cambria Math" panose="02040503050406030204" pitchFamily="18" charset="0"/>
                                      </a:rPr>
                                      <m:t>+0.088</m:t>
                                    </m:r>
                                  </m:sup>
                                </m:sSubSup>
                              </m:oMath>
                            </m:oMathPara>
                          </a14:m>
                          <a:endParaRPr lang="it-IT"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it-IT" dirty="0"/>
                            <a:t>[1.219, 1.499]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49844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2</m:t>
                                  </m:r>
                                </m:sub>
                              </m:sSub>
                            </m:oMath>
                          </a14:m>
                          <a:r>
                            <a:rPr lang="it-IT" dirty="0"/>
                            <a:t> [log s]</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dirty="0"/>
                            <a:t>0.981 ± 0.032</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0.981</m:t>
                                    </m:r>
                                  </m:e>
                                  <m:sub>
                                    <m:r>
                                      <a:rPr lang="it-IT" b="0" i="1" smtClean="0">
                                        <a:latin typeface="Cambria Math" panose="02040503050406030204" pitchFamily="18" charset="0"/>
                                      </a:rPr>
                                      <m:t>−0.031</m:t>
                                    </m:r>
                                  </m:sub>
                                  <m:sup>
                                    <m:r>
                                      <a:rPr lang="it-IT" b="0" i="1" smtClean="0">
                                        <a:latin typeface="Cambria Math" panose="02040503050406030204" pitchFamily="18" charset="0"/>
                                      </a:rPr>
                                      <m:t>+0.031</m:t>
                                    </m:r>
                                  </m:sup>
                                </m:sSubSup>
                              </m:oMath>
                            </m:oMathPara>
                          </a14:m>
                          <a:endParaRPr lang="it-IT"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dirty="0"/>
                            <a:t>[0.928, 1.035]</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49795"/>
                      </a:ext>
                    </a:extLst>
                  </a:tr>
                </a:tbl>
              </a:graphicData>
            </a:graphic>
          </p:graphicFrame>
        </mc:Choice>
        <mc:Fallback xmlns="">
          <p:graphicFrame>
            <p:nvGraphicFramePr>
              <p:cNvPr id="4" name="Content Placeholder 3">
                <a:extLst>
                  <a:ext uri="{FF2B5EF4-FFF2-40B4-BE49-F238E27FC236}">
                    <a16:creationId xmlns:a16="http://schemas.microsoft.com/office/drawing/2014/main" id="{0CF78483-E8B7-5058-710A-950C7B6B5F4C}"/>
                  </a:ext>
                </a:extLst>
              </p:cNvPr>
              <p:cNvGraphicFramePr>
                <a:graphicFrameLocks noGrp="1"/>
              </p:cNvGraphicFramePr>
              <p:nvPr>
                <p:ph idx="1"/>
                <p:extLst>
                  <p:ext uri="{D42A27DB-BD31-4B8C-83A1-F6EECF244321}">
                    <p14:modId xmlns:p14="http://schemas.microsoft.com/office/powerpoint/2010/main" val="3433477046"/>
                  </p:ext>
                </p:extLst>
              </p:nvPr>
            </p:nvGraphicFramePr>
            <p:xfrm>
              <a:off x="800100" y="2122836"/>
              <a:ext cx="10591800" cy="2612327"/>
            </p:xfrm>
            <a:graphic>
              <a:graphicData uri="http://schemas.openxmlformats.org/drawingml/2006/table">
                <a:tbl>
                  <a:tblPr firstRow="1" bandRow="1">
                    <a:tableStyleId>{5C22544A-7EE6-4342-B048-85BDC9FD1C3A}</a:tableStyleId>
                  </a:tblPr>
                  <a:tblGrid>
                    <a:gridCol w="2647950">
                      <a:extLst>
                        <a:ext uri="{9D8B030D-6E8A-4147-A177-3AD203B41FA5}">
                          <a16:colId xmlns:a16="http://schemas.microsoft.com/office/drawing/2014/main" val="987392356"/>
                        </a:ext>
                      </a:extLst>
                    </a:gridCol>
                    <a:gridCol w="2647950">
                      <a:extLst>
                        <a:ext uri="{9D8B030D-6E8A-4147-A177-3AD203B41FA5}">
                          <a16:colId xmlns:a16="http://schemas.microsoft.com/office/drawing/2014/main" val="4113713930"/>
                        </a:ext>
                      </a:extLst>
                    </a:gridCol>
                    <a:gridCol w="2647950">
                      <a:extLst>
                        <a:ext uri="{9D8B030D-6E8A-4147-A177-3AD203B41FA5}">
                          <a16:colId xmlns:a16="http://schemas.microsoft.com/office/drawing/2014/main" val="4244897437"/>
                        </a:ext>
                      </a:extLst>
                    </a:gridCol>
                    <a:gridCol w="2647950">
                      <a:extLst>
                        <a:ext uri="{9D8B030D-6E8A-4147-A177-3AD203B41FA5}">
                          <a16:colId xmlns:a16="http://schemas.microsoft.com/office/drawing/2014/main" val="66662860"/>
                        </a:ext>
                      </a:extLst>
                    </a:gridCol>
                  </a:tblGrid>
                  <a:tr h="370840">
                    <a:tc>
                      <a:txBody>
                        <a:bodyPr/>
                        <a:lstStyle/>
                        <a:p>
                          <a:pPr algn="ctr"/>
                          <a:r>
                            <a:rPr lang="it-IT" dirty="0"/>
                            <a:t>Parameters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it-IT" dirty="0"/>
                            <a:t>Mean ± std</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2"/>
                          <a:stretch>
                            <a:fillRect l="-199770" t="-8197" r="-99770" b="-627869"/>
                          </a:stretch>
                        </a:blipFill>
                      </a:tcPr>
                    </a:tc>
                    <a:tc>
                      <a:txBody>
                        <a:bodyPr/>
                        <a:lstStyle/>
                        <a:p>
                          <a:endParaRPr lang="it-IT"/>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2"/>
                          <a:stretch>
                            <a:fillRect l="-300461" t="-8197" b="-627869"/>
                          </a:stretch>
                        </a:blipFill>
                      </a:tcPr>
                    </a:tc>
                    <a:extLst>
                      <a:ext uri="{0D108BD9-81ED-4DB2-BD59-A6C34878D82A}">
                        <a16:rowId xmlns:a16="http://schemas.microsoft.com/office/drawing/2014/main" val="1387738951"/>
                      </a:ext>
                    </a:extLst>
                  </a:tr>
                  <a:tr h="372999">
                    <a:tc>
                      <a:txBody>
                        <a:bodyPr/>
                        <a:lstStyle/>
                        <a:p>
                          <a:endParaRPr lang="it-IT"/>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t="-108197" r="-299540" b="-527869"/>
                          </a:stretch>
                        </a:blipFill>
                      </a:tcPr>
                    </a:tc>
                    <a:tc>
                      <a:txBody>
                        <a:bodyPr/>
                        <a:lstStyle/>
                        <a:p>
                          <a:pPr algn="ctr"/>
                          <a:r>
                            <a:rPr lang="it-IT" dirty="0"/>
                            <a:t>0.310 ± 0.019</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199770" t="-108197" r="-99770" b="-527869"/>
                          </a:stretch>
                        </a:blipFill>
                      </a:tcPr>
                    </a:tc>
                    <a:tc>
                      <a:txBody>
                        <a:bodyPr/>
                        <a:lstStyle/>
                        <a:p>
                          <a:pPr algn="ctr"/>
                          <a:r>
                            <a:rPr lang="it-IT" dirty="0"/>
                            <a:t>[0.280, 0.342]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74169945"/>
                      </a:ext>
                    </a:extLst>
                  </a:tr>
                  <a:tr h="372872">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t="-208197" r="-299540" b="-427869"/>
                          </a:stretch>
                        </a:blipFill>
                      </a:tcPr>
                    </a:tc>
                    <a:tc>
                      <a:txBody>
                        <a:bodyPr/>
                        <a:lstStyle/>
                        <a:p>
                          <a:pPr algn="ctr"/>
                          <a:r>
                            <a:rPr lang="it-IT" dirty="0"/>
                            <a:t>-0.20 ± 0.13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99770" t="-208197" r="-99770" b="-427869"/>
                          </a:stretch>
                        </a:blipFill>
                      </a:tcPr>
                    </a:tc>
                    <a:tc>
                      <a:txBody>
                        <a:bodyPr/>
                        <a:lstStyle/>
                        <a:p>
                          <a:pPr algn="ctr"/>
                          <a:r>
                            <a:rPr lang="it-IT" dirty="0"/>
                            <a:t>[-0.40, 0.03]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13357640"/>
                      </a:ext>
                    </a:extLst>
                  </a:tr>
                  <a:tr h="372872">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t="-303226" r="-299540" b="-320968"/>
                          </a:stretch>
                        </a:blipFill>
                      </a:tcPr>
                    </a:tc>
                    <a:tc>
                      <a:txBody>
                        <a:bodyPr/>
                        <a:lstStyle/>
                        <a:p>
                          <a:pPr algn="ctr"/>
                          <a:r>
                            <a:rPr lang="it-IT" dirty="0"/>
                            <a:t>3.75 ± 0.10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99770" t="-303226" r="-99770" b="-320968"/>
                          </a:stretch>
                        </a:blipFill>
                      </a:tcPr>
                    </a:tc>
                    <a:tc>
                      <a:txBody>
                        <a:bodyPr/>
                        <a:lstStyle/>
                        <a:p>
                          <a:pPr algn="ctr"/>
                          <a:r>
                            <a:rPr lang="it-IT" dirty="0"/>
                            <a:t>[3.57, 3.91]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47665325"/>
                      </a:ext>
                    </a:extLst>
                  </a:tr>
                  <a:tr h="376746">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t="-409836" r="-299540" b="-226230"/>
                          </a:stretch>
                        </a:blipFill>
                      </a:tcPr>
                    </a:tc>
                    <a:tc>
                      <a:txBody>
                        <a:bodyPr/>
                        <a:lstStyle/>
                        <a:p>
                          <a:pPr algn="ctr"/>
                          <a:r>
                            <a:rPr lang="it-IT" dirty="0"/>
                            <a:t>3.549 ± 0.045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99770" t="-409836" r="-99770" b="-226230"/>
                          </a:stretch>
                        </a:blipFill>
                      </a:tcPr>
                    </a:tc>
                    <a:tc>
                      <a:txBody>
                        <a:bodyPr/>
                        <a:lstStyle/>
                        <a:p>
                          <a:pPr algn="ctr"/>
                          <a:r>
                            <a:rPr lang="it-IT" dirty="0"/>
                            <a:t>[3.476, 3.623]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70492251"/>
                      </a:ext>
                    </a:extLst>
                  </a:tr>
                  <a:tr h="373126">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t="-501613" r="-299540" b="-122581"/>
                          </a:stretch>
                        </a:blipFill>
                      </a:tcPr>
                    </a:tc>
                    <a:tc>
                      <a:txBody>
                        <a:bodyPr/>
                        <a:lstStyle/>
                        <a:p>
                          <a:pPr algn="ctr"/>
                          <a:r>
                            <a:rPr lang="it-IT" dirty="0"/>
                            <a:t>1.351 ± 0.085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99770" t="-501613" r="-99770" b="-122581"/>
                          </a:stretch>
                        </a:blipFill>
                      </a:tcPr>
                    </a:tc>
                    <a:tc>
                      <a:txBody>
                        <a:bodyPr/>
                        <a:lstStyle/>
                        <a:p>
                          <a:pPr algn="ctr"/>
                          <a:r>
                            <a:rPr lang="it-IT" dirty="0"/>
                            <a:t>[1.219, 1.499]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498442"/>
                      </a:ext>
                    </a:extLst>
                  </a:tr>
                  <a:tr h="372872">
                    <a:tc>
                      <a:txBody>
                        <a:bodyPr/>
                        <a:lstStyle/>
                        <a:p>
                          <a:endParaRPr lang="it-IT"/>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611475" r="-299540" b="-24590"/>
                          </a:stretch>
                        </a:blipFill>
                      </a:tcPr>
                    </a:tc>
                    <a:tc>
                      <a:txBody>
                        <a:bodyPr/>
                        <a:lstStyle/>
                        <a:p>
                          <a:pPr algn="ctr"/>
                          <a:r>
                            <a:rPr lang="it-IT" dirty="0"/>
                            <a:t>0.981 ± 0.032</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199770" t="-611475" r="-99770" b="-24590"/>
                          </a:stretch>
                        </a:blipFill>
                      </a:tcPr>
                    </a:tc>
                    <a:tc>
                      <a:txBody>
                        <a:bodyPr/>
                        <a:lstStyle/>
                        <a:p>
                          <a:pPr algn="ctr"/>
                          <a:r>
                            <a:rPr lang="it-IT" dirty="0"/>
                            <a:t>[0.928, 1.035]</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49795"/>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A21FE0D-EA56-7165-140C-9FA378EEED91}"/>
                  </a:ext>
                </a:extLst>
              </p:cNvPr>
              <p:cNvSpPr txBox="1"/>
              <p:nvPr/>
            </p:nvSpPr>
            <p:spPr>
              <a:xfrm>
                <a:off x="800099" y="5155141"/>
                <a:ext cx="10591801" cy="55399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dirty="0"/>
                  <a:t>Parameter estimates obtained when neglecting the uncertainty in </a:t>
                </a:r>
                <a14:m>
                  <m:oMath xmlns:m="http://schemas.openxmlformats.org/officeDocument/2006/math">
                    <m:r>
                      <a:rPr lang="en-US" i="1">
                        <a:latin typeface="Cambria Math" panose="02040503050406030204" pitchFamily="18" charset="0"/>
                      </a:rPr>
                      <m:t>𝑥</m:t>
                    </m:r>
                  </m:oMath>
                </a14:m>
                <a:r>
                  <a:rPr lang="en-US" dirty="0"/>
                  <a:t> are </a:t>
                </a:r>
                <a:r>
                  <a:rPr lang="en-US" b="1" dirty="0"/>
                  <a:t>compatible</a:t>
                </a:r>
                <a:r>
                  <a:rPr lang="en-US" dirty="0"/>
                  <a:t> with those obtained after including that uncertainty.</a:t>
                </a:r>
                <a:endParaRPr lang="it-IT" dirty="0"/>
              </a:p>
            </p:txBody>
          </p:sp>
        </mc:Choice>
        <mc:Fallback xmlns="">
          <p:sp>
            <p:nvSpPr>
              <p:cNvPr id="5" name="TextBox 4">
                <a:extLst>
                  <a:ext uri="{FF2B5EF4-FFF2-40B4-BE49-F238E27FC236}">
                    <a16:creationId xmlns:a16="http://schemas.microsoft.com/office/drawing/2014/main" id="{9A21FE0D-EA56-7165-140C-9FA378EEED91}"/>
                  </a:ext>
                </a:extLst>
              </p:cNvPr>
              <p:cNvSpPr txBox="1">
                <a:spLocks noRot="1" noChangeAspect="1" noMove="1" noResize="1" noEditPoints="1" noAdjustHandles="1" noChangeArrowheads="1" noChangeShapeType="1" noTextEdit="1"/>
              </p:cNvSpPr>
              <p:nvPr/>
            </p:nvSpPr>
            <p:spPr>
              <a:xfrm>
                <a:off x="800099" y="5155141"/>
                <a:ext cx="10591801" cy="553998"/>
              </a:xfrm>
              <a:prstGeom prst="rect">
                <a:avLst/>
              </a:prstGeom>
              <a:blipFill>
                <a:blip r:embed="rId3"/>
                <a:stretch>
                  <a:fillRect l="-1208" t="-14286" b="-24176"/>
                </a:stretch>
              </a:blipFill>
            </p:spPr>
            <p:txBody>
              <a:bodyPr/>
              <a:lstStyle/>
              <a:p>
                <a:r>
                  <a:rPr lang="it-IT">
                    <a:noFill/>
                  </a:rPr>
                  <a:t> </a:t>
                </a:r>
              </a:p>
            </p:txBody>
          </p:sp>
        </mc:Fallback>
      </mc:AlternateContent>
    </p:spTree>
    <p:extLst>
      <p:ext uri="{BB962C8B-B14F-4D97-AF65-F5344CB8AC3E}">
        <p14:creationId xmlns:p14="http://schemas.microsoft.com/office/powerpoint/2010/main" val="1721000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79F671-3FE1-FB37-7CF6-D78D0F4F2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261A8-7CEE-D921-5112-627E184DB804}"/>
              </a:ext>
            </a:extLst>
          </p:cNvPr>
          <p:cNvSpPr>
            <a:spLocks noGrp="1"/>
          </p:cNvSpPr>
          <p:nvPr>
            <p:ph type="title"/>
          </p:nvPr>
        </p:nvSpPr>
        <p:spPr/>
        <p:txBody>
          <a:bodyPr/>
          <a:lstStyle/>
          <a:p>
            <a:r>
              <a:rPr lang="it-IT" dirty="0">
                <a:solidFill>
                  <a:srgbClr val="FF0000"/>
                </a:solidFill>
              </a:rPr>
              <a:t>Parameter values - uncertainties </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2471B7D1-EE0D-1032-DEEE-5ABFEDFE7587}"/>
                  </a:ext>
                </a:extLst>
              </p:cNvPr>
              <p:cNvGraphicFramePr>
                <a:graphicFrameLocks noGrp="1"/>
              </p:cNvGraphicFramePr>
              <p:nvPr>
                <p:ph idx="1"/>
              </p:nvPr>
            </p:nvGraphicFramePr>
            <p:xfrm>
              <a:off x="800100" y="1750091"/>
              <a:ext cx="10591800" cy="3361945"/>
            </p:xfrm>
            <a:graphic>
              <a:graphicData uri="http://schemas.openxmlformats.org/drawingml/2006/table">
                <a:tbl>
                  <a:tblPr firstRow="1" bandRow="1">
                    <a:tableStyleId>{5C22544A-7EE6-4342-B048-85BDC9FD1C3A}</a:tableStyleId>
                  </a:tblPr>
                  <a:tblGrid>
                    <a:gridCol w="2647950">
                      <a:extLst>
                        <a:ext uri="{9D8B030D-6E8A-4147-A177-3AD203B41FA5}">
                          <a16:colId xmlns:a16="http://schemas.microsoft.com/office/drawing/2014/main" val="987392356"/>
                        </a:ext>
                      </a:extLst>
                    </a:gridCol>
                    <a:gridCol w="2647950">
                      <a:extLst>
                        <a:ext uri="{9D8B030D-6E8A-4147-A177-3AD203B41FA5}">
                          <a16:colId xmlns:a16="http://schemas.microsoft.com/office/drawing/2014/main" val="4113713930"/>
                        </a:ext>
                      </a:extLst>
                    </a:gridCol>
                    <a:gridCol w="2647950">
                      <a:extLst>
                        <a:ext uri="{9D8B030D-6E8A-4147-A177-3AD203B41FA5}">
                          <a16:colId xmlns:a16="http://schemas.microsoft.com/office/drawing/2014/main" val="4244897437"/>
                        </a:ext>
                      </a:extLst>
                    </a:gridCol>
                    <a:gridCol w="2647950">
                      <a:extLst>
                        <a:ext uri="{9D8B030D-6E8A-4147-A177-3AD203B41FA5}">
                          <a16:colId xmlns:a16="http://schemas.microsoft.com/office/drawing/2014/main" val="66662860"/>
                        </a:ext>
                      </a:extLst>
                    </a:gridCol>
                  </a:tblGrid>
                  <a:tr h="370840">
                    <a:tc>
                      <a:txBody>
                        <a:bodyPr/>
                        <a:lstStyle/>
                        <a:p>
                          <a:pPr algn="ctr"/>
                          <a:r>
                            <a:rPr lang="it-IT" dirty="0"/>
                            <a:t>Parameters</a:t>
                          </a:r>
                        </a:p>
                      </a:txBody>
                      <a:tcPr/>
                    </a:tc>
                    <a:tc>
                      <a:txBody>
                        <a:bodyPr/>
                        <a:lstStyle/>
                        <a:p>
                          <a:pPr algn="ctr"/>
                          <a:r>
                            <a:rPr lang="it-IT" dirty="0"/>
                            <a:t>Mean ± std</a:t>
                          </a:r>
                        </a:p>
                      </a:txBody>
                      <a:tcPr/>
                    </a:tc>
                    <a:tc>
                      <a:txBody>
                        <a:bodyPr/>
                        <a:lstStyle/>
                        <a:p>
                          <a:pPr algn="ctr"/>
                          <a:r>
                            <a:rPr lang="it-IT" dirty="0"/>
                            <a:t>Median±</a:t>
                          </a:r>
                          <a14:m>
                            <m:oMath xmlns:m="http://schemas.openxmlformats.org/officeDocument/2006/math">
                              <m:d>
                                <m:dPr>
                                  <m:begChr m:val="["/>
                                  <m:endChr m:val="]"/>
                                  <m:ctrlPr>
                                    <a:rPr lang="it-IT" b="1" i="1" smtClean="0">
                                      <a:latin typeface="Cambria Math" panose="02040503050406030204" pitchFamily="18" charset="0"/>
                                    </a:rPr>
                                  </m:ctrlPr>
                                </m:dPr>
                                <m:e>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𝟏𝟔</m:t>
                                      </m:r>
                                    </m:sub>
                                  </m:sSub>
                                  <m:r>
                                    <a:rPr lang="it-IT" b="1" i="1" smtClean="0">
                                      <a:latin typeface="Cambria Math" panose="02040503050406030204" pitchFamily="18" charset="0"/>
                                    </a:rPr>
                                    <m:t>,</m:t>
                                  </m:r>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𝟖𝟒</m:t>
                                      </m:r>
                                    </m:sub>
                                  </m:sSub>
                                </m:e>
                              </m:d>
                            </m:oMath>
                          </a14:m>
                          <a:r>
                            <a:rPr lang="it-IT" dirty="0"/>
                            <a:t>(68%)</a:t>
                          </a:r>
                        </a:p>
                      </a:txBody>
                      <a:tcPr/>
                    </a:tc>
                    <a:tc>
                      <a:txBody>
                        <a:bodyPr/>
                        <a:lstStyle/>
                        <a:p>
                          <a:pPr algn="ctr"/>
                          <a14:m>
                            <m:oMath xmlns:m="http://schemas.openxmlformats.org/officeDocument/2006/math">
                              <m:d>
                                <m:dPr>
                                  <m:begChr m:val="["/>
                                  <m:endChr m:val="]"/>
                                  <m:ctrlPr>
                                    <a:rPr lang="it-IT" b="1" i="1" smtClean="0">
                                      <a:latin typeface="Cambria Math" panose="02040503050406030204" pitchFamily="18" charset="0"/>
                                    </a:rPr>
                                  </m:ctrlPr>
                                </m:dPr>
                                <m:e>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5</m:t>
                                      </m:r>
                                    </m:sub>
                                  </m:sSub>
                                  <m:r>
                                    <a:rPr lang="it-IT" b="1" i="1" smtClean="0">
                                      <a:latin typeface="Cambria Math" panose="02040503050406030204" pitchFamily="18" charset="0"/>
                                    </a:rPr>
                                    <m:t>,</m:t>
                                  </m:r>
                                  <m:sSub>
                                    <m:sSubPr>
                                      <m:ctrlPr>
                                        <a:rPr lang="it-IT" b="1" i="1" smtClean="0">
                                          <a:latin typeface="Cambria Math" panose="02040503050406030204" pitchFamily="18" charset="0"/>
                                        </a:rPr>
                                      </m:ctrlPr>
                                    </m:sSubPr>
                                    <m:e>
                                      <m:r>
                                        <a:rPr lang="it-IT" b="1" i="1" smtClean="0">
                                          <a:latin typeface="Cambria Math" panose="02040503050406030204" pitchFamily="18" charset="0"/>
                                        </a:rPr>
                                        <m:t>𝒑</m:t>
                                      </m:r>
                                    </m:e>
                                    <m:sub>
                                      <m:r>
                                        <a:rPr lang="it-IT" b="1" i="1" smtClean="0">
                                          <a:latin typeface="Cambria Math" panose="02040503050406030204" pitchFamily="18" charset="0"/>
                                        </a:rPr>
                                        <m:t>95</m:t>
                                      </m:r>
                                    </m:sub>
                                  </m:sSub>
                                </m:e>
                              </m:d>
                            </m:oMath>
                          </a14:m>
                          <a:r>
                            <a:rPr lang="it-IT" dirty="0"/>
                            <a:t> (90%)</a:t>
                          </a:r>
                        </a:p>
                      </a:txBody>
                      <a:tcPr/>
                    </a:tc>
                    <a:extLst>
                      <a:ext uri="{0D108BD9-81ED-4DB2-BD59-A6C34878D82A}">
                        <a16:rowId xmlns:a16="http://schemas.microsoft.com/office/drawing/2014/main" val="138773895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𝑤</m:t>
                                    </m:r>
                                  </m:e>
                                  <m:sub>
                                    <m:r>
                                      <a:rPr lang="it-IT" b="0" i="1" smtClean="0">
                                        <a:latin typeface="Cambria Math" panose="02040503050406030204" pitchFamily="18" charset="0"/>
                                      </a:rPr>
                                      <m:t>1</m:t>
                                    </m:r>
                                  </m:sub>
                                </m:sSub>
                              </m:oMath>
                            </m:oMathPara>
                          </a14:m>
                          <a:endParaRPr lang="it-IT" dirty="0"/>
                        </a:p>
                      </a:txBody>
                      <a:tcPr/>
                    </a:tc>
                    <a:tc>
                      <a:txBody>
                        <a:bodyPr/>
                        <a:lstStyle/>
                        <a:p>
                          <a:pPr algn="ctr"/>
                          <a:r>
                            <a:rPr lang="it-IT" dirty="0"/>
                            <a:t>0.310 ± 0.019</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0.309</m:t>
                                    </m:r>
                                  </m:e>
                                  <m:sub>
                                    <m:r>
                                      <a:rPr lang="it-IT" b="0" i="1" smtClean="0">
                                        <a:latin typeface="Cambria Math" panose="02040503050406030204" pitchFamily="18" charset="0"/>
                                      </a:rPr>
                                      <m:t>−0.018</m:t>
                                    </m:r>
                                  </m:sub>
                                  <m:sup>
                                    <m:r>
                                      <a:rPr lang="it-IT" b="0" i="1" smtClean="0">
                                        <a:latin typeface="Cambria Math" panose="02040503050406030204" pitchFamily="18" charset="0"/>
                                      </a:rPr>
                                      <m:t>+0.019</m:t>
                                    </m:r>
                                  </m:sup>
                                </m:sSubSup>
                              </m:oMath>
                            </m:oMathPara>
                          </a14:m>
                          <a:endParaRPr lang="it-IT" dirty="0"/>
                        </a:p>
                      </a:txBody>
                      <a:tcPr/>
                    </a:tc>
                    <a:tc>
                      <a:txBody>
                        <a:bodyPr/>
                        <a:lstStyle/>
                        <a:p>
                          <a:pPr algn="ctr"/>
                          <a:r>
                            <a:rPr lang="it-IT" dirty="0"/>
                            <a:t>[0.280, 0.342]</a:t>
                          </a:r>
                        </a:p>
                      </a:txBody>
                      <a:tcPr/>
                    </a:tc>
                    <a:extLst>
                      <a:ext uri="{0D108BD9-81ED-4DB2-BD59-A6C34878D82A}">
                        <a16:rowId xmlns:a16="http://schemas.microsoft.com/office/drawing/2014/main" val="2074169945"/>
                      </a:ext>
                    </a:extLst>
                  </a:tr>
                  <a:tr h="370840">
                    <a:tc>
                      <a:txBody>
                        <a:bodyPr/>
                        <a:lstStyle/>
                        <a:p>
                          <a:pPr algn="ct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1</m:t>
                                  </m:r>
                                </m:sub>
                              </m:sSub>
                            </m:oMath>
                          </a14:m>
                          <a:r>
                            <a:rPr lang="it-IT" dirty="0"/>
                            <a:t> [log s]</a:t>
                          </a:r>
                        </a:p>
                      </a:txBody>
                      <a:tcPr/>
                    </a:tc>
                    <a:tc>
                      <a:txBody>
                        <a:bodyPr/>
                        <a:lstStyle/>
                        <a:p>
                          <a:pPr algn="ctr"/>
                          <a:r>
                            <a:rPr lang="it-IT" dirty="0"/>
                            <a:t>-0.20 ± 0.13</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−0.20</m:t>
                                    </m:r>
                                  </m:e>
                                  <m:sub>
                                    <m:r>
                                      <a:rPr lang="it-IT" b="0" i="1" smtClean="0">
                                        <a:latin typeface="Cambria Math" panose="02040503050406030204" pitchFamily="18" charset="0"/>
                                      </a:rPr>
                                      <m:t>−0.12</m:t>
                                    </m:r>
                                  </m:sub>
                                  <m:sup>
                                    <m:r>
                                      <a:rPr lang="it-IT" b="0" i="1" smtClean="0">
                                        <a:latin typeface="Cambria Math" panose="02040503050406030204" pitchFamily="18" charset="0"/>
                                      </a:rPr>
                                      <m:t>+0.13</m:t>
                                    </m:r>
                                  </m:sup>
                                </m:sSubSup>
                              </m:oMath>
                            </m:oMathPara>
                          </a14:m>
                          <a:endParaRPr lang="it-IT" dirty="0"/>
                        </a:p>
                      </a:txBody>
                      <a:tcPr/>
                    </a:tc>
                    <a:tc>
                      <a:txBody>
                        <a:bodyPr/>
                        <a:lstStyle/>
                        <a:p>
                          <a:pPr algn="ctr"/>
                          <a:r>
                            <a:rPr lang="it-IT" dirty="0"/>
                            <a:t>[-0.40, 0.03]</a:t>
                          </a:r>
                        </a:p>
                      </a:txBody>
                      <a:tcPr/>
                    </a:tc>
                    <a:extLst>
                      <a:ext uri="{0D108BD9-81ED-4DB2-BD59-A6C34878D82A}">
                        <a16:rowId xmlns:a16="http://schemas.microsoft.com/office/drawing/2014/main" val="401335764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𝛿</m:t>
                                  </m:r>
                                </m:e>
                                <m:sub>
                                  <m:r>
                                    <a:rPr lang="it-IT" b="0" i="1" smtClean="0">
                                      <a:latin typeface="Cambria Math" panose="02040503050406030204" pitchFamily="18" charset="0"/>
                                    </a:rPr>
                                    <m:t>12</m:t>
                                  </m:r>
                                </m:sub>
                              </m:sSub>
                            </m:oMath>
                          </a14:m>
                          <a:r>
                            <a:rPr lang="it-IT" dirty="0"/>
                            <a:t> [log s]</a:t>
                          </a:r>
                        </a:p>
                      </a:txBody>
                      <a:tcPr/>
                    </a:tc>
                    <a:tc>
                      <a:txBody>
                        <a:bodyPr/>
                        <a:lstStyle/>
                        <a:p>
                          <a:pPr algn="ctr"/>
                          <a:r>
                            <a:rPr lang="it-IT" dirty="0"/>
                            <a:t>3.75 ± 0.10</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3.75</m:t>
                                    </m:r>
                                  </m:e>
                                  <m:sub>
                                    <m:r>
                                      <a:rPr lang="it-IT" b="0" i="1" smtClean="0">
                                        <a:latin typeface="Cambria Math" panose="02040503050406030204" pitchFamily="18" charset="0"/>
                                      </a:rPr>
                                      <m:t>−0.10</m:t>
                                    </m:r>
                                  </m:sub>
                                  <m:sup>
                                    <m:r>
                                      <a:rPr lang="it-IT" b="0" i="1" smtClean="0">
                                        <a:latin typeface="Cambria Math" panose="02040503050406030204" pitchFamily="18" charset="0"/>
                                      </a:rPr>
                                      <m:t>+0.10</m:t>
                                    </m:r>
                                  </m:sup>
                                </m:sSubSup>
                              </m:oMath>
                            </m:oMathPara>
                          </a14:m>
                          <a:endParaRPr lang="it-IT" dirty="0"/>
                        </a:p>
                      </a:txBody>
                      <a:tcPr/>
                    </a:tc>
                    <a:tc>
                      <a:txBody>
                        <a:bodyPr/>
                        <a:lstStyle/>
                        <a:p>
                          <a:pPr algn="ctr"/>
                          <a:r>
                            <a:rPr lang="it-IT" dirty="0"/>
                            <a:t>[3.57, 3.91]</a:t>
                          </a:r>
                        </a:p>
                      </a:txBody>
                      <a:tcPr/>
                    </a:tc>
                    <a:extLst>
                      <a:ext uri="{0D108BD9-81ED-4DB2-BD59-A6C34878D82A}">
                        <a16:rowId xmlns:a16="http://schemas.microsoft.com/office/drawing/2014/main" val="294766532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2</m:t>
                                  </m:r>
                                </m:sub>
                              </m:sSub>
                            </m:oMath>
                          </a14:m>
                          <a:r>
                            <a:rPr lang="it-IT" dirty="0"/>
                            <a:t> [log s]</a:t>
                          </a:r>
                        </a:p>
                      </a:txBody>
                      <a:tcPr/>
                    </a:tc>
                    <a:tc>
                      <a:txBody>
                        <a:bodyPr/>
                        <a:lstStyle/>
                        <a:p>
                          <a:pPr algn="ctr"/>
                          <a:r>
                            <a:rPr lang="it-IT" dirty="0"/>
                            <a:t>3.549 ± 0.045</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3.550</m:t>
                                    </m:r>
                                  </m:e>
                                  <m:sub>
                                    <m:r>
                                      <a:rPr lang="it-IT" b="0" i="1" smtClean="0">
                                        <a:latin typeface="Cambria Math" panose="02040503050406030204" pitchFamily="18" charset="0"/>
                                      </a:rPr>
                                      <m:t>−0.045</m:t>
                                    </m:r>
                                  </m:sub>
                                  <m:sup>
                                    <m:r>
                                      <a:rPr lang="it-IT" b="0" i="1" smtClean="0">
                                        <a:latin typeface="Cambria Math" panose="02040503050406030204" pitchFamily="18" charset="0"/>
                                      </a:rPr>
                                      <m:t>+0.044</m:t>
                                    </m:r>
                                  </m:sup>
                                </m:sSubSup>
                              </m:oMath>
                            </m:oMathPara>
                          </a14:m>
                          <a:endParaRPr lang="it-IT" dirty="0"/>
                        </a:p>
                      </a:txBody>
                      <a:tcPr/>
                    </a:tc>
                    <a:tc>
                      <a:txBody>
                        <a:bodyPr/>
                        <a:lstStyle/>
                        <a:p>
                          <a:pPr algn="ctr"/>
                          <a:r>
                            <a:rPr lang="it-IT" dirty="0"/>
                            <a:t>[3.476, 3.623]</a:t>
                          </a:r>
                        </a:p>
                      </a:txBody>
                      <a:tcPr/>
                    </a:tc>
                    <a:extLst>
                      <a:ext uri="{0D108BD9-81ED-4DB2-BD59-A6C34878D82A}">
                        <a16:rowId xmlns:a16="http://schemas.microsoft.com/office/drawing/2014/main" val="147049225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1</m:t>
                                  </m:r>
                                </m:sub>
                              </m:sSub>
                            </m:oMath>
                          </a14:m>
                          <a:r>
                            <a:rPr lang="it-IT" dirty="0"/>
                            <a:t> [log s]</a:t>
                          </a:r>
                        </a:p>
                      </a:txBody>
                      <a:tcPr>
                        <a:lnB w="12700" cmpd="sng">
                          <a:noFill/>
                        </a:lnB>
                      </a:tcPr>
                    </a:tc>
                    <a:tc>
                      <a:txBody>
                        <a:bodyPr/>
                        <a:lstStyle/>
                        <a:p>
                          <a:pPr algn="ctr"/>
                          <a:r>
                            <a:rPr lang="it-IT" dirty="0"/>
                            <a:t>1.351 ± 0.085</a:t>
                          </a:r>
                        </a:p>
                      </a:txBody>
                      <a:tcPr>
                        <a:lnB w="12700" cmpd="sng">
                          <a:noFill/>
                        </a:lnB>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1.347</m:t>
                                    </m:r>
                                  </m:e>
                                  <m:sub>
                                    <m:r>
                                      <a:rPr lang="it-IT" b="0" i="1" smtClean="0">
                                        <a:latin typeface="Cambria Math" panose="02040503050406030204" pitchFamily="18" charset="0"/>
                                      </a:rPr>
                                      <m:t>−0.080</m:t>
                                    </m:r>
                                  </m:sub>
                                  <m:sup>
                                    <m:r>
                                      <a:rPr lang="it-IT" b="0" i="1" smtClean="0">
                                        <a:latin typeface="Cambria Math" panose="02040503050406030204" pitchFamily="18" charset="0"/>
                                      </a:rPr>
                                      <m:t>+0.088</m:t>
                                    </m:r>
                                  </m:sup>
                                </m:sSubSup>
                              </m:oMath>
                            </m:oMathPara>
                          </a14:m>
                          <a:endParaRPr lang="it-IT" dirty="0"/>
                        </a:p>
                      </a:txBody>
                      <a:tcPr>
                        <a:lnB w="12700" cmpd="sng">
                          <a:noFill/>
                        </a:lnB>
                      </a:tcPr>
                    </a:tc>
                    <a:tc>
                      <a:txBody>
                        <a:bodyPr/>
                        <a:lstStyle/>
                        <a:p>
                          <a:pPr algn="ctr"/>
                          <a:r>
                            <a:rPr lang="it-IT" dirty="0"/>
                            <a:t>[1.219, 1.499]</a:t>
                          </a:r>
                        </a:p>
                      </a:txBody>
                      <a:tcPr>
                        <a:lnB w="12700" cmpd="sng">
                          <a:noFill/>
                        </a:lnB>
                      </a:tcPr>
                    </a:tc>
                    <a:extLst>
                      <a:ext uri="{0D108BD9-81ED-4DB2-BD59-A6C34878D82A}">
                        <a16:rowId xmlns:a16="http://schemas.microsoft.com/office/drawing/2014/main" val="171949844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2</m:t>
                                  </m:r>
                                </m:sub>
                              </m:sSub>
                            </m:oMath>
                          </a14:m>
                          <a:r>
                            <a:rPr lang="it-IT" dirty="0"/>
                            <a:t> [log 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dirty="0"/>
                            <a:t>0.981 ± 0.032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0.981</m:t>
                                    </m:r>
                                  </m:e>
                                  <m:sub>
                                    <m:r>
                                      <a:rPr lang="it-IT" b="0" i="1" smtClean="0">
                                        <a:latin typeface="Cambria Math" panose="02040503050406030204" pitchFamily="18" charset="0"/>
                                      </a:rPr>
                                      <m:t>−0.031</m:t>
                                    </m:r>
                                  </m:sub>
                                  <m:sup>
                                    <m:r>
                                      <a:rPr lang="it-IT" b="0" i="1" smtClean="0">
                                        <a:latin typeface="Cambria Math" panose="02040503050406030204" pitchFamily="18" charset="0"/>
                                      </a:rPr>
                                      <m:t>+0.031</m:t>
                                    </m:r>
                                  </m:sup>
                                </m:sSubSup>
                              </m:oMath>
                            </m:oMathPara>
                          </a14:m>
                          <a:endParaRPr lang="it-IT"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dirty="0"/>
                            <a:t>[0.928, 1.035]</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49795"/>
                      </a:ext>
                    </a:extLst>
                  </a:tr>
                  <a:tr h="370840">
                    <a:tc>
                      <a:txBody>
                        <a:bodyPr/>
                        <a:lstStyle/>
                        <a:p>
                          <a:pPr algn="ctr"/>
                          <a14:m>
                            <m:oMath xmlns:m="http://schemas.openxmlformats.org/officeDocument/2006/math">
                              <m:sSub>
                                <m:sSubPr>
                                  <m:ctrlPr>
                                    <a:rPr lang="it-IT" b="0" i="1" smtClean="0">
                                      <a:latin typeface="Cambria Math" panose="02040503050406030204" pitchFamily="18" charset="0"/>
                                    </a:rPr>
                                  </m:ctrlPr>
                                </m:sSubPr>
                                <m:e>
                                  <m:r>
                                    <m:rPr>
                                      <m:nor/>
                                    </m:rPr>
                                    <a:rPr lang="it-IT" b="0" i="0" smtClean="0">
                                      <a:latin typeface="Cambria Math" panose="02040503050406030204" pitchFamily="18" charset="0"/>
                                    </a:rPr>
                                    <m:t>median</m:t>
                                  </m:r>
                                </m:e>
                                <m:sub>
                                  <m:r>
                                    <a:rPr lang="it-IT" b="0" i="1" smtClean="0">
                                      <a:latin typeface="Cambria Math" panose="02040503050406030204" pitchFamily="18" charset="0"/>
                                    </a:rPr>
                                    <m:t>1</m:t>
                                  </m:r>
                                </m:sub>
                              </m:sSub>
                            </m:oMath>
                          </a14:m>
                          <a:r>
                            <a:rPr lang="it-IT" dirty="0"/>
                            <a:t> [s]</a:t>
                          </a:r>
                        </a:p>
                      </a:txBody>
                      <a:tcPr>
                        <a:lnT w="12700" cap="flat" cmpd="sng" algn="ctr">
                          <a:solidFill>
                            <a:schemeClr val="tx1"/>
                          </a:solidFill>
                          <a:prstDash val="solid"/>
                          <a:round/>
                          <a:headEnd type="none" w="med" len="med"/>
                          <a:tailEnd type="none" w="med" len="med"/>
                        </a:lnT>
                      </a:tcPr>
                    </a:tc>
                    <a:tc>
                      <a:txBody>
                        <a:bodyPr/>
                        <a:lstStyle/>
                        <a:p>
                          <a:pPr algn="ctr"/>
                          <a:r>
                            <a:rPr lang="it-IT" dirty="0"/>
                            <a:t>0.83 ± 0.11</a:t>
                          </a:r>
                        </a:p>
                      </a:txBody>
                      <a:tcPr>
                        <a:lnT w="12700" cap="flat" cmpd="sng" algn="ctr">
                          <a:solidFill>
                            <a:schemeClr val="tx1"/>
                          </a:solidFill>
                          <a:prstDash val="solid"/>
                          <a:round/>
                          <a:headEnd type="none" w="med" len="med"/>
                          <a:tailEnd type="none" w="med" len="med"/>
                        </a:lnT>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0.82</m:t>
                                    </m:r>
                                  </m:e>
                                  <m:sub>
                                    <m:r>
                                      <a:rPr lang="it-IT" b="0" i="1" smtClean="0">
                                        <a:latin typeface="Cambria Math" panose="02040503050406030204" pitchFamily="18" charset="0"/>
                                      </a:rPr>
                                      <m:t>−0.10</m:t>
                                    </m:r>
                                  </m:sub>
                                  <m:sup>
                                    <m:r>
                                      <a:rPr lang="it-IT" b="0" i="1" smtClean="0">
                                        <a:latin typeface="Cambria Math" panose="02040503050406030204" pitchFamily="18" charset="0"/>
                                      </a:rPr>
                                      <m:t>+0.11</m:t>
                                    </m:r>
                                  </m:sup>
                                </m:sSubSup>
                              </m:oMath>
                            </m:oMathPara>
                          </a14:m>
                          <a:endParaRPr lang="it-IT" dirty="0"/>
                        </a:p>
                      </a:txBody>
                      <a:tcPr>
                        <a:lnT w="12700" cap="flat" cmpd="sng" algn="ctr">
                          <a:solidFill>
                            <a:schemeClr val="tx1"/>
                          </a:solidFill>
                          <a:prstDash val="solid"/>
                          <a:round/>
                          <a:headEnd type="none" w="med" len="med"/>
                          <a:tailEnd type="none" w="med" len="med"/>
                        </a:lnT>
                      </a:tcPr>
                    </a:tc>
                    <a:tc>
                      <a:txBody>
                        <a:bodyPr/>
                        <a:lstStyle/>
                        <a:p>
                          <a:pPr algn="ctr"/>
                          <a:r>
                            <a:rPr lang="it-IT" dirty="0"/>
                            <a:t>[0.67, 1.03]</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81534824"/>
                      </a:ext>
                    </a:extLst>
                  </a:tr>
                  <a:tr h="370840">
                    <a:tc>
                      <a:txBody>
                        <a:bodyPr/>
                        <a:lstStyle/>
                        <a:p>
                          <a:pPr algn="ctr"/>
                          <a14:m>
                            <m:oMath xmlns:m="http://schemas.openxmlformats.org/officeDocument/2006/math">
                              <m:sSub>
                                <m:sSubPr>
                                  <m:ctrlPr>
                                    <a:rPr lang="it-IT" b="0" i="1" smtClean="0">
                                      <a:latin typeface="Cambria Math" panose="02040503050406030204" pitchFamily="18" charset="0"/>
                                    </a:rPr>
                                  </m:ctrlPr>
                                </m:sSubPr>
                                <m:e>
                                  <m:r>
                                    <m:rPr>
                                      <m:sty m:val="p"/>
                                    </m:rPr>
                                    <a:rPr lang="it-IT" b="0" i="1" smtClean="0">
                                      <a:latin typeface="Cambria Math" panose="02040503050406030204" pitchFamily="18" charset="0"/>
                                    </a:rPr>
                                    <m:t>median</m:t>
                                  </m:r>
                                </m:e>
                                <m:sub>
                                  <m:r>
                                    <a:rPr lang="it-IT" b="0" i="1" smtClean="0">
                                      <a:latin typeface="Cambria Math" panose="02040503050406030204" pitchFamily="18" charset="0"/>
                                    </a:rPr>
                                    <m:t>2</m:t>
                                  </m:r>
                                </m:sub>
                              </m:sSub>
                            </m:oMath>
                          </a14:m>
                          <a:r>
                            <a:rPr lang="it-IT" dirty="0"/>
                            <a:t> [s]</a:t>
                          </a:r>
                        </a:p>
                      </a:txBody>
                      <a:tcPr/>
                    </a:tc>
                    <a:tc>
                      <a:txBody>
                        <a:bodyPr/>
                        <a:lstStyle/>
                        <a:p>
                          <a:pPr algn="ctr"/>
                          <a:r>
                            <a:rPr lang="it-IT" dirty="0"/>
                            <a:t>34.8 ± 1.6</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34.8</m:t>
                                    </m:r>
                                  </m:e>
                                  <m:sub>
                                    <m:r>
                                      <a:rPr lang="it-IT" b="0" i="1" smtClean="0">
                                        <a:latin typeface="Cambria Math" panose="02040503050406030204" pitchFamily="18" charset="0"/>
                                      </a:rPr>
                                      <m:t>−1.5</m:t>
                                    </m:r>
                                  </m:sub>
                                  <m:sup>
                                    <m:r>
                                      <a:rPr lang="it-IT" b="0" i="1" smtClean="0">
                                        <a:latin typeface="Cambria Math" panose="02040503050406030204" pitchFamily="18" charset="0"/>
                                      </a:rPr>
                                      <m:t>+1.6</m:t>
                                    </m:r>
                                  </m:sup>
                                </m:sSubSup>
                              </m:oMath>
                            </m:oMathPara>
                          </a14:m>
                          <a:endParaRPr lang="it-IT" dirty="0"/>
                        </a:p>
                      </a:txBody>
                      <a:tcPr/>
                    </a:tc>
                    <a:tc>
                      <a:txBody>
                        <a:bodyPr/>
                        <a:lstStyle/>
                        <a:p>
                          <a:pPr algn="ctr"/>
                          <a:r>
                            <a:rPr lang="it-IT" dirty="0"/>
                            <a:t>[32.3, 37.5]</a:t>
                          </a:r>
                        </a:p>
                      </a:txBody>
                      <a:tcPr/>
                    </a:tc>
                    <a:extLst>
                      <a:ext uri="{0D108BD9-81ED-4DB2-BD59-A6C34878D82A}">
                        <a16:rowId xmlns:a16="http://schemas.microsoft.com/office/drawing/2014/main" val="1704889264"/>
                      </a:ext>
                    </a:extLst>
                  </a:tr>
                </a:tbl>
              </a:graphicData>
            </a:graphic>
          </p:graphicFrame>
        </mc:Choice>
        <mc:Fallback xmlns="">
          <p:graphicFrame>
            <p:nvGraphicFramePr>
              <p:cNvPr id="4" name="Content Placeholder 3">
                <a:extLst>
                  <a:ext uri="{FF2B5EF4-FFF2-40B4-BE49-F238E27FC236}">
                    <a16:creationId xmlns:a16="http://schemas.microsoft.com/office/drawing/2014/main" id="{2471B7D1-EE0D-1032-DEEE-5ABFEDFE7587}"/>
                  </a:ext>
                </a:extLst>
              </p:cNvPr>
              <p:cNvGraphicFramePr>
                <a:graphicFrameLocks noGrp="1"/>
              </p:cNvGraphicFramePr>
              <p:nvPr>
                <p:ph idx="1"/>
              </p:nvPr>
            </p:nvGraphicFramePr>
            <p:xfrm>
              <a:off x="800100" y="1750091"/>
              <a:ext cx="10591800" cy="3361945"/>
            </p:xfrm>
            <a:graphic>
              <a:graphicData uri="http://schemas.openxmlformats.org/drawingml/2006/table">
                <a:tbl>
                  <a:tblPr firstRow="1" bandRow="1">
                    <a:tableStyleId>{5C22544A-7EE6-4342-B048-85BDC9FD1C3A}</a:tableStyleId>
                  </a:tblPr>
                  <a:tblGrid>
                    <a:gridCol w="2647950">
                      <a:extLst>
                        <a:ext uri="{9D8B030D-6E8A-4147-A177-3AD203B41FA5}">
                          <a16:colId xmlns:a16="http://schemas.microsoft.com/office/drawing/2014/main" val="987392356"/>
                        </a:ext>
                      </a:extLst>
                    </a:gridCol>
                    <a:gridCol w="2647950">
                      <a:extLst>
                        <a:ext uri="{9D8B030D-6E8A-4147-A177-3AD203B41FA5}">
                          <a16:colId xmlns:a16="http://schemas.microsoft.com/office/drawing/2014/main" val="4113713930"/>
                        </a:ext>
                      </a:extLst>
                    </a:gridCol>
                    <a:gridCol w="2647950">
                      <a:extLst>
                        <a:ext uri="{9D8B030D-6E8A-4147-A177-3AD203B41FA5}">
                          <a16:colId xmlns:a16="http://schemas.microsoft.com/office/drawing/2014/main" val="4244897437"/>
                        </a:ext>
                      </a:extLst>
                    </a:gridCol>
                    <a:gridCol w="2647950">
                      <a:extLst>
                        <a:ext uri="{9D8B030D-6E8A-4147-A177-3AD203B41FA5}">
                          <a16:colId xmlns:a16="http://schemas.microsoft.com/office/drawing/2014/main" val="66662860"/>
                        </a:ext>
                      </a:extLst>
                    </a:gridCol>
                  </a:tblGrid>
                  <a:tr h="370840">
                    <a:tc>
                      <a:txBody>
                        <a:bodyPr/>
                        <a:lstStyle/>
                        <a:p>
                          <a:pPr algn="ctr"/>
                          <a:r>
                            <a:rPr lang="it-IT" dirty="0"/>
                            <a:t>Parameters</a:t>
                          </a:r>
                        </a:p>
                      </a:txBody>
                      <a:tcPr/>
                    </a:tc>
                    <a:tc>
                      <a:txBody>
                        <a:bodyPr/>
                        <a:lstStyle/>
                        <a:p>
                          <a:pPr algn="ctr"/>
                          <a:r>
                            <a:rPr lang="it-IT" dirty="0"/>
                            <a:t>Mean ± std</a:t>
                          </a:r>
                        </a:p>
                      </a:txBody>
                      <a:tcPr/>
                    </a:tc>
                    <a:tc>
                      <a:txBody>
                        <a:bodyPr/>
                        <a:lstStyle/>
                        <a:p>
                          <a:endParaRPr lang="it-IT"/>
                        </a:p>
                      </a:txBody>
                      <a:tcPr>
                        <a:blipFill>
                          <a:blip r:embed="rId2"/>
                          <a:stretch>
                            <a:fillRect l="-200000" t="-8197" r="-100690" b="-827869"/>
                          </a:stretch>
                        </a:blipFill>
                      </a:tcPr>
                    </a:tc>
                    <a:tc>
                      <a:txBody>
                        <a:bodyPr/>
                        <a:lstStyle/>
                        <a:p>
                          <a:endParaRPr lang="it-IT"/>
                        </a:p>
                      </a:txBody>
                      <a:tcPr>
                        <a:blipFill>
                          <a:blip r:embed="rId2"/>
                          <a:stretch>
                            <a:fillRect l="-300691" t="-8197" r="-922" b="-827869"/>
                          </a:stretch>
                        </a:blipFill>
                      </a:tcPr>
                    </a:tc>
                    <a:extLst>
                      <a:ext uri="{0D108BD9-81ED-4DB2-BD59-A6C34878D82A}">
                        <a16:rowId xmlns:a16="http://schemas.microsoft.com/office/drawing/2014/main" val="1387738951"/>
                      </a:ext>
                    </a:extLst>
                  </a:tr>
                  <a:tr h="372999">
                    <a:tc>
                      <a:txBody>
                        <a:bodyPr/>
                        <a:lstStyle/>
                        <a:p>
                          <a:endParaRPr lang="it-IT"/>
                        </a:p>
                      </a:txBody>
                      <a:tcPr>
                        <a:blipFill>
                          <a:blip r:embed="rId2"/>
                          <a:stretch>
                            <a:fillRect l="-230" t="-108197" r="-300460" b="-727869"/>
                          </a:stretch>
                        </a:blipFill>
                      </a:tcPr>
                    </a:tc>
                    <a:tc>
                      <a:txBody>
                        <a:bodyPr/>
                        <a:lstStyle/>
                        <a:p>
                          <a:pPr algn="ctr"/>
                          <a:r>
                            <a:rPr lang="it-IT" dirty="0"/>
                            <a:t>0.310 ± 0.019</a:t>
                          </a:r>
                        </a:p>
                      </a:txBody>
                      <a:tcPr/>
                    </a:tc>
                    <a:tc>
                      <a:txBody>
                        <a:bodyPr/>
                        <a:lstStyle/>
                        <a:p>
                          <a:endParaRPr lang="it-IT"/>
                        </a:p>
                      </a:txBody>
                      <a:tcPr>
                        <a:blipFill>
                          <a:blip r:embed="rId2"/>
                          <a:stretch>
                            <a:fillRect l="-200000" t="-108197" r="-100690" b="-727869"/>
                          </a:stretch>
                        </a:blipFill>
                      </a:tcPr>
                    </a:tc>
                    <a:tc>
                      <a:txBody>
                        <a:bodyPr/>
                        <a:lstStyle/>
                        <a:p>
                          <a:pPr algn="ctr"/>
                          <a:r>
                            <a:rPr lang="it-IT" dirty="0"/>
                            <a:t>[0.280, 0.342]</a:t>
                          </a:r>
                        </a:p>
                      </a:txBody>
                      <a:tcPr/>
                    </a:tc>
                    <a:extLst>
                      <a:ext uri="{0D108BD9-81ED-4DB2-BD59-A6C34878D82A}">
                        <a16:rowId xmlns:a16="http://schemas.microsoft.com/office/drawing/2014/main" val="2074169945"/>
                      </a:ext>
                    </a:extLst>
                  </a:tr>
                  <a:tr h="372872">
                    <a:tc>
                      <a:txBody>
                        <a:bodyPr/>
                        <a:lstStyle/>
                        <a:p>
                          <a:endParaRPr lang="it-IT"/>
                        </a:p>
                      </a:txBody>
                      <a:tcPr>
                        <a:blipFill>
                          <a:blip r:embed="rId2"/>
                          <a:stretch>
                            <a:fillRect l="-230" t="-208197" r="-300460" b="-627869"/>
                          </a:stretch>
                        </a:blipFill>
                      </a:tcPr>
                    </a:tc>
                    <a:tc>
                      <a:txBody>
                        <a:bodyPr/>
                        <a:lstStyle/>
                        <a:p>
                          <a:pPr algn="ctr"/>
                          <a:r>
                            <a:rPr lang="it-IT" dirty="0"/>
                            <a:t>-0.20 ± 0.13</a:t>
                          </a:r>
                        </a:p>
                      </a:txBody>
                      <a:tcPr/>
                    </a:tc>
                    <a:tc>
                      <a:txBody>
                        <a:bodyPr/>
                        <a:lstStyle/>
                        <a:p>
                          <a:endParaRPr lang="it-IT"/>
                        </a:p>
                      </a:txBody>
                      <a:tcPr>
                        <a:blipFill>
                          <a:blip r:embed="rId2"/>
                          <a:stretch>
                            <a:fillRect l="-200000" t="-208197" r="-100690" b="-627869"/>
                          </a:stretch>
                        </a:blipFill>
                      </a:tcPr>
                    </a:tc>
                    <a:tc>
                      <a:txBody>
                        <a:bodyPr/>
                        <a:lstStyle/>
                        <a:p>
                          <a:pPr algn="ctr"/>
                          <a:r>
                            <a:rPr lang="it-IT" dirty="0"/>
                            <a:t>[-0.40, 0.03]</a:t>
                          </a:r>
                        </a:p>
                      </a:txBody>
                      <a:tcPr/>
                    </a:tc>
                    <a:extLst>
                      <a:ext uri="{0D108BD9-81ED-4DB2-BD59-A6C34878D82A}">
                        <a16:rowId xmlns:a16="http://schemas.microsoft.com/office/drawing/2014/main" val="4013357640"/>
                      </a:ext>
                    </a:extLst>
                  </a:tr>
                  <a:tr h="372872">
                    <a:tc>
                      <a:txBody>
                        <a:bodyPr/>
                        <a:lstStyle/>
                        <a:p>
                          <a:endParaRPr lang="it-IT"/>
                        </a:p>
                      </a:txBody>
                      <a:tcPr>
                        <a:blipFill>
                          <a:blip r:embed="rId2"/>
                          <a:stretch>
                            <a:fillRect l="-230" t="-303226" r="-300460" b="-517742"/>
                          </a:stretch>
                        </a:blipFill>
                      </a:tcPr>
                    </a:tc>
                    <a:tc>
                      <a:txBody>
                        <a:bodyPr/>
                        <a:lstStyle/>
                        <a:p>
                          <a:pPr algn="ctr"/>
                          <a:r>
                            <a:rPr lang="it-IT" dirty="0"/>
                            <a:t>3.75 ± 0.10</a:t>
                          </a:r>
                        </a:p>
                      </a:txBody>
                      <a:tcPr/>
                    </a:tc>
                    <a:tc>
                      <a:txBody>
                        <a:bodyPr/>
                        <a:lstStyle/>
                        <a:p>
                          <a:endParaRPr lang="it-IT"/>
                        </a:p>
                      </a:txBody>
                      <a:tcPr>
                        <a:blipFill>
                          <a:blip r:embed="rId2"/>
                          <a:stretch>
                            <a:fillRect l="-200000" t="-303226" r="-100690" b="-517742"/>
                          </a:stretch>
                        </a:blipFill>
                      </a:tcPr>
                    </a:tc>
                    <a:tc>
                      <a:txBody>
                        <a:bodyPr/>
                        <a:lstStyle/>
                        <a:p>
                          <a:pPr algn="ctr"/>
                          <a:r>
                            <a:rPr lang="it-IT" dirty="0"/>
                            <a:t>[3.57, 3.91]</a:t>
                          </a:r>
                        </a:p>
                      </a:txBody>
                      <a:tcPr/>
                    </a:tc>
                    <a:extLst>
                      <a:ext uri="{0D108BD9-81ED-4DB2-BD59-A6C34878D82A}">
                        <a16:rowId xmlns:a16="http://schemas.microsoft.com/office/drawing/2014/main" val="2947665325"/>
                      </a:ext>
                    </a:extLst>
                  </a:tr>
                  <a:tr h="376746">
                    <a:tc>
                      <a:txBody>
                        <a:bodyPr/>
                        <a:lstStyle/>
                        <a:p>
                          <a:endParaRPr lang="it-IT"/>
                        </a:p>
                      </a:txBody>
                      <a:tcPr>
                        <a:blipFill>
                          <a:blip r:embed="rId2"/>
                          <a:stretch>
                            <a:fillRect l="-230" t="-409836" r="-300460" b="-426230"/>
                          </a:stretch>
                        </a:blipFill>
                      </a:tcPr>
                    </a:tc>
                    <a:tc>
                      <a:txBody>
                        <a:bodyPr/>
                        <a:lstStyle/>
                        <a:p>
                          <a:pPr algn="ctr"/>
                          <a:r>
                            <a:rPr lang="it-IT" dirty="0"/>
                            <a:t>3.549 ± 0.045</a:t>
                          </a:r>
                        </a:p>
                      </a:txBody>
                      <a:tcPr/>
                    </a:tc>
                    <a:tc>
                      <a:txBody>
                        <a:bodyPr/>
                        <a:lstStyle/>
                        <a:p>
                          <a:endParaRPr lang="it-IT"/>
                        </a:p>
                      </a:txBody>
                      <a:tcPr>
                        <a:blipFill>
                          <a:blip r:embed="rId2"/>
                          <a:stretch>
                            <a:fillRect l="-200000" t="-409836" r="-100690" b="-426230"/>
                          </a:stretch>
                        </a:blipFill>
                      </a:tcPr>
                    </a:tc>
                    <a:tc>
                      <a:txBody>
                        <a:bodyPr/>
                        <a:lstStyle/>
                        <a:p>
                          <a:pPr algn="ctr"/>
                          <a:r>
                            <a:rPr lang="it-IT" dirty="0"/>
                            <a:t>[3.476, 3.623]</a:t>
                          </a:r>
                        </a:p>
                      </a:txBody>
                      <a:tcPr/>
                    </a:tc>
                    <a:extLst>
                      <a:ext uri="{0D108BD9-81ED-4DB2-BD59-A6C34878D82A}">
                        <a16:rowId xmlns:a16="http://schemas.microsoft.com/office/drawing/2014/main" val="1470492251"/>
                      </a:ext>
                    </a:extLst>
                  </a:tr>
                  <a:tr h="373126">
                    <a:tc>
                      <a:txBody>
                        <a:bodyPr/>
                        <a:lstStyle/>
                        <a:p>
                          <a:endParaRPr lang="it-IT"/>
                        </a:p>
                      </a:txBody>
                      <a:tcPr>
                        <a:lnB w="12700" cmpd="sng">
                          <a:noFill/>
                        </a:lnB>
                        <a:blipFill>
                          <a:blip r:embed="rId2"/>
                          <a:stretch>
                            <a:fillRect l="-230" t="-501613" r="-300460" b="-319355"/>
                          </a:stretch>
                        </a:blipFill>
                      </a:tcPr>
                    </a:tc>
                    <a:tc>
                      <a:txBody>
                        <a:bodyPr/>
                        <a:lstStyle/>
                        <a:p>
                          <a:pPr algn="ctr"/>
                          <a:r>
                            <a:rPr lang="it-IT" dirty="0"/>
                            <a:t>1.351 ± 0.085</a:t>
                          </a:r>
                        </a:p>
                      </a:txBody>
                      <a:tcPr>
                        <a:lnB w="12700" cmpd="sng">
                          <a:noFill/>
                        </a:lnB>
                      </a:tcPr>
                    </a:tc>
                    <a:tc>
                      <a:txBody>
                        <a:bodyPr/>
                        <a:lstStyle/>
                        <a:p>
                          <a:endParaRPr lang="it-IT"/>
                        </a:p>
                      </a:txBody>
                      <a:tcPr>
                        <a:lnB w="12700" cmpd="sng">
                          <a:noFill/>
                        </a:lnB>
                        <a:blipFill>
                          <a:blip r:embed="rId2"/>
                          <a:stretch>
                            <a:fillRect l="-200000" t="-501613" r="-100690" b="-319355"/>
                          </a:stretch>
                        </a:blipFill>
                      </a:tcPr>
                    </a:tc>
                    <a:tc>
                      <a:txBody>
                        <a:bodyPr/>
                        <a:lstStyle/>
                        <a:p>
                          <a:pPr algn="ctr"/>
                          <a:r>
                            <a:rPr lang="it-IT" dirty="0"/>
                            <a:t>[1.219, 1.499]</a:t>
                          </a:r>
                        </a:p>
                      </a:txBody>
                      <a:tcPr>
                        <a:lnB w="12700" cmpd="sng">
                          <a:noFill/>
                        </a:lnB>
                      </a:tcPr>
                    </a:tc>
                    <a:extLst>
                      <a:ext uri="{0D108BD9-81ED-4DB2-BD59-A6C34878D82A}">
                        <a16:rowId xmlns:a16="http://schemas.microsoft.com/office/drawing/2014/main" val="1719498442"/>
                      </a:ext>
                    </a:extLst>
                  </a:tr>
                  <a:tr h="372872">
                    <a:tc>
                      <a:txBody>
                        <a:bodyPr/>
                        <a:lstStyle/>
                        <a:p>
                          <a:endParaRPr lang="it-IT"/>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30" t="-611475" r="-300460" b="-224590"/>
                          </a:stretch>
                        </a:blipFill>
                      </a:tcPr>
                    </a:tc>
                    <a:tc>
                      <a:txBody>
                        <a:bodyPr/>
                        <a:lstStyle/>
                        <a:p>
                          <a:pPr algn="ctr"/>
                          <a:r>
                            <a:rPr lang="it-IT" dirty="0"/>
                            <a:t>0.981 ± 0.032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it-IT"/>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000" t="-611475" r="-100690" b="-224590"/>
                          </a:stretch>
                        </a:blipFill>
                      </a:tcPr>
                    </a:tc>
                    <a:tc>
                      <a:txBody>
                        <a:bodyPr/>
                        <a:lstStyle/>
                        <a:p>
                          <a:pPr algn="ctr"/>
                          <a:r>
                            <a:rPr lang="it-IT" dirty="0"/>
                            <a:t>[0.928, 1.035]</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49795"/>
                      </a:ext>
                    </a:extLst>
                  </a:tr>
                  <a:tr h="372872">
                    <a:tc>
                      <a:txBody>
                        <a:bodyPr/>
                        <a:lstStyle/>
                        <a:p>
                          <a:endParaRPr lang="it-IT"/>
                        </a:p>
                      </a:txBody>
                      <a:tcPr>
                        <a:lnT w="12700" cap="flat" cmpd="sng" algn="ctr">
                          <a:solidFill>
                            <a:schemeClr val="tx1"/>
                          </a:solidFill>
                          <a:prstDash val="solid"/>
                          <a:round/>
                          <a:headEnd type="none" w="med" len="med"/>
                          <a:tailEnd type="none" w="med" len="med"/>
                        </a:lnT>
                        <a:blipFill>
                          <a:blip r:embed="rId2"/>
                          <a:stretch>
                            <a:fillRect l="-230" t="-711475" r="-300460" b="-124590"/>
                          </a:stretch>
                        </a:blipFill>
                      </a:tcPr>
                    </a:tc>
                    <a:tc>
                      <a:txBody>
                        <a:bodyPr/>
                        <a:lstStyle/>
                        <a:p>
                          <a:pPr algn="ctr"/>
                          <a:r>
                            <a:rPr lang="it-IT" dirty="0"/>
                            <a:t>0.83 ± 0.11</a:t>
                          </a:r>
                        </a:p>
                      </a:txBody>
                      <a:tcPr>
                        <a:lnT w="12700" cap="flat" cmpd="sng" algn="ctr">
                          <a:solidFill>
                            <a:schemeClr val="tx1"/>
                          </a:solidFill>
                          <a:prstDash val="solid"/>
                          <a:round/>
                          <a:headEnd type="none" w="med" len="med"/>
                          <a:tailEnd type="none" w="med" len="med"/>
                        </a:lnT>
                      </a:tcPr>
                    </a:tc>
                    <a:tc>
                      <a:txBody>
                        <a:bodyPr/>
                        <a:lstStyle/>
                        <a:p>
                          <a:endParaRPr lang="it-IT"/>
                        </a:p>
                      </a:txBody>
                      <a:tcPr>
                        <a:lnT w="12700" cap="flat" cmpd="sng" algn="ctr">
                          <a:solidFill>
                            <a:schemeClr val="tx1"/>
                          </a:solidFill>
                          <a:prstDash val="solid"/>
                          <a:round/>
                          <a:headEnd type="none" w="med" len="med"/>
                          <a:tailEnd type="none" w="med" len="med"/>
                        </a:lnT>
                        <a:blipFill>
                          <a:blip r:embed="rId2"/>
                          <a:stretch>
                            <a:fillRect l="-200000" t="-711475" r="-100690" b="-124590"/>
                          </a:stretch>
                        </a:blipFill>
                      </a:tcPr>
                    </a:tc>
                    <a:tc>
                      <a:txBody>
                        <a:bodyPr/>
                        <a:lstStyle/>
                        <a:p>
                          <a:pPr algn="ctr"/>
                          <a:r>
                            <a:rPr lang="it-IT" dirty="0"/>
                            <a:t>[0.67, 1.03]</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81534824"/>
                      </a:ext>
                    </a:extLst>
                  </a:tr>
                  <a:tr h="376746">
                    <a:tc>
                      <a:txBody>
                        <a:bodyPr/>
                        <a:lstStyle/>
                        <a:p>
                          <a:endParaRPr lang="it-IT"/>
                        </a:p>
                      </a:txBody>
                      <a:tcPr>
                        <a:blipFill>
                          <a:blip r:embed="rId2"/>
                          <a:stretch>
                            <a:fillRect l="-230" t="-798387" r="-300460" b="-22581"/>
                          </a:stretch>
                        </a:blipFill>
                      </a:tcPr>
                    </a:tc>
                    <a:tc>
                      <a:txBody>
                        <a:bodyPr/>
                        <a:lstStyle/>
                        <a:p>
                          <a:pPr algn="ctr"/>
                          <a:r>
                            <a:rPr lang="it-IT" dirty="0"/>
                            <a:t>34.8 ± 1.6</a:t>
                          </a:r>
                        </a:p>
                      </a:txBody>
                      <a:tcPr/>
                    </a:tc>
                    <a:tc>
                      <a:txBody>
                        <a:bodyPr/>
                        <a:lstStyle/>
                        <a:p>
                          <a:endParaRPr lang="it-IT"/>
                        </a:p>
                      </a:txBody>
                      <a:tcPr>
                        <a:blipFill>
                          <a:blip r:embed="rId2"/>
                          <a:stretch>
                            <a:fillRect l="-200000" t="-798387" r="-100690" b="-22581"/>
                          </a:stretch>
                        </a:blipFill>
                      </a:tcPr>
                    </a:tc>
                    <a:tc>
                      <a:txBody>
                        <a:bodyPr/>
                        <a:lstStyle/>
                        <a:p>
                          <a:pPr algn="ctr"/>
                          <a:r>
                            <a:rPr lang="it-IT" dirty="0"/>
                            <a:t>[32.3, 37.5]</a:t>
                          </a:r>
                        </a:p>
                      </a:txBody>
                      <a:tcPr/>
                    </a:tc>
                    <a:extLst>
                      <a:ext uri="{0D108BD9-81ED-4DB2-BD59-A6C34878D82A}">
                        <a16:rowId xmlns:a16="http://schemas.microsoft.com/office/drawing/2014/main" val="1704889264"/>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EB151D3-976E-F035-4BF3-D97D3ADC3504}"/>
                  </a:ext>
                </a:extLst>
              </p:cNvPr>
              <p:cNvSpPr txBox="1"/>
              <p:nvPr/>
            </p:nvSpPr>
            <p:spPr>
              <a:xfrm>
                <a:off x="750366" y="5389602"/>
                <a:ext cx="10591801" cy="55399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dirty="0"/>
                  <a:t>Parameter estimates obtained when neglecting the uncertainty in </a:t>
                </a:r>
                <a14:m>
                  <m:oMath xmlns:m="http://schemas.openxmlformats.org/officeDocument/2006/math">
                    <m:r>
                      <a:rPr lang="en-US" i="1">
                        <a:latin typeface="Cambria Math" panose="02040503050406030204" pitchFamily="18" charset="0"/>
                      </a:rPr>
                      <m:t>𝑥</m:t>
                    </m:r>
                  </m:oMath>
                </a14:m>
                <a:r>
                  <a:rPr lang="en-US" dirty="0"/>
                  <a:t> are </a:t>
                </a:r>
                <a:r>
                  <a:rPr lang="en-US" b="1" dirty="0"/>
                  <a:t>compatible</a:t>
                </a:r>
                <a:r>
                  <a:rPr lang="en-US" dirty="0"/>
                  <a:t> with those obtained after including that uncertainty.</a:t>
                </a:r>
                <a:endParaRPr lang="it-IT" dirty="0"/>
              </a:p>
            </p:txBody>
          </p:sp>
        </mc:Choice>
        <mc:Fallback xmlns="">
          <p:sp>
            <p:nvSpPr>
              <p:cNvPr id="5" name="TextBox 4">
                <a:extLst>
                  <a:ext uri="{FF2B5EF4-FFF2-40B4-BE49-F238E27FC236}">
                    <a16:creationId xmlns:a16="http://schemas.microsoft.com/office/drawing/2014/main" id="{9EB151D3-976E-F035-4BF3-D97D3ADC3504}"/>
                  </a:ext>
                </a:extLst>
              </p:cNvPr>
              <p:cNvSpPr txBox="1">
                <a:spLocks noRot="1" noChangeAspect="1" noMove="1" noResize="1" noEditPoints="1" noAdjustHandles="1" noChangeArrowheads="1" noChangeShapeType="1" noTextEdit="1"/>
              </p:cNvSpPr>
              <p:nvPr/>
            </p:nvSpPr>
            <p:spPr>
              <a:xfrm>
                <a:off x="750366" y="5389602"/>
                <a:ext cx="10591801" cy="553998"/>
              </a:xfrm>
              <a:prstGeom prst="rect">
                <a:avLst/>
              </a:prstGeom>
              <a:blipFill>
                <a:blip r:embed="rId3"/>
                <a:stretch>
                  <a:fillRect l="-1208" t="-14286" b="-25275"/>
                </a:stretch>
              </a:blipFill>
            </p:spPr>
            <p:txBody>
              <a:bodyPr/>
              <a:lstStyle/>
              <a:p>
                <a:r>
                  <a:rPr lang="it-IT">
                    <a:noFill/>
                  </a:rPr>
                  <a:t> </a:t>
                </a:r>
              </a:p>
            </p:txBody>
          </p:sp>
        </mc:Fallback>
      </mc:AlternateContent>
    </p:spTree>
    <p:extLst>
      <p:ext uri="{BB962C8B-B14F-4D97-AF65-F5344CB8AC3E}">
        <p14:creationId xmlns:p14="http://schemas.microsoft.com/office/powerpoint/2010/main" val="82092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AE861-3FE6-8A64-862F-6137D47D68D4}"/>
              </a:ext>
            </a:extLst>
          </p:cNvPr>
          <p:cNvSpPr>
            <a:spLocks noGrp="1"/>
          </p:cNvSpPr>
          <p:nvPr>
            <p:ph type="title"/>
          </p:nvPr>
        </p:nvSpPr>
        <p:spPr/>
        <p:txBody>
          <a:bodyPr/>
          <a:lstStyle/>
          <a:p>
            <a:r>
              <a:rPr lang="it-IT" dirty="0">
                <a:solidFill>
                  <a:srgbClr val="FF0000"/>
                </a:solidFill>
              </a:rPr>
              <a:t>Problem 2 and 3 - classification</a:t>
            </a:r>
          </a:p>
        </p:txBody>
      </p:sp>
      <p:sp>
        <p:nvSpPr>
          <p:cNvPr id="3" name="Content Placeholder 2">
            <a:extLst>
              <a:ext uri="{FF2B5EF4-FFF2-40B4-BE49-F238E27FC236}">
                <a16:creationId xmlns:a16="http://schemas.microsoft.com/office/drawing/2014/main" id="{E89C6B31-C758-5D82-B27C-812025C65600}"/>
              </a:ext>
            </a:extLst>
          </p:cNvPr>
          <p:cNvSpPr>
            <a:spLocks noGrp="1"/>
          </p:cNvSpPr>
          <p:nvPr>
            <p:ph idx="1"/>
          </p:nvPr>
        </p:nvSpPr>
        <p:spPr>
          <a:xfrm>
            <a:off x="700635" y="1570892"/>
            <a:ext cx="10691265" cy="4390996"/>
          </a:xfrm>
        </p:spPr>
        <p:txBody>
          <a:bodyPr/>
          <a:lstStyle/>
          <a:p>
            <a:r>
              <a:rPr lang="it-IT" b="1" dirty="0"/>
              <a:t>Problem 2: </a:t>
            </a:r>
            <a:r>
              <a:rPr lang="en-US" sz="1800" dirty="0"/>
              <a:t>compute the probability of GRB170817A (</a:t>
            </a:r>
            <a:r>
              <a:rPr lang="en-US" sz="1800" i="1" dirty="0">
                <a:ea typeface="+mn-lt"/>
                <a:cs typeface="+mn-lt"/>
              </a:rPr>
              <a:t>T</a:t>
            </a:r>
            <a:r>
              <a:rPr lang="en-US" sz="1800" i="1" baseline="-25000" dirty="0">
                <a:ea typeface="+mn-lt"/>
                <a:cs typeface="+mn-lt"/>
              </a:rPr>
              <a:t>90</a:t>
            </a:r>
            <a:r>
              <a:rPr lang="en-US" sz="1800" dirty="0"/>
              <a:t> = 2.0 s) of being a short GRB or a long GRB.</a:t>
            </a:r>
          </a:p>
          <a:p>
            <a:r>
              <a:rPr lang="en-US" b="1" dirty="0"/>
              <a:t>Problem 3: </a:t>
            </a:r>
            <a:r>
              <a:rPr lang="en-US" sz="1800" dirty="0"/>
              <a:t>determine the threshold value for </a:t>
            </a:r>
            <a:r>
              <a:rPr lang="en-US" sz="1800" i="1" dirty="0"/>
              <a:t>T90</a:t>
            </a:r>
            <a:r>
              <a:rPr lang="en-US" sz="1800" dirty="0"/>
              <a:t> to discriminate between short and long GRBs.</a:t>
            </a:r>
            <a:endParaRPr lang="it-IT" sz="1800" b="1" dirty="0"/>
          </a:p>
        </p:txBody>
      </p:sp>
      <p:pic>
        <p:nvPicPr>
          <p:cNvPr id="5" name="Picture 4" descr="A diagram of a normal distribution&#10;&#10;AI-generated content may be incorrect.">
            <a:extLst>
              <a:ext uri="{FF2B5EF4-FFF2-40B4-BE49-F238E27FC236}">
                <a16:creationId xmlns:a16="http://schemas.microsoft.com/office/drawing/2014/main" id="{84A40B8D-D638-EE31-6030-73E25CD4FA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3832" y="2598329"/>
            <a:ext cx="5352435" cy="3345271"/>
          </a:xfrm>
          <a:prstGeom prst="rect">
            <a:avLst/>
          </a:prstGeom>
        </p:spPr>
      </p:pic>
      <p:pic>
        <p:nvPicPr>
          <p:cNvPr id="7" name="Picture 6" descr="A diagram of a normal distribution&#10;&#10;AI-generated content may be incorrect.">
            <a:extLst>
              <a:ext uri="{FF2B5EF4-FFF2-40B4-BE49-F238E27FC236}">
                <a16:creationId xmlns:a16="http://schemas.microsoft.com/office/drawing/2014/main" id="{05A00E57-E976-DCC2-3CED-4ADA618F83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2598328"/>
            <a:ext cx="5352435" cy="3345271"/>
          </a:xfrm>
          <a:prstGeom prst="rect">
            <a:avLst/>
          </a:prstGeom>
        </p:spPr>
      </p:pic>
    </p:spTree>
    <p:extLst>
      <p:ext uri="{BB962C8B-B14F-4D97-AF65-F5344CB8AC3E}">
        <p14:creationId xmlns:p14="http://schemas.microsoft.com/office/powerpoint/2010/main" val="2671527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9D6DE-F19B-EA17-C115-C4FA9D365014}"/>
              </a:ext>
            </a:extLst>
          </p:cNvPr>
          <p:cNvSpPr>
            <a:spLocks noGrp="1"/>
          </p:cNvSpPr>
          <p:nvPr>
            <p:ph type="title"/>
          </p:nvPr>
        </p:nvSpPr>
        <p:spPr/>
        <p:txBody>
          <a:bodyPr/>
          <a:lstStyle/>
          <a:p>
            <a:r>
              <a:rPr lang="it-IT" dirty="0">
                <a:solidFill>
                  <a:srgbClr val="FF0000"/>
                </a:solidFill>
              </a:rPr>
              <a:t>Short GRB Probability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F20006-B930-35ED-B0EC-21EB12F35331}"/>
                  </a:ext>
                </a:extLst>
              </p:cNvPr>
              <p:cNvSpPr>
                <a:spLocks noGrp="1"/>
              </p:cNvSpPr>
              <p:nvPr>
                <p:ph idx="1"/>
              </p:nvPr>
            </p:nvSpPr>
            <p:spPr>
              <a:xfrm>
                <a:off x="700635" y="1570892"/>
                <a:ext cx="10691265" cy="4603262"/>
              </a:xfrm>
            </p:spPr>
            <p:txBody>
              <a:bodyPr>
                <a:normAutofit/>
              </a:bodyPr>
              <a:lstStyle/>
              <a:p>
                <a14:m>
                  <m:oMath xmlns:m="http://schemas.openxmlformats.org/officeDocument/2006/math">
                    <m:r>
                      <a:rPr lang="it-IT" sz="1900" i="1" smtClean="0">
                        <a:latin typeface="Cambria Math" panose="02040503050406030204" pitchFamily="18" charset="0"/>
                      </a:rPr>
                      <m:t>𝑝</m:t>
                    </m:r>
                    <m:d>
                      <m:dPr>
                        <m:ctrlPr>
                          <a:rPr lang="it-IT" sz="1900" i="1" smtClean="0">
                            <a:latin typeface="Cambria Math" panose="02040503050406030204" pitchFamily="18" charset="0"/>
                          </a:rPr>
                        </m:ctrlPr>
                      </m:dPr>
                      <m:e>
                        <m:r>
                          <a:rPr lang="it-IT" sz="1900" i="1" smtClean="0">
                            <a:latin typeface="Cambria Math" panose="02040503050406030204" pitchFamily="18" charset="0"/>
                          </a:rPr>
                          <m:t>𝑠</m:t>
                        </m:r>
                        <m:r>
                          <a:rPr lang="it-IT" sz="1900" i="1" smtClean="0">
                            <a:latin typeface="Cambria Math" panose="02040503050406030204" pitchFamily="18" charset="0"/>
                          </a:rPr>
                          <m:t>h</m:t>
                        </m:r>
                        <m:r>
                          <a:rPr lang="it-IT" sz="1900" i="1" smtClean="0">
                            <a:latin typeface="Cambria Math" panose="02040503050406030204" pitchFamily="18" charset="0"/>
                          </a:rPr>
                          <m:t>𝑜𝑟𝑡</m:t>
                        </m:r>
                      </m:e>
                      <m:e>
                        <m:r>
                          <a:rPr lang="it-IT" sz="1900" i="1" smtClean="0">
                            <a:latin typeface="Cambria Math" panose="02040503050406030204" pitchFamily="18" charset="0"/>
                          </a:rPr>
                          <m:t>𝑥</m:t>
                        </m:r>
                        <m:r>
                          <a:rPr lang="it-IT" sz="1900" i="1" smtClean="0">
                            <a:latin typeface="Cambria Math" panose="02040503050406030204" pitchFamily="18" charset="0"/>
                          </a:rPr>
                          <m:t>,</m:t>
                        </m:r>
                        <m:r>
                          <a:rPr lang="it-IT" sz="1900" i="1" smtClean="0">
                            <a:latin typeface="Cambria Math" panose="02040503050406030204" pitchFamily="18" charset="0"/>
                          </a:rPr>
                          <m:t>𝜽</m:t>
                        </m:r>
                      </m:e>
                    </m:d>
                    <m:r>
                      <a:rPr lang="it-IT" sz="1900" i="1" smtClean="0">
                        <a:latin typeface="Cambria Math" panose="02040503050406030204" pitchFamily="18" charset="0"/>
                      </a:rPr>
                      <m:t>=</m:t>
                    </m:r>
                    <m:f>
                      <m:fPr>
                        <m:ctrlPr>
                          <a:rPr lang="it-IT" sz="1900" i="1" smtClean="0">
                            <a:latin typeface="Cambria Math" panose="02040503050406030204" pitchFamily="18" charset="0"/>
                          </a:rPr>
                        </m:ctrlPr>
                      </m:fPr>
                      <m:num>
                        <m:r>
                          <a:rPr lang="it-IT" sz="1900" i="1" smtClean="0">
                            <a:latin typeface="Cambria Math" panose="02040503050406030204" pitchFamily="18" charset="0"/>
                          </a:rPr>
                          <m:t>𝑝</m:t>
                        </m:r>
                        <m:d>
                          <m:dPr>
                            <m:ctrlPr>
                              <a:rPr lang="it-IT" sz="1900" i="1" smtClean="0">
                                <a:latin typeface="Cambria Math" panose="02040503050406030204" pitchFamily="18" charset="0"/>
                              </a:rPr>
                            </m:ctrlPr>
                          </m:dPr>
                          <m:e>
                            <m:r>
                              <a:rPr lang="it-IT" sz="1900" i="1" smtClean="0">
                                <a:latin typeface="Cambria Math" panose="02040503050406030204" pitchFamily="18" charset="0"/>
                              </a:rPr>
                              <m:t>𝑠</m:t>
                            </m:r>
                            <m:r>
                              <a:rPr lang="it-IT" sz="1900" i="1" smtClean="0">
                                <a:latin typeface="Cambria Math" panose="02040503050406030204" pitchFamily="18" charset="0"/>
                              </a:rPr>
                              <m:t>h</m:t>
                            </m:r>
                            <m:r>
                              <a:rPr lang="it-IT" sz="1900" i="1" smtClean="0">
                                <a:latin typeface="Cambria Math" panose="02040503050406030204" pitchFamily="18" charset="0"/>
                              </a:rPr>
                              <m:t>𝑜𝑟𝑡</m:t>
                            </m:r>
                          </m:e>
                          <m:e>
                            <m:r>
                              <a:rPr lang="it-IT" sz="1900" i="1" smtClean="0">
                                <a:latin typeface="Cambria Math" panose="02040503050406030204" pitchFamily="18" charset="0"/>
                              </a:rPr>
                              <m:t>𝜽</m:t>
                            </m:r>
                          </m:e>
                        </m:d>
                        <m:r>
                          <a:rPr lang="it-IT" sz="1900" i="1" smtClean="0">
                            <a:latin typeface="Cambria Math" panose="02040503050406030204" pitchFamily="18" charset="0"/>
                          </a:rPr>
                          <m:t>𝑝</m:t>
                        </m:r>
                        <m:d>
                          <m:dPr>
                            <m:ctrlPr>
                              <a:rPr lang="it-IT" sz="1900" i="1" smtClean="0">
                                <a:latin typeface="Cambria Math" panose="02040503050406030204" pitchFamily="18" charset="0"/>
                              </a:rPr>
                            </m:ctrlPr>
                          </m:dPr>
                          <m:e>
                            <m:r>
                              <a:rPr lang="it-IT" sz="1900" i="1" smtClean="0">
                                <a:latin typeface="Cambria Math" panose="02040503050406030204" pitchFamily="18" charset="0"/>
                              </a:rPr>
                              <m:t>𝑥</m:t>
                            </m:r>
                          </m:e>
                          <m:e>
                            <m:r>
                              <a:rPr lang="it-IT" sz="1900" i="1" smtClean="0">
                                <a:latin typeface="Cambria Math" panose="02040503050406030204" pitchFamily="18" charset="0"/>
                              </a:rPr>
                              <m:t>𝑠</m:t>
                            </m:r>
                            <m:r>
                              <a:rPr lang="it-IT" sz="1900" i="1" smtClean="0">
                                <a:latin typeface="Cambria Math" panose="02040503050406030204" pitchFamily="18" charset="0"/>
                              </a:rPr>
                              <m:t>h</m:t>
                            </m:r>
                            <m:r>
                              <a:rPr lang="it-IT" sz="1900" i="1" smtClean="0">
                                <a:latin typeface="Cambria Math" panose="02040503050406030204" pitchFamily="18" charset="0"/>
                              </a:rPr>
                              <m:t>𝑜𝑟𝑡</m:t>
                            </m:r>
                            <m:r>
                              <a:rPr lang="it-IT" sz="1900" i="1" smtClean="0">
                                <a:latin typeface="Cambria Math" panose="02040503050406030204" pitchFamily="18" charset="0"/>
                              </a:rPr>
                              <m:t>,</m:t>
                            </m:r>
                            <m:r>
                              <a:rPr lang="it-IT" sz="1900" i="1" smtClean="0">
                                <a:latin typeface="Cambria Math" panose="02040503050406030204" pitchFamily="18" charset="0"/>
                              </a:rPr>
                              <m:t>𝜽</m:t>
                            </m:r>
                          </m:e>
                        </m:d>
                      </m:num>
                      <m:den>
                        <m:r>
                          <a:rPr lang="it-IT" sz="1900" i="1" smtClean="0">
                            <a:latin typeface="Cambria Math" panose="02040503050406030204" pitchFamily="18" charset="0"/>
                          </a:rPr>
                          <m:t>𝑝</m:t>
                        </m:r>
                        <m:d>
                          <m:dPr>
                            <m:ctrlPr>
                              <a:rPr lang="it-IT" sz="1900" i="1" smtClean="0">
                                <a:latin typeface="Cambria Math" panose="02040503050406030204" pitchFamily="18" charset="0"/>
                              </a:rPr>
                            </m:ctrlPr>
                          </m:dPr>
                          <m:e>
                            <m:r>
                              <a:rPr lang="it-IT" sz="1900" i="1" smtClean="0">
                                <a:latin typeface="Cambria Math" panose="02040503050406030204" pitchFamily="18" charset="0"/>
                              </a:rPr>
                              <m:t>𝑥</m:t>
                            </m:r>
                          </m:e>
                          <m:e>
                            <m:r>
                              <a:rPr lang="it-IT" sz="1900" i="1" smtClean="0">
                                <a:latin typeface="Cambria Math" panose="02040503050406030204" pitchFamily="18" charset="0"/>
                              </a:rPr>
                              <m:t>𝜽</m:t>
                            </m:r>
                          </m:e>
                        </m:d>
                      </m:den>
                    </m:f>
                    <m:r>
                      <a:rPr lang="it-IT" sz="1900" i="1" smtClean="0">
                        <a:latin typeface="Cambria Math" panose="02040503050406030204" pitchFamily="18" charset="0"/>
                      </a:rPr>
                      <m:t>=</m:t>
                    </m:r>
                    <m:f>
                      <m:fPr>
                        <m:ctrlPr>
                          <a:rPr lang="it-IT" sz="1900" i="1" smtClean="0">
                            <a:latin typeface="Cambria Math" panose="02040503050406030204" pitchFamily="18" charset="0"/>
                          </a:rPr>
                        </m:ctrlPr>
                      </m:fPr>
                      <m:num>
                        <m:sSub>
                          <m:sSubPr>
                            <m:ctrlPr>
                              <a:rPr lang="it-IT" sz="1900" i="1" smtClean="0">
                                <a:latin typeface="Cambria Math" panose="02040503050406030204" pitchFamily="18" charset="0"/>
                              </a:rPr>
                            </m:ctrlPr>
                          </m:sSubPr>
                          <m:e>
                            <m:r>
                              <a:rPr lang="it-IT" sz="1900" i="1" smtClean="0">
                                <a:latin typeface="Cambria Math" panose="02040503050406030204" pitchFamily="18" charset="0"/>
                              </a:rPr>
                              <m:t>𝑤</m:t>
                            </m:r>
                          </m:e>
                          <m:sub>
                            <m:r>
                              <a:rPr lang="it-IT" sz="1900" i="1" smtClean="0">
                                <a:latin typeface="Cambria Math" panose="02040503050406030204" pitchFamily="18" charset="0"/>
                              </a:rPr>
                              <m:t>1</m:t>
                            </m:r>
                          </m:sub>
                        </m:sSub>
                        <m:r>
                          <a:rPr lang="it-IT" sz="1900" i="1" smtClean="0">
                            <a:latin typeface="Cambria Math" panose="02040503050406030204" pitchFamily="18" charset="0"/>
                          </a:rPr>
                          <m:t>𝒩</m:t>
                        </m:r>
                        <m:d>
                          <m:dPr>
                            <m:ctrlPr>
                              <a:rPr lang="it-IT" sz="1900" i="1" smtClean="0">
                                <a:latin typeface="Cambria Math" panose="02040503050406030204" pitchFamily="18" charset="0"/>
                              </a:rPr>
                            </m:ctrlPr>
                          </m:dPr>
                          <m:e>
                            <m:r>
                              <a:rPr lang="it-IT" sz="1900" i="1" smtClean="0">
                                <a:latin typeface="Cambria Math" panose="02040503050406030204" pitchFamily="18" charset="0"/>
                              </a:rPr>
                              <m:t>𝑥</m:t>
                            </m:r>
                          </m:e>
                          <m:e>
                            <m:sSub>
                              <m:sSubPr>
                                <m:ctrlPr>
                                  <a:rPr lang="it-IT" sz="1900" i="1" smtClean="0">
                                    <a:latin typeface="Cambria Math" panose="02040503050406030204" pitchFamily="18" charset="0"/>
                                  </a:rPr>
                                </m:ctrlPr>
                              </m:sSubPr>
                              <m:e>
                                <m:r>
                                  <a:rPr lang="it-IT" sz="1900" i="1" smtClean="0">
                                    <a:latin typeface="Cambria Math" panose="02040503050406030204" pitchFamily="18" charset="0"/>
                                  </a:rPr>
                                  <m:t>𝜇</m:t>
                                </m:r>
                              </m:e>
                              <m:sub>
                                <m:r>
                                  <a:rPr lang="it-IT" sz="1900" i="1" smtClean="0">
                                    <a:latin typeface="Cambria Math" panose="02040503050406030204" pitchFamily="18" charset="0"/>
                                  </a:rPr>
                                  <m:t>1</m:t>
                                </m:r>
                              </m:sub>
                            </m:sSub>
                            <m:r>
                              <a:rPr lang="it-IT" sz="1900" i="1" smtClean="0">
                                <a:latin typeface="Cambria Math" panose="02040503050406030204" pitchFamily="18" charset="0"/>
                              </a:rPr>
                              <m:t>,</m:t>
                            </m:r>
                            <m:sSubSup>
                              <m:sSubSupPr>
                                <m:ctrlPr>
                                  <a:rPr lang="it-IT" sz="1900" i="1" smtClean="0">
                                    <a:latin typeface="Cambria Math" panose="02040503050406030204" pitchFamily="18" charset="0"/>
                                  </a:rPr>
                                </m:ctrlPr>
                              </m:sSubSupPr>
                              <m:e>
                                <m:r>
                                  <a:rPr lang="it-IT" sz="1900" i="1" smtClean="0">
                                    <a:latin typeface="Cambria Math" panose="02040503050406030204" pitchFamily="18" charset="0"/>
                                  </a:rPr>
                                  <m:t>𝜎</m:t>
                                </m:r>
                              </m:e>
                              <m:sub>
                                <m:r>
                                  <a:rPr lang="it-IT" sz="1900" i="1" smtClean="0">
                                    <a:latin typeface="Cambria Math" panose="02040503050406030204" pitchFamily="18" charset="0"/>
                                  </a:rPr>
                                  <m:t>1</m:t>
                                </m:r>
                              </m:sub>
                              <m:sup>
                                <m:r>
                                  <a:rPr lang="it-IT" sz="1900" i="1" smtClean="0">
                                    <a:latin typeface="Cambria Math" panose="02040503050406030204" pitchFamily="18" charset="0"/>
                                  </a:rPr>
                                  <m:t>2</m:t>
                                </m:r>
                              </m:sup>
                            </m:sSubSup>
                          </m:e>
                        </m:d>
                      </m:num>
                      <m:den>
                        <m:sSub>
                          <m:sSubPr>
                            <m:ctrlPr>
                              <a:rPr lang="it-IT" sz="1900" i="1" smtClean="0">
                                <a:latin typeface="Cambria Math" panose="02040503050406030204" pitchFamily="18" charset="0"/>
                              </a:rPr>
                            </m:ctrlPr>
                          </m:sSubPr>
                          <m:e>
                            <m:r>
                              <a:rPr lang="it-IT" sz="1900" i="1" smtClean="0">
                                <a:latin typeface="Cambria Math" panose="02040503050406030204" pitchFamily="18" charset="0"/>
                              </a:rPr>
                              <m:t>𝑤</m:t>
                            </m:r>
                          </m:e>
                          <m:sub>
                            <m:r>
                              <a:rPr lang="it-IT" sz="1900" i="1" smtClean="0">
                                <a:latin typeface="Cambria Math" panose="02040503050406030204" pitchFamily="18" charset="0"/>
                              </a:rPr>
                              <m:t>1</m:t>
                            </m:r>
                          </m:sub>
                        </m:sSub>
                        <m:r>
                          <a:rPr lang="it-IT" sz="1900" i="1" smtClean="0">
                            <a:latin typeface="Cambria Math" panose="02040503050406030204" pitchFamily="18" charset="0"/>
                          </a:rPr>
                          <m:t>𝒩</m:t>
                        </m:r>
                        <m:d>
                          <m:dPr>
                            <m:ctrlPr>
                              <a:rPr lang="it-IT" sz="1900" i="1" smtClean="0">
                                <a:latin typeface="Cambria Math" panose="02040503050406030204" pitchFamily="18" charset="0"/>
                              </a:rPr>
                            </m:ctrlPr>
                          </m:dPr>
                          <m:e>
                            <m:r>
                              <a:rPr lang="it-IT" sz="1900" i="1" smtClean="0">
                                <a:latin typeface="Cambria Math" panose="02040503050406030204" pitchFamily="18" charset="0"/>
                              </a:rPr>
                              <m:t>𝑥</m:t>
                            </m:r>
                          </m:e>
                          <m:e>
                            <m:sSub>
                              <m:sSubPr>
                                <m:ctrlPr>
                                  <a:rPr lang="it-IT" sz="1900" i="1" smtClean="0">
                                    <a:latin typeface="Cambria Math" panose="02040503050406030204" pitchFamily="18" charset="0"/>
                                  </a:rPr>
                                </m:ctrlPr>
                              </m:sSubPr>
                              <m:e>
                                <m:r>
                                  <a:rPr lang="it-IT" sz="1900" i="1" smtClean="0">
                                    <a:latin typeface="Cambria Math" panose="02040503050406030204" pitchFamily="18" charset="0"/>
                                  </a:rPr>
                                  <m:t>𝜇</m:t>
                                </m:r>
                              </m:e>
                              <m:sub>
                                <m:r>
                                  <a:rPr lang="it-IT" sz="1900" i="1" smtClean="0">
                                    <a:latin typeface="Cambria Math" panose="02040503050406030204" pitchFamily="18" charset="0"/>
                                  </a:rPr>
                                  <m:t>1</m:t>
                                </m:r>
                              </m:sub>
                            </m:sSub>
                            <m:r>
                              <a:rPr lang="it-IT" sz="1900" i="1" smtClean="0">
                                <a:latin typeface="Cambria Math" panose="02040503050406030204" pitchFamily="18" charset="0"/>
                              </a:rPr>
                              <m:t>,</m:t>
                            </m:r>
                            <m:sSubSup>
                              <m:sSubSupPr>
                                <m:ctrlPr>
                                  <a:rPr lang="it-IT" sz="1900" i="1" smtClean="0">
                                    <a:latin typeface="Cambria Math" panose="02040503050406030204" pitchFamily="18" charset="0"/>
                                  </a:rPr>
                                </m:ctrlPr>
                              </m:sSubSupPr>
                              <m:e>
                                <m:r>
                                  <a:rPr lang="it-IT" sz="1900" i="1" smtClean="0">
                                    <a:latin typeface="Cambria Math" panose="02040503050406030204" pitchFamily="18" charset="0"/>
                                  </a:rPr>
                                  <m:t>𝜎</m:t>
                                </m:r>
                              </m:e>
                              <m:sub>
                                <m:r>
                                  <a:rPr lang="it-IT" sz="1900" i="1" smtClean="0">
                                    <a:latin typeface="Cambria Math" panose="02040503050406030204" pitchFamily="18" charset="0"/>
                                  </a:rPr>
                                  <m:t>1</m:t>
                                </m:r>
                              </m:sub>
                              <m:sup>
                                <m:r>
                                  <a:rPr lang="it-IT" sz="1900" i="1" smtClean="0">
                                    <a:latin typeface="Cambria Math" panose="02040503050406030204" pitchFamily="18" charset="0"/>
                                  </a:rPr>
                                  <m:t>2</m:t>
                                </m:r>
                              </m:sup>
                            </m:sSubSup>
                          </m:e>
                        </m:d>
                        <m:r>
                          <a:rPr lang="it-IT" sz="1900" i="1" smtClean="0">
                            <a:latin typeface="Cambria Math" panose="02040503050406030204" pitchFamily="18" charset="0"/>
                          </a:rPr>
                          <m:t>+</m:t>
                        </m:r>
                        <m:d>
                          <m:dPr>
                            <m:ctrlPr>
                              <a:rPr lang="it-IT" sz="1900" i="1" smtClean="0">
                                <a:latin typeface="Cambria Math" panose="02040503050406030204" pitchFamily="18" charset="0"/>
                              </a:rPr>
                            </m:ctrlPr>
                          </m:dPr>
                          <m:e>
                            <m:r>
                              <a:rPr lang="it-IT" sz="1900" i="1" smtClean="0">
                                <a:latin typeface="Cambria Math" panose="02040503050406030204" pitchFamily="18" charset="0"/>
                              </a:rPr>
                              <m:t>1</m:t>
                            </m:r>
                            <m:r>
                              <a:rPr lang="it-IT" sz="1900" i="1" smtClean="0">
                                <a:latin typeface="Cambria Math" panose="02040503050406030204" pitchFamily="18" charset="0"/>
                              </a:rPr>
                              <m:t>−</m:t>
                            </m:r>
                            <m:sSub>
                              <m:sSubPr>
                                <m:ctrlPr>
                                  <a:rPr lang="it-IT" sz="1900" i="1" smtClean="0">
                                    <a:latin typeface="Cambria Math" panose="02040503050406030204" pitchFamily="18" charset="0"/>
                                  </a:rPr>
                                </m:ctrlPr>
                              </m:sSubPr>
                              <m:e>
                                <m:r>
                                  <a:rPr lang="it-IT" sz="1900" i="1" smtClean="0">
                                    <a:latin typeface="Cambria Math" panose="02040503050406030204" pitchFamily="18" charset="0"/>
                                  </a:rPr>
                                  <m:t>𝑤</m:t>
                                </m:r>
                              </m:e>
                              <m:sub>
                                <m:r>
                                  <a:rPr lang="it-IT" sz="1900" i="1" smtClean="0">
                                    <a:latin typeface="Cambria Math" panose="02040503050406030204" pitchFamily="18" charset="0"/>
                                  </a:rPr>
                                  <m:t>1</m:t>
                                </m:r>
                              </m:sub>
                            </m:sSub>
                          </m:e>
                        </m:d>
                        <m:r>
                          <a:rPr lang="it-IT" sz="1900" i="1" smtClean="0">
                            <a:latin typeface="Cambria Math" panose="02040503050406030204" pitchFamily="18" charset="0"/>
                          </a:rPr>
                          <m:t>𝒩</m:t>
                        </m:r>
                        <m:d>
                          <m:dPr>
                            <m:ctrlPr>
                              <a:rPr lang="it-IT" sz="1900" i="1" smtClean="0">
                                <a:latin typeface="Cambria Math" panose="02040503050406030204" pitchFamily="18" charset="0"/>
                              </a:rPr>
                            </m:ctrlPr>
                          </m:dPr>
                          <m:e>
                            <m:r>
                              <a:rPr lang="it-IT" sz="1900" i="1" smtClean="0">
                                <a:latin typeface="Cambria Math" panose="02040503050406030204" pitchFamily="18" charset="0"/>
                              </a:rPr>
                              <m:t>𝑥</m:t>
                            </m:r>
                          </m:e>
                          <m:e>
                            <m:sSub>
                              <m:sSubPr>
                                <m:ctrlPr>
                                  <a:rPr lang="it-IT" sz="1900" i="1" smtClean="0">
                                    <a:latin typeface="Cambria Math" panose="02040503050406030204" pitchFamily="18" charset="0"/>
                                  </a:rPr>
                                </m:ctrlPr>
                              </m:sSubPr>
                              <m:e>
                                <m:r>
                                  <a:rPr lang="it-IT" sz="1900" i="1" smtClean="0">
                                    <a:latin typeface="Cambria Math" panose="02040503050406030204" pitchFamily="18" charset="0"/>
                                  </a:rPr>
                                  <m:t>𝜇</m:t>
                                </m:r>
                              </m:e>
                              <m:sub>
                                <m:r>
                                  <a:rPr lang="it-IT" sz="1900" i="1" smtClean="0">
                                    <a:latin typeface="Cambria Math" panose="02040503050406030204" pitchFamily="18" charset="0"/>
                                  </a:rPr>
                                  <m:t>2</m:t>
                                </m:r>
                              </m:sub>
                            </m:sSub>
                            <m:r>
                              <a:rPr lang="it-IT" sz="1900" i="1" smtClean="0">
                                <a:latin typeface="Cambria Math" panose="02040503050406030204" pitchFamily="18" charset="0"/>
                              </a:rPr>
                              <m:t>,</m:t>
                            </m:r>
                            <m:sSubSup>
                              <m:sSubSupPr>
                                <m:ctrlPr>
                                  <a:rPr lang="it-IT" sz="1900" i="1" smtClean="0">
                                    <a:latin typeface="Cambria Math" panose="02040503050406030204" pitchFamily="18" charset="0"/>
                                  </a:rPr>
                                </m:ctrlPr>
                              </m:sSubSupPr>
                              <m:e>
                                <m:r>
                                  <a:rPr lang="it-IT" sz="1900" i="1" smtClean="0">
                                    <a:latin typeface="Cambria Math" panose="02040503050406030204" pitchFamily="18" charset="0"/>
                                  </a:rPr>
                                  <m:t>𝜎</m:t>
                                </m:r>
                              </m:e>
                              <m:sub>
                                <m:r>
                                  <a:rPr lang="it-IT" sz="1900" i="1" smtClean="0">
                                    <a:latin typeface="Cambria Math" panose="02040503050406030204" pitchFamily="18" charset="0"/>
                                  </a:rPr>
                                  <m:t>2</m:t>
                                </m:r>
                              </m:sub>
                              <m:sup>
                                <m:r>
                                  <a:rPr lang="it-IT" sz="1900" i="1" smtClean="0">
                                    <a:latin typeface="Cambria Math" panose="02040503050406030204" pitchFamily="18" charset="0"/>
                                  </a:rPr>
                                  <m:t>2</m:t>
                                </m:r>
                              </m:sup>
                            </m:sSubSup>
                          </m:e>
                        </m:d>
                      </m:den>
                    </m:f>
                  </m:oMath>
                </a14:m>
                <a:endParaRPr lang="it-IT" sz="1900" dirty="0"/>
              </a:p>
              <a:p>
                <a14:m>
                  <m:oMath xmlns:m="http://schemas.openxmlformats.org/officeDocument/2006/math">
                    <m:sSub>
                      <m:sSubPr>
                        <m:ctrlPr>
                          <a:rPr lang="it-IT" sz="1900" i="1" smtClean="0">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r>
                      <a:rPr lang="it-IT" sz="1900" i="1">
                        <a:latin typeface="Cambria Math" panose="02040503050406030204" pitchFamily="18" charset="0"/>
                      </a:rPr>
                      <m:t>=</m:t>
                    </m:r>
                    <m:r>
                      <a:rPr lang="it-IT" sz="1900" i="1">
                        <a:latin typeface="Cambria Math" panose="02040503050406030204" pitchFamily="18" charset="0"/>
                      </a:rPr>
                      <m:t>𝑥</m:t>
                    </m:r>
                    <m:r>
                      <a:rPr lang="it-IT" sz="1900" i="1">
                        <a:latin typeface="Cambria Math" panose="02040503050406030204" pitchFamily="18" charset="0"/>
                      </a:rPr>
                      <m:t>+</m:t>
                    </m:r>
                    <m:r>
                      <a:rPr lang="it-IT" sz="1900" i="1">
                        <a:latin typeface="Cambria Math" panose="02040503050406030204" pitchFamily="18" charset="0"/>
                      </a:rPr>
                      <m:t>𝜀</m:t>
                    </m:r>
                    <m:r>
                      <a:rPr lang="it-IT" sz="1900" b="0" i="1" smtClean="0">
                        <a:latin typeface="Cambria Math" panose="02040503050406030204" pitchFamily="18" charset="0"/>
                      </a:rPr>
                      <m:t>, </m:t>
                    </m:r>
                    <m:r>
                      <a:rPr lang="it-IT" sz="1900" b="0" i="1" smtClean="0">
                        <a:latin typeface="Cambria Math" panose="02040503050406030204" pitchFamily="18" charset="0"/>
                      </a:rPr>
                      <m:t>𝜀</m:t>
                    </m:r>
                    <m:r>
                      <a:rPr lang="it-IT" sz="1900" b="0" i="1" smtClean="0">
                        <a:latin typeface="Cambria Math" panose="02040503050406030204" pitchFamily="18" charset="0"/>
                      </a:rPr>
                      <m:t>∼</m:t>
                    </m:r>
                    <m:r>
                      <a:rPr lang="it-IT" sz="1900" b="0" i="1" smtClean="0">
                        <a:latin typeface="Cambria Math" panose="02040503050406030204" pitchFamily="18" charset="0"/>
                      </a:rPr>
                      <m:t>𝒩</m:t>
                    </m:r>
                    <m:d>
                      <m:dPr>
                        <m:ctrlPr>
                          <a:rPr lang="it-IT" sz="1900" b="0" i="1" smtClean="0">
                            <a:latin typeface="Cambria Math" panose="02040503050406030204" pitchFamily="18" charset="0"/>
                          </a:rPr>
                        </m:ctrlPr>
                      </m:dPr>
                      <m:e>
                        <m:r>
                          <a:rPr lang="it-IT" sz="1900" b="0" i="1" smtClean="0">
                            <a:latin typeface="Cambria Math" panose="02040503050406030204" pitchFamily="18" charset="0"/>
                          </a:rPr>
                          <m:t>0</m:t>
                        </m:r>
                        <m:r>
                          <a:rPr lang="it-IT" sz="1900" b="0" i="1" smtClean="0">
                            <a:latin typeface="Cambria Math" panose="02040503050406030204" pitchFamily="18" charset="0"/>
                          </a:rPr>
                          <m:t>,</m:t>
                        </m:r>
                        <m:sSubSup>
                          <m:sSubSupPr>
                            <m:ctrlPr>
                              <a:rPr lang="it-IT" sz="1900" b="0" i="1" smtClean="0">
                                <a:latin typeface="Cambria Math" panose="02040503050406030204" pitchFamily="18" charset="0"/>
                              </a:rPr>
                            </m:ctrlPr>
                          </m:sSubSupPr>
                          <m:e>
                            <m:r>
                              <a:rPr lang="it-IT" sz="1900" b="0" i="1" smtClean="0">
                                <a:latin typeface="Cambria Math" panose="02040503050406030204" pitchFamily="18" charset="0"/>
                              </a:rPr>
                              <m:t>𝜎</m:t>
                            </m:r>
                          </m:e>
                          <m:sub>
                            <m:r>
                              <a:rPr lang="it-IT" sz="1900" b="0" i="1" smtClean="0">
                                <a:latin typeface="Cambria Math" panose="02040503050406030204" pitchFamily="18" charset="0"/>
                              </a:rPr>
                              <m:t>𝑜𝑏𝑠</m:t>
                            </m:r>
                          </m:sub>
                          <m:sup>
                            <m:r>
                              <a:rPr lang="it-IT" sz="1900" b="0" i="1" smtClean="0">
                                <a:latin typeface="Cambria Math" panose="02040503050406030204" pitchFamily="18" charset="0"/>
                              </a:rPr>
                              <m:t>2</m:t>
                            </m:r>
                          </m:sup>
                        </m:sSubSup>
                      </m:e>
                    </m:d>
                    <m:r>
                      <a:rPr lang="it-IT" sz="1900" i="1">
                        <a:latin typeface="Cambria Math" panose="02040503050406030204" pitchFamily="18" charset="0"/>
                      </a:rPr>
                      <m:t> </m:t>
                    </m:r>
                  </m:oMath>
                </a14:m>
                <a:endParaRPr lang="it-IT" sz="19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it-IT" sz="1900" i="1">
                          <a:latin typeface="Cambria Math" panose="02040503050406030204" pitchFamily="18" charset="0"/>
                        </a:rPr>
                        <m:t>⟹ </m:t>
                      </m:r>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r>
                            <a:rPr lang="it-IT" sz="1900" i="1">
                              <a:latin typeface="Cambria Math" panose="02040503050406030204" pitchFamily="18" charset="0"/>
                            </a:rPr>
                            <m:t>,</m:t>
                          </m:r>
                          <m:r>
                            <a:rPr lang="it-IT" sz="1900" i="1">
                              <a:latin typeface="Cambria Math" panose="02040503050406030204" pitchFamily="18" charset="0"/>
                            </a:rPr>
                            <m:t>𝜽</m:t>
                          </m:r>
                        </m:e>
                      </m:d>
                      <m:r>
                        <a:rPr lang="it-IT" sz="1900" i="1">
                          <a:latin typeface="Cambria Math" panose="02040503050406030204" pitchFamily="18" charset="0"/>
                        </a:rPr>
                        <m:t>=</m:t>
                      </m:r>
                      <m:f>
                        <m:fPr>
                          <m:ctrlPr>
                            <a:rPr lang="it-IT" sz="1900" i="1">
                              <a:latin typeface="Cambria Math" panose="02040503050406030204" pitchFamily="18" charset="0"/>
                            </a:rPr>
                          </m:ctrlPr>
                        </m:fPr>
                        <m:num>
                          <m:sSub>
                            <m:sSubPr>
                              <m:ctrlPr>
                                <a:rPr lang="it-IT" sz="1900" i="1">
                                  <a:latin typeface="Cambria Math" panose="02040503050406030204" pitchFamily="18" charset="0"/>
                                </a:rPr>
                              </m:ctrlPr>
                            </m:sSubPr>
                            <m:e>
                              <m:r>
                                <a:rPr lang="it-IT" sz="1900" i="1">
                                  <a:latin typeface="Cambria Math" panose="02040503050406030204" pitchFamily="18" charset="0"/>
                                </a:rPr>
                                <m:t>𝑤</m:t>
                              </m:r>
                            </m:e>
                            <m:sub>
                              <m:r>
                                <a:rPr lang="it-IT" sz="1900" i="1">
                                  <a:latin typeface="Cambria Math" panose="02040503050406030204" pitchFamily="18" charset="0"/>
                                </a:rPr>
                                <m:t>1</m:t>
                              </m:r>
                            </m:sub>
                          </m:sSub>
                          <m:r>
                            <a:rPr lang="it-IT" sz="1900" i="1">
                              <a:latin typeface="Cambria Math" panose="02040503050406030204" pitchFamily="18" charset="0"/>
                            </a:rPr>
                            <m:t>𝒩</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e>
                            <m:e>
                              <m:sSub>
                                <m:sSubPr>
                                  <m:ctrlPr>
                                    <a:rPr lang="it-IT" sz="1900" i="1">
                                      <a:latin typeface="Cambria Math" panose="02040503050406030204" pitchFamily="18" charset="0"/>
                                    </a:rPr>
                                  </m:ctrlPr>
                                </m:sSubPr>
                                <m:e>
                                  <m:r>
                                    <a:rPr lang="it-IT" sz="1900" i="1">
                                      <a:latin typeface="Cambria Math" panose="02040503050406030204" pitchFamily="18" charset="0"/>
                                    </a:rPr>
                                    <m:t>𝜇</m:t>
                                  </m:r>
                                </m:e>
                                <m:sub>
                                  <m:r>
                                    <a:rPr lang="it-IT" sz="1900" i="1">
                                      <a:latin typeface="Cambria Math" panose="02040503050406030204" pitchFamily="18" charset="0"/>
                                    </a:rPr>
                                    <m:t>1</m:t>
                                  </m:r>
                                </m:sub>
                              </m:sSub>
                              <m:r>
                                <a:rPr lang="it-IT" sz="1900" i="1">
                                  <a:latin typeface="Cambria Math" panose="02040503050406030204" pitchFamily="18" charset="0"/>
                                </a:rPr>
                                <m:t>,</m:t>
                              </m:r>
                              <m:sSubSup>
                                <m:sSubSupPr>
                                  <m:ctrlPr>
                                    <a:rPr lang="it-IT" sz="1900" i="1">
                                      <a:latin typeface="Cambria Math" panose="02040503050406030204" pitchFamily="18" charset="0"/>
                                    </a:rPr>
                                  </m:ctrlPr>
                                </m:sSubSupPr>
                                <m:e>
                                  <m:r>
                                    <a:rPr lang="it-IT" sz="1900" i="1">
                                      <a:latin typeface="Cambria Math" panose="02040503050406030204" pitchFamily="18" charset="0"/>
                                    </a:rPr>
                                    <m:t>𝜎</m:t>
                                  </m:r>
                                </m:e>
                                <m:sub>
                                  <m:r>
                                    <a:rPr lang="it-IT" sz="1900" i="1">
                                      <a:latin typeface="Cambria Math" panose="02040503050406030204" pitchFamily="18" charset="0"/>
                                    </a:rPr>
                                    <m:t>1</m:t>
                                  </m:r>
                                </m:sub>
                                <m:sup>
                                  <m:r>
                                    <a:rPr lang="it-IT" sz="1900" i="1">
                                      <a:latin typeface="Cambria Math" panose="02040503050406030204" pitchFamily="18" charset="0"/>
                                    </a:rPr>
                                    <m:t>2</m:t>
                                  </m:r>
                                </m:sup>
                              </m:sSubSup>
                              <m:r>
                                <a:rPr lang="it-IT" sz="1900" i="1">
                                  <a:latin typeface="Cambria Math" panose="02040503050406030204" pitchFamily="18" charset="0"/>
                                </a:rPr>
                                <m:t>+</m:t>
                              </m:r>
                              <m:sSubSup>
                                <m:sSubSupPr>
                                  <m:ctrlPr>
                                    <a:rPr lang="it-IT" sz="1900" i="1">
                                      <a:latin typeface="Cambria Math" panose="02040503050406030204" pitchFamily="18" charset="0"/>
                                    </a:rPr>
                                  </m:ctrlPr>
                                </m:sSubSupPr>
                                <m:e>
                                  <m:r>
                                    <a:rPr lang="it-IT" sz="1900" i="1">
                                      <a:latin typeface="Cambria Math" panose="02040503050406030204" pitchFamily="18" charset="0"/>
                                    </a:rPr>
                                    <m:t>𝜎</m:t>
                                  </m:r>
                                </m:e>
                                <m:sub>
                                  <m:r>
                                    <a:rPr lang="it-IT" sz="1900" i="1">
                                      <a:latin typeface="Cambria Math" panose="02040503050406030204" pitchFamily="18" charset="0"/>
                                    </a:rPr>
                                    <m:t>𝑜𝑏𝑠</m:t>
                                  </m:r>
                                </m:sub>
                                <m:sup>
                                  <m:r>
                                    <a:rPr lang="it-IT" sz="1900" i="1">
                                      <a:latin typeface="Cambria Math" panose="02040503050406030204" pitchFamily="18" charset="0"/>
                                    </a:rPr>
                                    <m:t>2</m:t>
                                  </m:r>
                                </m:sup>
                              </m:sSubSup>
                            </m:e>
                          </m:d>
                        </m:num>
                        <m:den>
                          <m:sSub>
                            <m:sSubPr>
                              <m:ctrlPr>
                                <a:rPr lang="it-IT" sz="1900" i="1">
                                  <a:latin typeface="Cambria Math" panose="02040503050406030204" pitchFamily="18" charset="0"/>
                                </a:rPr>
                              </m:ctrlPr>
                            </m:sSubPr>
                            <m:e>
                              <m:r>
                                <a:rPr lang="it-IT" sz="1900" i="1">
                                  <a:latin typeface="Cambria Math" panose="02040503050406030204" pitchFamily="18" charset="0"/>
                                </a:rPr>
                                <m:t>𝑤</m:t>
                              </m:r>
                            </m:e>
                            <m:sub>
                              <m:r>
                                <a:rPr lang="it-IT" sz="1900" i="1">
                                  <a:latin typeface="Cambria Math" panose="02040503050406030204" pitchFamily="18" charset="0"/>
                                </a:rPr>
                                <m:t>1</m:t>
                              </m:r>
                            </m:sub>
                          </m:sSub>
                          <m:r>
                            <a:rPr lang="it-IT" sz="1900" i="1">
                              <a:latin typeface="Cambria Math" panose="02040503050406030204" pitchFamily="18" charset="0"/>
                            </a:rPr>
                            <m:t>𝒩</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e>
                            <m:e>
                              <m:sSub>
                                <m:sSubPr>
                                  <m:ctrlPr>
                                    <a:rPr lang="it-IT" sz="1900" i="1">
                                      <a:latin typeface="Cambria Math" panose="02040503050406030204" pitchFamily="18" charset="0"/>
                                    </a:rPr>
                                  </m:ctrlPr>
                                </m:sSubPr>
                                <m:e>
                                  <m:r>
                                    <a:rPr lang="it-IT" sz="1900" i="1">
                                      <a:latin typeface="Cambria Math" panose="02040503050406030204" pitchFamily="18" charset="0"/>
                                    </a:rPr>
                                    <m:t>𝜇</m:t>
                                  </m:r>
                                </m:e>
                                <m:sub>
                                  <m:r>
                                    <a:rPr lang="it-IT" sz="1900" i="1">
                                      <a:latin typeface="Cambria Math" panose="02040503050406030204" pitchFamily="18" charset="0"/>
                                    </a:rPr>
                                    <m:t>1</m:t>
                                  </m:r>
                                </m:sub>
                              </m:sSub>
                              <m:r>
                                <a:rPr lang="it-IT" sz="1900" i="1">
                                  <a:latin typeface="Cambria Math" panose="02040503050406030204" pitchFamily="18" charset="0"/>
                                </a:rPr>
                                <m:t>,</m:t>
                              </m:r>
                              <m:sSubSup>
                                <m:sSubSupPr>
                                  <m:ctrlPr>
                                    <a:rPr lang="it-IT" sz="1900" i="1">
                                      <a:latin typeface="Cambria Math" panose="02040503050406030204" pitchFamily="18" charset="0"/>
                                    </a:rPr>
                                  </m:ctrlPr>
                                </m:sSubSupPr>
                                <m:e>
                                  <m:r>
                                    <a:rPr lang="it-IT" sz="1900" i="1">
                                      <a:latin typeface="Cambria Math" panose="02040503050406030204" pitchFamily="18" charset="0"/>
                                    </a:rPr>
                                    <m:t>𝜎</m:t>
                                  </m:r>
                                </m:e>
                                <m:sub>
                                  <m:r>
                                    <a:rPr lang="it-IT" sz="1900" i="1">
                                      <a:latin typeface="Cambria Math" panose="02040503050406030204" pitchFamily="18" charset="0"/>
                                    </a:rPr>
                                    <m:t>1</m:t>
                                  </m:r>
                                </m:sub>
                                <m:sup>
                                  <m:r>
                                    <a:rPr lang="it-IT" sz="1900" i="1">
                                      <a:latin typeface="Cambria Math" panose="02040503050406030204" pitchFamily="18" charset="0"/>
                                    </a:rPr>
                                    <m:t>2</m:t>
                                  </m:r>
                                </m:sup>
                              </m:sSubSup>
                              <m:r>
                                <a:rPr lang="it-IT" sz="1900" i="1">
                                  <a:latin typeface="Cambria Math" panose="02040503050406030204" pitchFamily="18" charset="0"/>
                                </a:rPr>
                                <m:t>+</m:t>
                              </m:r>
                              <m:sSubSup>
                                <m:sSubSupPr>
                                  <m:ctrlPr>
                                    <a:rPr lang="it-IT" sz="1900" i="1">
                                      <a:latin typeface="Cambria Math" panose="02040503050406030204" pitchFamily="18" charset="0"/>
                                    </a:rPr>
                                  </m:ctrlPr>
                                </m:sSubSupPr>
                                <m:e>
                                  <m:r>
                                    <a:rPr lang="it-IT" sz="1900" i="1">
                                      <a:latin typeface="Cambria Math" panose="02040503050406030204" pitchFamily="18" charset="0"/>
                                    </a:rPr>
                                    <m:t>𝜎</m:t>
                                  </m:r>
                                </m:e>
                                <m:sub>
                                  <m:r>
                                    <a:rPr lang="it-IT" sz="1900" i="1">
                                      <a:latin typeface="Cambria Math" panose="02040503050406030204" pitchFamily="18" charset="0"/>
                                    </a:rPr>
                                    <m:t>𝑜𝑏𝑠</m:t>
                                  </m:r>
                                </m:sub>
                                <m:sup>
                                  <m:r>
                                    <a:rPr lang="it-IT" sz="1900" i="1">
                                      <a:latin typeface="Cambria Math" panose="02040503050406030204" pitchFamily="18" charset="0"/>
                                    </a:rPr>
                                    <m:t>2</m:t>
                                  </m:r>
                                </m:sup>
                              </m:sSubSup>
                            </m:e>
                          </m:d>
                          <m:r>
                            <a:rPr lang="it-IT" sz="1900" i="1">
                              <a:latin typeface="Cambria Math" panose="02040503050406030204" pitchFamily="18" charset="0"/>
                            </a:rPr>
                            <m:t>+</m:t>
                          </m:r>
                          <m:d>
                            <m:dPr>
                              <m:ctrlPr>
                                <a:rPr lang="it-IT" sz="1900" i="1">
                                  <a:latin typeface="Cambria Math" panose="02040503050406030204" pitchFamily="18" charset="0"/>
                                </a:rPr>
                              </m:ctrlPr>
                            </m:dPr>
                            <m:e>
                              <m:r>
                                <a:rPr lang="it-IT" sz="1900" i="1">
                                  <a:latin typeface="Cambria Math" panose="02040503050406030204" pitchFamily="18" charset="0"/>
                                </a:rPr>
                                <m:t>1</m:t>
                              </m:r>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𝑤</m:t>
                                  </m:r>
                                </m:e>
                                <m:sub>
                                  <m:r>
                                    <a:rPr lang="it-IT" sz="1900" i="1">
                                      <a:latin typeface="Cambria Math" panose="02040503050406030204" pitchFamily="18" charset="0"/>
                                    </a:rPr>
                                    <m:t>1</m:t>
                                  </m:r>
                                </m:sub>
                              </m:sSub>
                            </m:e>
                          </m:d>
                          <m:r>
                            <a:rPr lang="it-IT" sz="1900" i="1">
                              <a:latin typeface="Cambria Math" panose="02040503050406030204" pitchFamily="18" charset="0"/>
                            </a:rPr>
                            <m:t>𝒩</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e>
                            <m:e>
                              <m:sSub>
                                <m:sSubPr>
                                  <m:ctrlPr>
                                    <a:rPr lang="it-IT" sz="1900" i="1">
                                      <a:latin typeface="Cambria Math" panose="02040503050406030204" pitchFamily="18" charset="0"/>
                                    </a:rPr>
                                  </m:ctrlPr>
                                </m:sSubPr>
                                <m:e>
                                  <m:r>
                                    <a:rPr lang="it-IT" sz="1900" i="1">
                                      <a:latin typeface="Cambria Math" panose="02040503050406030204" pitchFamily="18" charset="0"/>
                                    </a:rPr>
                                    <m:t>𝜇</m:t>
                                  </m:r>
                                </m:e>
                                <m:sub>
                                  <m:r>
                                    <a:rPr lang="it-IT" sz="1900" i="1">
                                      <a:latin typeface="Cambria Math" panose="02040503050406030204" pitchFamily="18" charset="0"/>
                                    </a:rPr>
                                    <m:t>2</m:t>
                                  </m:r>
                                </m:sub>
                              </m:sSub>
                              <m:r>
                                <a:rPr lang="it-IT" sz="1900" i="1">
                                  <a:latin typeface="Cambria Math" panose="02040503050406030204" pitchFamily="18" charset="0"/>
                                </a:rPr>
                                <m:t>,</m:t>
                              </m:r>
                              <m:sSubSup>
                                <m:sSubSupPr>
                                  <m:ctrlPr>
                                    <a:rPr lang="it-IT" sz="1900" i="1">
                                      <a:latin typeface="Cambria Math" panose="02040503050406030204" pitchFamily="18" charset="0"/>
                                    </a:rPr>
                                  </m:ctrlPr>
                                </m:sSubSupPr>
                                <m:e>
                                  <m:r>
                                    <a:rPr lang="it-IT" sz="1900" i="1">
                                      <a:latin typeface="Cambria Math" panose="02040503050406030204" pitchFamily="18" charset="0"/>
                                    </a:rPr>
                                    <m:t>𝜎</m:t>
                                  </m:r>
                                </m:e>
                                <m:sub>
                                  <m:r>
                                    <a:rPr lang="it-IT" sz="1900" i="1">
                                      <a:latin typeface="Cambria Math" panose="02040503050406030204" pitchFamily="18" charset="0"/>
                                    </a:rPr>
                                    <m:t>2</m:t>
                                  </m:r>
                                </m:sub>
                                <m:sup>
                                  <m:r>
                                    <a:rPr lang="it-IT" sz="1900" i="1">
                                      <a:latin typeface="Cambria Math" panose="02040503050406030204" pitchFamily="18" charset="0"/>
                                    </a:rPr>
                                    <m:t>2</m:t>
                                  </m:r>
                                </m:sup>
                              </m:sSubSup>
                              <m:r>
                                <a:rPr lang="it-IT" sz="1900" i="1">
                                  <a:latin typeface="Cambria Math" panose="02040503050406030204" pitchFamily="18" charset="0"/>
                                </a:rPr>
                                <m:t>+</m:t>
                              </m:r>
                              <m:sSubSup>
                                <m:sSubSupPr>
                                  <m:ctrlPr>
                                    <a:rPr lang="it-IT" sz="1900" i="1">
                                      <a:latin typeface="Cambria Math" panose="02040503050406030204" pitchFamily="18" charset="0"/>
                                    </a:rPr>
                                  </m:ctrlPr>
                                </m:sSubSupPr>
                                <m:e>
                                  <m:r>
                                    <a:rPr lang="it-IT" sz="1900" i="1">
                                      <a:latin typeface="Cambria Math" panose="02040503050406030204" pitchFamily="18" charset="0"/>
                                    </a:rPr>
                                    <m:t>𝜎</m:t>
                                  </m:r>
                                </m:e>
                                <m:sub>
                                  <m:r>
                                    <a:rPr lang="it-IT" sz="1900" i="1">
                                      <a:latin typeface="Cambria Math" panose="02040503050406030204" pitchFamily="18" charset="0"/>
                                    </a:rPr>
                                    <m:t>𝑜𝑏𝑠</m:t>
                                  </m:r>
                                </m:sub>
                                <m:sup>
                                  <m:r>
                                    <a:rPr lang="it-IT" sz="1900" i="1">
                                      <a:latin typeface="Cambria Math" panose="02040503050406030204" pitchFamily="18" charset="0"/>
                                    </a:rPr>
                                    <m:t>2</m:t>
                                  </m:r>
                                </m:sup>
                              </m:sSubSup>
                            </m:e>
                          </m:d>
                        </m:den>
                      </m:f>
                    </m:oMath>
                  </m:oMathPara>
                </a14:m>
                <a:endParaRPr lang="it-IT" sz="1900" dirty="0"/>
              </a:p>
              <a:p>
                <a:r>
                  <a:rPr lang="en-US" sz="1800" dirty="0"/>
                  <a:t>The quantity is defined if the true parameters </a:t>
                </a:r>
                <a14:m>
                  <m:oMath xmlns:m="http://schemas.openxmlformats.org/officeDocument/2006/math">
                    <m:r>
                      <a:rPr lang="it-IT" sz="1900" i="1" smtClean="0">
                        <a:latin typeface="Cambria Math" panose="02040503050406030204" pitchFamily="18" charset="0"/>
                      </a:rPr>
                      <m:t>𝜽</m:t>
                    </m:r>
                  </m:oMath>
                </a14:m>
                <a:r>
                  <a:rPr lang="it-IT" sz="1900" dirty="0"/>
                  <a:t> are known, but </a:t>
                </a:r>
                <a:r>
                  <a:rPr lang="en-US" sz="1800" dirty="0"/>
                  <a:t>in practice we only have posterior samples </a:t>
                </a:r>
                <a14:m>
                  <m:oMath xmlns:m="http://schemas.openxmlformats.org/officeDocument/2006/math">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m:t>
                        </m:r>
                        <m:r>
                          <a:rPr lang="it-IT" sz="1900" i="1">
                            <a:latin typeface="Cambria Math" panose="02040503050406030204" pitchFamily="18" charset="0"/>
                          </a:rPr>
                          <m:t>𝜽</m:t>
                        </m:r>
                      </m:e>
                      <m:sub>
                        <m:r>
                          <a:rPr lang="it-IT" sz="1900" b="0" i="1" smtClean="0">
                            <a:latin typeface="Cambria Math" panose="02040503050406030204" pitchFamily="18" charset="0"/>
                          </a:rPr>
                          <m:t>𝑗</m:t>
                        </m:r>
                      </m:sub>
                    </m:sSub>
                    <m:sSubSup>
                      <m:sSubSupPr>
                        <m:ctrlPr>
                          <a:rPr lang="it-IT" sz="1800" i="1">
                            <a:latin typeface="Cambria Math" panose="02040503050406030204" pitchFamily="18" charset="0"/>
                          </a:rPr>
                        </m:ctrlPr>
                      </m:sSubSupPr>
                      <m:e>
                        <m:r>
                          <a:rPr lang="it-IT" sz="1800" i="1">
                            <a:latin typeface="Cambria Math" panose="02040503050406030204" pitchFamily="18" charset="0"/>
                          </a:rPr>
                          <m:t>}</m:t>
                        </m:r>
                      </m:e>
                      <m:sub>
                        <m:r>
                          <m:rPr>
                            <m:sty m:val="p"/>
                          </m:rPr>
                          <a:rPr lang="it-IT" sz="1800" b="0" i="1" smtClean="0">
                            <a:latin typeface="Cambria Math" panose="02040503050406030204" pitchFamily="18" charset="0"/>
                          </a:rPr>
                          <m:t>j</m:t>
                        </m:r>
                        <m:r>
                          <a:rPr lang="it-IT" sz="1800" i="1">
                            <a:latin typeface="Cambria Math" panose="02040503050406030204" pitchFamily="18" charset="0"/>
                          </a:rPr>
                          <m:t>=</m:t>
                        </m:r>
                        <m:r>
                          <a:rPr lang="it-IT" sz="1800" i="1">
                            <a:latin typeface="Cambria Math" panose="02040503050406030204" pitchFamily="18" charset="0"/>
                          </a:rPr>
                          <m:t>1</m:t>
                        </m:r>
                      </m:sub>
                      <m:sup>
                        <m:r>
                          <m:rPr>
                            <m:sty m:val="p"/>
                          </m:rPr>
                          <a:rPr lang="it-IT" sz="1800" b="0" i="1" smtClean="0">
                            <a:latin typeface="Cambria Math" panose="02040503050406030204" pitchFamily="18" charset="0"/>
                          </a:rPr>
                          <m:t>M</m:t>
                        </m:r>
                      </m:sup>
                    </m:sSubSup>
                  </m:oMath>
                </a14:m>
                <a:r>
                  <a:rPr lang="it-IT" sz="1900" dirty="0"/>
                  <a:t> from Metropolis.</a:t>
                </a:r>
              </a:p>
              <a:p>
                <a:r>
                  <a:rPr lang="it-IT" sz="1800" dirty="0"/>
                  <a:t>Let the data be </a:t>
                </a:r>
                <a14:m>
                  <m:oMath xmlns:m="http://schemas.openxmlformats.org/officeDocument/2006/math">
                    <m:r>
                      <a:rPr lang="it-IT" sz="1900" b="1" i="1" dirty="0" smtClean="0">
                        <a:latin typeface="Cambria Math" panose="02040503050406030204" pitchFamily="18" charset="0"/>
                      </a:rPr>
                      <m:t>𝑫</m:t>
                    </m:r>
                    <m:r>
                      <a:rPr lang="it-IT" sz="1900" i="1" dirty="0">
                        <a:latin typeface="Cambria Math" panose="02040503050406030204" pitchFamily="18" charset="0"/>
                      </a:rPr>
                      <m:t>≝</m:t>
                    </m:r>
                    <m:r>
                      <a:rPr lang="it-IT" sz="1900" i="1">
                        <a:latin typeface="Cambria Math" panose="02040503050406030204" pitchFamily="18" charset="0"/>
                      </a:rPr>
                      <m:t>{</m:t>
                    </m:r>
                    <m:r>
                      <a:rPr lang="it-IT" sz="1900" i="1">
                        <a:latin typeface="Cambria Math" panose="02040503050406030204" pitchFamily="18" charset="0"/>
                      </a:rPr>
                      <m:t>𝑙𝑜𝑔</m:t>
                    </m:r>
                    <m:sSubSup>
                      <m:sSubSupPr>
                        <m:ctrlPr>
                          <a:rPr lang="it-IT" sz="1900" i="1">
                            <a:latin typeface="Cambria Math" panose="02040503050406030204" pitchFamily="18" charset="0"/>
                          </a:rPr>
                        </m:ctrlPr>
                      </m:sSubSupPr>
                      <m:e>
                        <m:sSub>
                          <m:sSubPr>
                            <m:ctrlPr>
                              <a:rPr lang="it-IT" sz="1900" i="1">
                                <a:latin typeface="Cambria Math" panose="02040503050406030204" pitchFamily="18" charset="0"/>
                              </a:rPr>
                            </m:ctrlPr>
                          </m:sSubPr>
                          <m:e>
                            <m:r>
                              <a:rPr lang="it-IT" sz="1900" i="1">
                                <a:latin typeface="Cambria Math" panose="02040503050406030204" pitchFamily="18" charset="0"/>
                              </a:rPr>
                              <m:t>𝑇</m:t>
                            </m:r>
                          </m:e>
                          <m:sub>
                            <m:sSub>
                              <m:sSubPr>
                                <m:ctrlPr>
                                  <a:rPr lang="it-IT" sz="1900" i="1">
                                    <a:latin typeface="Cambria Math" panose="02040503050406030204" pitchFamily="18" charset="0"/>
                                  </a:rPr>
                                </m:ctrlPr>
                              </m:sSubPr>
                              <m:e>
                                <m:r>
                                  <a:rPr lang="it-IT" sz="1900" i="1">
                                    <a:latin typeface="Cambria Math" panose="02040503050406030204" pitchFamily="18" charset="0"/>
                                  </a:rPr>
                                  <m:t>90</m:t>
                                </m:r>
                              </m:e>
                              <m:sub>
                                <m:r>
                                  <a:rPr lang="it-IT" sz="1900" i="1">
                                    <a:latin typeface="Cambria Math" panose="02040503050406030204" pitchFamily="18" charset="0"/>
                                  </a:rPr>
                                  <m:t>𝑖</m:t>
                                </m:r>
                              </m:sub>
                            </m:sSub>
                          </m:sub>
                        </m:sSub>
                        <m:r>
                          <a:rPr lang="it-IT" sz="1900" b="0" i="1" smtClean="0">
                            <a:latin typeface="Cambria Math" panose="02040503050406030204" pitchFamily="18" charset="0"/>
                          </a:rPr>
                          <m:t>, </m:t>
                        </m:r>
                        <m:r>
                          <m:rPr>
                            <m:sty m:val="p"/>
                          </m:rPr>
                          <a:rPr lang="it-IT" sz="1900" b="0" i="1" smtClean="0">
                            <a:latin typeface="Cambria Math" panose="02040503050406030204" pitchFamily="18" charset="0"/>
                          </a:rPr>
                          <m:t>dlog</m:t>
                        </m:r>
                        <m:sSub>
                          <m:sSubPr>
                            <m:ctrlPr>
                              <a:rPr lang="it-IT" sz="1900" i="1">
                                <a:latin typeface="Cambria Math" panose="02040503050406030204" pitchFamily="18" charset="0"/>
                              </a:rPr>
                            </m:ctrlPr>
                          </m:sSubPr>
                          <m:e>
                            <m:r>
                              <a:rPr lang="it-IT" sz="1900" i="1">
                                <a:latin typeface="Cambria Math" panose="02040503050406030204" pitchFamily="18" charset="0"/>
                              </a:rPr>
                              <m:t>𝑇</m:t>
                            </m:r>
                          </m:e>
                          <m:sub>
                            <m:sSub>
                              <m:sSubPr>
                                <m:ctrlPr>
                                  <a:rPr lang="it-IT" sz="1900" i="1">
                                    <a:latin typeface="Cambria Math" panose="02040503050406030204" pitchFamily="18" charset="0"/>
                                  </a:rPr>
                                </m:ctrlPr>
                              </m:sSubPr>
                              <m:e>
                                <m:r>
                                  <a:rPr lang="it-IT" sz="1900" i="1">
                                    <a:latin typeface="Cambria Math" panose="02040503050406030204" pitchFamily="18" charset="0"/>
                                  </a:rPr>
                                  <m:t>90</m:t>
                                </m:r>
                              </m:e>
                              <m:sub>
                                <m:r>
                                  <a:rPr lang="it-IT" sz="1900" i="1">
                                    <a:latin typeface="Cambria Math" panose="02040503050406030204" pitchFamily="18" charset="0"/>
                                  </a:rPr>
                                  <m:t>𝑖</m:t>
                                </m:r>
                              </m:sub>
                            </m:sSub>
                          </m:sub>
                        </m:sSub>
                        <m:r>
                          <a:rPr lang="it-IT" sz="1900" i="1">
                            <a:latin typeface="Cambria Math" panose="02040503050406030204" pitchFamily="18" charset="0"/>
                          </a:rPr>
                          <m:t>}</m:t>
                        </m:r>
                      </m:e>
                      <m:sub>
                        <m:r>
                          <a:rPr lang="it-IT" sz="1900" i="1">
                            <a:latin typeface="Cambria Math" panose="02040503050406030204" pitchFamily="18" charset="0"/>
                          </a:rPr>
                          <m:t>𝑖</m:t>
                        </m:r>
                        <m:r>
                          <a:rPr lang="it-IT" sz="1900" i="1">
                            <a:latin typeface="Cambria Math" panose="02040503050406030204" pitchFamily="18" charset="0"/>
                          </a:rPr>
                          <m:t>=</m:t>
                        </m:r>
                        <m:r>
                          <a:rPr lang="it-IT" sz="1900" i="1">
                            <a:latin typeface="Cambria Math" panose="02040503050406030204" pitchFamily="18" charset="0"/>
                          </a:rPr>
                          <m:t>1</m:t>
                        </m:r>
                      </m:sub>
                      <m:sup>
                        <m:r>
                          <a:rPr lang="it-IT" sz="1900" i="1">
                            <a:latin typeface="Cambria Math" panose="02040503050406030204" pitchFamily="18" charset="0"/>
                          </a:rPr>
                          <m:t>𝑁</m:t>
                        </m:r>
                      </m:sup>
                    </m:sSubSup>
                    <m:r>
                      <a:rPr lang="it-IT" sz="1900" b="0" i="0" smtClean="0">
                        <a:latin typeface="Cambria Math" panose="02040503050406030204" pitchFamily="18" charset="0"/>
                      </a:rPr>
                      <m:t>.</m:t>
                    </m:r>
                  </m:oMath>
                </a14:m>
                <a:r>
                  <a:rPr lang="it-IT" sz="1900" dirty="0"/>
                  <a:t> </a:t>
                </a:r>
                <a:r>
                  <a:rPr lang="en-US" sz="1900" dirty="0"/>
                  <a:t>The value </a:t>
                </a:r>
                <a14:m>
                  <m:oMath xmlns:m="http://schemas.openxmlformats.org/officeDocument/2006/math">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oMath>
                </a14:m>
                <a:r>
                  <a:rPr lang="en-US" sz="1900" dirty="0"/>
                  <a:t> </a:t>
                </a:r>
                <a:r>
                  <a:rPr lang="en-US" sz="1800" dirty="0"/>
                  <a:t>may or may not be included in </a:t>
                </a:r>
                <a14:m>
                  <m:oMath xmlns:m="http://schemas.openxmlformats.org/officeDocument/2006/math">
                    <m:r>
                      <a:rPr lang="it-IT" sz="1900" b="1" i="1" dirty="0">
                        <a:latin typeface="Cambria Math" panose="02040503050406030204" pitchFamily="18" charset="0"/>
                      </a:rPr>
                      <m:t>𝑫</m:t>
                    </m:r>
                  </m:oMath>
                </a14:m>
                <a:r>
                  <a:rPr lang="it-IT" sz="1900" dirty="0"/>
                  <a:t>.</a:t>
                </a:r>
              </a:p>
              <a:p>
                <a14:m>
                  <m:oMath xmlns:m="http://schemas.openxmlformats.org/officeDocument/2006/math">
                    <m:r>
                      <a:rPr lang="it-IT" sz="1900" i="1" smtClean="0">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r>
                          <a:rPr lang="it-IT" sz="1900" i="1">
                            <a:latin typeface="Cambria Math" panose="02040503050406030204" pitchFamily="18" charset="0"/>
                          </a:rPr>
                          <m:t>,</m:t>
                        </m:r>
                        <m:r>
                          <a:rPr lang="it-IT" sz="1900" i="1">
                            <a:latin typeface="Cambria Math" panose="02040503050406030204" pitchFamily="18" charset="0"/>
                          </a:rPr>
                          <m:t>𝑫</m:t>
                        </m:r>
                      </m:e>
                    </m:d>
                    <m:r>
                      <a:rPr lang="it-IT" sz="1900" i="1">
                        <a:latin typeface="Cambria Math" panose="02040503050406030204" pitchFamily="18" charset="0"/>
                      </a:rPr>
                      <m:t>=</m:t>
                    </m:r>
                    <m:nary>
                      <m:naryPr>
                        <m:subHide m:val="on"/>
                        <m:supHide m:val="on"/>
                        <m:ctrlPr>
                          <a:rPr lang="it-IT" sz="1900" i="1">
                            <a:latin typeface="Cambria Math" panose="02040503050406030204" pitchFamily="18" charset="0"/>
                          </a:rPr>
                        </m:ctrlPr>
                      </m:naryPr>
                      <m:sub/>
                      <m:sup/>
                      <m:e>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r>
                              <a:rPr lang="it-IT" sz="1900" i="1">
                                <a:latin typeface="Cambria Math" panose="02040503050406030204" pitchFamily="18" charset="0"/>
                              </a:rPr>
                              <m:t>,</m:t>
                            </m:r>
                            <m:r>
                              <a:rPr lang="it-IT" sz="1900" i="1">
                                <a:latin typeface="Cambria Math" panose="02040503050406030204" pitchFamily="18" charset="0"/>
                              </a:rPr>
                              <m:t>𝜽</m:t>
                            </m:r>
                          </m:e>
                        </m:d>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𝜽</m:t>
                            </m:r>
                          </m:e>
                          <m:e>
                            <m:r>
                              <a:rPr lang="it-IT" sz="1900" i="1">
                                <a:latin typeface="Cambria Math" panose="02040503050406030204" pitchFamily="18" charset="0"/>
                              </a:rPr>
                              <m:t>𝑫</m:t>
                            </m:r>
                          </m:e>
                        </m:d>
                        <m:r>
                          <a:rPr lang="it-IT" sz="1900" i="1">
                            <a:latin typeface="Cambria Math" panose="02040503050406030204" pitchFamily="18" charset="0"/>
                          </a:rPr>
                          <m:t>𝑑</m:t>
                        </m:r>
                        <m:r>
                          <a:rPr lang="it-IT" sz="1900" i="1">
                            <a:latin typeface="Cambria Math" panose="02040503050406030204" pitchFamily="18" charset="0"/>
                          </a:rPr>
                          <m:t>𝜽</m:t>
                        </m:r>
                      </m:e>
                    </m:nary>
                    <m:r>
                      <a:rPr lang="it-IT" sz="1900" i="1">
                        <a:latin typeface="Cambria Math" panose="02040503050406030204" pitchFamily="18" charset="0"/>
                      </a:rPr>
                      <m:t>≈</m:t>
                    </m:r>
                    <m:f>
                      <m:fPr>
                        <m:ctrlPr>
                          <a:rPr lang="it-IT" sz="1900" i="1">
                            <a:latin typeface="Cambria Math" panose="02040503050406030204" pitchFamily="18" charset="0"/>
                          </a:rPr>
                        </m:ctrlPr>
                      </m:fPr>
                      <m:num>
                        <m:r>
                          <a:rPr lang="it-IT" sz="1900" i="1">
                            <a:latin typeface="Cambria Math" panose="02040503050406030204" pitchFamily="18" charset="0"/>
                          </a:rPr>
                          <m:t>1</m:t>
                        </m:r>
                      </m:num>
                      <m:den>
                        <m:r>
                          <a:rPr lang="it-IT" sz="1900" i="1">
                            <a:latin typeface="Cambria Math" panose="02040503050406030204" pitchFamily="18" charset="0"/>
                          </a:rPr>
                          <m:t>𝑀</m:t>
                        </m:r>
                      </m:den>
                    </m:f>
                    <m:nary>
                      <m:naryPr>
                        <m:chr m:val="∑"/>
                        <m:ctrlPr>
                          <a:rPr lang="it-IT" sz="1900" i="1">
                            <a:latin typeface="Cambria Math" panose="02040503050406030204" pitchFamily="18" charset="0"/>
                          </a:rPr>
                        </m:ctrlPr>
                      </m:naryPr>
                      <m:sub>
                        <m:r>
                          <a:rPr lang="it-IT" sz="1900" i="1">
                            <a:latin typeface="Cambria Math" panose="02040503050406030204" pitchFamily="18" charset="0"/>
                          </a:rPr>
                          <m:t>𝑗</m:t>
                        </m:r>
                        <m:r>
                          <a:rPr lang="it-IT" sz="1900" i="1">
                            <a:latin typeface="Cambria Math" panose="02040503050406030204" pitchFamily="18" charset="0"/>
                          </a:rPr>
                          <m:t>=</m:t>
                        </m:r>
                        <m:r>
                          <a:rPr lang="it-IT" sz="1900" i="1">
                            <a:latin typeface="Cambria Math" panose="02040503050406030204" pitchFamily="18" charset="0"/>
                          </a:rPr>
                          <m:t>1</m:t>
                        </m:r>
                      </m:sub>
                      <m:sup>
                        <m:r>
                          <a:rPr lang="it-IT" sz="1900" i="1">
                            <a:latin typeface="Cambria Math" panose="02040503050406030204" pitchFamily="18" charset="0"/>
                          </a:rPr>
                          <m:t>𝑀</m:t>
                        </m:r>
                      </m:sup>
                      <m:e>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i="1">
                                    <a:latin typeface="Cambria Math" panose="02040503050406030204" pitchFamily="18" charset="0"/>
                                  </a:rPr>
                                  <m:t>𝒋</m:t>
                                </m:r>
                              </m:sub>
                            </m:sSub>
                          </m:e>
                        </m:d>
                      </m:e>
                    </m:nary>
                  </m:oMath>
                </a14:m>
                <a:r>
                  <a:rPr lang="it-IT" sz="1900" dirty="0"/>
                  <a:t>         </a:t>
                </a:r>
                <a:r>
                  <a:rPr lang="it-IT" sz="1900" i="1" dirty="0"/>
                  <a:t>M</a:t>
                </a:r>
                <a:r>
                  <a:rPr lang="it-IT" sz="1900" dirty="0"/>
                  <a:t> = # samples</a:t>
                </a:r>
              </a:p>
              <a:p>
                <a14:m>
                  <m:oMath xmlns:m="http://schemas.openxmlformats.org/officeDocument/2006/math">
                    <m:r>
                      <a:rPr lang="it-IT" sz="1900" i="1" smtClean="0">
                        <a:latin typeface="Cambria Math" panose="02040503050406030204" pitchFamily="18" charset="0"/>
                      </a:rPr>
                      <m:t>𝑝</m:t>
                    </m:r>
                    <m:d>
                      <m:dPr>
                        <m:ctrlPr>
                          <a:rPr lang="it-IT" sz="1900" i="1">
                            <a:latin typeface="Cambria Math" panose="02040503050406030204" pitchFamily="18" charset="0"/>
                          </a:rPr>
                        </m:ctrlPr>
                      </m:dPr>
                      <m:e>
                        <m:r>
                          <a:rPr lang="it-IT" sz="1900" b="0" i="1" smtClean="0">
                            <a:latin typeface="Cambria Math" panose="02040503050406030204" pitchFamily="18" charset="0"/>
                          </a:rPr>
                          <m:t>𝑙𝑜𝑛𝑔</m:t>
                        </m:r>
                      </m:e>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r>
                          <a:rPr lang="it-IT" sz="1900" i="1">
                            <a:latin typeface="Cambria Math" panose="02040503050406030204" pitchFamily="18" charset="0"/>
                          </a:rPr>
                          <m:t>,</m:t>
                        </m:r>
                        <m:r>
                          <a:rPr lang="it-IT" sz="1900" i="1">
                            <a:latin typeface="Cambria Math" panose="02040503050406030204" pitchFamily="18" charset="0"/>
                          </a:rPr>
                          <m:t>𝑫</m:t>
                        </m:r>
                      </m:e>
                    </m:d>
                    <m:r>
                      <a:rPr lang="it-IT" sz="1900" i="1">
                        <a:latin typeface="Cambria Math" panose="02040503050406030204" pitchFamily="18" charset="0"/>
                      </a:rPr>
                      <m:t>=</m:t>
                    </m:r>
                    <m:r>
                      <a:rPr lang="it-IT" sz="1900" b="0" i="1" smtClean="0">
                        <a:latin typeface="Cambria Math" panose="02040503050406030204" pitchFamily="18" charset="0"/>
                      </a:rPr>
                      <m:t> </m:t>
                    </m:r>
                    <m:r>
                      <a:rPr lang="it-IT" sz="1900" b="0" i="1" smtClean="0">
                        <a:latin typeface="Cambria Math" panose="02040503050406030204" pitchFamily="18" charset="0"/>
                      </a:rPr>
                      <m:t>1</m:t>
                    </m:r>
                    <m:r>
                      <a:rPr lang="it-IT" sz="1900" b="0" i="1" smtClean="0">
                        <a:latin typeface="Cambria Math" panose="02040503050406030204" pitchFamily="18" charset="0"/>
                      </a:rPr>
                      <m:t> − </m:t>
                    </m:r>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𝑜𝑏𝑠</m:t>
                            </m:r>
                          </m:sub>
                        </m:sSub>
                        <m:r>
                          <a:rPr lang="it-IT" sz="1900" i="1">
                            <a:latin typeface="Cambria Math" panose="02040503050406030204" pitchFamily="18" charset="0"/>
                          </a:rPr>
                          <m:t>,</m:t>
                        </m:r>
                        <m:r>
                          <a:rPr lang="it-IT" sz="1900" i="1">
                            <a:latin typeface="Cambria Math" panose="02040503050406030204" pitchFamily="18" charset="0"/>
                          </a:rPr>
                          <m:t>𝑫</m:t>
                        </m:r>
                      </m:e>
                    </m:d>
                  </m:oMath>
                </a14:m>
                <a:endParaRPr lang="it-IT" sz="1900" dirty="0"/>
              </a:p>
              <a:p>
                <a:endParaRPr lang="it-IT" sz="1900" dirty="0"/>
              </a:p>
            </p:txBody>
          </p:sp>
        </mc:Choice>
        <mc:Fallback xmlns="">
          <p:sp>
            <p:nvSpPr>
              <p:cNvPr id="3" name="Content Placeholder 2">
                <a:extLst>
                  <a:ext uri="{FF2B5EF4-FFF2-40B4-BE49-F238E27FC236}">
                    <a16:creationId xmlns:a16="http://schemas.microsoft.com/office/drawing/2014/main" id="{E7F20006-B930-35ED-B0EC-21EB12F35331}"/>
                  </a:ext>
                </a:extLst>
              </p:cNvPr>
              <p:cNvSpPr>
                <a:spLocks noGrp="1" noRot="1" noChangeAspect="1" noMove="1" noResize="1" noEditPoints="1" noAdjustHandles="1" noChangeArrowheads="1" noChangeShapeType="1" noTextEdit="1"/>
              </p:cNvSpPr>
              <p:nvPr>
                <p:ph idx="1"/>
              </p:nvPr>
            </p:nvSpPr>
            <p:spPr>
              <a:xfrm>
                <a:off x="700635" y="1570892"/>
                <a:ext cx="10691265" cy="4603262"/>
              </a:xfrm>
              <a:blipFill>
                <a:blip r:embed="rId3"/>
                <a:stretch>
                  <a:fillRect l="-456" b="-4768"/>
                </a:stretch>
              </a:blipFill>
            </p:spPr>
            <p:txBody>
              <a:bodyPr/>
              <a:lstStyle/>
              <a:p>
                <a:r>
                  <a:rPr lang="it-IT">
                    <a:noFill/>
                  </a:rPr>
                  <a:t> </a:t>
                </a:r>
              </a:p>
            </p:txBody>
          </p:sp>
        </mc:Fallback>
      </mc:AlternateContent>
    </p:spTree>
    <p:extLst>
      <p:ext uri="{BB962C8B-B14F-4D97-AF65-F5344CB8AC3E}">
        <p14:creationId xmlns:p14="http://schemas.microsoft.com/office/powerpoint/2010/main" val="3009745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a function&#10;&#10;AI-generated content may be incorrect.">
            <a:extLst>
              <a:ext uri="{FF2B5EF4-FFF2-40B4-BE49-F238E27FC236}">
                <a16:creationId xmlns:a16="http://schemas.microsoft.com/office/drawing/2014/main" id="{DE281ACD-0864-CFF5-B2D7-2AAA8F3F5C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5030" y="758315"/>
            <a:ext cx="3701424" cy="2764356"/>
          </a:xfrm>
          <a:prstGeom prst="rect">
            <a:avLst/>
          </a:prstGeom>
        </p:spPr>
      </p:pic>
      <p:pic>
        <p:nvPicPr>
          <p:cNvPr id="13" name="Content Placeholder 12" descr="A graph of a number of numbers and a line graph&#10;&#10;AI-generated content may be incorrect.">
            <a:extLst>
              <a:ext uri="{FF2B5EF4-FFF2-40B4-BE49-F238E27FC236}">
                <a16:creationId xmlns:a16="http://schemas.microsoft.com/office/drawing/2014/main" id="{51B3ACE7-15BE-DA4C-A0E0-56AA356E7C0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205548" y="758315"/>
            <a:ext cx="3701424" cy="2764355"/>
          </a:xfrm>
        </p:spPr>
      </p:pic>
      <p:pic>
        <p:nvPicPr>
          <p:cNvPr id="9" name="Picture 8" descr="A graph of a number of numbers and a number of numbers&#10;&#10;AI-generated content may be incorrect.">
            <a:extLst>
              <a:ext uri="{FF2B5EF4-FFF2-40B4-BE49-F238E27FC236}">
                <a16:creationId xmlns:a16="http://schemas.microsoft.com/office/drawing/2014/main" id="{7E4A9012-6E02-B1B1-5DD3-0395386D88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35996" y="3335327"/>
            <a:ext cx="3970053" cy="2764356"/>
          </a:xfrm>
          <a:prstGeom prst="rect">
            <a:avLst/>
          </a:prstGeom>
        </p:spPr>
      </p:pic>
      <p:sp>
        <p:nvSpPr>
          <p:cNvPr id="14" name="TextBox 13">
            <a:extLst>
              <a:ext uri="{FF2B5EF4-FFF2-40B4-BE49-F238E27FC236}">
                <a16:creationId xmlns:a16="http://schemas.microsoft.com/office/drawing/2014/main" id="{43256165-2E33-7412-6C3F-EC364429FDB2}"/>
              </a:ext>
            </a:extLst>
          </p:cNvPr>
          <p:cNvSpPr txBox="1"/>
          <p:nvPr/>
        </p:nvSpPr>
        <p:spPr>
          <a:xfrm>
            <a:off x="5179373" y="1494161"/>
            <a:ext cx="1833253" cy="646331"/>
          </a:xfrm>
          <a:prstGeom prst="rect">
            <a:avLst/>
          </a:prstGeom>
          <a:noFill/>
        </p:spPr>
        <p:txBody>
          <a:bodyPr wrap="square" rtlCol="0">
            <a:spAutoFit/>
          </a:bodyPr>
          <a:lstStyle/>
          <a:p>
            <a:pPr algn="ctr"/>
            <a:r>
              <a:rPr lang="it-IT" b="1" dirty="0">
                <a:solidFill>
                  <a:srgbClr val="FF0000"/>
                </a:solidFill>
              </a:rPr>
              <a:t>Distributions of </a:t>
            </a:r>
            <a:r>
              <a:rPr lang="en-US" b="1" dirty="0">
                <a:solidFill>
                  <a:srgbClr val="FF0000"/>
                </a:solidFill>
              </a:rPr>
              <a:t>GRB170817A</a:t>
            </a:r>
            <a:endParaRPr lang="it-IT" b="1" dirty="0">
              <a:solidFill>
                <a:srgbClr val="FF0000"/>
              </a:solidFill>
            </a:endParaRPr>
          </a:p>
        </p:txBody>
      </p:sp>
    </p:spTree>
    <p:extLst>
      <p:ext uri="{BB962C8B-B14F-4D97-AF65-F5344CB8AC3E}">
        <p14:creationId xmlns:p14="http://schemas.microsoft.com/office/powerpoint/2010/main" val="39618263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DE501-F57D-EFF6-0057-C7E978E2AE87}"/>
              </a:ext>
            </a:extLst>
          </p:cNvPr>
          <p:cNvSpPr>
            <a:spLocks noGrp="1"/>
          </p:cNvSpPr>
          <p:nvPr>
            <p:ph type="title"/>
          </p:nvPr>
        </p:nvSpPr>
        <p:spPr/>
        <p:txBody>
          <a:bodyPr/>
          <a:lstStyle/>
          <a:p>
            <a:r>
              <a:rPr lang="it-IT" dirty="0">
                <a:solidFill>
                  <a:srgbClr val="FF0000"/>
                </a:solidFill>
              </a:rPr>
              <a:t>Estimate Threshold</a:t>
            </a:r>
          </a:p>
        </p:txBody>
      </p:sp>
      <p:pic>
        <p:nvPicPr>
          <p:cNvPr id="5" name="Content Placeholder 4" descr="A graph of a number of objects&#10;&#10;AI-generated content may be incorrect.">
            <a:extLst>
              <a:ext uri="{FF2B5EF4-FFF2-40B4-BE49-F238E27FC236}">
                <a16:creationId xmlns:a16="http://schemas.microsoft.com/office/drawing/2014/main" id="{D08F7D7A-C27A-262C-002E-128F34E62D8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072759" y="914400"/>
            <a:ext cx="3494010" cy="2483694"/>
          </a:xfrm>
        </p:spPr>
      </p:pic>
      <p:pic>
        <p:nvPicPr>
          <p:cNvPr id="7" name="Picture 6" descr="A graph of a number of objects&#10;&#10;AI-generated content may be incorrect.">
            <a:extLst>
              <a:ext uri="{FF2B5EF4-FFF2-40B4-BE49-F238E27FC236}">
                <a16:creationId xmlns:a16="http://schemas.microsoft.com/office/drawing/2014/main" id="{93659803-73EF-D640-4101-CBC738C47E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86357" y="3513507"/>
            <a:ext cx="3830505" cy="2480788"/>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C3B33C4-BE10-BB1E-F6DD-A1716D4E7301}"/>
                  </a:ext>
                </a:extLst>
              </p:cNvPr>
              <p:cNvSpPr txBox="1"/>
              <p:nvPr/>
            </p:nvSpPr>
            <p:spPr>
              <a:xfrm>
                <a:off x="784288" y="1568196"/>
                <a:ext cx="7220449" cy="4566315"/>
              </a:xfrm>
              <a:prstGeom prst="rect">
                <a:avLst/>
              </a:prstGeom>
              <a:noFill/>
            </p:spPr>
            <p:txBody>
              <a:bodyPr wrap="square" rtlCol="0">
                <a:spAutoFit/>
              </a:bodyPr>
              <a:lstStyle/>
              <a:p>
                <a:pPr marL="342900" indent="-342900">
                  <a:buFont typeface="Arial" panose="020B0604020202020204" pitchFamily="34" charset="0"/>
                  <a:buChar char="•"/>
                </a:pPr>
                <a:r>
                  <a:rPr lang="en-US" sz="1900" dirty="0"/>
                  <a:t>The </a:t>
                </a:r>
                <a:r>
                  <a:rPr lang="en-US" sz="1900" b="1" dirty="0"/>
                  <a:t>graphically estimated threshold </a:t>
                </a:r>
                <a:r>
                  <a:rPr lang="en-US" sz="1900" dirty="0"/>
                  <a:t>(4.88 s) was checked and found to match expectations: the posterior mean is 0.5 and the two class distributions overlap.</a:t>
                </a:r>
              </a:p>
              <a:p>
                <a:pPr marL="342900" indent="-342900">
                  <a:lnSpc>
                    <a:spcPct val="150000"/>
                  </a:lnSpc>
                  <a:buFont typeface="Arial" panose="020B0604020202020204" pitchFamily="34" charset="0"/>
                  <a:buChar char="•"/>
                </a:pPr>
                <a:r>
                  <a:rPr lang="en-US" sz="1900" b="1" dirty="0"/>
                  <a:t>Probability-based threshold estimation - Method 1:</a:t>
                </a:r>
                <a:endParaRPr lang="it-IT" sz="1900" b="1" dirty="0"/>
              </a:p>
              <a:p>
                <a:pPr marL="914400" lvl="1" indent="-457200">
                  <a:buFont typeface="+mj-lt"/>
                  <a:buAutoNum type="arabicPeriod"/>
                </a:pPr>
                <a:r>
                  <a:rPr lang="it-IT" sz="1900" dirty="0"/>
                  <a:t>Create a grid of 10,000 points over the interval </a:t>
                </a:r>
                <a14:m>
                  <m:oMath xmlns:m="http://schemas.openxmlformats.org/officeDocument/2006/math">
                    <m:r>
                      <a:rPr lang="it-IT" sz="1900" b="0" i="0" smtClean="0">
                        <a:latin typeface="Cambria Math" panose="02040503050406030204" pitchFamily="18" charset="0"/>
                      </a:rPr>
                      <m:t>𝑥</m:t>
                    </m:r>
                    <m:r>
                      <a:rPr lang="ar-AE" sz="1900" smtClean="0">
                        <a:latin typeface="Cambria Math" panose="02040503050406030204" pitchFamily="18" charset="0"/>
                      </a:rPr>
                      <m:t>∈</m:t>
                    </m:r>
                    <m:r>
                      <a:rPr lang="it-IT" sz="1900" b="0" i="0" smtClean="0">
                        <a:latin typeface="Cambria Math" panose="02040503050406030204" pitchFamily="18" charset="0"/>
                      </a:rPr>
                      <m:t>[−</m:t>
                    </m:r>
                    <m:r>
                      <a:rPr lang="it-IT" sz="1900" b="0" i="0" smtClean="0">
                        <a:latin typeface="Cambria Math" panose="02040503050406030204" pitchFamily="18" charset="0"/>
                      </a:rPr>
                      <m:t>4</m:t>
                    </m:r>
                    <m:r>
                      <a:rPr lang="it-IT" sz="1900" b="0" i="0" smtClean="0">
                        <a:latin typeface="Cambria Math" panose="02040503050406030204" pitchFamily="18" charset="0"/>
                      </a:rPr>
                      <m:t>,</m:t>
                    </m:r>
                    <m:r>
                      <a:rPr lang="it-IT" sz="1900" b="0" i="0" smtClean="0">
                        <a:latin typeface="Cambria Math" panose="02040503050406030204" pitchFamily="18" charset="0"/>
                      </a:rPr>
                      <m:t>7</m:t>
                    </m:r>
                    <m:r>
                      <a:rPr lang="it-IT" sz="1900" b="0" i="0" smtClean="0">
                        <a:latin typeface="Cambria Math" panose="02040503050406030204" pitchFamily="18" charset="0"/>
                      </a:rPr>
                      <m:t>]</m:t>
                    </m:r>
                  </m:oMath>
                </a14:m>
                <a:r>
                  <a:rPr lang="ar-AE" sz="1900" dirty="0"/>
                  <a:t>.</a:t>
                </a:r>
                <a:endParaRPr lang="it-IT" sz="1900" dirty="0"/>
              </a:p>
              <a:p>
                <a:pPr marL="914400" lvl="1" indent="-457200">
                  <a:buFont typeface="+mj-lt"/>
                  <a:buAutoNum type="arabicPeriod"/>
                </a:pPr>
                <a:r>
                  <a:rPr lang="it-IT" sz="1900" dirty="0"/>
                  <a:t>For each grid point x compute </a:t>
                </a:r>
                <a14:m>
                  <m:oMath xmlns:m="http://schemas.openxmlformats.org/officeDocument/2006/math">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r>
                          <m:rPr>
                            <m:sty m:val="p"/>
                          </m:rPr>
                          <a:rPr lang="it-IT" sz="1900" b="0" i="1" smtClean="0">
                            <a:latin typeface="Cambria Math" panose="02040503050406030204" pitchFamily="18" charset="0"/>
                          </a:rPr>
                          <m:t>x</m:t>
                        </m:r>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m:rPr>
                                <m:sty m:val="p"/>
                              </m:rPr>
                              <a:rPr lang="it-IT" sz="1900" i="1">
                                <a:latin typeface="Cambria Math" panose="02040503050406030204" pitchFamily="18" charset="0"/>
                              </a:rPr>
                              <m:t>j</m:t>
                            </m:r>
                          </m:sub>
                        </m:sSub>
                      </m:e>
                    </m:d>
                  </m:oMath>
                </a14:m>
                <a:r>
                  <a:rPr lang="it-IT" sz="1900" dirty="0"/>
                  <a:t> and extract the postirior mean </a:t>
                </a:r>
                <a14:m>
                  <m:oMath xmlns:m="http://schemas.openxmlformats.org/officeDocument/2006/math">
                    <m:acc>
                      <m:accPr>
                        <m:chr m:val="̅"/>
                        <m:ctrlPr>
                          <a:rPr lang="it-IT" sz="1900" i="1">
                            <a:latin typeface="Cambria Math" panose="02040503050406030204" pitchFamily="18" charset="0"/>
                          </a:rPr>
                        </m:ctrlPr>
                      </m:accPr>
                      <m:e>
                        <m:r>
                          <m:rPr>
                            <m:sty m:val="p"/>
                          </m:rPr>
                          <a:rPr lang="it-IT" sz="1900" i="1">
                            <a:latin typeface="Cambria Math" panose="02040503050406030204" pitchFamily="18" charset="0"/>
                          </a:rPr>
                          <m:t>h</m:t>
                        </m:r>
                      </m:e>
                    </m:acc>
                    <m:r>
                      <m:rPr>
                        <m:nor/>
                      </m:rPr>
                      <a:rPr lang="it-IT" sz="1900">
                        <a:latin typeface="Cambria Math" panose="02040503050406030204" pitchFamily="18" charset="0"/>
                      </a:rPr>
                      <m:t>(</m:t>
                    </m:r>
                    <m:r>
                      <a:rPr lang="it-IT" sz="1900" i="1">
                        <a:latin typeface="Cambria Math" panose="02040503050406030204" pitchFamily="18" charset="0"/>
                      </a:rPr>
                      <m:t>𝑥</m:t>
                    </m:r>
                    <m:r>
                      <a:rPr lang="it-IT" sz="1900" i="1">
                        <a:latin typeface="Cambria Math" panose="02040503050406030204" pitchFamily="18" charset="0"/>
                      </a:rPr>
                      <m:t>)≈</m:t>
                    </m:r>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r>
                          <a:rPr lang="it-IT" sz="1900" b="0" i="1" smtClean="0">
                            <a:latin typeface="Cambria Math" panose="02040503050406030204" pitchFamily="18" charset="0"/>
                          </a:rPr>
                          <m:t>𝑥</m:t>
                        </m:r>
                        <m:r>
                          <a:rPr lang="it-IT" sz="1900" i="1">
                            <a:latin typeface="Cambria Math" panose="02040503050406030204" pitchFamily="18" charset="0"/>
                          </a:rPr>
                          <m:t>,</m:t>
                        </m:r>
                        <m:r>
                          <a:rPr lang="it-IT" sz="1900" i="1">
                            <a:latin typeface="Cambria Math" panose="02040503050406030204" pitchFamily="18" charset="0"/>
                          </a:rPr>
                          <m:t>𝑫</m:t>
                        </m:r>
                      </m:e>
                    </m:d>
                  </m:oMath>
                </a14:m>
                <a:r>
                  <a:rPr lang="it-IT" sz="1900" dirty="0"/>
                  <a:t>.</a:t>
                </a:r>
              </a:p>
              <a:p>
                <a:pPr marL="914400" lvl="1" indent="-457200">
                  <a:buFont typeface="+mj-lt"/>
                  <a:buAutoNum type="arabicPeriod"/>
                </a:pPr>
                <a:r>
                  <a:rPr lang="it-IT" sz="1900" dirty="0"/>
                  <a:t>Extract the threshold using the </a:t>
                </a:r>
                <a:r>
                  <a:rPr lang="it-IT" sz="1900" b="1" dirty="0"/>
                  <a:t>crossing method:</a:t>
                </a:r>
              </a:p>
              <a:p>
                <a:pPr marL="1371600" lvl="2" indent="-457200">
                  <a:buFont typeface="Arial" panose="020B0604020202020204" pitchFamily="34" charset="0"/>
                  <a:buChar char="•"/>
                </a:pPr>
                <a:r>
                  <a:rPr lang="it-IT" sz="1900" dirty="0"/>
                  <a:t>Find two consecutive grid points </a:t>
                </a:r>
                <a14:m>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𝑥</m:t>
                        </m:r>
                      </m:e>
                      <m:sub>
                        <m:r>
                          <a:rPr lang="ar-AE" sz="1900">
                            <a:latin typeface="Cambria Math" panose="02040503050406030204" pitchFamily="18" charset="0"/>
                          </a:rPr>
                          <m:t>1</m:t>
                        </m:r>
                      </m:sub>
                    </m:sSub>
                  </m:oMath>
                </a14:m>
                <a:r>
                  <a:rPr lang="it-IT" sz="1900" dirty="0"/>
                  <a:t> and </a:t>
                </a:r>
                <a14:m>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𝑥</m:t>
                        </m:r>
                      </m:e>
                      <m:sub>
                        <m:r>
                          <a:rPr lang="ar-AE" sz="1900">
                            <a:latin typeface="Cambria Math" panose="02040503050406030204" pitchFamily="18" charset="0"/>
                          </a:rPr>
                          <m:t>2</m:t>
                        </m:r>
                      </m:sub>
                    </m:sSub>
                  </m:oMath>
                </a14:m>
                <a:r>
                  <a:rPr lang="it-IT" sz="1900" dirty="0"/>
                  <a:t> (with </a:t>
                </a:r>
                <a14:m>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𝑥</m:t>
                        </m:r>
                      </m:e>
                      <m:sub>
                        <m:r>
                          <a:rPr lang="ar-AE" sz="1900">
                            <a:latin typeface="Cambria Math" panose="02040503050406030204" pitchFamily="18" charset="0"/>
                          </a:rPr>
                          <m:t>2</m:t>
                        </m:r>
                      </m:sub>
                    </m:sSub>
                  </m:oMath>
                </a14:m>
                <a:r>
                  <a:rPr lang="ar-AE" sz="1900" dirty="0"/>
                  <a:t> </a:t>
                </a:r>
                <a14:m>
                  <m:oMath xmlns:m="http://schemas.openxmlformats.org/officeDocument/2006/math">
                    <m:r>
                      <a:rPr lang="ar-AE"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𝑥</m:t>
                        </m:r>
                      </m:e>
                      <m:sub>
                        <m:r>
                          <a:rPr lang="ar-AE" sz="1900">
                            <a:latin typeface="Cambria Math" panose="02040503050406030204" pitchFamily="18" charset="0"/>
                          </a:rPr>
                          <m:t>1</m:t>
                        </m:r>
                      </m:sub>
                    </m:sSub>
                  </m:oMath>
                </a14:m>
                <a:r>
                  <a:rPr lang="it-IT" sz="1900" dirty="0"/>
                  <a:t>)</a:t>
                </a:r>
                <a:r>
                  <a:rPr lang="ar-AE" sz="1900" dirty="0"/>
                  <a:t> </a:t>
                </a:r>
                <a:r>
                  <a:rPr lang="it-IT" sz="1900" dirty="0"/>
                  <a:t>such that </a:t>
                </a:r>
                <a14:m>
                  <m:oMath xmlns:m="http://schemas.openxmlformats.org/officeDocument/2006/math">
                    <m:acc>
                      <m:accPr>
                        <m:chr m:val="̅"/>
                        <m:ctrlPr>
                          <a:rPr lang="it-IT" sz="1900" i="1">
                            <a:latin typeface="Cambria Math" panose="02040503050406030204" pitchFamily="18" charset="0"/>
                          </a:rPr>
                        </m:ctrlPr>
                      </m:accPr>
                      <m:e>
                        <m:r>
                          <m:rPr>
                            <m:sty m:val="p"/>
                          </m:rPr>
                          <a:rPr lang="it-IT" sz="1900" i="1">
                            <a:latin typeface="Cambria Math" panose="02040503050406030204" pitchFamily="18" charset="0"/>
                          </a:rPr>
                          <m:t>h</m:t>
                        </m:r>
                      </m:e>
                    </m:acc>
                    <m:r>
                      <m:rPr>
                        <m:nor/>
                      </m:rPr>
                      <a:rPr lang="it-IT" sz="1900">
                        <a:latin typeface="Cambria Math" panose="02040503050406030204" pitchFamily="18" charset="0"/>
                      </a:rPr>
                      <m:t>(</m:t>
                    </m:r>
                    <m:r>
                      <a:rPr lang="it-IT" sz="1900" i="1">
                        <a:latin typeface="Cambria Math" panose="02040503050406030204" pitchFamily="18" charset="0"/>
                      </a:rPr>
                      <m:t>𝑥</m:t>
                    </m:r>
                    <m:r>
                      <a:rPr lang="it-IT" sz="1900" i="1">
                        <a:latin typeface="Cambria Math" panose="02040503050406030204" pitchFamily="18" charset="0"/>
                      </a:rPr>
                      <m:t>)</m:t>
                    </m:r>
                  </m:oMath>
                </a14:m>
                <a:r>
                  <a:rPr lang="it-IT" sz="1900" dirty="0"/>
                  <a:t> - 0.5 changes sign between them.</a:t>
                </a:r>
              </a:p>
              <a:p>
                <a:pPr marL="1371600" lvl="2" indent="-457200">
                  <a:buFont typeface="Arial" panose="020B0604020202020204" pitchFamily="34" charset="0"/>
                  <a:buChar char="•"/>
                </a:pPr>
                <a:r>
                  <a:rPr lang="en-US" sz="1900" dirty="0"/>
                  <a:t>Estimate the threshold by </a:t>
                </a:r>
                <a:r>
                  <a:rPr lang="en-US" sz="1900" b="1" dirty="0"/>
                  <a:t>linear interpolation</a:t>
                </a:r>
                <a:r>
                  <a:rPr lang="en-US" sz="1900" dirty="0"/>
                  <a:t>:</a:t>
                </a:r>
              </a:p>
              <a:p>
                <a:pPr lvl="2" algn="ctr">
                  <a:lnSpc>
                    <a:spcPct val="150000"/>
                  </a:lnSpc>
                </a:pPr>
                <a:r>
                  <a:rPr lang="it-IT" sz="1900" dirty="0"/>
                  <a:t>t</a:t>
                </a:r>
                <a:r>
                  <a:rPr lang="it-IT" sz="1900" b="0" dirty="0"/>
                  <a:t>hr_mean_h = </a:t>
                </a:r>
                <a14:m>
                  <m:oMath xmlns:m="http://schemas.openxmlformats.org/officeDocument/2006/math">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𝑥</m:t>
                        </m:r>
                      </m:e>
                      <m:sub>
                        <m:r>
                          <a:rPr lang="it-IT" sz="1900" b="0" i="1" smtClean="0">
                            <a:latin typeface="Cambria Math" panose="02040503050406030204" pitchFamily="18" charset="0"/>
                          </a:rPr>
                          <m:t>1</m:t>
                        </m:r>
                      </m:sub>
                    </m:sSub>
                    <m:r>
                      <a:rPr lang="it-IT" sz="1900" b="0" i="1" smtClean="0">
                        <a:latin typeface="Cambria Math" panose="02040503050406030204" pitchFamily="18" charset="0"/>
                      </a:rPr>
                      <m:t>+(</m:t>
                    </m:r>
                    <m:r>
                      <a:rPr lang="it-IT" sz="1900" b="0" i="1" smtClean="0">
                        <a:latin typeface="Cambria Math" panose="02040503050406030204" pitchFamily="18" charset="0"/>
                      </a:rPr>
                      <m:t>0</m:t>
                    </m:r>
                    <m:r>
                      <a:rPr lang="it-IT" sz="1900" b="0" i="1" smtClean="0">
                        <a:latin typeface="Cambria Math" panose="02040503050406030204" pitchFamily="18" charset="0"/>
                      </a:rPr>
                      <m:t>.</m:t>
                    </m:r>
                    <m:r>
                      <a:rPr lang="it-IT" sz="1900" b="0" i="1" smtClean="0">
                        <a:latin typeface="Cambria Math" panose="02040503050406030204" pitchFamily="18" charset="0"/>
                      </a:rPr>
                      <m:t>5</m:t>
                    </m:r>
                    <m:r>
                      <a:rPr lang="it-IT" sz="1900" b="0" i="1" smtClean="0">
                        <a:latin typeface="Cambria Math" panose="02040503050406030204" pitchFamily="18" charset="0"/>
                      </a:rPr>
                      <m:t>−</m:t>
                    </m:r>
                    <m:acc>
                      <m:accPr>
                        <m:chr m:val="̅"/>
                        <m:ctrlPr>
                          <a:rPr lang="it-IT" sz="1900" i="1">
                            <a:latin typeface="Cambria Math" panose="02040503050406030204" pitchFamily="18" charset="0"/>
                          </a:rPr>
                        </m:ctrlPr>
                      </m:accPr>
                      <m:e>
                        <m:r>
                          <m:rPr>
                            <m:sty m:val="p"/>
                          </m:rPr>
                          <a:rPr lang="it-IT" sz="1900" i="1">
                            <a:latin typeface="Cambria Math" panose="02040503050406030204" pitchFamily="18" charset="0"/>
                          </a:rPr>
                          <m:t>h</m:t>
                        </m:r>
                      </m:e>
                    </m:acc>
                    <m:r>
                      <m:rPr>
                        <m:nor/>
                      </m:rPr>
                      <a:rPr lang="it-IT" sz="1900">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1</m:t>
                        </m:r>
                      </m:sub>
                    </m:sSub>
                    <m:r>
                      <a:rPr lang="it-IT" sz="1900" i="1" smtClean="0">
                        <a:latin typeface="Cambria Math" panose="02040503050406030204" pitchFamily="18" charset="0"/>
                      </a:rPr>
                      <m:t>)</m:t>
                    </m:r>
                    <m:r>
                      <a:rPr lang="it-IT" sz="1900" b="0" i="1" smtClean="0">
                        <a:latin typeface="Cambria Math" panose="02040503050406030204" pitchFamily="18" charset="0"/>
                      </a:rPr>
                      <m:t>)</m:t>
                    </m:r>
                    <m:f>
                      <m:fPr>
                        <m:ctrlPr>
                          <a:rPr lang="it-IT" sz="1900" b="0" i="1" smtClean="0">
                            <a:latin typeface="Cambria Math" panose="02040503050406030204" pitchFamily="18" charset="0"/>
                          </a:rPr>
                        </m:ctrlPr>
                      </m:fPr>
                      <m:num>
                        <m:sSub>
                          <m:sSubPr>
                            <m:ctrlPr>
                              <a:rPr lang="it-IT" sz="1900" i="1" smtClean="0">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2</m:t>
                            </m:r>
                          </m:sub>
                        </m:sSub>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𝑥</m:t>
                            </m:r>
                          </m:e>
                          <m:sub>
                            <m:r>
                              <a:rPr lang="it-IT" sz="1900" i="1">
                                <a:latin typeface="Cambria Math" panose="02040503050406030204" pitchFamily="18" charset="0"/>
                              </a:rPr>
                              <m:t>1</m:t>
                            </m:r>
                          </m:sub>
                        </m:sSub>
                      </m:num>
                      <m:den>
                        <m:acc>
                          <m:accPr>
                            <m:chr m:val="̅"/>
                            <m:ctrlPr>
                              <a:rPr lang="it-IT" sz="1900" i="1">
                                <a:latin typeface="Cambria Math" panose="02040503050406030204" pitchFamily="18" charset="0"/>
                              </a:rPr>
                            </m:ctrlPr>
                          </m:accPr>
                          <m:e>
                            <m:r>
                              <m:rPr>
                                <m:sty m:val="p"/>
                              </m:rPr>
                              <a:rPr lang="it-IT" sz="1900" i="1">
                                <a:latin typeface="Cambria Math" panose="02040503050406030204" pitchFamily="18" charset="0"/>
                              </a:rPr>
                              <m:t>h</m:t>
                            </m:r>
                          </m:e>
                        </m:acc>
                        <m:sSub>
                          <m:sSubPr>
                            <m:ctrlPr>
                              <a:rPr lang="it-IT" sz="1900" i="1">
                                <a:latin typeface="Cambria Math" panose="02040503050406030204" pitchFamily="18" charset="0"/>
                              </a:rPr>
                            </m:ctrlPr>
                          </m:sSubPr>
                          <m:e>
                            <m:r>
                              <a:rPr lang="it-IT" sz="1900" b="0" i="1" smtClean="0">
                                <a:latin typeface="Cambria Math" panose="02040503050406030204" pitchFamily="18" charset="0"/>
                              </a:rPr>
                              <m:t>(</m:t>
                            </m:r>
                            <m:r>
                              <a:rPr lang="it-IT" sz="1900" i="1">
                                <a:latin typeface="Cambria Math" panose="02040503050406030204" pitchFamily="18" charset="0"/>
                              </a:rPr>
                              <m:t>𝑥</m:t>
                            </m:r>
                          </m:e>
                          <m:sub>
                            <m:r>
                              <a:rPr lang="it-IT" sz="1900" i="1">
                                <a:latin typeface="Cambria Math" panose="02040503050406030204" pitchFamily="18" charset="0"/>
                              </a:rPr>
                              <m:t>2</m:t>
                            </m:r>
                          </m:sub>
                        </m:sSub>
                        <m:r>
                          <a:rPr lang="it-IT" sz="1900" i="1">
                            <a:latin typeface="Cambria Math" panose="02040503050406030204" pitchFamily="18" charset="0"/>
                          </a:rPr>
                          <m:t>)−</m:t>
                        </m:r>
                        <m:acc>
                          <m:accPr>
                            <m:chr m:val="̅"/>
                            <m:ctrlPr>
                              <a:rPr lang="it-IT" sz="1900" i="1">
                                <a:latin typeface="Cambria Math" panose="02040503050406030204" pitchFamily="18" charset="0"/>
                              </a:rPr>
                            </m:ctrlPr>
                          </m:accPr>
                          <m:e>
                            <m:r>
                              <m:rPr>
                                <m:sty m:val="p"/>
                              </m:rPr>
                              <a:rPr lang="it-IT" sz="1900" i="1">
                                <a:latin typeface="Cambria Math" panose="02040503050406030204" pitchFamily="18" charset="0"/>
                              </a:rPr>
                              <m:t>h</m:t>
                            </m:r>
                          </m:e>
                        </m:acc>
                        <m:sSub>
                          <m:sSubPr>
                            <m:ctrlPr>
                              <a:rPr lang="it-IT" sz="1900" i="1">
                                <a:latin typeface="Cambria Math" panose="02040503050406030204" pitchFamily="18" charset="0"/>
                              </a:rPr>
                            </m:ctrlPr>
                          </m:sSubPr>
                          <m:e>
                            <m:r>
                              <a:rPr lang="it-IT" sz="1900" b="0" i="1" smtClean="0">
                                <a:latin typeface="Cambria Math" panose="02040503050406030204" pitchFamily="18" charset="0"/>
                              </a:rPr>
                              <m:t>(</m:t>
                            </m:r>
                            <m:r>
                              <a:rPr lang="it-IT" sz="1900" i="1">
                                <a:latin typeface="Cambria Math" panose="02040503050406030204" pitchFamily="18" charset="0"/>
                              </a:rPr>
                              <m:t>𝑥</m:t>
                            </m:r>
                          </m:e>
                          <m:sub>
                            <m:r>
                              <a:rPr lang="it-IT" sz="1900" i="1">
                                <a:latin typeface="Cambria Math" panose="02040503050406030204" pitchFamily="18" charset="0"/>
                              </a:rPr>
                              <m:t>1</m:t>
                            </m:r>
                          </m:sub>
                        </m:sSub>
                        <m:r>
                          <a:rPr lang="it-IT" sz="1900" i="1">
                            <a:latin typeface="Cambria Math" panose="02040503050406030204" pitchFamily="18" charset="0"/>
                          </a:rPr>
                          <m:t>)</m:t>
                        </m:r>
                      </m:den>
                    </m:f>
                  </m:oMath>
                </a14:m>
                <a:endParaRPr lang="it-IT" sz="1900" dirty="0"/>
              </a:p>
              <a:p>
                <a:pPr marL="914400" lvl="1" indent="-457200">
                  <a:lnSpc>
                    <a:spcPct val="150000"/>
                  </a:lnSpc>
                  <a:buFont typeface="+mj-lt"/>
                  <a:buAutoNum type="arabicPeriod"/>
                </a:pPr>
                <a:r>
                  <a:rPr lang="it-IT" sz="1900" dirty="0"/>
                  <a:t>This yields thr_mean_h </a:t>
                </a:r>
                <a:r>
                  <a:rPr lang="it-IT" sz="2000" dirty="0"/>
                  <a:t>≃ 4.87 s</a:t>
                </a:r>
                <a:endParaRPr lang="it-IT" sz="1900" dirty="0"/>
              </a:p>
            </p:txBody>
          </p:sp>
        </mc:Choice>
        <mc:Fallback xmlns="">
          <p:sp>
            <p:nvSpPr>
              <p:cNvPr id="9" name="TextBox 8">
                <a:extLst>
                  <a:ext uri="{FF2B5EF4-FFF2-40B4-BE49-F238E27FC236}">
                    <a16:creationId xmlns:a16="http://schemas.microsoft.com/office/drawing/2014/main" id="{EC3B33C4-BE10-BB1E-F6DD-A1716D4E7301}"/>
                  </a:ext>
                </a:extLst>
              </p:cNvPr>
              <p:cNvSpPr txBox="1">
                <a:spLocks noRot="1" noChangeAspect="1" noMove="1" noResize="1" noEditPoints="1" noAdjustHandles="1" noChangeArrowheads="1" noChangeShapeType="1" noTextEdit="1"/>
              </p:cNvSpPr>
              <p:nvPr/>
            </p:nvSpPr>
            <p:spPr>
              <a:xfrm>
                <a:off x="784288" y="1568196"/>
                <a:ext cx="7220449" cy="4566315"/>
              </a:xfrm>
              <a:prstGeom prst="rect">
                <a:avLst/>
              </a:prstGeom>
              <a:blipFill>
                <a:blip r:embed="rId5"/>
                <a:stretch>
                  <a:fillRect l="-676" t="-801" b="-1469"/>
                </a:stretch>
              </a:blipFill>
            </p:spPr>
            <p:txBody>
              <a:bodyPr/>
              <a:lstStyle/>
              <a:p>
                <a:r>
                  <a:rPr lang="it-IT">
                    <a:noFill/>
                  </a:rPr>
                  <a:t> </a:t>
                </a:r>
              </a:p>
            </p:txBody>
          </p:sp>
        </mc:Fallback>
      </mc:AlternateContent>
    </p:spTree>
    <p:extLst>
      <p:ext uri="{BB962C8B-B14F-4D97-AF65-F5344CB8AC3E}">
        <p14:creationId xmlns:p14="http://schemas.microsoft.com/office/powerpoint/2010/main" val="491461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DC03-6294-7A0C-DD28-1F48FA90B683}"/>
              </a:ext>
            </a:extLst>
          </p:cNvPr>
          <p:cNvSpPr>
            <a:spLocks noGrp="1"/>
          </p:cNvSpPr>
          <p:nvPr>
            <p:ph type="title"/>
          </p:nvPr>
        </p:nvSpPr>
        <p:spPr/>
        <p:txBody>
          <a:bodyPr/>
          <a:lstStyle/>
          <a:p>
            <a:r>
              <a:rPr lang="it-IT" dirty="0">
                <a:solidFill>
                  <a:srgbClr val="FF0000"/>
                </a:solidFill>
              </a:rPr>
              <a:t>Threshold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0517DA-7C38-ED22-40E1-50A003AB6AF0}"/>
                  </a:ext>
                </a:extLst>
              </p:cNvPr>
              <p:cNvSpPr>
                <a:spLocks noGrp="1"/>
              </p:cNvSpPr>
              <p:nvPr>
                <p:ph idx="1"/>
              </p:nvPr>
            </p:nvSpPr>
            <p:spPr>
              <a:xfrm>
                <a:off x="700636" y="1563077"/>
                <a:ext cx="7214928" cy="4548554"/>
              </a:xfrm>
            </p:spPr>
            <p:txBody>
              <a:bodyPr>
                <a:normAutofit/>
              </a:bodyPr>
              <a:lstStyle/>
              <a:p>
                <a:pPr marL="285750" indent="-285750">
                  <a:lnSpc>
                    <a:spcPct val="150000"/>
                  </a:lnSpc>
                </a:pPr>
                <a:r>
                  <a:rPr lang="en-US" sz="1900" b="1" dirty="0"/>
                  <a:t>Probability-based threshold estimation - Method 2:</a:t>
                </a:r>
              </a:p>
              <a:p>
                <a:pPr marL="914400" lvl="1" indent="-457200">
                  <a:buFont typeface="+mj-lt"/>
                  <a:buAutoNum type="arabicPeriod"/>
                </a:pPr>
                <a:r>
                  <a:rPr lang="it-IT" sz="1900" dirty="0"/>
                  <a:t>Create a grid of 10,000 points over the interval </a:t>
                </a:r>
                <a14:m>
                  <m:oMath xmlns:m="http://schemas.openxmlformats.org/officeDocument/2006/math">
                    <m:r>
                      <a:rPr lang="it-IT" sz="1900">
                        <a:latin typeface="Cambria Math" panose="02040503050406030204" pitchFamily="18" charset="0"/>
                      </a:rPr>
                      <m:t>𝑥</m:t>
                    </m:r>
                    <m:r>
                      <a:rPr lang="ar-AE" sz="1900">
                        <a:latin typeface="Cambria Math" panose="02040503050406030204" pitchFamily="18" charset="0"/>
                      </a:rPr>
                      <m:t>∈</m:t>
                    </m:r>
                    <m:r>
                      <a:rPr lang="it-IT" sz="1900">
                        <a:latin typeface="Cambria Math" panose="02040503050406030204" pitchFamily="18" charset="0"/>
                      </a:rPr>
                      <m:t>[−</m:t>
                    </m:r>
                    <m:r>
                      <a:rPr lang="it-IT" sz="1900">
                        <a:latin typeface="Cambria Math" panose="02040503050406030204" pitchFamily="18" charset="0"/>
                      </a:rPr>
                      <m:t>4</m:t>
                    </m:r>
                    <m:r>
                      <a:rPr lang="it-IT" sz="1900">
                        <a:latin typeface="Cambria Math" panose="02040503050406030204" pitchFamily="18" charset="0"/>
                      </a:rPr>
                      <m:t>,</m:t>
                    </m:r>
                    <m:r>
                      <a:rPr lang="it-IT" sz="1900">
                        <a:latin typeface="Cambria Math" panose="02040503050406030204" pitchFamily="18" charset="0"/>
                      </a:rPr>
                      <m:t>7</m:t>
                    </m:r>
                    <m:r>
                      <a:rPr lang="it-IT" sz="1900">
                        <a:latin typeface="Cambria Math" panose="02040503050406030204" pitchFamily="18" charset="0"/>
                      </a:rPr>
                      <m:t>]</m:t>
                    </m:r>
                  </m:oMath>
                </a14:m>
                <a:r>
                  <a:rPr lang="ar-AE" sz="1900" dirty="0"/>
                  <a:t>.</a:t>
                </a:r>
                <a:endParaRPr lang="it-IT" sz="1900" dirty="0"/>
              </a:p>
              <a:p>
                <a:pPr marL="914400" lvl="1" indent="-457200">
                  <a:buFont typeface="+mj-lt"/>
                  <a:buAutoNum type="arabicPeriod"/>
                </a:pPr>
                <a:r>
                  <a:rPr lang="it-IT" sz="1900" dirty="0"/>
                  <a:t>For each grid point x compute </a:t>
                </a:r>
                <a14:m>
                  <m:oMath xmlns:m="http://schemas.openxmlformats.org/officeDocument/2006/math">
                    <m:sSub>
                      <m:sSubPr>
                        <m:ctrlPr>
                          <a:rPr lang="it-IT" sz="1900" b="0" i="1" smtClean="0">
                            <a:latin typeface="Cambria Math" panose="02040503050406030204" pitchFamily="18" charset="0"/>
                          </a:rPr>
                        </m:ctrlPr>
                      </m:sSubPr>
                      <m:e>
                        <m:r>
                          <a:rPr lang="it-IT" sz="1900" b="0" i="0" smtClean="0">
                            <a:latin typeface="Cambria Math" panose="02040503050406030204" pitchFamily="18" charset="0"/>
                          </a:rPr>
                          <m:t>h</m:t>
                        </m:r>
                      </m:e>
                      <m:sub>
                        <m:r>
                          <a:rPr lang="it-IT" sz="1900" b="0" i="0" smtClean="0">
                            <a:latin typeface="Cambria Math" panose="02040503050406030204" pitchFamily="18" charset="0"/>
                          </a:rPr>
                          <m:t>𝑗</m:t>
                        </m:r>
                      </m:sub>
                    </m:sSub>
                    <m:d>
                      <m:dPr>
                        <m:ctrlPr>
                          <a:rPr lang="it-IT" sz="1900" b="0" i="1" smtClean="0">
                            <a:latin typeface="Cambria Math" panose="02040503050406030204" pitchFamily="18" charset="0"/>
                          </a:rPr>
                        </m:ctrlPr>
                      </m:dPr>
                      <m:e>
                        <m:r>
                          <a:rPr lang="it-IT" sz="1900" b="0" i="0" smtClean="0">
                            <a:latin typeface="Cambria Math" panose="02040503050406030204" pitchFamily="18" charset="0"/>
                          </a:rPr>
                          <m:t>𝑥</m:t>
                        </m:r>
                      </m:e>
                    </m:d>
                    <m:r>
                      <a:rPr lang="it-IT" sz="1900" b="0" i="0" smtClean="0">
                        <a:latin typeface="Cambria Math" panose="02040503050406030204" pitchFamily="18" charset="0"/>
                      </a:rPr>
                      <m:t>=</m:t>
                    </m:r>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r>
                          <m:rPr>
                            <m:sty m:val="p"/>
                          </m:rPr>
                          <a:rPr lang="it-IT" sz="1900" i="1">
                            <a:latin typeface="Cambria Math" panose="02040503050406030204" pitchFamily="18" charset="0"/>
                          </a:rPr>
                          <m:t>x</m:t>
                        </m:r>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m:rPr>
                                <m:sty m:val="p"/>
                              </m:rPr>
                              <a:rPr lang="it-IT" sz="1900" i="1">
                                <a:latin typeface="Cambria Math" panose="02040503050406030204" pitchFamily="18" charset="0"/>
                              </a:rPr>
                              <m:t>j</m:t>
                            </m:r>
                          </m:sub>
                        </m:sSub>
                      </m:e>
                    </m:d>
                  </m:oMath>
                </a14:m>
                <a:r>
                  <a:rPr lang="it-IT" sz="1900" dirty="0"/>
                  <a:t>.</a:t>
                </a:r>
              </a:p>
              <a:p>
                <a:pPr marL="914400" lvl="1" indent="-457200">
                  <a:buFont typeface="+mj-lt"/>
                  <a:buAutoNum type="arabicPeriod"/>
                </a:pPr>
                <a:r>
                  <a:rPr lang="it-IT" sz="1900" dirty="0"/>
                  <a:t>For each sample j find the threshold using the </a:t>
                </a:r>
                <a:r>
                  <a:rPr lang="it-IT" sz="1900" b="1" dirty="0"/>
                  <a:t>crossing method </a:t>
                </a:r>
                <a:r>
                  <a:rPr lang="it-IT" sz="1900" dirty="0"/>
                  <a:t>(the </a:t>
                </a:r>
                <a14:m>
                  <m:oMath xmlns:m="http://schemas.openxmlformats.org/officeDocument/2006/math">
                    <m:r>
                      <a:rPr lang="it-IT" sz="1900" i="1">
                        <a:latin typeface="Cambria Math" panose="02040503050406030204" pitchFamily="18" charset="0"/>
                      </a:rPr>
                      <m:t>𝑥</m:t>
                    </m:r>
                  </m:oMath>
                </a14:m>
                <a:r>
                  <a:rPr lang="it-IT" sz="1900" dirty="0"/>
                  <a:t> where </a:t>
                </a:r>
                <a14:m>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h</m:t>
                        </m:r>
                      </m:e>
                      <m:sub>
                        <m:r>
                          <a:rPr lang="ar-AE" sz="1900" i="1">
                            <a:latin typeface="Cambria Math" panose="02040503050406030204" pitchFamily="18" charset="0"/>
                          </a:rPr>
                          <m:t>𝑗</m:t>
                        </m:r>
                      </m:sub>
                    </m:sSub>
                    <m:d>
                      <m:dPr>
                        <m:ctrlPr>
                          <a:rPr lang="ar-AE" sz="1900" i="1">
                            <a:latin typeface="Cambria Math" panose="02040503050406030204" pitchFamily="18" charset="0"/>
                          </a:rPr>
                        </m:ctrlPr>
                      </m:dPr>
                      <m:e>
                        <m:r>
                          <a:rPr lang="ar-AE" sz="1900" i="1">
                            <a:latin typeface="Cambria Math" panose="02040503050406030204" pitchFamily="18" charset="0"/>
                          </a:rPr>
                          <m:t>𝑥</m:t>
                        </m:r>
                      </m:e>
                    </m:d>
                    <m:r>
                      <a:rPr lang="ar-AE" sz="1900">
                        <a:latin typeface="Cambria Math" panose="02040503050406030204" pitchFamily="18" charset="0"/>
                      </a:rPr>
                      <m:t>=</m:t>
                    </m:r>
                    <m:r>
                      <a:rPr lang="ar-AE" sz="1900">
                        <a:latin typeface="Cambria Math" panose="02040503050406030204" pitchFamily="18" charset="0"/>
                      </a:rPr>
                      <m:t>0</m:t>
                    </m:r>
                    <m:r>
                      <a:rPr lang="ar-AE" sz="1900">
                        <a:latin typeface="Cambria Math" panose="02040503050406030204" pitchFamily="18" charset="0"/>
                      </a:rPr>
                      <m:t>.</m:t>
                    </m:r>
                    <m:r>
                      <a:rPr lang="ar-AE" sz="1900">
                        <a:latin typeface="Cambria Math" panose="02040503050406030204" pitchFamily="18" charset="0"/>
                      </a:rPr>
                      <m:t>5</m:t>
                    </m:r>
                  </m:oMath>
                </a14:m>
                <a:r>
                  <a:rPr lang="it-IT" sz="1900" dirty="0"/>
                  <a:t>).</a:t>
                </a:r>
              </a:p>
              <a:p>
                <a:pPr marL="914400" lvl="1" indent="-457200">
                  <a:buFont typeface="+mj-lt"/>
                  <a:buAutoNum type="arabicPeriod"/>
                </a:pPr>
                <a:r>
                  <a:rPr lang="it-IT" sz="1900" dirty="0"/>
                  <a:t>This gives M thresholds </a:t>
                </a:r>
                <a14:m>
                  <m:oMath xmlns:m="http://schemas.openxmlformats.org/officeDocument/2006/math">
                    <m:r>
                      <a:rPr lang="it-IT" sz="1900" i="1">
                        <a:latin typeface="Cambria Math" panose="02040503050406030204" pitchFamily="18" charset="0"/>
                      </a:rPr>
                      <m:t>{</m:t>
                    </m:r>
                    <m:r>
                      <a:rPr lang="it-IT" sz="1900" b="0" i="1" smtClean="0">
                        <a:latin typeface="Cambria Math" panose="02040503050406030204" pitchFamily="18" charset="0"/>
                      </a:rPr>
                      <m:t>𝑡</m:t>
                    </m:r>
                    <m:r>
                      <a:rPr lang="it-IT" sz="1900" b="0" i="1" smtClean="0">
                        <a:latin typeface="Cambria Math" panose="02040503050406030204" pitchFamily="18" charset="0"/>
                      </a:rPr>
                      <m:t>h</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𝑟</m:t>
                        </m:r>
                      </m:e>
                      <m:sub>
                        <m:r>
                          <a:rPr lang="it-IT" sz="1900" b="0" i="1" smtClean="0">
                            <a:latin typeface="Cambria Math" panose="02040503050406030204" pitchFamily="18" charset="0"/>
                          </a:rPr>
                          <m:t>𝑗</m:t>
                        </m:r>
                      </m:sub>
                    </m:sSub>
                    <m:sSubSup>
                      <m:sSubSupPr>
                        <m:ctrlPr>
                          <a:rPr lang="it-IT" sz="1900" i="1" smtClean="0">
                            <a:latin typeface="Cambria Math" panose="02040503050406030204" pitchFamily="18" charset="0"/>
                          </a:rPr>
                        </m:ctrlPr>
                      </m:sSubSupPr>
                      <m:e>
                        <m:r>
                          <a:rPr lang="it-IT" sz="1900" i="1">
                            <a:latin typeface="Cambria Math" panose="02040503050406030204" pitchFamily="18" charset="0"/>
                          </a:rPr>
                          <m:t>}</m:t>
                        </m:r>
                      </m:e>
                      <m:sub>
                        <m:r>
                          <m:rPr>
                            <m:sty m:val="p"/>
                          </m:rPr>
                          <a:rPr lang="it-IT" sz="1900" b="0" i="1" smtClean="0">
                            <a:latin typeface="Cambria Math" panose="02040503050406030204" pitchFamily="18" charset="0"/>
                          </a:rPr>
                          <m:t>j</m:t>
                        </m:r>
                        <m:r>
                          <a:rPr lang="it-IT" sz="1900" i="1">
                            <a:latin typeface="Cambria Math" panose="02040503050406030204" pitchFamily="18" charset="0"/>
                          </a:rPr>
                          <m:t>=</m:t>
                        </m:r>
                        <m:r>
                          <a:rPr lang="it-IT" sz="1900" i="1">
                            <a:latin typeface="Cambria Math" panose="02040503050406030204" pitchFamily="18" charset="0"/>
                          </a:rPr>
                          <m:t>1</m:t>
                        </m:r>
                      </m:sub>
                      <m:sup>
                        <m:r>
                          <m:rPr>
                            <m:sty m:val="p"/>
                          </m:rPr>
                          <a:rPr lang="it-IT" sz="1900" b="0" i="1" smtClean="0">
                            <a:latin typeface="Cambria Math" panose="02040503050406030204" pitchFamily="18" charset="0"/>
                          </a:rPr>
                          <m:t>M</m:t>
                        </m:r>
                      </m:sup>
                    </m:sSubSup>
                  </m:oMath>
                </a14:m>
                <a:r>
                  <a:rPr lang="it-IT" sz="1900" dirty="0"/>
                  <a:t>; they form the </a:t>
                </a:r>
                <a:r>
                  <a:rPr lang="it-IT" sz="1900" b="1" dirty="0"/>
                  <a:t>threshold distribution</a:t>
                </a:r>
                <a:r>
                  <a:rPr lang="it-IT" sz="1900" dirty="0"/>
                  <a:t>. The result is: </a:t>
                </a:r>
                <a14:m>
                  <m:oMath xmlns:m="http://schemas.openxmlformats.org/officeDocument/2006/math">
                    <m:r>
                      <a:rPr lang="it-IT" sz="1900" b="0" i="1" smtClean="0">
                        <a:latin typeface="Cambria Math" panose="02040503050406030204" pitchFamily="18" charset="0"/>
                      </a:rPr>
                      <m:t>𝑡</m:t>
                    </m:r>
                    <m:r>
                      <a:rPr lang="it-IT" sz="1900" b="0" i="1" smtClean="0">
                        <a:latin typeface="Cambria Math" panose="02040503050406030204" pitchFamily="18" charset="0"/>
                      </a:rPr>
                      <m:t>h</m:t>
                    </m:r>
                    <m:r>
                      <a:rPr lang="it-IT" sz="1900" b="0" i="1" smtClean="0">
                        <a:latin typeface="Cambria Math" panose="02040503050406030204" pitchFamily="18" charset="0"/>
                      </a:rPr>
                      <m:t>𝑟</m:t>
                    </m:r>
                    <m:r>
                      <a:rPr lang="it-IT" sz="1900" b="0" i="1" smtClean="0">
                        <a:latin typeface="Cambria Math" panose="02040503050406030204" pitchFamily="18" charset="0"/>
                      </a:rPr>
                      <m:t>=</m:t>
                    </m:r>
                    <m:sSubSup>
                      <m:sSubSupPr>
                        <m:ctrlPr>
                          <a:rPr lang="it-IT" sz="2000" i="1">
                            <a:latin typeface="Cambria Math" panose="02040503050406030204" pitchFamily="18" charset="0"/>
                          </a:rPr>
                        </m:ctrlPr>
                      </m:sSubSupPr>
                      <m:e>
                        <m:r>
                          <a:rPr lang="it-IT" sz="2000" b="0" i="1" smtClean="0">
                            <a:latin typeface="Cambria Math" panose="02040503050406030204" pitchFamily="18" charset="0"/>
                          </a:rPr>
                          <m:t>4</m:t>
                        </m:r>
                        <m:r>
                          <a:rPr lang="it-IT" sz="2000" b="0" i="1" smtClean="0">
                            <a:latin typeface="Cambria Math" panose="02040503050406030204" pitchFamily="18" charset="0"/>
                          </a:rPr>
                          <m:t>.</m:t>
                        </m:r>
                        <m:r>
                          <a:rPr lang="it-IT" sz="2000" b="0" i="1" smtClean="0">
                            <a:latin typeface="Cambria Math" panose="02040503050406030204" pitchFamily="18" charset="0"/>
                          </a:rPr>
                          <m:t>87</m:t>
                        </m:r>
                      </m:e>
                      <m:sub>
                        <m:r>
                          <a:rPr lang="it-IT" sz="2000" i="1">
                            <a:latin typeface="Cambria Math" panose="02040503050406030204" pitchFamily="18" charset="0"/>
                          </a:rPr>
                          <m:t>−</m:t>
                        </m:r>
                        <m:r>
                          <a:rPr lang="it-IT" sz="2000" i="1">
                            <a:latin typeface="Cambria Math" panose="02040503050406030204" pitchFamily="18" charset="0"/>
                          </a:rPr>
                          <m:t>0</m:t>
                        </m:r>
                        <m:r>
                          <a:rPr lang="it-IT" sz="2000" i="1">
                            <a:latin typeface="Cambria Math" panose="02040503050406030204" pitchFamily="18" charset="0"/>
                          </a:rPr>
                          <m:t>.</m:t>
                        </m:r>
                        <m:r>
                          <a:rPr lang="it-IT" sz="2000" b="0" i="1" smtClean="0">
                            <a:latin typeface="Cambria Math" panose="02040503050406030204" pitchFamily="18" charset="0"/>
                          </a:rPr>
                          <m:t>66</m:t>
                        </m:r>
                      </m:sub>
                      <m:sup>
                        <m:r>
                          <a:rPr lang="it-IT" sz="2000" i="1">
                            <a:latin typeface="Cambria Math" panose="02040503050406030204" pitchFamily="18" charset="0"/>
                          </a:rPr>
                          <m:t>+</m:t>
                        </m:r>
                        <m:r>
                          <a:rPr lang="it-IT" sz="2000" i="1">
                            <a:latin typeface="Cambria Math" panose="02040503050406030204" pitchFamily="18" charset="0"/>
                          </a:rPr>
                          <m:t>0</m:t>
                        </m:r>
                        <m:r>
                          <a:rPr lang="it-IT" sz="2000" i="1">
                            <a:latin typeface="Cambria Math" panose="02040503050406030204" pitchFamily="18" charset="0"/>
                          </a:rPr>
                          <m:t>.</m:t>
                        </m:r>
                        <m:r>
                          <a:rPr lang="it-IT" sz="2000" b="0" i="1" smtClean="0">
                            <a:latin typeface="Cambria Math" panose="02040503050406030204" pitchFamily="18" charset="0"/>
                          </a:rPr>
                          <m:t>57</m:t>
                        </m:r>
                      </m:sup>
                    </m:sSubSup>
                  </m:oMath>
                </a14:m>
                <a:r>
                  <a:rPr lang="it-IT" sz="1900" dirty="0"/>
                  <a:t> [3.96, 6.07] s.</a:t>
                </a:r>
              </a:p>
              <a:p>
                <a:r>
                  <a:rPr lang="it-IT" sz="1900" dirty="0"/>
                  <a:t>To check whether the threshold distribution matches expectations: for each </a:t>
                </a:r>
                <a14:m>
                  <m:oMath xmlns:m="http://schemas.openxmlformats.org/officeDocument/2006/math">
                    <m:r>
                      <a:rPr lang="it-IT" sz="1900" i="1">
                        <a:latin typeface="Cambria Math" panose="02040503050406030204" pitchFamily="18" charset="0"/>
                      </a:rPr>
                      <m:t>𝑡</m:t>
                    </m:r>
                    <m:r>
                      <a:rPr lang="it-IT" sz="1900" i="1">
                        <a:latin typeface="Cambria Math" panose="02040503050406030204" pitchFamily="18" charset="0"/>
                      </a:rPr>
                      <m:t>h</m:t>
                    </m:r>
                    <m:sSub>
                      <m:sSubPr>
                        <m:ctrlPr>
                          <a:rPr lang="it-IT" sz="1900" i="1">
                            <a:latin typeface="Cambria Math" panose="02040503050406030204" pitchFamily="18" charset="0"/>
                          </a:rPr>
                        </m:ctrlPr>
                      </m:sSubPr>
                      <m:e>
                        <m:r>
                          <a:rPr lang="it-IT" sz="1900" i="1">
                            <a:latin typeface="Cambria Math" panose="02040503050406030204" pitchFamily="18" charset="0"/>
                          </a:rPr>
                          <m:t>𝑟</m:t>
                        </m:r>
                      </m:e>
                      <m:sub>
                        <m:r>
                          <m:rPr>
                            <m:sty m:val="p"/>
                          </m:rPr>
                          <a:rPr lang="it-IT" sz="1900" b="0" i="1" smtClean="0">
                            <a:latin typeface="Cambria Math" panose="02040503050406030204" pitchFamily="18" charset="0"/>
                          </a:rPr>
                          <m:t>k</m:t>
                        </m:r>
                      </m:sub>
                    </m:sSub>
                  </m:oMath>
                </a14:m>
                <a:r>
                  <a:rPr lang="it-IT" sz="1900" dirty="0"/>
                  <a:t> compute </a:t>
                </a:r>
                <a14:m>
                  <m:oMath xmlns:m="http://schemas.openxmlformats.org/officeDocument/2006/math">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r>
                          <a:rPr lang="it-IT" sz="1900" b="0" i="1" smtClean="0">
                            <a:latin typeface="Cambria Math" panose="02040503050406030204" pitchFamily="18" charset="0"/>
                          </a:rPr>
                          <m:t>𝑡</m:t>
                        </m:r>
                        <m:r>
                          <a:rPr lang="it-IT" sz="1900" b="0" i="1" smtClean="0">
                            <a:latin typeface="Cambria Math" panose="02040503050406030204" pitchFamily="18" charset="0"/>
                          </a:rPr>
                          <m:t>h</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𝑟</m:t>
                            </m:r>
                          </m:e>
                          <m:sub>
                            <m:r>
                              <a:rPr lang="it-IT" sz="1900" b="0" i="1" smtClean="0">
                                <a:latin typeface="Cambria Math" panose="02040503050406030204" pitchFamily="18" charset="0"/>
                              </a:rPr>
                              <m:t>𝑘</m:t>
                            </m:r>
                          </m:sub>
                        </m:sSub>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m:rPr>
                                <m:sty m:val="p"/>
                              </m:rPr>
                              <a:rPr lang="it-IT" sz="1900" i="1">
                                <a:latin typeface="Cambria Math" panose="02040503050406030204" pitchFamily="18" charset="0"/>
                              </a:rPr>
                              <m:t>j</m:t>
                            </m:r>
                          </m:sub>
                        </m:sSub>
                      </m:e>
                    </m:d>
                  </m:oMath>
                </a14:m>
                <a:r>
                  <a:rPr lang="it-IT" sz="1900" dirty="0"/>
                  <a:t> and extract the mean over the samples. Use the collection </a:t>
                </a:r>
                <a14:m>
                  <m:oMath xmlns:m="http://schemas.openxmlformats.org/officeDocument/2006/math">
                    <m:r>
                      <a:rPr lang="it-IT" sz="1900" b="0" i="0" smtClean="0">
                        <a:latin typeface="Cambria Math" panose="02040503050406030204" pitchFamily="18" charset="0"/>
                      </a:rPr>
                      <m:t>{</m:t>
                    </m:r>
                    <m:f>
                      <m:fPr>
                        <m:ctrlPr>
                          <a:rPr lang="it-IT" sz="1900" b="0" i="1" smtClean="0">
                            <a:latin typeface="Cambria Math" panose="02040503050406030204" pitchFamily="18" charset="0"/>
                          </a:rPr>
                        </m:ctrlPr>
                      </m:fPr>
                      <m:num>
                        <m:r>
                          <a:rPr lang="it-IT" sz="1900" b="0" i="1" smtClean="0">
                            <a:latin typeface="Cambria Math" panose="02040503050406030204" pitchFamily="18" charset="0"/>
                          </a:rPr>
                          <m:t>1</m:t>
                        </m:r>
                      </m:num>
                      <m:den>
                        <m:r>
                          <m:rPr>
                            <m:sty m:val="p"/>
                          </m:rPr>
                          <a:rPr lang="it-IT" sz="1900" b="0" i="1" smtClean="0">
                            <a:latin typeface="Cambria Math" panose="02040503050406030204" pitchFamily="18" charset="0"/>
                          </a:rPr>
                          <m:t>M</m:t>
                        </m:r>
                      </m:den>
                    </m:f>
                    <m:nary>
                      <m:naryPr>
                        <m:chr m:val="∑"/>
                        <m:supHide m:val="on"/>
                        <m:ctrlPr>
                          <a:rPr lang="it-IT" sz="1900" b="0" i="1" smtClean="0">
                            <a:latin typeface="Cambria Math" panose="02040503050406030204" pitchFamily="18" charset="0"/>
                          </a:rPr>
                        </m:ctrlPr>
                      </m:naryPr>
                      <m:sub>
                        <m:r>
                          <m:rPr>
                            <m:sty m:val="p"/>
                            <m:brk m:alnAt="7"/>
                          </m:rPr>
                          <a:rPr lang="it-IT" sz="1900" b="0" i="1" smtClean="0">
                            <a:latin typeface="Cambria Math" panose="02040503050406030204" pitchFamily="18" charset="0"/>
                          </a:rPr>
                          <m:t>j</m:t>
                        </m:r>
                      </m:sub>
                      <m:sup/>
                      <m:e>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𝑠</m:t>
                            </m:r>
                            <m:r>
                              <a:rPr lang="it-IT" sz="1900" i="1">
                                <a:latin typeface="Cambria Math" panose="02040503050406030204" pitchFamily="18" charset="0"/>
                              </a:rPr>
                              <m:t>h</m:t>
                            </m:r>
                            <m:r>
                              <a:rPr lang="it-IT" sz="1900" i="1">
                                <a:latin typeface="Cambria Math" panose="02040503050406030204" pitchFamily="18" charset="0"/>
                              </a:rPr>
                              <m:t>𝑜𝑟𝑡</m:t>
                            </m:r>
                          </m:e>
                          <m:e>
                            <m:r>
                              <a:rPr lang="it-IT" sz="1900" i="1">
                                <a:latin typeface="Cambria Math" panose="02040503050406030204" pitchFamily="18" charset="0"/>
                              </a:rPr>
                              <m:t>𝑡</m:t>
                            </m:r>
                            <m:r>
                              <a:rPr lang="it-IT" sz="1900" i="1">
                                <a:latin typeface="Cambria Math" panose="02040503050406030204" pitchFamily="18" charset="0"/>
                              </a:rPr>
                              <m:t>h</m:t>
                            </m:r>
                            <m:sSub>
                              <m:sSubPr>
                                <m:ctrlPr>
                                  <a:rPr lang="it-IT" sz="1900" i="1">
                                    <a:latin typeface="Cambria Math" panose="02040503050406030204" pitchFamily="18" charset="0"/>
                                  </a:rPr>
                                </m:ctrlPr>
                              </m:sSubPr>
                              <m:e>
                                <m:r>
                                  <a:rPr lang="it-IT" sz="1900" i="1">
                                    <a:latin typeface="Cambria Math" panose="02040503050406030204" pitchFamily="18" charset="0"/>
                                  </a:rPr>
                                  <m:t>𝑟</m:t>
                                </m:r>
                              </m:e>
                              <m:sub>
                                <m:r>
                                  <a:rPr lang="it-IT" sz="1900" i="1">
                                    <a:latin typeface="Cambria Math" panose="02040503050406030204" pitchFamily="18" charset="0"/>
                                  </a:rPr>
                                  <m:t>𝑘</m:t>
                                </m:r>
                              </m:sub>
                            </m:sSub>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m:rPr>
                                    <m:sty m:val="p"/>
                                  </m:rPr>
                                  <a:rPr lang="it-IT" sz="1900" i="1">
                                    <a:latin typeface="Cambria Math" panose="02040503050406030204" pitchFamily="18" charset="0"/>
                                  </a:rPr>
                                  <m:t>j</m:t>
                                </m:r>
                              </m:sub>
                            </m:sSub>
                          </m:e>
                        </m:d>
                      </m:e>
                    </m:nary>
                    <m:sSubSup>
                      <m:sSubSupPr>
                        <m:ctrlPr>
                          <a:rPr lang="it-IT" sz="1900" i="1">
                            <a:latin typeface="Cambria Math" panose="02040503050406030204" pitchFamily="18" charset="0"/>
                          </a:rPr>
                        </m:ctrlPr>
                      </m:sSubSupPr>
                      <m:e>
                        <m:r>
                          <a:rPr lang="it-IT" sz="1900" i="1">
                            <a:latin typeface="Cambria Math" panose="02040503050406030204" pitchFamily="18" charset="0"/>
                          </a:rPr>
                          <m:t>}</m:t>
                        </m:r>
                      </m:e>
                      <m:sub>
                        <m:r>
                          <m:rPr>
                            <m:sty m:val="p"/>
                          </m:rPr>
                          <a:rPr lang="it-IT" sz="1900" b="0" i="1" smtClean="0">
                            <a:latin typeface="Cambria Math" panose="02040503050406030204" pitchFamily="18" charset="0"/>
                          </a:rPr>
                          <m:t>k</m:t>
                        </m:r>
                        <m:r>
                          <a:rPr lang="it-IT" sz="1900" i="1">
                            <a:latin typeface="Cambria Math" panose="02040503050406030204" pitchFamily="18" charset="0"/>
                          </a:rPr>
                          <m:t>=</m:t>
                        </m:r>
                        <m:r>
                          <a:rPr lang="it-IT" sz="1900" i="1">
                            <a:latin typeface="Cambria Math" panose="02040503050406030204" pitchFamily="18" charset="0"/>
                          </a:rPr>
                          <m:t>1</m:t>
                        </m:r>
                      </m:sub>
                      <m:sup>
                        <m:r>
                          <m:rPr>
                            <m:sty m:val="p"/>
                          </m:rPr>
                          <a:rPr lang="it-IT" sz="1900" i="1">
                            <a:latin typeface="Cambria Math" panose="02040503050406030204" pitchFamily="18" charset="0"/>
                          </a:rPr>
                          <m:t>M</m:t>
                        </m:r>
                      </m:sup>
                    </m:sSubSup>
                  </m:oMath>
                </a14:m>
                <a:r>
                  <a:rPr lang="it-IT" sz="1900" dirty="0"/>
                  <a:t> as the </a:t>
                </a:r>
                <a:r>
                  <a:rPr lang="it-IT" sz="1900" b="1" dirty="0"/>
                  <a:t>distribution of means</a:t>
                </a:r>
                <a:r>
                  <a:rPr lang="it-IT" sz="1900" dirty="0"/>
                  <a:t>.</a:t>
                </a:r>
              </a:p>
            </p:txBody>
          </p:sp>
        </mc:Choice>
        <mc:Fallback xmlns="">
          <p:sp>
            <p:nvSpPr>
              <p:cNvPr id="3" name="Content Placeholder 2">
                <a:extLst>
                  <a:ext uri="{FF2B5EF4-FFF2-40B4-BE49-F238E27FC236}">
                    <a16:creationId xmlns:a16="http://schemas.microsoft.com/office/drawing/2014/main" id="{050517DA-7C38-ED22-40E1-50A003AB6AF0}"/>
                  </a:ext>
                </a:extLst>
              </p:cNvPr>
              <p:cNvSpPr>
                <a:spLocks noGrp="1" noRot="1" noChangeAspect="1" noMove="1" noResize="1" noEditPoints="1" noAdjustHandles="1" noChangeArrowheads="1" noChangeShapeType="1" noTextEdit="1"/>
              </p:cNvSpPr>
              <p:nvPr>
                <p:ph idx="1"/>
              </p:nvPr>
            </p:nvSpPr>
            <p:spPr>
              <a:xfrm>
                <a:off x="700636" y="1563077"/>
                <a:ext cx="7214928" cy="4548554"/>
              </a:xfrm>
              <a:blipFill>
                <a:blip r:embed="rId3"/>
                <a:stretch>
                  <a:fillRect l="-676" r="-1606" b="-4819"/>
                </a:stretch>
              </a:blipFill>
            </p:spPr>
            <p:txBody>
              <a:bodyPr/>
              <a:lstStyle/>
              <a:p>
                <a:r>
                  <a:rPr lang="it-IT">
                    <a:noFill/>
                  </a:rPr>
                  <a:t> </a:t>
                </a:r>
              </a:p>
            </p:txBody>
          </p:sp>
        </mc:Fallback>
      </mc:AlternateContent>
      <p:pic>
        <p:nvPicPr>
          <p:cNvPr id="7" name="Picture 6" descr="A diagram of a number of columns&#10;&#10;AI-generated content may be incorrect.">
            <a:extLst>
              <a:ext uri="{FF2B5EF4-FFF2-40B4-BE49-F238E27FC236}">
                <a16:creationId xmlns:a16="http://schemas.microsoft.com/office/drawing/2014/main" id="{4DE64A39-59ED-D271-1E03-6A92B87CB1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15563" y="831652"/>
            <a:ext cx="3476337" cy="2597348"/>
          </a:xfrm>
          <a:prstGeom prst="rect">
            <a:avLst/>
          </a:prstGeom>
        </p:spPr>
      </p:pic>
      <p:pic>
        <p:nvPicPr>
          <p:cNvPr id="9" name="Picture 8" descr="A graph of a number of objects&#10;&#10;AI-generated content may be incorrect.">
            <a:extLst>
              <a:ext uri="{FF2B5EF4-FFF2-40B4-BE49-F238E27FC236}">
                <a16:creationId xmlns:a16="http://schemas.microsoft.com/office/drawing/2014/main" id="{B12CAE8B-EC8A-FAEF-6A30-65B3E7E2D0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15563" y="3429000"/>
            <a:ext cx="3539969" cy="2597348"/>
          </a:xfrm>
          <a:prstGeom prst="rect">
            <a:avLst/>
          </a:prstGeom>
        </p:spPr>
      </p:pic>
    </p:spTree>
    <p:extLst>
      <p:ext uri="{BB962C8B-B14F-4D97-AF65-F5344CB8AC3E}">
        <p14:creationId xmlns:p14="http://schemas.microsoft.com/office/powerpoint/2010/main" val="3742701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D7FED-8B12-9B52-5BDB-33F5C49F0AAF}"/>
              </a:ext>
            </a:extLst>
          </p:cNvPr>
          <p:cNvSpPr>
            <a:spLocks noGrp="1"/>
          </p:cNvSpPr>
          <p:nvPr>
            <p:ph type="title"/>
          </p:nvPr>
        </p:nvSpPr>
        <p:spPr/>
        <p:txBody>
          <a:bodyPr/>
          <a:lstStyle/>
          <a:p>
            <a:r>
              <a:rPr lang="it-IT" dirty="0">
                <a:solidFill>
                  <a:srgbClr val="FF0000"/>
                </a:solidFill>
              </a:rPr>
              <a:t>Problem 4 – model selection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DDA586-A13B-41AE-D781-E3A4D5DE37FC}"/>
                  </a:ext>
                </a:extLst>
              </p:cNvPr>
              <p:cNvSpPr>
                <a:spLocks noGrp="1"/>
              </p:cNvSpPr>
              <p:nvPr>
                <p:ph idx="1"/>
              </p:nvPr>
            </p:nvSpPr>
            <p:spPr>
              <a:xfrm>
                <a:off x="700635" y="1563077"/>
                <a:ext cx="10691265" cy="4587631"/>
              </a:xfrm>
            </p:spPr>
            <p:txBody>
              <a:bodyPr>
                <a:normAutofit lnSpcReduction="10000"/>
              </a:bodyPr>
              <a:lstStyle/>
              <a:p>
                <a:r>
                  <a:rPr lang="it-IT" b="1" dirty="0"/>
                  <a:t>Problem 4: </a:t>
                </a:r>
                <a:r>
                  <a:rPr lang="en-US" sz="1900" dirty="0"/>
                  <a:t>Some authors propose a third class of GRBs, </a:t>
                </a:r>
                <a:r>
                  <a:rPr lang="en-US" sz="1900" i="1" dirty="0"/>
                  <a:t>intermediate. </a:t>
                </a:r>
                <a:r>
                  <a:rPr lang="en-US" sz="1900" dirty="0"/>
                  <a:t>Which of the two hypothesis 	          is favored according to the available data?</a:t>
                </a:r>
              </a:p>
              <a:p>
                <a:r>
                  <a:rPr lang="it-IT" sz="1900" b="1" dirty="0"/>
                  <a:t>H</a:t>
                </a:r>
                <a:r>
                  <a:rPr lang="it-IT" sz="1900" b="1" baseline="-25000" dirty="0"/>
                  <a:t>0</a:t>
                </a:r>
                <a:r>
                  <a:rPr lang="it-IT" sz="1900" b="1" dirty="0"/>
                  <a:t>:</a:t>
                </a:r>
                <a:r>
                  <a:rPr lang="it-IT" sz="1900" dirty="0"/>
                  <a:t> Mixture with </a:t>
                </a:r>
                <a:r>
                  <a:rPr lang="it-IT" sz="1900" b="1" dirty="0"/>
                  <a:t>two</a:t>
                </a:r>
                <a:r>
                  <a:rPr lang="it-IT" sz="1900" dirty="0"/>
                  <a:t> components</a:t>
                </a:r>
                <a14:m>
                  <m:oMath xmlns:m="http://schemas.openxmlformats.org/officeDocument/2006/math">
                    <m:r>
                      <a:rPr lang="it-IT" sz="1900" b="0" i="0" smtClean="0">
                        <a:latin typeface="Cambria Math" panose="02040503050406030204" pitchFamily="18" charset="0"/>
                      </a:rPr>
                      <m:t>  </m:t>
                    </m:r>
                    <m:r>
                      <a:rPr lang="it-IT" sz="1900" b="0" i="1" smtClean="0">
                        <a:latin typeface="Cambria Math" panose="02040503050406030204" pitchFamily="18" charset="0"/>
                      </a:rPr>
                      <m:t> ⟹ </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𝜽</m:t>
                        </m:r>
                      </m:e>
                      <m:sub>
                        <m:r>
                          <a:rPr lang="it-IT" sz="1900" b="0" i="1" smtClean="0">
                            <a:latin typeface="Cambria Math" panose="02040503050406030204" pitchFamily="18" charset="0"/>
                          </a:rPr>
                          <m:t>0</m:t>
                        </m:r>
                      </m:sub>
                    </m:sSub>
                    <m:r>
                      <a:rPr lang="it-IT" sz="1900" b="0" i="1" smtClean="0">
                        <a:latin typeface="Cambria Math" panose="02040503050406030204" pitchFamily="18" charset="0"/>
                      </a:rPr>
                      <m:t>=</m:t>
                    </m:r>
                    <m:d>
                      <m:dPr>
                        <m:ctrlPr>
                          <a:rPr lang="it-IT" sz="1900" b="0" i="1" smtClean="0">
                            <a:latin typeface="Cambria Math" panose="02040503050406030204" pitchFamily="18" charset="0"/>
                          </a:rPr>
                        </m:ctrlPr>
                      </m:dPr>
                      <m:e>
                        <m:r>
                          <a:rPr lang="it-IT" sz="1900" b="0" i="1" smtClean="0">
                            <a:latin typeface="Cambria Math" panose="02040503050406030204" pitchFamily="18" charset="0"/>
                          </a:rPr>
                          <m:t>𝑤</m:t>
                        </m:r>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𝜇</m:t>
                            </m:r>
                          </m:e>
                          <m:sub>
                            <m:r>
                              <a:rPr lang="it-IT" sz="1900" b="0" i="1" smtClean="0">
                                <a:latin typeface="Cambria Math" panose="02040503050406030204" pitchFamily="18" charset="0"/>
                              </a:rPr>
                              <m:t>1</m:t>
                            </m:r>
                          </m:sub>
                        </m:sSub>
                        <m:r>
                          <a:rPr lang="it-IT" sz="1900" b="0" i="1" smtClean="0">
                            <a:latin typeface="Cambria Math" panose="02040503050406030204" pitchFamily="18" charset="0"/>
                          </a:rPr>
                          <m:t>,</m:t>
                        </m:r>
                        <m:r>
                          <a:rPr lang="it-IT" sz="1900" b="0" i="1" smtClean="0">
                            <a:latin typeface="Cambria Math" panose="02040503050406030204" pitchFamily="18" charset="0"/>
                          </a:rPr>
                          <m:t>𝛿</m:t>
                        </m:r>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𝜎</m:t>
                            </m:r>
                          </m:e>
                          <m:sub>
                            <m:r>
                              <a:rPr lang="it-IT" sz="1900" b="0" i="1" smtClean="0">
                                <a:latin typeface="Cambria Math" panose="02040503050406030204" pitchFamily="18" charset="0"/>
                              </a:rPr>
                              <m:t>1</m:t>
                            </m:r>
                          </m:sub>
                        </m:sSub>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𝜎</m:t>
                            </m:r>
                          </m:e>
                          <m:sub>
                            <m:r>
                              <a:rPr lang="it-IT" sz="1900" b="0" i="1" smtClean="0">
                                <a:latin typeface="Cambria Math" panose="02040503050406030204" pitchFamily="18" charset="0"/>
                              </a:rPr>
                              <m:t>2</m:t>
                            </m:r>
                          </m:sub>
                        </m:sSub>
                      </m:e>
                    </m:d>
                  </m:oMath>
                </a14:m>
                <a:endParaRPr lang="it-IT" sz="1900" b="1" dirty="0"/>
              </a:p>
              <a:p>
                <a:r>
                  <a:rPr lang="it-IT" sz="1900" b="1" dirty="0"/>
                  <a:t>H</a:t>
                </a:r>
                <a:r>
                  <a:rPr lang="it-IT" sz="1900" b="1" baseline="-25000" dirty="0"/>
                  <a:t>1</a:t>
                </a:r>
                <a:r>
                  <a:rPr lang="it-IT" sz="1900" b="1" dirty="0"/>
                  <a:t>:</a:t>
                </a:r>
                <a:r>
                  <a:rPr lang="it-IT" sz="1900" dirty="0"/>
                  <a:t> Mixture with </a:t>
                </a:r>
                <a:r>
                  <a:rPr lang="it-IT" sz="1900" b="1" dirty="0"/>
                  <a:t>three</a:t>
                </a:r>
                <a:r>
                  <a:rPr lang="it-IT" sz="1900" dirty="0"/>
                  <a:t> components</a:t>
                </a:r>
                <a14:m>
                  <m:oMath xmlns:m="http://schemas.openxmlformats.org/officeDocument/2006/math">
                    <m:r>
                      <a:rPr lang="it-IT" sz="1900" i="1">
                        <a:latin typeface="Cambria Math" panose="02040503050406030204" pitchFamily="18" charset="0"/>
                      </a:rPr>
                      <m:t> ⟹ </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b="0" i="1" smtClean="0">
                            <a:latin typeface="Cambria Math" panose="02040503050406030204" pitchFamily="18" charset="0"/>
                          </a:rPr>
                          <m:t>1</m:t>
                        </m:r>
                      </m:sub>
                    </m:sSub>
                    <m:r>
                      <a:rPr lang="it-IT" sz="1900" i="1">
                        <a:latin typeface="Cambria Math" panose="02040503050406030204" pitchFamily="18" charset="0"/>
                      </a:rPr>
                      <m:t>=</m:t>
                    </m:r>
                    <m:d>
                      <m:dPr>
                        <m:ctrlPr>
                          <a:rPr lang="it-IT" sz="1900" b="0" i="1" smtClean="0">
                            <a:latin typeface="Cambria Math" panose="02040503050406030204" pitchFamily="18" charset="0"/>
                          </a:rPr>
                        </m:ctrlPr>
                      </m:dPr>
                      <m:e>
                        <m:sSub>
                          <m:sSubPr>
                            <m:ctrlPr>
                              <a:rPr lang="it-IT" sz="1900" b="0" i="1" smtClean="0">
                                <a:latin typeface="Cambria Math" panose="02040503050406030204" pitchFamily="18" charset="0"/>
                              </a:rPr>
                            </m:ctrlPr>
                          </m:sSubPr>
                          <m:e>
                            <m:r>
                              <m:rPr>
                                <m:sty m:val="p"/>
                              </m:rPr>
                              <a:rPr lang="it-IT" sz="1900" b="0" i="1" smtClean="0">
                                <a:latin typeface="Cambria Math" panose="02040503050406030204" pitchFamily="18" charset="0"/>
                              </a:rPr>
                              <m:t>v</m:t>
                            </m:r>
                          </m:e>
                          <m:sub>
                            <m:r>
                              <a:rPr lang="it-IT" sz="1900" b="0" i="1" smtClean="0">
                                <a:latin typeface="Cambria Math" panose="02040503050406030204" pitchFamily="18" charset="0"/>
                              </a:rPr>
                              <m:t>1</m:t>
                            </m:r>
                          </m:sub>
                        </m:sSub>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m:rPr>
                                <m:sty m:val="p"/>
                              </m:rPr>
                              <a:rPr lang="it-IT" sz="1900" b="0" i="1" smtClean="0">
                                <a:latin typeface="Cambria Math" panose="02040503050406030204" pitchFamily="18" charset="0"/>
                              </a:rPr>
                              <m:t>v</m:t>
                            </m:r>
                          </m:e>
                          <m:sub>
                            <m:r>
                              <a:rPr lang="it-IT" sz="1900" b="0" i="1" smtClean="0">
                                <a:latin typeface="Cambria Math" panose="02040503050406030204" pitchFamily="18" charset="0"/>
                              </a:rPr>
                              <m:t>2</m:t>
                            </m:r>
                          </m:sub>
                        </m:sSub>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𝜇</m:t>
                            </m:r>
                          </m:e>
                          <m:sub>
                            <m:r>
                              <a:rPr lang="it-IT" sz="1900" b="0" i="1" smtClean="0">
                                <a:latin typeface="Cambria Math" panose="02040503050406030204" pitchFamily="18" charset="0"/>
                              </a:rPr>
                              <m:t>1</m:t>
                            </m:r>
                          </m:sub>
                        </m:sSub>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𝛿</m:t>
                            </m:r>
                          </m:e>
                          <m:sub>
                            <m:r>
                              <a:rPr lang="it-IT" sz="1900" b="0" i="1" smtClean="0">
                                <a:latin typeface="Cambria Math" panose="02040503050406030204" pitchFamily="18" charset="0"/>
                              </a:rPr>
                              <m:t>12</m:t>
                            </m:r>
                          </m:sub>
                        </m:sSub>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𝛿</m:t>
                            </m:r>
                          </m:e>
                          <m:sub>
                            <m:r>
                              <a:rPr lang="it-IT" sz="1900" b="0" i="1" smtClean="0">
                                <a:latin typeface="Cambria Math" panose="02040503050406030204" pitchFamily="18" charset="0"/>
                              </a:rPr>
                              <m:t>23</m:t>
                            </m:r>
                          </m:sub>
                        </m:sSub>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𝜎</m:t>
                            </m:r>
                          </m:e>
                          <m:sub>
                            <m:r>
                              <a:rPr lang="it-IT" sz="1900" b="0" i="1" smtClean="0">
                                <a:latin typeface="Cambria Math" panose="02040503050406030204" pitchFamily="18" charset="0"/>
                              </a:rPr>
                              <m:t>1</m:t>
                            </m:r>
                          </m:sub>
                        </m:sSub>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𝜎</m:t>
                            </m:r>
                          </m:e>
                          <m:sub>
                            <m:r>
                              <a:rPr lang="it-IT" sz="1900" b="0" i="1" smtClean="0">
                                <a:latin typeface="Cambria Math" panose="02040503050406030204" pitchFamily="18" charset="0"/>
                              </a:rPr>
                              <m:t>2</m:t>
                            </m:r>
                          </m:sub>
                        </m:sSub>
                        <m: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𝜎</m:t>
                            </m:r>
                          </m:e>
                          <m:sub>
                            <m:r>
                              <a:rPr lang="it-IT" sz="1900" b="0" i="1" smtClean="0">
                                <a:latin typeface="Cambria Math" panose="02040503050406030204" pitchFamily="18" charset="0"/>
                              </a:rPr>
                              <m:t>3</m:t>
                            </m:r>
                          </m:sub>
                        </m:sSub>
                      </m:e>
                    </m:d>
                  </m:oMath>
                </a14:m>
                <a:endParaRPr lang="it-IT" sz="1900" b="1" dirty="0"/>
              </a:p>
              <a:p>
                <a14:m>
                  <m:oMath xmlns:m="http://schemas.openxmlformats.org/officeDocument/2006/math">
                    <m:f>
                      <m:fPr>
                        <m:ctrlPr>
                          <a:rPr lang="it-IT" sz="1900" i="1" smtClean="0">
                            <a:latin typeface="Cambria Math" panose="02040503050406030204" pitchFamily="18" charset="0"/>
                          </a:rPr>
                        </m:ctrlPr>
                      </m:fPr>
                      <m:num>
                        <m:r>
                          <a:rPr lang="it-IT" sz="1900" i="0" smtClean="0">
                            <a:latin typeface="Cambria Math" panose="02040503050406030204" pitchFamily="18" charset="0"/>
                          </a:rPr>
                          <m:t>𝑝</m:t>
                        </m:r>
                        <m:d>
                          <m:dPr>
                            <m:ctrlPr>
                              <a:rPr lang="it-IT" sz="1900" i="1" smtClean="0">
                                <a:latin typeface="Cambria Math" panose="02040503050406030204" pitchFamily="18" charset="0"/>
                              </a:rPr>
                            </m:ctrlPr>
                          </m:dPr>
                          <m:e>
                            <m:sSub>
                              <m:sSubPr>
                                <m:ctrlPr>
                                  <a:rPr lang="it-IT" sz="1900" i="1" smtClean="0">
                                    <a:latin typeface="Cambria Math" panose="02040503050406030204" pitchFamily="18" charset="0"/>
                                  </a:rPr>
                                </m:ctrlPr>
                              </m:sSubPr>
                              <m:e>
                                <m:r>
                                  <a:rPr lang="it-IT" sz="1900" i="0" smtClean="0">
                                    <a:latin typeface="Cambria Math" panose="02040503050406030204" pitchFamily="18" charset="0"/>
                                  </a:rPr>
                                  <m:t>𝐻</m:t>
                                </m:r>
                              </m:e>
                              <m:sub>
                                <m:r>
                                  <a:rPr lang="it-IT" sz="1900" i="0" smtClean="0">
                                    <a:latin typeface="Cambria Math" panose="02040503050406030204" pitchFamily="18" charset="0"/>
                                  </a:rPr>
                                  <m:t>1</m:t>
                                </m:r>
                              </m:sub>
                            </m:sSub>
                          </m:e>
                          <m:e>
                            <m:r>
                              <a:rPr lang="it-IT" sz="1900" i="0" smtClean="0">
                                <a:latin typeface="Cambria Math" panose="02040503050406030204" pitchFamily="18" charset="0"/>
                              </a:rPr>
                              <m:t>𝑫</m:t>
                            </m:r>
                          </m:e>
                        </m:d>
                      </m:num>
                      <m:den>
                        <m:r>
                          <a:rPr lang="it-IT" sz="1900" i="0" smtClean="0">
                            <a:latin typeface="Cambria Math" panose="02040503050406030204" pitchFamily="18" charset="0"/>
                          </a:rPr>
                          <m:t>𝑝</m:t>
                        </m:r>
                        <m:d>
                          <m:dPr>
                            <m:ctrlPr>
                              <a:rPr lang="it-IT" sz="1900" i="1" smtClean="0">
                                <a:latin typeface="Cambria Math" panose="02040503050406030204" pitchFamily="18" charset="0"/>
                              </a:rPr>
                            </m:ctrlPr>
                          </m:dPr>
                          <m:e>
                            <m:sSub>
                              <m:sSubPr>
                                <m:ctrlPr>
                                  <a:rPr lang="it-IT" sz="1900" i="1" smtClean="0">
                                    <a:latin typeface="Cambria Math" panose="02040503050406030204" pitchFamily="18" charset="0"/>
                                  </a:rPr>
                                </m:ctrlPr>
                              </m:sSubPr>
                              <m:e>
                                <m:r>
                                  <a:rPr lang="it-IT" sz="1900" i="0" smtClean="0">
                                    <a:latin typeface="Cambria Math" panose="02040503050406030204" pitchFamily="18" charset="0"/>
                                  </a:rPr>
                                  <m:t>𝐻</m:t>
                                </m:r>
                              </m:e>
                              <m:sub>
                                <m:r>
                                  <a:rPr lang="it-IT" sz="1900" i="0" smtClean="0">
                                    <a:latin typeface="Cambria Math" panose="02040503050406030204" pitchFamily="18" charset="0"/>
                                  </a:rPr>
                                  <m:t>0</m:t>
                                </m:r>
                              </m:sub>
                            </m:sSub>
                          </m:e>
                          <m:e>
                            <m:r>
                              <a:rPr lang="it-IT" sz="1900" i="0" smtClean="0">
                                <a:latin typeface="Cambria Math" panose="02040503050406030204" pitchFamily="18" charset="0"/>
                              </a:rPr>
                              <m:t>𝑫</m:t>
                            </m:r>
                          </m:e>
                        </m:d>
                      </m:den>
                    </m:f>
                    <m:r>
                      <a:rPr lang="it-IT" sz="1900" i="0" smtClean="0">
                        <a:latin typeface="Cambria Math" panose="02040503050406030204" pitchFamily="18" charset="0"/>
                      </a:rPr>
                      <m:t>=</m:t>
                    </m:r>
                    <m:f>
                      <m:fPr>
                        <m:ctrlPr>
                          <a:rPr lang="it-IT" sz="1900" i="1" smtClean="0">
                            <a:latin typeface="Cambria Math" panose="02040503050406030204" pitchFamily="18" charset="0"/>
                          </a:rPr>
                        </m:ctrlPr>
                      </m:fPr>
                      <m:num>
                        <m:r>
                          <a:rPr lang="it-IT" sz="1900" i="0" smtClean="0">
                            <a:latin typeface="Cambria Math" panose="02040503050406030204" pitchFamily="18" charset="0"/>
                          </a:rPr>
                          <m:t>𝑝</m:t>
                        </m:r>
                        <m:d>
                          <m:dPr>
                            <m:ctrlPr>
                              <a:rPr lang="it-IT" sz="1900" i="1" smtClean="0">
                                <a:latin typeface="Cambria Math" panose="02040503050406030204" pitchFamily="18" charset="0"/>
                              </a:rPr>
                            </m:ctrlPr>
                          </m:dPr>
                          <m:e>
                            <m:r>
                              <a:rPr lang="it-IT" sz="1900" i="0" smtClean="0">
                                <a:latin typeface="Cambria Math" panose="02040503050406030204" pitchFamily="18" charset="0"/>
                              </a:rPr>
                              <m:t>𝑫</m:t>
                            </m:r>
                          </m:e>
                          <m:e>
                            <m:sSub>
                              <m:sSubPr>
                                <m:ctrlPr>
                                  <a:rPr lang="it-IT" sz="1900" i="1" smtClean="0">
                                    <a:latin typeface="Cambria Math" panose="02040503050406030204" pitchFamily="18" charset="0"/>
                                  </a:rPr>
                                </m:ctrlPr>
                              </m:sSubPr>
                              <m:e>
                                <m:r>
                                  <a:rPr lang="it-IT" sz="1900" i="0" smtClean="0">
                                    <a:latin typeface="Cambria Math" panose="02040503050406030204" pitchFamily="18" charset="0"/>
                                  </a:rPr>
                                  <m:t>𝐻</m:t>
                                </m:r>
                              </m:e>
                              <m:sub>
                                <m:r>
                                  <a:rPr lang="it-IT" sz="1900" i="0" smtClean="0">
                                    <a:latin typeface="Cambria Math" panose="02040503050406030204" pitchFamily="18" charset="0"/>
                                  </a:rPr>
                                  <m:t>1</m:t>
                                </m:r>
                              </m:sub>
                            </m:sSub>
                          </m:e>
                        </m:d>
                        <m:r>
                          <a:rPr lang="it-IT" sz="1900" i="0" smtClean="0">
                            <a:latin typeface="Cambria Math" panose="02040503050406030204" pitchFamily="18" charset="0"/>
                          </a:rPr>
                          <m:t>𝑝</m:t>
                        </m:r>
                        <m:d>
                          <m:dPr>
                            <m:ctrlPr>
                              <a:rPr lang="it-IT" sz="1900" i="1" smtClean="0">
                                <a:latin typeface="Cambria Math" panose="02040503050406030204" pitchFamily="18" charset="0"/>
                              </a:rPr>
                            </m:ctrlPr>
                          </m:dPr>
                          <m:e>
                            <m:sSub>
                              <m:sSubPr>
                                <m:ctrlPr>
                                  <a:rPr lang="it-IT" sz="1900" i="1" smtClean="0">
                                    <a:latin typeface="Cambria Math" panose="02040503050406030204" pitchFamily="18" charset="0"/>
                                  </a:rPr>
                                </m:ctrlPr>
                              </m:sSubPr>
                              <m:e>
                                <m:r>
                                  <a:rPr lang="it-IT" sz="1900" i="0" smtClean="0">
                                    <a:latin typeface="Cambria Math" panose="02040503050406030204" pitchFamily="18" charset="0"/>
                                  </a:rPr>
                                  <m:t>𝐻</m:t>
                                </m:r>
                              </m:e>
                              <m:sub>
                                <m:r>
                                  <a:rPr lang="it-IT" sz="1900" i="0" smtClean="0">
                                    <a:latin typeface="Cambria Math" panose="02040503050406030204" pitchFamily="18" charset="0"/>
                                  </a:rPr>
                                  <m:t>1</m:t>
                                </m:r>
                              </m:sub>
                            </m:sSub>
                          </m:e>
                        </m:d>
                      </m:num>
                      <m:den>
                        <m:r>
                          <a:rPr lang="it-IT" sz="1900" i="0" smtClean="0">
                            <a:latin typeface="Cambria Math" panose="02040503050406030204" pitchFamily="18" charset="0"/>
                          </a:rPr>
                          <m:t>𝑝</m:t>
                        </m:r>
                        <m:d>
                          <m:dPr>
                            <m:ctrlPr>
                              <a:rPr lang="it-IT" sz="1900" i="1" smtClean="0">
                                <a:latin typeface="Cambria Math" panose="02040503050406030204" pitchFamily="18" charset="0"/>
                              </a:rPr>
                            </m:ctrlPr>
                          </m:dPr>
                          <m:e>
                            <m:r>
                              <a:rPr lang="it-IT" sz="1900" i="0" smtClean="0">
                                <a:latin typeface="Cambria Math" panose="02040503050406030204" pitchFamily="18" charset="0"/>
                              </a:rPr>
                              <m:t>𝑫</m:t>
                            </m:r>
                          </m:e>
                          <m:e>
                            <m:sSub>
                              <m:sSubPr>
                                <m:ctrlPr>
                                  <a:rPr lang="it-IT" sz="1900" i="1" smtClean="0">
                                    <a:latin typeface="Cambria Math" panose="02040503050406030204" pitchFamily="18" charset="0"/>
                                  </a:rPr>
                                </m:ctrlPr>
                              </m:sSubPr>
                              <m:e>
                                <m:r>
                                  <a:rPr lang="it-IT" sz="1900" i="0" smtClean="0">
                                    <a:latin typeface="Cambria Math" panose="02040503050406030204" pitchFamily="18" charset="0"/>
                                  </a:rPr>
                                  <m:t>𝐻</m:t>
                                </m:r>
                              </m:e>
                              <m:sub>
                                <m:r>
                                  <a:rPr lang="it-IT" sz="1900" i="0" smtClean="0">
                                    <a:latin typeface="Cambria Math" panose="02040503050406030204" pitchFamily="18" charset="0"/>
                                  </a:rPr>
                                  <m:t>0</m:t>
                                </m:r>
                              </m:sub>
                            </m:sSub>
                          </m:e>
                        </m:d>
                        <m:r>
                          <a:rPr lang="it-IT" sz="1900" i="0" smtClean="0">
                            <a:latin typeface="Cambria Math" panose="02040503050406030204" pitchFamily="18" charset="0"/>
                          </a:rPr>
                          <m:t>𝑝</m:t>
                        </m:r>
                        <m:d>
                          <m:dPr>
                            <m:ctrlPr>
                              <a:rPr lang="it-IT" sz="1900" i="1" smtClean="0">
                                <a:latin typeface="Cambria Math" panose="02040503050406030204" pitchFamily="18" charset="0"/>
                              </a:rPr>
                            </m:ctrlPr>
                          </m:dPr>
                          <m:e>
                            <m:sSub>
                              <m:sSubPr>
                                <m:ctrlPr>
                                  <a:rPr lang="it-IT" sz="1900" i="1" smtClean="0">
                                    <a:latin typeface="Cambria Math" panose="02040503050406030204" pitchFamily="18" charset="0"/>
                                  </a:rPr>
                                </m:ctrlPr>
                              </m:sSubPr>
                              <m:e>
                                <m:r>
                                  <a:rPr lang="it-IT" sz="1900" i="0" smtClean="0">
                                    <a:latin typeface="Cambria Math" panose="02040503050406030204" pitchFamily="18" charset="0"/>
                                  </a:rPr>
                                  <m:t>𝐻</m:t>
                                </m:r>
                              </m:e>
                              <m:sub>
                                <m:r>
                                  <a:rPr lang="it-IT" sz="1900" i="0" smtClean="0">
                                    <a:latin typeface="Cambria Math" panose="02040503050406030204" pitchFamily="18" charset="0"/>
                                  </a:rPr>
                                  <m:t>0</m:t>
                                </m:r>
                              </m:sub>
                            </m:sSub>
                          </m:e>
                        </m:d>
                      </m:den>
                    </m:f>
                    <m:r>
                      <a:rPr lang="it-IT" sz="1900" b="0" i="1" smtClean="0">
                        <a:latin typeface="Cambria Math" panose="02040503050406030204" pitchFamily="18" charset="0"/>
                      </a:rPr>
                      <m:t> </m:t>
                    </m:r>
                    <m:r>
                      <a:rPr lang="it-IT" sz="1900" b="1" i="1" smtClean="0">
                        <a:latin typeface="Cambria Math" panose="02040503050406030204" pitchFamily="18" charset="0"/>
                      </a:rPr>
                      <m:t>𝑶𝒅𝒅𝒔</m:t>
                    </m:r>
                    <m:r>
                      <a:rPr lang="it-IT" sz="1900" b="1" i="1" smtClean="0">
                        <a:latin typeface="Cambria Math" panose="02040503050406030204" pitchFamily="18" charset="0"/>
                      </a:rPr>
                      <m:t> </m:t>
                    </m:r>
                    <m:r>
                      <a:rPr lang="it-IT" sz="1900" b="1" i="1" smtClean="0">
                        <a:latin typeface="Cambria Math" panose="02040503050406030204" pitchFamily="18" charset="0"/>
                      </a:rPr>
                      <m:t>𝒓𝒂𝒕𝒊𝒐</m:t>
                    </m:r>
                  </m:oMath>
                </a14:m>
                <a:endParaRPr lang="it-IT" sz="1900" b="1" dirty="0"/>
              </a:p>
              <a:p>
                <a:r>
                  <a:rPr lang="it-IT" sz="1900" dirty="0"/>
                  <a:t>Assuming equal prior probability for the models: </a:t>
                </a:r>
                <a14:m>
                  <m:oMath xmlns:m="http://schemas.openxmlformats.org/officeDocument/2006/math">
                    <m:r>
                      <a:rPr lang="it-IT" sz="1900" b="0" i="1" smtClean="0">
                        <a:latin typeface="Cambria Math" panose="02040503050406030204" pitchFamily="18" charset="0"/>
                      </a:rPr>
                      <m:t>𝑝</m:t>
                    </m:r>
                    <m:d>
                      <m:dPr>
                        <m:ctrlPr>
                          <a:rPr lang="it-IT" sz="1900" b="0" i="1" smtClean="0">
                            <a:latin typeface="Cambria Math" panose="02040503050406030204" pitchFamily="18" charset="0"/>
                          </a:rPr>
                        </m:ctrlPr>
                      </m:dPr>
                      <m:e>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𝐻</m:t>
                            </m:r>
                          </m:e>
                          <m:sub>
                            <m:r>
                              <a:rPr lang="it-IT" sz="1900" b="0" i="1" smtClean="0">
                                <a:latin typeface="Cambria Math" panose="02040503050406030204" pitchFamily="18" charset="0"/>
                              </a:rPr>
                              <m:t>1</m:t>
                            </m:r>
                          </m:sub>
                        </m:sSub>
                      </m:e>
                    </m:d>
                    <m:r>
                      <a:rPr lang="it-IT" sz="1900" b="0" i="1" smtClean="0">
                        <a:latin typeface="Cambria Math" panose="02040503050406030204" pitchFamily="18" charset="0"/>
                      </a:rPr>
                      <m:t>=</m:t>
                    </m:r>
                    <m:r>
                      <a:rPr lang="it-IT" sz="1900" b="0" i="1" smtClean="0">
                        <a:latin typeface="Cambria Math" panose="02040503050406030204" pitchFamily="18" charset="0"/>
                      </a:rPr>
                      <m:t>𝑝</m:t>
                    </m:r>
                    <m:d>
                      <m:dPr>
                        <m:ctrlPr>
                          <a:rPr lang="it-IT" sz="1900" b="0" i="1" smtClean="0">
                            <a:latin typeface="Cambria Math" panose="02040503050406030204" pitchFamily="18" charset="0"/>
                          </a:rPr>
                        </m:ctrlPr>
                      </m:dPr>
                      <m:e>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𝐻</m:t>
                            </m:r>
                          </m:e>
                          <m:sub>
                            <m:r>
                              <a:rPr lang="it-IT" sz="1900" b="0" i="1" smtClean="0">
                                <a:latin typeface="Cambria Math" panose="02040503050406030204" pitchFamily="18" charset="0"/>
                              </a:rPr>
                              <m:t>0</m:t>
                            </m:r>
                          </m:sub>
                        </m:sSub>
                      </m:e>
                    </m:d>
                  </m:oMath>
                </a14:m>
                <a:endParaRPr lang="it-IT" sz="1900" dirty="0"/>
              </a:p>
              <a:p>
                <a:pPr marL="0" indent="0">
                  <a:buNone/>
                </a:pPr>
                <a14:m>
                  <m:oMathPara xmlns:m="http://schemas.openxmlformats.org/officeDocument/2006/math">
                    <m:oMathParaPr>
                      <m:jc m:val="centerGroup"/>
                    </m:oMathParaPr>
                    <m:oMath xmlns:m="http://schemas.openxmlformats.org/officeDocument/2006/math">
                      <m:r>
                        <a:rPr lang="it-IT" sz="1900" b="0" i="1" smtClean="0">
                          <a:latin typeface="Cambria Math" panose="02040503050406030204" pitchFamily="18" charset="0"/>
                        </a:rPr>
                        <m:t>⟹ </m:t>
                      </m:r>
                      <m:f>
                        <m:fPr>
                          <m:ctrlPr>
                            <a:rPr lang="it-IT" sz="1900" i="1" smtClean="0">
                              <a:latin typeface="Cambria Math" panose="02040503050406030204" pitchFamily="18" charset="0"/>
                            </a:rPr>
                          </m:ctrlPr>
                        </m:fPr>
                        <m:num>
                          <m:r>
                            <a:rPr lang="it-IT" sz="1900" i="1">
                              <a:latin typeface="Cambria Math" panose="02040503050406030204" pitchFamily="18" charset="0"/>
                            </a:rPr>
                            <m:t>𝑝</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1</m:t>
                                  </m:r>
                                </m:sub>
                              </m:sSub>
                            </m:e>
                            <m:e>
                              <m:r>
                                <a:rPr lang="it-IT" sz="1900" i="1">
                                  <a:latin typeface="Cambria Math" panose="02040503050406030204" pitchFamily="18" charset="0"/>
                                </a:rPr>
                                <m:t>𝑫</m:t>
                              </m:r>
                            </m:e>
                          </m:d>
                        </m:num>
                        <m:den>
                          <m:r>
                            <a:rPr lang="it-IT" sz="1900" i="1">
                              <a:latin typeface="Cambria Math" panose="02040503050406030204" pitchFamily="18" charset="0"/>
                            </a:rPr>
                            <m:t>𝑝</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0</m:t>
                                  </m:r>
                                </m:sub>
                              </m:sSub>
                            </m:e>
                            <m:e>
                              <m:r>
                                <a:rPr lang="it-IT" sz="1900" i="1">
                                  <a:latin typeface="Cambria Math" panose="02040503050406030204" pitchFamily="18" charset="0"/>
                                </a:rPr>
                                <m:t>𝑫</m:t>
                              </m:r>
                            </m:e>
                          </m:d>
                        </m:den>
                      </m:f>
                      <m:r>
                        <a:rPr lang="it-IT" sz="1900" i="1">
                          <a:latin typeface="Cambria Math" panose="02040503050406030204" pitchFamily="18" charset="0"/>
                        </a:rPr>
                        <m:t>=</m:t>
                      </m:r>
                      <m:f>
                        <m:fPr>
                          <m:ctrlPr>
                            <a:rPr lang="it-IT" sz="1900" i="1">
                              <a:latin typeface="Cambria Math" panose="02040503050406030204" pitchFamily="18" charset="0"/>
                            </a:rPr>
                          </m:ctrlPr>
                        </m:fPr>
                        <m:num>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𝑫</m:t>
                              </m:r>
                            </m:e>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1</m:t>
                                  </m:r>
                                </m:sub>
                              </m:sSub>
                            </m:e>
                          </m:d>
                        </m:num>
                        <m:den>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𝑫</m:t>
                              </m:r>
                            </m:e>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0</m:t>
                                  </m:r>
                                </m:sub>
                              </m:sSub>
                            </m:e>
                          </m:d>
                        </m:den>
                      </m:f>
                      <m:r>
                        <a:rPr lang="it-IT" sz="1900" i="1">
                          <a:latin typeface="Cambria Math" panose="02040503050406030204" pitchFamily="18" charset="0"/>
                        </a:rPr>
                        <m:t>=</m:t>
                      </m:r>
                      <m:f>
                        <m:fPr>
                          <m:ctrlPr>
                            <a:rPr lang="it-IT" sz="1900" i="1">
                              <a:latin typeface="Cambria Math" panose="02040503050406030204" pitchFamily="18" charset="0"/>
                            </a:rPr>
                          </m:ctrlPr>
                        </m:fPr>
                        <m:num>
                          <m:nary>
                            <m:naryPr>
                              <m:subHide m:val="on"/>
                              <m:supHide m:val="on"/>
                              <m:ctrlPr>
                                <a:rPr lang="it-IT" sz="1900" i="1">
                                  <a:latin typeface="Cambria Math" panose="02040503050406030204" pitchFamily="18" charset="0"/>
                                </a:rPr>
                              </m:ctrlPr>
                            </m:naryPr>
                            <m:sub/>
                            <m:sup/>
                            <m:e>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𝑫</m:t>
                                  </m:r>
                                </m:e>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1</m:t>
                                      </m:r>
                                    </m:sub>
                                  </m:sSub>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i="1">
                                          <a:latin typeface="Cambria Math" panose="02040503050406030204" pitchFamily="18" charset="0"/>
                                        </a:rPr>
                                        <m:t>𝟏</m:t>
                                      </m:r>
                                    </m:sub>
                                  </m:sSub>
                                </m:e>
                              </m:d>
                              <m:r>
                                <a:rPr lang="it-IT" sz="1900" i="1">
                                  <a:latin typeface="Cambria Math" panose="02040503050406030204" pitchFamily="18" charset="0"/>
                                </a:rPr>
                                <m:t>𝑝</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i="1">
                                          <a:latin typeface="Cambria Math" panose="02040503050406030204" pitchFamily="18" charset="0"/>
                                        </a:rPr>
                                        <m:t>𝟏</m:t>
                                      </m:r>
                                    </m:sub>
                                  </m:sSub>
                                </m:e>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1</m:t>
                                      </m:r>
                                    </m:sub>
                                  </m:sSub>
                                </m:e>
                              </m:d>
                              <m:r>
                                <a:rPr lang="it-IT" sz="1900" i="1">
                                  <a:latin typeface="Cambria Math" panose="02040503050406030204" pitchFamily="18" charset="0"/>
                                </a:rPr>
                                <m:t>𝑑</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i="1">
                                      <a:latin typeface="Cambria Math" panose="02040503050406030204" pitchFamily="18" charset="0"/>
                                    </a:rPr>
                                    <m:t>𝟏</m:t>
                                  </m:r>
                                </m:sub>
                              </m:sSub>
                            </m:e>
                          </m:nary>
                        </m:num>
                        <m:den>
                          <m:nary>
                            <m:naryPr>
                              <m:subHide m:val="on"/>
                              <m:supHide m:val="on"/>
                              <m:ctrlPr>
                                <a:rPr lang="it-IT" sz="1900" i="1">
                                  <a:latin typeface="Cambria Math" panose="02040503050406030204" pitchFamily="18" charset="0"/>
                                </a:rPr>
                              </m:ctrlPr>
                            </m:naryPr>
                            <m:sub/>
                            <m:sup/>
                            <m:e>
                              <m:r>
                                <a:rPr lang="it-IT" sz="1900" i="1">
                                  <a:latin typeface="Cambria Math" panose="02040503050406030204" pitchFamily="18" charset="0"/>
                                </a:rPr>
                                <m:t>𝑝</m:t>
                              </m:r>
                              <m:d>
                                <m:dPr>
                                  <m:ctrlPr>
                                    <a:rPr lang="it-IT" sz="1900" i="1">
                                      <a:latin typeface="Cambria Math" panose="02040503050406030204" pitchFamily="18" charset="0"/>
                                    </a:rPr>
                                  </m:ctrlPr>
                                </m:dPr>
                                <m:e>
                                  <m:r>
                                    <a:rPr lang="it-IT" sz="1900" i="1">
                                      <a:latin typeface="Cambria Math" panose="02040503050406030204" pitchFamily="18" charset="0"/>
                                    </a:rPr>
                                    <m:t>𝑫</m:t>
                                  </m:r>
                                </m:e>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0</m:t>
                                      </m:r>
                                    </m:sub>
                                  </m:sSub>
                                  <m:r>
                                    <a:rPr lang="it-IT" sz="1900" i="1">
                                      <a:latin typeface="Cambria Math" panose="02040503050406030204" pitchFamily="18" charset="0"/>
                                    </a:rPr>
                                    <m:t>,</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i="1">
                                          <a:latin typeface="Cambria Math" panose="02040503050406030204" pitchFamily="18" charset="0"/>
                                        </a:rPr>
                                        <m:t>𝟎</m:t>
                                      </m:r>
                                    </m:sub>
                                  </m:sSub>
                                </m:e>
                              </m:d>
                              <m:r>
                                <a:rPr lang="it-IT" sz="1900" i="1">
                                  <a:latin typeface="Cambria Math" panose="02040503050406030204" pitchFamily="18" charset="0"/>
                                </a:rPr>
                                <m:t>𝑝</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i="1">
                                          <a:latin typeface="Cambria Math" panose="02040503050406030204" pitchFamily="18" charset="0"/>
                                        </a:rPr>
                                        <m:t>𝟎</m:t>
                                      </m:r>
                                    </m:sub>
                                  </m:sSub>
                                </m:e>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0</m:t>
                                      </m:r>
                                    </m:sub>
                                  </m:sSub>
                                </m:e>
                              </m:d>
                              <m:r>
                                <a:rPr lang="it-IT" sz="1900" i="1">
                                  <a:latin typeface="Cambria Math" panose="02040503050406030204" pitchFamily="18" charset="0"/>
                                </a:rPr>
                                <m:t>𝑑</m:t>
                              </m:r>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i="1">
                                      <a:latin typeface="Cambria Math" panose="02040503050406030204" pitchFamily="18" charset="0"/>
                                    </a:rPr>
                                    <m:t>𝟎</m:t>
                                  </m:r>
                                </m:sub>
                              </m:sSub>
                            </m:e>
                          </m:nary>
                        </m:den>
                      </m:f>
                      <m:r>
                        <a:rPr lang="it-IT" sz="1900" i="1">
                          <a:latin typeface="Cambria Math" panose="02040503050406030204" pitchFamily="18" charset="0"/>
                        </a:rPr>
                        <m:t>=</m:t>
                      </m:r>
                      <m:f>
                        <m:fPr>
                          <m:ctrlPr>
                            <a:rPr lang="it-IT" sz="1900" i="1">
                              <a:latin typeface="Cambria Math" panose="02040503050406030204" pitchFamily="18" charset="0"/>
                            </a:rPr>
                          </m:ctrlPr>
                        </m:fPr>
                        <m:num>
                          <m:sSub>
                            <m:sSubPr>
                              <m:ctrlPr>
                                <a:rPr lang="it-IT" sz="1900" i="1">
                                  <a:latin typeface="Cambria Math" panose="02040503050406030204" pitchFamily="18" charset="0"/>
                                </a:rPr>
                              </m:ctrlPr>
                            </m:sSubPr>
                            <m:e>
                              <m:r>
                                <a:rPr lang="it-IT" sz="1900" i="1">
                                  <a:latin typeface="Cambria Math" panose="02040503050406030204" pitchFamily="18" charset="0"/>
                                </a:rPr>
                                <m:t>𝑍</m:t>
                              </m:r>
                            </m:e>
                            <m:sub>
                              <m:r>
                                <a:rPr lang="it-IT" sz="1900" i="1">
                                  <a:latin typeface="Cambria Math" panose="02040503050406030204" pitchFamily="18" charset="0"/>
                                </a:rPr>
                                <m:t>1</m:t>
                              </m:r>
                            </m:sub>
                          </m:sSub>
                        </m:num>
                        <m:den>
                          <m:sSub>
                            <m:sSubPr>
                              <m:ctrlPr>
                                <a:rPr lang="it-IT" sz="1900" i="1">
                                  <a:latin typeface="Cambria Math" panose="02040503050406030204" pitchFamily="18" charset="0"/>
                                </a:rPr>
                              </m:ctrlPr>
                            </m:sSubPr>
                            <m:e>
                              <m:r>
                                <a:rPr lang="it-IT" sz="1900" i="1">
                                  <a:latin typeface="Cambria Math" panose="02040503050406030204" pitchFamily="18" charset="0"/>
                                </a:rPr>
                                <m:t>𝑍</m:t>
                              </m:r>
                            </m:e>
                            <m:sub>
                              <m:r>
                                <a:rPr lang="it-IT" sz="1900" i="1">
                                  <a:latin typeface="Cambria Math" panose="02040503050406030204" pitchFamily="18" charset="0"/>
                                </a:rPr>
                                <m:t>0</m:t>
                              </m:r>
                            </m:sub>
                          </m:sSub>
                        </m:den>
                      </m:f>
                      <m:r>
                        <a:rPr lang="it-IT" sz="1900" b="0" i="1" smtClean="0">
                          <a:latin typeface="Cambria Math" panose="02040503050406030204" pitchFamily="18" charset="0"/>
                        </a:rPr>
                        <m:t> </m:t>
                      </m:r>
                      <m:r>
                        <a:rPr lang="it-IT" sz="1900" b="1" i="1" smtClean="0">
                          <a:latin typeface="Cambria Math" panose="02040503050406030204" pitchFamily="18" charset="0"/>
                        </a:rPr>
                        <m:t>𝑩𝒂𝒚𝒆𝒔</m:t>
                      </m:r>
                      <m:r>
                        <a:rPr lang="it-IT" sz="1900" b="1" i="1" smtClean="0">
                          <a:latin typeface="Cambria Math" panose="02040503050406030204" pitchFamily="18" charset="0"/>
                        </a:rPr>
                        <m:t> </m:t>
                      </m:r>
                      <m:r>
                        <a:rPr lang="it-IT" sz="1900" b="1" i="1" smtClean="0">
                          <a:latin typeface="Cambria Math" panose="02040503050406030204" pitchFamily="18" charset="0"/>
                        </a:rPr>
                        <m:t>𝑭𝒂𝒄𝒕𝒐𝒓</m:t>
                      </m:r>
                    </m:oMath>
                  </m:oMathPara>
                </a14:m>
                <a:endParaRPr lang="it-IT" sz="1900" b="1" dirty="0"/>
              </a:p>
              <a:p>
                <a:r>
                  <a:rPr lang="it-IT" sz="1900" b="1" dirty="0"/>
                  <a:t>Occam’s razor: </a:t>
                </a:r>
                <a:r>
                  <a:rPr lang="it-IT" sz="1900" dirty="0"/>
                  <a:t>even</a:t>
                </a:r>
                <a:r>
                  <a:rPr lang="it-IT" sz="1900" b="1" dirty="0"/>
                  <a:t> </a:t>
                </a:r>
                <a:r>
                  <a:rPr lang="it-IT" sz="1900" dirty="0"/>
                  <a:t>if </a:t>
                </a:r>
                <a14:m>
                  <m:oMath xmlns:m="http://schemas.openxmlformats.org/officeDocument/2006/math">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1</m:t>
                        </m:r>
                      </m:sub>
                    </m:sSub>
                  </m:oMath>
                </a14:m>
                <a:r>
                  <a:rPr lang="it-IT" sz="1900" dirty="0"/>
                  <a:t> </a:t>
                </a:r>
                <a:r>
                  <a:rPr lang="en-US" sz="1900" dirty="0"/>
                  <a:t>has higher likelihood (a more complex model can fit the data better), its prior can reduce the model evidence</a:t>
                </a:r>
                <a:r>
                  <a:rPr lang="it-IT" sz="1900" dirty="0"/>
                  <a:t> </a:t>
                </a:r>
                <a14:m>
                  <m:oMath xmlns:m="http://schemas.openxmlformats.org/officeDocument/2006/math">
                    <m:sSub>
                      <m:sSubPr>
                        <m:ctrlPr>
                          <a:rPr lang="it-IT" sz="1900" i="1">
                            <a:latin typeface="Cambria Math" panose="02040503050406030204" pitchFamily="18" charset="0"/>
                          </a:rPr>
                        </m:ctrlPr>
                      </m:sSubPr>
                      <m:e>
                        <m:r>
                          <a:rPr lang="it-IT" sz="1900" i="1">
                            <a:latin typeface="Cambria Math" panose="02040503050406030204" pitchFamily="18" charset="0"/>
                          </a:rPr>
                          <m:t>𝑍</m:t>
                        </m:r>
                      </m:e>
                      <m:sub>
                        <m:r>
                          <a:rPr lang="it-IT" sz="1900" i="1">
                            <a:latin typeface="Cambria Math" panose="02040503050406030204" pitchFamily="18" charset="0"/>
                          </a:rPr>
                          <m:t>1</m:t>
                        </m:r>
                      </m:sub>
                    </m:sSub>
                  </m:oMath>
                </a14:m>
                <a:r>
                  <a:rPr lang="it-IT" sz="1900" dirty="0"/>
                  <a:t>, because </a:t>
                </a:r>
                <a14:m>
                  <m:oMath xmlns:m="http://schemas.openxmlformats.org/officeDocument/2006/math">
                    <m:r>
                      <a:rPr lang="it-IT" sz="1900" i="1" smtClean="0">
                        <a:latin typeface="Cambria Math" panose="02040503050406030204" pitchFamily="18" charset="0"/>
                      </a:rPr>
                      <m:t>𝑝</m:t>
                    </m:r>
                    <m:d>
                      <m:dPr>
                        <m:ctrlPr>
                          <a:rPr lang="it-IT" sz="1900" i="1">
                            <a:latin typeface="Cambria Math" panose="02040503050406030204" pitchFamily="18" charset="0"/>
                          </a:rPr>
                        </m:ctrlPr>
                      </m:dPr>
                      <m:e>
                        <m:sSub>
                          <m:sSubPr>
                            <m:ctrlPr>
                              <a:rPr lang="it-IT" sz="1900" i="1">
                                <a:latin typeface="Cambria Math" panose="02040503050406030204" pitchFamily="18" charset="0"/>
                              </a:rPr>
                            </m:ctrlPr>
                          </m:sSubPr>
                          <m:e>
                            <m:r>
                              <a:rPr lang="it-IT" sz="1900" i="1">
                                <a:latin typeface="Cambria Math" panose="02040503050406030204" pitchFamily="18" charset="0"/>
                              </a:rPr>
                              <m:t>𝜽</m:t>
                            </m:r>
                          </m:e>
                          <m:sub>
                            <m:r>
                              <a:rPr lang="it-IT" sz="1900" i="1">
                                <a:latin typeface="Cambria Math" panose="02040503050406030204" pitchFamily="18" charset="0"/>
                              </a:rPr>
                              <m:t>𝟏</m:t>
                            </m:r>
                          </m:sub>
                        </m:sSub>
                      </m:e>
                      <m:e>
                        <m:sSub>
                          <m:sSubPr>
                            <m:ctrlPr>
                              <a:rPr lang="it-IT" sz="1900" i="1">
                                <a:latin typeface="Cambria Math" panose="02040503050406030204" pitchFamily="18" charset="0"/>
                              </a:rPr>
                            </m:ctrlPr>
                          </m:sSubPr>
                          <m:e>
                            <m:r>
                              <a:rPr lang="it-IT" sz="1900" i="1">
                                <a:latin typeface="Cambria Math" panose="02040503050406030204" pitchFamily="18" charset="0"/>
                              </a:rPr>
                              <m:t>𝐻</m:t>
                            </m:r>
                          </m:e>
                          <m:sub>
                            <m:r>
                              <a:rPr lang="it-IT" sz="1900" i="1">
                                <a:latin typeface="Cambria Math" panose="02040503050406030204" pitchFamily="18" charset="0"/>
                              </a:rPr>
                              <m:t>1</m:t>
                            </m:r>
                          </m:sub>
                        </m:sSub>
                      </m:e>
                    </m:d>
                    <m:r>
                      <a:rPr lang="it-IT" sz="1900" b="0" i="1" smtClean="0">
                        <a:latin typeface="Cambria Math" panose="02040503050406030204" pitchFamily="18" charset="0"/>
                      </a:rPr>
                      <m:t>∝</m:t>
                    </m:r>
                    <m:r>
                      <a:rPr lang="it-IT" sz="1900" b="0" i="1" smtClean="0">
                        <a:latin typeface="Cambria Math" panose="02040503050406030204" pitchFamily="18" charset="0"/>
                      </a:rPr>
                      <m:t>1</m:t>
                    </m:r>
                    <m:r>
                      <m:rPr>
                        <m:lit/>
                      </m:rPr>
                      <a:rPr lang="it-IT" sz="1900" b="0" i="1" smtClean="0">
                        <a:latin typeface="Cambria Math" panose="02040503050406030204" pitchFamily="18" charset="0"/>
                      </a:rPr>
                      <m:t>/</m:t>
                    </m:r>
                    <m:sSub>
                      <m:sSubPr>
                        <m:ctrlPr>
                          <a:rPr lang="it-IT" sz="1900" b="0" i="1" smtClean="0">
                            <a:latin typeface="Cambria Math" panose="02040503050406030204" pitchFamily="18" charset="0"/>
                          </a:rPr>
                        </m:ctrlPr>
                      </m:sSubPr>
                      <m:e>
                        <m:r>
                          <a:rPr lang="it-IT" sz="1900" b="0" i="1" smtClean="0">
                            <a:latin typeface="Cambria Math" panose="02040503050406030204" pitchFamily="18" charset="0"/>
                          </a:rPr>
                          <m:t>𝑉</m:t>
                        </m:r>
                      </m:e>
                      <m:sub>
                        <m:r>
                          <a:rPr lang="it-IT" sz="1900" b="0" i="1" smtClean="0">
                            <a:latin typeface="Cambria Math" panose="02040503050406030204" pitchFamily="18" charset="0"/>
                          </a:rPr>
                          <m:t>1</m:t>
                        </m:r>
                      </m:sub>
                    </m:sSub>
                  </m:oMath>
                </a14:m>
                <a:r>
                  <a:rPr lang="it-IT" sz="1900" dirty="0"/>
                  <a:t> and </a:t>
                </a:r>
                <a14:m>
                  <m:oMath xmlns:m="http://schemas.openxmlformats.org/officeDocument/2006/math">
                    <m:sSub>
                      <m:sSubPr>
                        <m:ctrlPr>
                          <a:rPr lang="it-IT" sz="1900" i="1" smtClean="0">
                            <a:latin typeface="Cambria Math" panose="02040503050406030204" pitchFamily="18" charset="0"/>
                          </a:rPr>
                        </m:ctrlPr>
                      </m:sSubPr>
                      <m:e>
                        <m:r>
                          <a:rPr lang="it-IT" sz="1900" i="1">
                            <a:latin typeface="Cambria Math" panose="02040503050406030204" pitchFamily="18" charset="0"/>
                          </a:rPr>
                          <m:t>𝑉</m:t>
                        </m:r>
                      </m:e>
                      <m:sub>
                        <m:r>
                          <a:rPr lang="it-IT" sz="1900" i="1">
                            <a:latin typeface="Cambria Math" panose="02040503050406030204" pitchFamily="18" charset="0"/>
                          </a:rPr>
                          <m:t>1</m:t>
                        </m:r>
                      </m:sub>
                    </m:sSub>
                    <m:r>
                      <a:rPr lang="it-IT" sz="1900" i="1">
                        <a:latin typeface="Cambria Math" panose="02040503050406030204" pitchFamily="18" charset="0"/>
                        <a:ea typeface="Cambria Math" panose="02040503050406030204" pitchFamily="18" charset="0"/>
                      </a:rPr>
                      <m:t>≫</m:t>
                    </m:r>
                    <m:sSub>
                      <m:sSubPr>
                        <m:ctrlPr>
                          <a:rPr lang="it-IT" sz="1900" b="0" i="1" smtClean="0">
                            <a:latin typeface="Cambria Math" panose="02040503050406030204" pitchFamily="18" charset="0"/>
                            <a:ea typeface="Cambria Math" panose="02040503050406030204" pitchFamily="18" charset="0"/>
                          </a:rPr>
                        </m:ctrlPr>
                      </m:sSubPr>
                      <m:e>
                        <m:r>
                          <a:rPr lang="it-IT" sz="1900" b="0" i="1" smtClean="0">
                            <a:latin typeface="Cambria Math" panose="02040503050406030204" pitchFamily="18" charset="0"/>
                            <a:ea typeface="Cambria Math" panose="02040503050406030204" pitchFamily="18" charset="0"/>
                          </a:rPr>
                          <m:t>𝑉</m:t>
                        </m:r>
                      </m:e>
                      <m:sub>
                        <m:r>
                          <a:rPr lang="it-IT" sz="1900" b="0" i="1" smtClean="0">
                            <a:latin typeface="Cambria Math" panose="02040503050406030204" pitchFamily="18" charset="0"/>
                            <a:ea typeface="Cambria Math" panose="02040503050406030204" pitchFamily="18" charset="0"/>
                          </a:rPr>
                          <m:t>0</m:t>
                        </m:r>
                      </m:sub>
                    </m:sSub>
                  </m:oMath>
                </a14:m>
                <a:r>
                  <a:rPr lang="it-IT" sz="1900" dirty="0"/>
                  <a:t>, where </a:t>
                </a:r>
                <a14:m>
                  <m:oMath xmlns:m="http://schemas.openxmlformats.org/officeDocument/2006/math">
                    <m:sSub>
                      <m:sSubPr>
                        <m:ctrlPr>
                          <a:rPr lang="it-IT" sz="1900" i="1" smtClean="0">
                            <a:latin typeface="Cambria Math" panose="02040503050406030204" pitchFamily="18" charset="0"/>
                            <a:ea typeface="Cambria Math" panose="02040503050406030204" pitchFamily="18" charset="0"/>
                          </a:rPr>
                        </m:ctrlPr>
                      </m:sSubPr>
                      <m:e>
                        <m:r>
                          <a:rPr lang="it-IT" sz="1900" i="1">
                            <a:latin typeface="Cambria Math" panose="02040503050406030204" pitchFamily="18" charset="0"/>
                            <a:ea typeface="Cambria Math" panose="02040503050406030204" pitchFamily="18" charset="0"/>
                          </a:rPr>
                          <m:t>𝑉</m:t>
                        </m:r>
                      </m:e>
                      <m:sub>
                        <m:r>
                          <m:rPr>
                            <m:sty m:val="p"/>
                          </m:rPr>
                          <a:rPr lang="it-IT" sz="1900" b="0" i="1" smtClean="0">
                            <a:latin typeface="Cambria Math" panose="02040503050406030204" pitchFamily="18" charset="0"/>
                            <a:ea typeface="Cambria Math" panose="02040503050406030204" pitchFamily="18" charset="0"/>
                          </a:rPr>
                          <m:t>i</m:t>
                        </m:r>
                      </m:sub>
                    </m:sSub>
                  </m:oMath>
                </a14:m>
                <a:r>
                  <a:rPr lang="it-IT" sz="1900" dirty="0"/>
                  <a:t> is the parameter space volume.</a:t>
                </a:r>
              </a:p>
              <a:p>
                <a:endParaRPr lang="it-IT" sz="1900" dirty="0"/>
              </a:p>
            </p:txBody>
          </p:sp>
        </mc:Choice>
        <mc:Fallback>
          <p:sp>
            <p:nvSpPr>
              <p:cNvPr id="3" name="Content Placeholder 2">
                <a:extLst>
                  <a:ext uri="{FF2B5EF4-FFF2-40B4-BE49-F238E27FC236}">
                    <a16:creationId xmlns:a16="http://schemas.microsoft.com/office/drawing/2014/main" id="{67DDA586-A13B-41AE-D781-E3A4D5DE37FC}"/>
                  </a:ext>
                </a:extLst>
              </p:cNvPr>
              <p:cNvSpPr>
                <a:spLocks noGrp="1" noRot="1" noChangeAspect="1" noMove="1" noResize="1" noEditPoints="1" noAdjustHandles="1" noChangeArrowheads="1" noChangeShapeType="1" noTextEdit="1"/>
              </p:cNvSpPr>
              <p:nvPr>
                <p:ph idx="1"/>
              </p:nvPr>
            </p:nvSpPr>
            <p:spPr>
              <a:xfrm>
                <a:off x="700635" y="1563077"/>
                <a:ext cx="10691265" cy="4587631"/>
              </a:xfrm>
              <a:blipFill>
                <a:blip r:embed="rId3"/>
                <a:stretch>
                  <a:fillRect l="-513" t="-664"/>
                </a:stretch>
              </a:blipFill>
            </p:spPr>
            <p:txBody>
              <a:bodyPr/>
              <a:lstStyle/>
              <a:p>
                <a:r>
                  <a:rPr lang="it-IT">
                    <a:noFill/>
                  </a:rPr>
                  <a:t> </a:t>
                </a:r>
              </a:p>
            </p:txBody>
          </p:sp>
        </mc:Fallback>
      </mc:AlternateContent>
    </p:spTree>
    <p:extLst>
      <p:ext uri="{BB962C8B-B14F-4D97-AF65-F5344CB8AC3E}">
        <p14:creationId xmlns:p14="http://schemas.microsoft.com/office/powerpoint/2010/main" val="3467389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D150-463C-2822-29E4-18E39CDCED14}"/>
              </a:ext>
            </a:extLst>
          </p:cNvPr>
          <p:cNvSpPr>
            <a:spLocks noGrp="1"/>
          </p:cNvSpPr>
          <p:nvPr>
            <p:ph type="title"/>
          </p:nvPr>
        </p:nvSpPr>
        <p:spPr/>
        <p:txBody>
          <a:bodyPr/>
          <a:lstStyle/>
          <a:p>
            <a:r>
              <a:rPr lang="it-IT" dirty="0">
                <a:solidFill>
                  <a:srgbClr val="FF0000"/>
                </a:solidFill>
              </a:rPr>
              <a:t>Nested sampling (1/2)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E1888F-B333-97E0-8981-BB36ED9B72A9}"/>
                  </a:ext>
                </a:extLst>
              </p:cNvPr>
              <p:cNvSpPr>
                <a:spLocks noGrp="1"/>
              </p:cNvSpPr>
              <p:nvPr>
                <p:ph idx="1"/>
              </p:nvPr>
            </p:nvSpPr>
            <p:spPr>
              <a:xfrm>
                <a:off x="700636" y="1563077"/>
                <a:ext cx="6706514" cy="4572000"/>
              </a:xfrm>
            </p:spPr>
            <p:txBody>
              <a:bodyPr>
                <a:normAutofit/>
              </a:bodyPr>
              <a:lstStyle/>
              <a:p>
                <a14:m>
                  <m:oMath xmlns:m="http://schemas.openxmlformats.org/officeDocument/2006/math">
                    <m:r>
                      <a:rPr lang="it-IT" sz="1800" i="1" smtClean="0">
                        <a:latin typeface="Cambria Math" panose="02040503050406030204" pitchFamily="18" charset="0"/>
                      </a:rPr>
                      <m:t>𝑍</m:t>
                    </m:r>
                    <m:r>
                      <a:rPr lang="it-IT" sz="1800" i="1" smtClean="0">
                        <a:latin typeface="Cambria Math" panose="02040503050406030204" pitchFamily="18" charset="0"/>
                      </a:rPr>
                      <m:t>=</m:t>
                    </m:r>
                    <m:nary>
                      <m:naryPr>
                        <m:subHide m:val="on"/>
                        <m:supHide m:val="on"/>
                        <m:ctrlPr>
                          <a:rPr lang="it-IT" sz="1800" i="1">
                            <a:latin typeface="Cambria Math" panose="02040503050406030204" pitchFamily="18" charset="0"/>
                          </a:rPr>
                        </m:ctrlPr>
                      </m:naryPr>
                      <m:sub/>
                      <m:sup/>
                      <m:e>
                        <m:r>
                          <a:rPr lang="it-IT" sz="1800" i="1">
                            <a:latin typeface="Cambria Math" panose="02040503050406030204" pitchFamily="18" charset="0"/>
                          </a:rPr>
                          <m:t>𝐿</m:t>
                        </m:r>
                        <m:d>
                          <m:dPr>
                            <m:ctrlPr>
                              <a:rPr lang="it-IT" sz="1800" i="1">
                                <a:latin typeface="Cambria Math" panose="02040503050406030204" pitchFamily="18" charset="0"/>
                              </a:rPr>
                            </m:ctrlPr>
                          </m:dPr>
                          <m:e>
                            <m:r>
                              <a:rPr lang="it-IT" sz="1800" i="1">
                                <a:latin typeface="Cambria Math" panose="02040503050406030204" pitchFamily="18" charset="0"/>
                              </a:rPr>
                              <m:t>𝜃</m:t>
                            </m:r>
                          </m:e>
                        </m:d>
                        <m:r>
                          <a:rPr lang="it-IT" sz="1800" i="1">
                            <a:latin typeface="Cambria Math" panose="02040503050406030204" pitchFamily="18" charset="0"/>
                          </a:rPr>
                          <m:t>𝜋</m:t>
                        </m:r>
                        <m:d>
                          <m:dPr>
                            <m:ctrlPr>
                              <a:rPr lang="it-IT" sz="1800" i="1">
                                <a:latin typeface="Cambria Math" panose="02040503050406030204" pitchFamily="18" charset="0"/>
                              </a:rPr>
                            </m:ctrlPr>
                          </m:dPr>
                          <m:e>
                            <m:r>
                              <a:rPr lang="it-IT" sz="1800" i="1">
                                <a:latin typeface="Cambria Math" panose="02040503050406030204" pitchFamily="18" charset="0"/>
                              </a:rPr>
                              <m:t>𝜃</m:t>
                            </m:r>
                          </m:e>
                        </m:d>
                        <m:r>
                          <a:rPr lang="it-IT" sz="1800" i="1">
                            <a:latin typeface="Cambria Math" panose="02040503050406030204" pitchFamily="18" charset="0"/>
                          </a:rPr>
                          <m:t>𝑑</m:t>
                        </m:r>
                        <m:r>
                          <a:rPr lang="it-IT" sz="1800" i="1">
                            <a:latin typeface="Cambria Math" panose="02040503050406030204" pitchFamily="18" charset="0"/>
                          </a:rPr>
                          <m:t>𝜃</m:t>
                        </m:r>
                      </m:e>
                    </m:nary>
                    <m:r>
                      <a:rPr lang="it-IT" sz="1800" i="1">
                        <a:latin typeface="Cambria Math" panose="02040503050406030204" pitchFamily="18" charset="0"/>
                      </a:rPr>
                      <m:t>=</m:t>
                    </m:r>
                    <m:nary>
                      <m:naryPr>
                        <m:ctrlPr>
                          <a:rPr lang="it-IT" sz="1800" i="1" smtClean="0">
                            <a:latin typeface="Cambria Math" panose="02040503050406030204" pitchFamily="18" charset="0"/>
                          </a:rPr>
                        </m:ctrlPr>
                      </m:naryPr>
                      <m:sub>
                        <m:r>
                          <a:rPr lang="it-IT" sz="1800" i="1">
                            <a:latin typeface="Cambria Math" panose="02040503050406030204" pitchFamily="18" charset="0"/>
                          </a:rPr>
                          <m:t>0</m:t>
                        </m:r>
                      </m:sub>
                      <m:sup>
                        <m:r>
                          <a:rPr lang="it-IT" sz="1800" i="1">
                            <a:latin typeface="Cambria Math" panose="02040503050406030204" pitchFamily="18" charset="0"/>
                          </a:rPr>
                          <m:t>1</m:t>
                        </m:r>
                      </m:sup>
                      <m:e>
                        <m:r>
                          <a:rPr lang="it-IT" sz="1800" i="1">
                            <a:latin typeface="Cambria Math" panose="02040503050406030204" pitchFamily="18" charset="0"/>
                          </a:rPr>
                          <m:t>𝐿</m:t>
                        </m:r>
                        <m:d>
                          <m:dPr>
                            <m:ctrlPr>
                              <a:rPr lang="it-IT" sz="1800" i="1">
                                <a:latin typeface="Cambria Math" panose="02040503050406030204" pitchFamily="18" charset="0"/>
                              </a:rPr>
                            </m:ctrlPr>
                          </m:dPr>
                          <m:e>
                            <m:r>
                              <a:rPr lang="it-IT" sz="1800" i="1">
                                <a:latin typeface="Cambria Math" panose="02040503050406030204" pitchFamily="18" charset="0"/>
                              </a:rPr>
                              <m:t>𝜉</m:t>
                            </m:r>
                          </m:e>
                        </m:d>
                        <m:r>
                          <a:rPr lang="it-IT" sz="1800" i="1">
                            <a:latin typeface="Cambria Math" panose="02040503050406030204" pitchFamily="18" charset="0"/>
                          </a:rPr>
                          <m:t>𝑑</m:t>
                        </m:r>
                        <m:r>
                          <a:rPr lang="it-IT" sz="1800" i="1">
                            <a:latin typeface="Cambria Math" panose="02040503050406030204" pitchFamily="18" charset="0"/>
                          </a:rPr>
                          <m:t>𝜉</m:t>
                        </m:r>
                      </m:e>
                    </m:nary>
                    <m:r>
                      <a:rPr lang="it-IT" sz="1800" b="0" i="1" smtClean="0">
                        <a:latin typeface="Cambria Math" panose="02040503050406030204" pitchFamily="18" charset="0"/>
                      </a:rPr>
                      <m:t> </m:t>
                    </m:r>
                    <m:r>
                      <m:rPr>
                        <m:nor/>
                      </m:rPr>
                      <a:rPr lang="it-IT" sz="1800" i="0">
                        <a:latin typeface="Cambria Math" panose="02040503050406030204" pitchFamily="18" charset="0"/>
                      </a:rPr>
                      <m:t>where</m:t>
                    </m:r>
                    <m:r>
                      <a:rPr lang="it-IT" sz="1800" i="1">
                        <a:latin typeface="Cambria Math" panose="02040503050406030204" pitchFamily="18" charset="0"/>
                      </a:rPr>
                      <m:t> </m:t>
                    </m:r>
                    <m:r>
                      <a:rPr lang="it-IT" sz="1800" i="1">
                        <a:latin typeface="Cambria Math" panose="02040503050406030204" pitchFamily="18" charset="0"/>
                      </a:rPr>
                      <m:t>𝑑</m:t>
                    </m:r>
                    <m:r>
                      <a:rPr lang="it-IT" sz="1800" i="1">
                        <a:latin typeface="Cambria Math" panose="02040503050406030204" pitchFamily="18" charset="0"/>
                      </a:rPr>
                      <m:t>𝜉</m:t>
                    </m:r>
                    <m:r>
                      <a:rPr lang="it-IT" sz="1800" i="1">
                        <a:latin typeface="Cambria Math" panose="02040503050406030204" pitchFamily="18" charset="0"/>
                      </a:rPr>
                      <m:t>=</m:t>
                    </m:r>
                    <m:r>
                      <a:rPr lang="it-IT" sz="1800" i="1">
                        <a:latin typeface="Cambria Math" panose="02040503050406030204" pitchFamily="18" charset="0"/>
                      </a:rPr>
                      <m:t>𝜋</m:t>
                    </m:r>
                    <m:d>
                      <m:dPr>
                        <m:ctrlPr>
                          <a:rPr lang="it-IT" sz="1800" i="1">
                            <a:latin typeface="Cambria Math" panose="02040503050406030204" pitchFamily="18" charset="0"/>
                          </a:rPr>
                        </m:ctrlPr>
                      </m:dPr>
                      <m:e>
                        <m:r>
                          <a:rPr lang="it-IT" sz="1800" i="1">
                            <a:latin typeface="Cambria Math" panose="02040503050406030204" pitchFamily="18" charset="0"/>
                          </a:rPr>
                          <m:t>𝜃</m:t>
                        </m:r>
                      </m:e>
                    </m:d>
                    <m:r>
                      <a:rPr lang="it-IT" sz="1800" i="1">
                        <a:latin typeface="Cambria Math" panose="02040503050406030204" pitchFamily="18" charset="0"/>
                      </a:rPr>
                      <m:t>𝑑</m:t>
                    </m:r>
                    <m:r>
                      <a:rPr lang="it-IT" sz="1800" i="1">
                        <a:latin typeface="Cambria Math" panose="02040503050406030204" pitchFamily="18" charset="0"/>
                      </a:rPr>
                      <m:t>𝜃</m:t>
                    </m:r>
                  </m:oMath>
                </a14:m>
                <a:endParaRPr lang="it-IT" sz="1800" dirty="0"/>
              </a:p>
              <a:p>
                <a14:m>
                  <m:oMath xmlns:m="http://schemas.openxmlformats.org/officeDocument/2006/math">
                    <m:r>
                      <a:rPr lang="it-IT" sz="1800" i="1">
                        <a:latin typeface="Cambria Math" panose="02040503050406030204" pitchFamily="18" charset="0"/>
                      </a:rPr>
                      <m:t>𝐿</m:t>
                    </m:r>
                    <m:d>
                      <m:dPr>
                        <m:ctrlPr>
                          <a:rPr lang="it-IT" sz="1800" i="1">
                            <a:latin typeface="Cambria Math" panose="02040503050406030204" pitchFamily="18" charset="0"/>
                          </a:rPr>
                        </m:ctrlPr>
                      </m:dPr>
                      <m:e>
                        <m:r>
                          <a:rPr lang="it-IT" sz="1800" i="1">
                            <a:latin typeface="Cambria Math" panose="02040503050406030204" pitchFamily="18" charset="0"/>
                          </a:rPr>
                          <m:t>𝜉</m:t>
                        </m:r>
                      </m:e>
                    </m:d>
                  </m:oMath>
                </a14:m>
                <a:r>
                  <a:rPr lang="it-IT" sz="1800" dirty="0"/>
                  <a:t> is </a:t>
                </a:r>
                <a:r>
                  <a:rPr lang="it-IT" sz="1800" b="1" dirty="0"/>
                  <a:t>one-dimensional</a:t>
                </a:r>
                <a:r>
                  <a:rPr lang="it-IT" sz="1800" dirty="0"/>
                  <a:t> and </a:t>
                </a:r>
                <a:r>
                  <a:rPr lang="it-IT" sz="1800" b="1" dirty="0"/>
                  <a:t>monotonically decreasing</a:t>
                </a:r>
                <a:r>
                  <a:rPr lang="it-IT" sz="1800" dirty="0"/>
                  <a:t>.</a:t>
                </a:r>
              </a:p>
              <a:p>
                <a:pPr marL="342900" indent="-342900">
                  <a:buFont typeface="+mj-lt"/>
                  <a:buAutoNum type="arabicPeriod"/>
                </a:pPr>
                <a:r>
                  <a:rPr lang="it-IT" sz="1800" dirty="0"/>
                  <a:t>Draw </a:t>
                </a:r>
                <a:r>
                  <a:rPr lang="it-IT" sz="1800" i="1" dirty="0"/>
                  <a:t>N</a:t>
                </a:r>
                <a:r>
                  <a:rPr lang="it-IT" sz="1800" i="1" baseline="-25000" dirty="0"/>
                  <a:t>L</a:t>
                </a:r>
                <a:r>
                  <a:rPr lang="it-IT" sz="1800" dirty="0"/>
                  <a:t> live points from the prior and set log</a:t>
                </a:r>
                <a14:m>
                  <m:oMath xmlns:m="http://schemas.openxmlformats.org/officeDocument/2006/math">
                    <m:sSub>
                      <m:sSubPr>
                        <m:ctrlPr>
                          <a:rPr lang="it-IT" sz="1800" b="0" i="1" smtClean="0">
                            <a:latin typeface="Cambria Math" panose="02040503050406030204" pitchFamily="18" charset="0"/>
                          </a:rPr>
                        </m:ctrlPr>
                      </m:sSubPr>
                      <m:e>
                        <m:r>
                          <a:rPr lang="it-IT" sz="1800" i="1">
                            <a:latin typeface="Cambria Math" panose="02040503050406030204" pitchFamily="18" charset="0"/>
                          </a:rPr>
                          <m:t>𝜉</m:t>
                        </m:r>
                      </m:e>
                      <m:sub>
                        <m:r>
                          <a:rPr lang="it-IT" sz="1800" b="0" i="1" smtClean="0">
                            <a:latin typeface="Cambria Math" panose="02040503050406030204" pitchFamily="18" charset="0"/>
                          </a:rPr>
                          <m:t>0</m:t>
                        </m:r>
                      </m:sub>
                    </m:sSub>
                    <m:r>
                      <a:rPr lang="it-IT" sz="1800" b="0" i="1" smtClean="0">
                        <a:latin typeface="Cambria Math" panose="02040503050406030204" pitchFamily="18" charset="0"/>
                      </a:rPr>
                      <m:t>=0</m:t>
                    </m:r>
                  </m:oMath>
                </a14:m>
                <a:r>
                  <a:rPr lang="it-IT" sz="1800" dirty="0"/>
                  <a:t>.</a:t>
                </a:r>
              </a:p>
              <a:p>
                <a:pPr marL="342900" indent="-342900">
                  <a:buFont typeface="+mj-lt"/>
                  <a:buAutoNum type="arabicPeriod"/>
                </a:pPr>
                <a:r>
                  <a:rPr lang="it-IT" sz="1800" dirty="0"/>
                  <a:t>Compute the likelihood for each live point; sort in decrising order and pick the </a:t>
                </a:r>
                <a:r>
                  <a:rPr lang="it-IT" sz="1800" b="1" dirty="0"/>
                  <a:t>lowest value </a:t>
                </a:r>
                <a14:m>
                  <m:oMath xmlns:m="http://schemas.openxmlformats.org/officeDocument/2006/math">
                    <m:r>
                      <m:rPr>
                        <m:sty m:val="p"/>
                      </m:rPr>
                      <a:rPr lang="it-IT" sz="1800" b="0" i="0" smtClean="0">
                        <a:latin typeface="Cambria Math" panose="02040503050406030204" pitchFamily="18" charset="0"/>
                      </a:rPr>
                      <m:t>log</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𝐿</m:t>
                        </m:r>
                      </m:e>
                      <m:sub>
                        <m:r>
                          <a:rPr lang="it-IT" sz="1800" b="0" i="1" smtClean="0">
                            <a:latin typeface="Cambria Math" panose="02040503050406030204" pitchFamily="18" charset="0"/>
                          </a:rPr>
                          <m:t>𝑚𝑖𝑛</m:t>
                        </m:r>
                        <m:r>
                          <a:rPr lang="it-IT" sz="1800" b="0" i="1" smtClean="0">
                            <a:latin typeface="Cambria Math" panose="02040503050406030204" pitchFamily="18" charset="0"/>
                          </a:rPr>
                          <m:t>,</m:t>
                        </m:r>
                        <m:r>
                          <m:rPr>
                            <m:sty m:val="p"/>
                          </m:rPr>
                          <a:rPr lang="it-IT" sz="1800" b="0" i="1" smtClean="0">
                            <a:latin typeface="Cambria Math" panose="02040503050406030204" pitchFamily="18" charset="0"/>
                          </a:rPr>
                          <m:t>i</m:t>
                        </m:r>
                      </m:sub>
                    </m:sSub>
                  </m:oMath>
                </a14:m>
                <a:r>
                  <a:rPr lang="it-IT" sz="1800" i="1" dirty="0"/>
                  <a:t>.</a:t>
                </a:r>
              </a:p>
              <a:p>
                <a:pPr marL="342900" indent="-342900">
                  <a:buFont typeface="+mj-lt"/>
                  <a:buAutoNum type="arabicPeriod"/>
                </a:pPr>
                <a:r>
                  <a:rPr lang="it-IT" sz="1800" dirty="0"/>
                  <a:t>Discart the point with </a:t>
                </a:r>
                <a14:m>
                  <m:oMath xmlns:m="http://schemas.openxmlformats.org/officeDocument/2006/math">
                    <m:r>
                      <m:rPr>
                        <m:sty m:val="p"/>
                      </m:rPr>
                      <a:rPr lang="it-IT" sz="1800">
                        <a:latin typeface="Cambria Math" panose="02040503050406030204" pitchFamily="18" charset="0"/>
                      </a:rPr>
                      <m:t>log</m:t>
                    </m:r>
                    <m:sSub>
                      <m:sSubPr>
                        <m:ctrlPr>
                          <a:rPr lang="it-IT" sz="1800" i="1">
                            <a:latin typeface="Cambria Math" panose="02040503050406030204" pitchFamily="18" charset="0"/>
                          </a:rPr>
                        </m:ctrlPr>
                      </m:sSubPr>
                      <m:e>
                        <m:r>
                          <a:rPr lang="it-IT" sz="1800" i="1">
                            <a:latin typeface="Cambria Math" panose="02040503050406030204" pitchFamily="18" charset="0"/>
                          </a:rPr>
                          <m:t>𝐿</m:t>
                        </m:r>
                      </m:e>
                      <m:sub>
                        <m:r>
                          <a:rPr lang="it-IT" sz="1800" i="1">
                            <a:latin typeface="Cambria Math" panose="02040503050406030204" pitchFamily="18" charset="0"/>
                          </a:rPr>
                          <m:t>𝑚𝑖𝑛</m:t>
                        </m:r>
                        <m:r>
                          <a:rPr lang="it-IT" sz="1800" i="1">
                            <a:latin typeface="Cambria Math" panose="02040503050406030204" pitchFamily="18" charset="0"/>
                          </a:rPr>
                          <m:t>,</m:t>
                        </m:r>
                        <m:r>
                          <m:rPr>
                            <m:sty m:val="p"/>
                          </m:rPr>
                          <a:rPr lang="it-IT" sz="1800" i="1">
                            <a:latin typeface="Cambria Math" panose="02040503050406030204" pitchFamily="18" charset="0"/>
                          </a:rPr>
                          <m:t>i</m:t>
                        </m:r>
                      </m:sub>
                    </m:sSub>
                  </m:oMath>
                </a14:m>
                <a:r>
                  <a:rPr lang="it-IT" sz="1800" dirty="0"/>
                  <a:t> and </a:t>
                </a:r>
                <a:r>
                  <a:rPr lang="en-US" sz="1800" b="1" dirty="0"/>
                  <a:t>draw a new sample</a:t>
                </a:r>
                <a:r>
                  <a:rPr lang="en-US" sz="1800" dirty="0"/>
                  <a:t> from the prior constrained to </a:t>
                </a:r>
                <a14:m>
                  <m:oMath xmlns:m="http://schemas.openxmlformats.org/officeDocument/2006/math">
                    <m:r>
                      <a:rPr lang="it-IT" sz="1800" b="0" i="1" smtClean="0">
                        <a:latin typeface="Cambria Math" panose="02040503050406030204" pitchFamily="18" charset="0"/>
                      </a:rPr>
                      <m:t>𝐿</m:t>
                    </m:r>
                    <m:r>
                      <a:rPr lang="it-IT" sz="1800" b="0" i="1" smtClean="0">
                        <a:latin typeface="Cambria Math" panose="02040503050406030204" pitchFamily="18" charset="0"/>
                      </a:rPr>
                      <m:t>&gt;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𝐿</m:t>
                        </m:r>
                      </m:e>
                      <m:sub>
                        <m:r>
                          <a:rPr lang="it-IT" sz="1800" b="0" i="1" smtClean="0">
                            <a:latin typeface="Cambria Math" panose="02040503050406030204" pitchFamily="18" charset="0"/>
                          </a:rPr>
                          <m:t>𝑚𝑖𝑛</m:t>
                        </m:r>
                        <m:r>
                          <a:rPr lang="it-IT" sz="1800" b="0" i="1" smtClean="0">
                            <a:latin typeface="Cambria Math" panose="02040503050406030204" pitchFamily="18" charset="0"/>
                          </a:rPr>
                          <m:t>,</m:t>
                        </m:r>
                        <m:r>
                          <a:rPr lang="it-IT" sz="1800" b="0" i="1" smtClean="0">
                            <a:latin typeface="Cambria Math" panose="02040503050406030204" pitchFamily="18" charset="0"/>
                          </a:rPr>
                          <m:t>𝑖</m:t>
                        </m:r>
                      </m:sub>
                    </m:sSub>
                  </m:oMath>
                </a14:m>
                <a:r>
                  <a:rPr lang="it-IT" sz="1800" dirty="0"/>
                  <a:t>. </a:t>
                </a:r>
              </a:p>
              <a:p>
                <a:pPr marL="342900" indent="-342900">
                  <a:buFont typeface="+mj-lt"/>
                  <a:buAutoNum type="arabicPeriod"/>
                </a:pPr>
                <a:r>
                  <a:rPr lang="it-IT" sz="1800" dirty="0"/>
                  <a:t>Compute log</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𝜉</m:t>
                        </m:r>
                      </m:e>
                      <m:sub>
                        <m:r>
                          <m:rPr>
                            <m:sty m:val="p"/>
                          </m:rPr>
                          <a:rPr lang="it-IT" sz="1800" b="0" i="1" smtClean="0">
                            <a:latin typeface="Cambria Math" panose="02040503050406030204" pitchFamily="18" charset="0"/>
                          </a:rPr>
                          <m:t>i</m:t>
                        </m:r>
                      </m:sub>
                    </m:sSub>
                    <m:r>
                      <a:rPr lang="it-IT" sz="1800" b="0" i="1" smtClean="0">
                        <a:latin typeface="Cambria Math" panose="02040503050406030204" pitchFamily="18" charset="0"/>
                      </a:rPr>
                      <m:t>:</m:t>
                    </m:r>
                  </m:oMath>
                </a14:m>
                <a:endParaRPr lang="it-IT" sz="1800" dirty="0"/>
              </a:p>
              <a:p>
                <a:pPr lvl="1"/>
                <a14:m>
                  <m:oMath xmlns:m="http://schemas.openxmlformats.org/officeDocument/2006/math">
                    <m:sSup>
                      <m:sSupPr>
                        <m:ctrlPr>
                          <a:rPr lang="it-IT" sz="1600" b="0" i="1" smtClean="0">
                            <a:latin typeface="Cambria Math" panose="02040503050406030204" pitchFamily="18" charset="0"/>
                          </a:rPr>
                        </m:ctrlPr>
                      </m:sSupPr>
                      <m:e>
                        <m:r>
                          <a:rPr lang="it-IT" sz="1600" b="0" i="1" smtClean="0">
                            <a:latin typeface="Cambria Math" panose="02040503050406030204" pitchFamily="18" charset="0"/>
                          </a:rPr>
                          <m:t>{</m:t>
                        </m:r>
                        <m:r>
                          <a:rPr lang="it-IT" sz="1600" i="1">
                            <a:latin typeface="Cambria Math" panose="02040503050406030204" pitchFamily="18" charset="0"/>
                          </a:rPr>
                          <m:t>𝜉</m:t>
                        </m:r>
                        <m:r>
                          <a:rPr lang="it-IT" sz="1600" b="0" i="1" smtClean="0">
                            <a:latin typeface="Cambria Math" panose="02040503050406030204" pitchFamily="18" charset="0"/>
                          </a:rPr>
                          <m:t>}</m:t>
                        </m:r>
                      </m:e>
                      <m:sup>
                        <m:r>
                          <a:rPr lang="it-IT" sz="1600" b="0" i="1" smtClean="0">
                            <a:latin typeface="Cambria Math" panose="02040503050406030204" pitchFamily="18" charset="0"/>
                          </a:rPr>
                          <m:t>𝑖</m:t>
                        </m:r>
                      </m:sup>
                    </m:sSup>
                    <m:r>
                      <a:rPr lang="it-IT" sz="1600" b="0" i="1" smtClean="0">
                        <a:latin typeface="Cambria Math" panose="02040503050406030204" pitchFamily="18" charset="0"/>
                      </a:rPr>
                      <m:t>∼</m:t>
                    </m:r>
                    <m:r>
                      <a:rPr lang="it-IT" sz="1600" b="0" i="1" smtClean="0">
                        <a:latin typeface="Cambria Math" panose="02040503050406030204" pitchFamily="18" charset="0"/>
                      </a:rPr>
                      <m:t>𝒰</m:t>
                    </m:r>
                    <m:d>
                      <m:dPr>
                        <m:ctrlPr>
                          <a:rPr lang="it-IT" sz="1600" b="0" i="1" smtClean="0">
                            <a:latin typeface="Cambria Math" panose="02040503050406030204" pitchFamily="18" charset="0"/>
                          </a:rPr>
                        </m:ctrlPr>
                      </m:dPr>
                      <m:e>
                        <m:r>
                          <a:rPr lang="it-IT" sz="1600" b="0" i="1" smtClean="0">
                            <a:latin typeface="Cambria Math" panose="02040503050406030204" pitchFamily="18" charset="0"/>
                          </a:rPr>
                          <m:t>0,</m:t>
                        </m:r>
                        <m:sSub>
                          <m:sSubPr>
                            <m:ctrlPr>
                              <a:rPr lang="it-IT" sz="1600" i="1">
                                <a:latin typeface="Cambria Math" panose="02040503050406030204" pitchFamily="18" charset="0"/>
                              </a:rPr>
                            </m:ctrlPr>
                          </m:sSubPr>
                          <m:e>
                            <m:r>
                              <a:rPr lang="it-IT" sz="1600" i="1">
                                <a:latin typeface="Cambria Math" panose="02040503050406030204" pitchFamily="18" charset="0"/>
                              </a:rPr>
                              <m:t>𝜉</m:t>
                            </m:r>
                          </m:e>
                          <m:sub>
                            <m:r>
                              <m:rPr>
                                <m:sty m:val="p"/>
                              </m:rPr>
                              <a:rPr lang="it-IT" sz="1600" i="1">
                                <a:latin typeface="Cambria Math" panose="02040503050406030204" pitchFamily="18" charset="0"/>
                              </a:rPr>
                              <m:t>i</m:t>
                            </m:r>
                            <m:r>
                              <a:rPr lang="it-IT" sz="1600" b="0" i="1" smtClean="0">
                                <a:latin typeface="Cambria Math" panose="02040503050406030204" pitchFamily="18" charset="0"/>
                              </a:rPr>
                              <m:t>−1</m:t>
                            </m:r>
                          </m:sub>
                        </m:sSub>
                      </m:e>
                    </m:d>
                    <m:r>
                      <a:rPr lang="it-IT" sz="1600" b="0" i="1" smtClean="0">
                        <a:latin typeface="Cambria Math" panose="02040503050406030204" pitchFamily="18" charset="0"/>
                      </a:rPr>
                      <m:t> ⇒ </m:t>
                    </m:r>
                    <m:sSup>
                      <m:sSupPr>
                        <m:ctrlPr>
                          <a:rPr lang="it-IT" sz="1600" b="0" i="1" smtClean="0">
                            <a:latin typeface="Cambria Math" panose="02040503050406030204" pitchFamily="18" charset="0"/>
                          </a:rPr>
                        </m:ctrlPr>
                      </m:sSupPr>
                      <m:e>
                        <m:r>
                          <a:rPr lang="it-IT" sz="1600" b="0" i="1" smtClean="0">
                            <a:latin typeface="Cambria Math" panose="02040503050406030204" pitchFamily="18" charset="0"/>
                          </a:rPr>
                          <m:t>{</m:t>
                        </m:r>
                        <m:r>
                          <a:rPr lang="it-IT" sz="1600" b="0" i="1" smtClean="0">
                            <a:latin typeface="Cambria Math" panose="02040503050406030204" pitchFamily="18" charset="0"/>
                          </a:rPr>
                          <m:t>𝑡</m:t>
                        </m:r>
                        <m:r>
                          <a:rPr lang="it-IT" sz="1600" b="0" i="1" smtClean="0">
                            <a:latin typeface="Cambria Math" panose="02040503050406030204" pitchFamily="18" charset="0"/>
                          </a:rPr>
                          <m:t>}</m:t>
                        </m:r>
                      </m:e>
                      <m:sup>
                        <m:r>
                          <a:rPr lang="it-IT" sz="1600" b="0" i="1" smtClean="0">
                            <a:latin typeface="Cambria Math" panose="02040503050406030204" pitchFamily="18" charset="0"/>
                          </a:rPr>
                          <m:t>𝑖</m:t>
                        </m:r>
                      </m:sup>
                    </m:sSup>
                    <m:r>
                      <a:rPr lang="it-IT" sz="1600" b="0" i="1" smtClean="0">
                        <a:latin typeface="Cambria Math" panose="02040503050406030204" pitchFamily="18" charset="0"/>
                      </a:rPr>
                      <m:t>={</m:t>
                    </m:r>
                    <m:r>
                      <a:rPr lang="it-IT" sz="1600" i="1">
                        <a:latin typeface="Cambria Math" panose="02040503050406030204" pitchFamily="18" charset="0"/>
                      </a:rPr>
                      <m:t>𝜉</m:t>
                    </m:r>
                    <m:r>
                      <m:rPr>
                        <m:lit/>
                      </m:rPr>
                      <a:rPr lang="it-IT" sz="1600" b="0" i="1" smtClean="0">
                        <a:latin typeface="Cambria Math" panose="02040503050406030204" pitchFamily="18" charset="0"/>
                      </a:rPr>
                      <m:t>/</m:t>
                    </m:r>
                    <m:sSup>
                      <m:sSupPr>
                        <m:ctrlPr>
                          <a:rPr lang="it-IT" sz="1600" b="0" i="1" smtClean="0">
                            <a:latin typeface="Cambria Math" panose="02040503050406030204" pitchFamily="18" charset="0"/>
                          </a:rPr>
                        </m:ctrlPr>
                      </m:sSupPr>
                      <m:e>
                        <m:sSub>
                          <m:sSubPr>
                            <m:ctrlPr>
                              <a:rPr lang="it-IT" sz="1600" i="1">
                                <a:latin typeface="Cambria Math" panose="02040503050406030204" pitchFamily="18" charset="0"/>
                              </a:rPr>
                            </m:ctrlPr>
                          </m:sSubPr>
                          <m:e>
                            <m:r>
                              <a:rPr lang="it-IT" sz="1600" i="1">
                                <a:latin typeface="Cambria Math" panose="02040503050406030204" pitchFamily="18" charset="0"/>
                              </a:rPr>
                              <m:t>𝜉</m:t>
                            </m:r>
                          </m:e>
                          <m:sub>
                            <m:r>
                              <m:rPr>
                                <m:sty m:val="p"/>
                              </m:rPr>
                              <a:rPr lang="it-IT" sz="1600" b="0" i="1" smtClean="0">
                                <a:latin typeface="Cambria Math" panose="02040503050406030204" pitchFamily="18" charset="0"/>
                              </a:rPr>
                              <m:t>i</m:t>
                            </m:r>
                            <m:r>
                              <a:rPr lang="it-IT" sz="1600" b="0" i="1" smtClean="0">
                                <a:latin typeface="Cambria Math" panose="02040503050406030204" pitchFamily="18" charset="0"/>
                              </a:rPr>
                              <m:t>−1</m:t>
                            </m:r>
                          </m:sub>
                        </m:sSub>
                        <m:r>
                          <a:rPr lang="it-IT" sz="1600" b="0" i="1" smtClean="0">
                            <a:latin typeface="Cambria Math" panose="02040503050406030204" pitchFamily="18" charset="0"/>
                          </a:rPr>
                          <m:t>}</m:t>
                        </m:r>
                      </m:e>
                      <m:sup>
                        <m:r>
                          <a:rPr lang="it-IT" sz="1600" b="0" i="1" smtClean="0">
                            <a:latin typeface="Cambria Math" panose="02040503050406030204" pitchFamily="18" charset="0"/>
                          </a:rPr>
                          <m:t>𝑖</m:t>
                        </m:r>
                      </m:sup>
                    </m:sSup>
                    <m:r>
                      <a:rPr lang="it-IT" sz="1600" b="0" i="1" smtClean="0">
                        <a:latin typeface="Cambria Math" panose="02040503050406030204" pitchFamily="18" charset="0"/>
                      </a:rPr>
                      <m:t>∼</m:t>
                    </m:r>
                    <m:r>
                      <a:rPr lang="it-IT" sz="1600" i="1">
                        <a:latin typeface="Cambria Math" panose="02040503050406030204" pitchFamily="18" charset="0"/>
                      </a:rPr>
                      <m:t>𝒰</m:t>
                    </m:r>
                    <m:d>
                      <m:dPr>
                        <m:ctrlPr>
                          <a:rPr lang="it-IT" sz="1600" i="1">
                            <a:latin typeface="Cambria Math" panose="02040503050406030204" pitchFamily="18" charset="0"/>
                          </a:rPr>
                        </m:ctrlPr>
                      </m:dPr>
                      <m:e>
                        <m:r>
                          <a:rPr lang="it-IT" sz="1600" i="1">
                            <a:latin typeface="Cambria Math" panose="02040503050406030204" pitchFamily="18" charset="0"/>
                          </a:rPr>
                          <m:t>0,</m:t>
                        </m:r>
                        <m:r>
                          <a:rPr lang="it-IT" sz="1600" b="0" i="1" smtClean="0">
                            <a:latin typeface="Cambria Math" panose="02040503050406030204" pitchFamily="18" charset="0"/>
                          </a:rPr>
                          <m:t>1</m:t>
                        </m:r>
                      </m:e>
                    </m:d>
                  </m:oMath>
                </a14:m>
                <a:endParaRPr lang="it-IT" sz="1600" dirty="0"/>
              </a:p>
              <a:p>
                <a:pPr lvl="1"/>
                <a14:m>
                  <m:oMath xmlns:m="http://schemas.openxmlformats.org/officeDocument/2006/math">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𝑡</m:t>
                        </m:r>
                      </m:e>
                      <m:sub>
                        <m:r>
                          <a:rPr lang="it-IT" sz="1600" b="0" i="1" smtClean="0">
                            <a:latin typeface="Cambria Math" panose="02040503050406030204" pitchFamily="18" charset="0"/>
                          </a:rPr>
                          <m:t>𝑖</m:t>
                        </m:r>
                      </m:sub>
                    </m:sSub>
                    <m:r>
                      <a:rPr lang="it-IT" sz="1600" b="0" i="1" smtClean="0">
                        <a:latin typeface="Cambria Math" panose="02040503050406030204" pitchFamily="18" charset="0"/>
                      </a:rPr>
                      <m:t>=</m:t>
                    </m:r>
                    <m:r>
                      <a:rPr lang="it-IT" sz="1600" b="0" i="1" smtClean="0">
                        <a:latin typeface="Cambria Math" panose="02040503050406030204" pitchFamily="18" charset="0"/>
                      </a:rPr>
                      <m:t>𝑚𝑎𝑥</m:t>
                    </m:r>
                    <m:r>
                      <a:rPr lang="it-IT" sz="1600" b="0" i="1" smtClean="0">
                        <a:latin typeface="Cambria Math" panose="02040503050406030204" pitchFamily="18" charset="0"/>
                      </a:rPr>
                      <m:t>{</m:t>
                    </m:r>
                    <m:sSup>
                      <m:sSupPr>
                        <m:ctrlPr>
                          <a:rPr lang="it-IT" sz="1600" i="1">
                            <a:latin typeface="Cambria Math" panose="02040503050406030204" pitchFamily="18" charset="0"/>
                          </a:rPr>
                        </m:ctrlPr>
                      </m:sSupPr>
                      <m:e>
                        <m:r>
                          <a:rPr lang="it-IT" sz="1600" i="1">
                            <a:latin typeface="Cambria Math" panose="02040503050406030204" pitchFamily="18" charset="0"/>
                          </a:rPr>
                          <m:t>𝑡</m:t>
                        </m:r>
                        <m:r>
                          <a:rPr lang="it-IT" sz="1600" b="0" i="1" smtClean="0">
                            <a:latin typeface="Cambria Math" panose="02040503050406030204" pitchFamily="18" charset="0"/>
                          </a:rPr>
                          <m:t>}</m:t>
                        </m:r>
                      </m:e>
                      <m:sup>
                        <m:r>
                          <a:rPr lang="it-IT" sz="1600" i="1">
                            <a:latin typeface="Cambria Math" panose="02040503050406030204" pitchFamily="18" charset="0"/>
                          </a:rPr>
                          <m:t>𝑖</m:t>
                        </m:r>
                      </m:sup>
                    </m:sSup>
                    <m:r>
                      <a:rPr lang="it-IT" sz="1600" b="0" i="1" smtClean="0">
                        <a:latin typeface="Cambria Math" panose="02040503050406030204" pitchFamily="18" charset="0"/>
                      </a:rPr>
                      <m:t>      ⇒ </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𝑡</m:t>
                        </m:r>
                      </m:e>
                      <m:sub>
                        <m:r>
                          <a:rPr lang="it-IT" sz="1600" b="0" i="1" smtClean="0">
                            <a:latin typeface="Cambria Math" panose="02040503050406030204" pitchFamily="18" charset="0"/>
                          </a:rPr>
                          <m:t>𝑖</m:t>
                        </m:r>
                      </m:sub>
                    </m:sSub>
                    <m:r>
                      <a:rPr lang="it-IT" sz="1600" b="0" i="1" smtClean="0">
                        <a:latin typeface="Cambria Math" panose="02040503050406030204" pitchFamily="18" charset="0"/>
                      </a:rPr>
                      <m:t>∼</m:t>
                    </m:r>
                    <m:r>
                      <a:rPr lang="it-IT" sz="1600" b="0" i="1" smtClean="0">
                        <a:latin typeface="Cambria Math" panose="02040503050406030204" pitchFamily="18" charset="0"/>
                      </a:rPr>
                      <m:t>𝐵𝑒𝑡𝑎</m:t>
                    </m:r>
                    <m:d>
                      <m:dPr>
                        <m:ctrlPr>
                          <a:rPr lang="it-IT" sz="1600" b="0" i="1" smtClean="0">
                            <a:latin typeface="Cambria Math" panose="02040503050406030204" pitchFamily="18" charset="0"/>
                          </a:rPr>
                        </m:ctrlPr>
                      </m:dPr>
                      <m:e>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𝑁</m:t>
                            </m:r>
                          </m:e>
                          <m:sub>
                            <m:r>
                              <a:rPr lang="it-IT" sz="1600" b="0" i="1" smtClean="0">
                                <a:latin typeface="Cambria Math" panose="02040503050406030204" pitchFamily="18" charset="0"/>
                              </a:rPr>
                              <m:t>𝐿</m:t>
                            </m:r>
                          </m:sub>
                        </m:sSub>
                        <m:r>
                          <a:rPr lang="it-IT" sz="1600" b="0" i="1" smtClean="0">
                            <a:latin typeface="Cambria Math" panose="02040503050406030204" pitchFamily="18" charset="0"/>
                          </a:rPr>
                          <m:t>,1</m:t>
                        </m:r>
                      </m:e>
                    </m:d>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𝑁</m:t>
                        </m:r>
                      </m:e>
                      <m:sub>
                        <m:r>
                          <a:rPr lang="it-IT" sz="1600" b="0" i="1" smtClean="0">
                            <a:latin typeface="Cambria Math" panose="02040503050406030204" pitchFamily="18" charset="0"/>
                          </a:rPr>
                          <m:t>𝐿</m:t>
                        </m:r>
                      </m:sub>
                    </m:sSub>
                    <m:sSup>
                      <m:sSupPr>
                        <m:ctrlPr>
                          <a:rPr lang="it-IT" sz="1600" b="0" i="1" smtClean="0">
                            <a:latin typeface="Cambria Math" panose="02040503050406030204" pitchFamily="18" charset="0"/>
                          </a:rPr>
                        </m:ctrlPr>
                      </m:sSupPr>
                      <m:e>
                        <m:r>
                          <a:rPr lang="it-IT" sz="1600" b="0" i="1" smtClean="0">
                            <a:latin typeface="Cambria Math" panose="02040503050406030204" pitchFamily="18" charset="0"/>
                          </a:rPr>
                          <m:t>𝑡</m:t>
                        </m:r>
                      </m:e>
                      <m:sup>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𝑁</m:t>
                            </m:r>
                          </m:e>
                          <m:sub>
                            <m:r>
                              <a:rPr lang="it-IT" sz="1600" b="0" i="1" smtClean="0">
                                <a:latin typeface="Cambria Math" panose="02040503050406030204" pitchFamily="18" charset="0"/>
                              </a:rPr>
                              <m:t>𝐿</m:t>
                            </m:r>
                          </m:sub>
                        </m:sSub>
                        <m:r>
                          <a:rPr lang="it-IT" sz="1600" b="0" i="1" smtClean="0">
                            <a:latin typeface="Cambria Math" panose="02040503050406030204" pitchFamily="18" charset="0"/>
                          </a:rPr>
                          <m:t>−1</m:t>
                        </m:r>
                      </m:sup>
                    </m:sSup>
                  </m:oMath>
                </a14:m>
                <a:endParaRPr lang="it-IT" sz="1600" dirty="0"/>
              </a:p>
              <a:p>
                <a:pPr lvl="1"/>
                <a14:m>
                  <m:oMath xmlns:m="http://schemas.openxmlformats.org/officeDocument/2006/math">
                    <m:r>
                      <a:rPr lang="it-IT" sz="1600" i="1" smtClean="0">
                        <a:latin typeface="Cambria Math" panose="02040503050406030204" pitchFamily="18" charset="0"/>
                        <a:ea typeface="Cambria Math" panose="02040503050406030204" pitchFamily="18" charset="0"/>
                      </a:rPr>
                      <m:t>𝔼</m:t>
                    </m:r>
                    <m:d>
                      <m:dPr>
                        <m:begChr m:val="["/>
                        <m:endChr m:val="]"/>
                        <m:ctrlPr>
                          <a:rPr lang="it-IT" sz="1600" b="0" i="1" smtClean="0">
                            <a:latin typeface="Cambria Math" panose="02040503050406030204" pitchFamily="18" charset="0"/>
                            <a:ea typeface="Cambria Math" panose="02040503050406030204" pitchFamily="18" charset="0"/>
                          </a:rPr>
                        </m:ctrlPr>
                      </m:dPr>
                      <m:e>
                        <m:r>
                          <a:rPr lang="it-IT" sz="1600" b="0" i="1" smtClean="0">
                            <a:latin typeface="Cambria Math" panose="02040503050406030204" pitchFamily="18" charset="0"/>
                            <a:ea typeface="Cambria Math" panose="02040503050406030204" pitchFamily="18" charset="0"/>
                          </a:rPr>
                          <m:t>𝑙𝑜𝑔</m:t>
                        </m:r>
                        <m:sSub>
                          <m:sSubPr>
                            <m:ctrlPr>
                              <a:rPr lang="it-IT" sz="1600" b="0" i="1" smtClean="0">
                                <a:latin typeface="Cambria Math" panose="02040503050406030204" pitchFamily="18" charset="0"/>
                                <a:ea typeface="Cambria Math" panose="02040503050406030204" pitchFamily="18" charset="0"/>
                              </a:rPr>
                            </m:ctrlPr>
                          </m:sSubPr>
                          <m:e>
                            <m:r>
                              <a:rPr lang="it-IT" sz="1600" b="0" i="1" smtClean="0">
                                <a:latin typeface="Cambria Math" panose="02040503050406030204" pitchFamily="18" charset="0"/>
                                <a:ea typeface="Cambria Math" panose="02040503050406030204" pitchFamily="18" charset="0"/>
                              </a:rPr>
                              <m:t>𝑡</m:t>
                            </m:r>
                          </m:e>
                          <m:sub>
                            <m:r>
                              <a:rPr lang="it-IT" sz="1600" b="0" i="1" smtClean="0">
                                <a:latin typeface="Cambria Math" panose="02040503050406030204" pitchFamily="18" charset="0"/>
                                <a:ea typeface="Cambria Math" panose="02040503050406030204" pitchFamily="18" charset="0"/>
                              </a:rPr>
                              <m:t>𝑖</m:t>
                            </m:r>
                          </m:sub>
                        </m:sSub>
                      </m:e>
                    </m:d>
                    <m:r>
                      <a:rPr lang="it-IT" sz="1600" b="0" i="1" smtClean="0">
                        <a:latin typeface="Cambria Math" panose="02040503050406030204" pitchFamily="18" charset="0"/>
                        <a:ea typeface="Cambria Math" panose="02040503050406030204" pitchFamily="18" charset="0"/>
                      </a:rPr>
                      <m:t>=</m:t>
                    </m:r>
                    <m:sSub>
                      <m:sSubPr>
                        <m:ctrlPr>
                          <a:rPr lang="it-IT" sz="1600" b="0" i="1" smtClean="0">
                            <a:latin typeface="Cambria Math" panose="02040503050406030204" pitchFamily="18" charset="0"/>
                            <a:ea typeface="Cambria Math" panose="02040503050406030204" pitchFamily="18" charset="0"/>
                          </a:rPr>
                        </m:ctrlPr>
                      </m:sSubPr>
                      <m:e>
                        <m:r>
                          <a:rPr lang="it-IT" sz="1600" b="0" i="1" smtClean="0">
                            <a:latin typeface="Cambria Math" panose="02040503050406030204" pitchFamily="18" charset="0"/>
                            <a:ea typeface="Cambria Math" panose="02040503050406030204" pitchFamily="18" charset="0"/>
                          </a:rPr>
                          <m:t>𝑁</m:t>
                        </m:r>
                      </m:e>
                      <m:sub>
                        <m:r>
                          <a:rPr lang="it-IT" sz="1600" b="0" i="1" smtClean="0">
                            <a:latin typeface="Cambria Math" panose="02040503050406030204" pitchFamily="18" charset="0"/>
                            <a:ea typeface="Cambria Math" panose="02040503050406030204" pitchFamily="18" charset="0"/>
                          </a:rPr>
                          <m:t>𝐿</m:t>
                        </m:r>
                      </m:sub>
                    </m:sSub>
                    <m:nary>
                      <m:naryPr>
                        <m:ctrlPr>
                          <a:rPr lang="it-IT" sz="1600" b="0" i="1" smtClean="0">
                            <a:latin typeface="Cambria Math" panose="02040503050406030204" pitchFamily="18" charset="0"/>
                            <a:ea typeface="Cambria Math" panose="02040503050406030204" pitchFamily="18" charset="0"/>
                          </a:rPr>
                        </m:ctrlPr>
                      </m:naryPr>
                      <m:sub>
                        <m:r>
                          <a:rPr lang="it-IT" sz="1600" b="0" i="1" smtClean="0">
                            <a:latin typeface="Cambria Math" panose="02040503050406030204" pitchFamily="18" charset="0"/>
                            <a:ea typeface="Cambria Math" panose="02040503050406030204" pitchFamily="18" charset="0"/>
                          </a:rPr>
                          <m:t>0</m:t>
                        </m:r>
                      </m:sub>
                      <m:sup>
                        <m:r>
                          <a:rPr lang="it-IT" sz="1600" b="0" i="1" smtClean="0">
                            <a:latin typeface="Cambria Math" panose="02040503050406030204" pitchFamily="18" charset="0"/>
                            <a:ea typeface="Cambria Math" panose="02040503050406030204" pitchFamily="18" charset="0"/>
                          </a:rPr>
                          <m:t>1</m:t>
                        </m:r>
                      </m:sup>
                      <m:e>
                        <m:sSup>
                          <m:sSupPr>
                            <m:ctrlPr>
                              <a:rPr lang="it-IT" sz="1600" i="1" smtClean="0">
                                <a:latin typeface="Cambria Math" panose="02040503050406030204" pitchFamily="18" charset="0"/>
                                <a:ea typeface="Cambria Math" panose="02040503050406030204" pitchFamily="18" charset="0"/>
                              </a:rPr>
                            </m:ctrlPr>
                          </m:sSupPr>
                          <m:e>
                            <m:r>
                              <a:rPr lang="it-IT" sz="1600" i="1">
                                <a:latin typeface="Cambria Math" panose="02040503050406030204" pitchFamily="18" charset="0"/>
                                <a:ea typeface="Cambria Math" panose="02040503050406030204" pitchFamily="18" charset="0"/>
                              </a:rPr>
                              <m:t>𝑡</m:t>
                            </m:r>
                          </m:e>
                          <m:sup>
                            <m:sSub>
                              <m:sSubPr>
                                <m:ctrlPr>
                                  <a:rPr lang="it-IT" sz="1600" b="0" i="1" smtClean="0">
                                    <a:latin typeface="Cambria Math" panose="02040503050406030204" pitchFamily="18" charset="0"/>
                                    <a:ea typeface="Cambria Math" panose="02040503050406030204" pitchFamily="18" charset="0"/>
                                  </a:rPr>
                                </m:ctrlPr>
                              </m:sSubPr>
                              <m:e>
                                <m:r>
                                  <a:rPr lang="it-IT" sz="1600" i="1">
                                    <a:latin typeface="Cambria Math" panose="02040503050406030204" pitchFamily="18" charset="0"/>
                                    <a:ea typeface="Cambria Math" panose="02040503050406030204" pitchFamily="18" charset="0"/>
                                  </a:rPr>
                                  <m:t>𝑁</m:t>
                                </m:r>
                              </m:e>
                              <m:sub>
                                <m:r>
                                  <a:rPr lang="it-IT" sz="1600" b="0" i="1" smtClean="0">
                                    <a:latin typeface="Cambria Math" panose="02040503050406030204" pitchFamily="18" charset="0"/>
                                    <a:ea typeface="Cambria Math" panose="02040503050406030204" pitchFamily="18" charset="0"/>
                                  </a:rPr>
                                  <m:t>𝐿</m:t>
                                </m:r>
                              </m:sub>
                            </m:sSub>
                            <m:r>
                              <a:rPr lang="it-IT" sz="1600" i="1">
                                <a:latin typeface="Cambria Math" panose="02040503050406030204" pitchFamily="18" charset="0"/>
                                <a:ea typeface="Cambria Math" panose="02040503050406030204" pitchFamily="18" charset="0"/>
                              </a:rPr>
                              <m:t>−1</m:t>
                            </m:r>
                          </m:sup>
                        </m:sSup>
                        <m:r>
                          <a:rPr lang="it-IT" sz="1600" b="0" i="1" smtClean="0">
                            <a:latin typeface="Cambria Math" panose="02040503050406030204" pitchFamily="18" charset="0"/>
                            <a:ea typeface="Cambria Math" panose="02040503050406030204" pitchFamily="18" charset="0"/>
                          </a:rPr>
                          <m:t>𝑙𝑜𝑔𝑡</m:t>
                        </m:r>
                        <m:r>
                          <a:rPr lang="it-IT" sz="1600" b="0" i="1" smtClean="0">
                            <a:latin typeface="Cambria Math" panose="02040503050406030204" pitchFamily="18" charset="0"/>
                            <a:ea typeface="Cambria Math" panose="02040503050406030204" pitchFamily="18" charset="0"/>
                          </a:rPr>
                          <m:t> </m:t>
                        </m:r>
                        <m:r>
                          <a:rPr lang="it-IT" sz="1600" b="0" i="1" smtClean="0">
                            <a:latin typeface="Cambria Math" panose="02040503050406030204" pitchFamily="18" charset="0"/>
                            <a:ea typeface="Cambria Math" panose="02040503050406030204" pitchFamily="18" charset="0"/>
                          </a:rPr>
                          <m:t>𝑑𝑡</m:t>
                        </m:r>
                      </m:e>
                    </m:nary>
                    <m:r>
                      <a:rPr lang="it-IT" sz="1600" b="0" i="1" smtClean="0">
                        <a:latin typeface="Cambria Math" panose="02040503050406030204" pitchFamily="18" charset="0"/>
                        <a:ea typeface="Cambria Math" panose="02040503050406030204" pitchFamily="18" charset="0"/>
                      </a:rPr>
                      <m:t>=−</m:t>
                    </m:r>
                    <m:f>
                      <m:fPr>
                        <m:ctrlPr>
                          <a:rPr lang="it-IT" sz="1600" b="0" i="1" smtClean="0">
                            <a:latin typeface="Cambria Math" panose="02040503050406030204" pitchFamily="18" charset="0"/>
                            <a:ea typeface="Cambria Math" panose="02040503050406030204" pitchFamily="18" charset="0"/>
                          </a:rPr>
                        </m:ctrlPr>
                      </m:fPr>
                      <m:num>
                        <m:r>
                          <a:rPr lang="it-IT" sz="1600" b="0" i="1" smtClean="0">
                            <a:latin typeface="Cambria Math" panose="02040503050406030204" pitchFamily="18" charset="0"/>
                            <a:ea typeface="Cambria Math" panose="02040503050406030204" pitchFamily="18" charset="0"/>
                          </a:rPr>
                          <m:t>1</m:t>
                        </m:r>
                      </m:num>
                      <m:den>
                        <m:sSub>
                          <m:sSubPr>
                            <m:ctrlPr>
                              <a:rPr lang="it-IT" sz="1600" b="0" i="1" smtClean="0">
                                <a:latin typeface="Cambria Math" panose="02040503050406030204" pitchFamily="18" charset="0"/>
                                <a:ea typeface="Cambria Math" panose="02040503050406030204" pitchFamily="18" charset="0"/>
                              </a:rPr>
                            </m:ctrlPr>
                          </m:sSubPr>
                          <m:e>
                            <m:r>
                              <a:rPr lang="it-IT" sz="1600" b="0" i="1" smtClean="0">
                                <a:latin typeface="Cambria Math" panose="02040503050406030204" pitchFamily="18" charset="0"/>
                                <a:ea typeface="Cambria Math" panose="02040503050406030204" pitchFamily="18" charset="0"/>
                              </a:rPr>
                              <m:t>𝑁</m:t>
                            </m:r>
                          </m:e>
                          <m:sub>
                            <m:r>
                              <a:rPr lang="it-IT" sz="1600" b="0" i="1" smtClean="0">
                                <a:latin typeface="Cambria Math" panose="02040503050406030204" pitchFamily="18" charset="0"/>
                                <a:ea typeface="Cambria Math" panose="02040503050406030204" pitchFamily="18" charset="0"/>
                              </a:rPr>
                              <m:t>𝐿</m:t>
                            </m:r>
                          </m:sub>
                        </m:sSub>
                      </m:den>
                    </m:f>
                    <m:r>
                      <a:rPr lang="it-IT" sz="1600" b="0" i="1" smtClean="0">
                        <a:latin typeface="Cambria Math" panose="02040503050406030204" pitchFamily="18" charset="0"/>
                        <a:ea typeface="Cambria Math" panose="02040503050406030204" pitchFamily="18" charset="0"/>
                      </a:rPr>
                      <m:t> ⇒ </m:t>
                    </m:r>
                    <m:r>
                      <m:rPr>
                        <m:nor/>
                      </m:rPr>
                      <a:rPr lang="it-IT" sz="1600" dirty="0" smtClean="0"/>
                      <m:t>log</m:t>
                    </m:r>
                    <m:sSub>
                      <m:sSubPr>
                        <m:ctrlPr>
                          <a:rPr lang="it-IT" sz="1600" i="1">
                            <a:latin typeface="Cambria Math" panose="02040503050406030204" pitchFamily="18" charset="0"/>
                          </a:rPr>
                        </m:ctrlPr>
                      </m:sSubPr>
                      <m:e>
                        <m:r>
                          <a:rPr lang="it-IT" sz="1600" i="1">
                            <a:latin typeface="Cambria Math" panose="02040503050406030204" pitchFamily="18" charset="0"/>
                          </a:rPr>
                          <m:t>𝜉</m:t>
                        </m:r>
                      </m:e>
                      <m:sub>
                        <m:r>
                          <m:rPr>
                            <m:sty m:val="p"/>
                          </m:rPr>
                          <a:rPr lang="it-IT" sz="1600" i="1">
                            <a:latin typeface="Cambria Math" panose="02040503050406030204" pitchFamily="18" charset="0"/>
                          </a:rPr>
                          <m:t>i</m:t>
                        </m:r>
                      </m:sub>
                    </m:sSub>
                    <m:r>
                      <a:rPr lang="it-IT" sz="1600" b="0" i="1" smtClean="0">
                        <a:latin typeface="Cambria Math" panose="02040503050406030204" pitchFamily="18" charset="0"/>
                      </a:rPr>
                      <m:t>=</m:t>
                    </m:r>
                    <m:r>
                      <m:rPr>
                        <m:nor/>
                      </m:rPr>
                      <a:rPr lang="it-IT" sz="1600" dirty="0"/>
                      <m:t>log</m:t>
                    </m:r>
                    <m:sSub>
                      <m:sSubPr>
                        <m:ctrlPr>
                          <a:rPr lang="it-IT" sz="1600" i="1">
                            <a:latin typeface="Cambria Math" panose="02040503050406030204" pitchFamily="18" charset="0"/>
                          </a:rPr>
                        </m:ctrlPr>
                      </m:sSubPr>
                      <m:e>
                        <m:r>
                          <a:rPr lang="it-IT" sz="1600" i="1">
                            <a:latin typeface="Cambria Math" panose="02040503050406030204" pitchFamily="18" charset="0"/>
                          </a:rPr>
                          <m:t>𝜉</m:t>
                        </m:r>
                      </m:e>
                      <m:sub>
                        <m:r>
                          <m:rPr>
                            <m:sty m:val="p"/>
                          </m:rPr>
                          <a:rPr lang="it-IT" sz="1600" i="1">
                            <a:latin typeface="Cambria Math" panose="02040503050406030204" pitchFamily="18" charset="0"/>
                          </a:rPr>
                          <m:t>i</m:t>
                        </m:r>
                        <m:r>
                          <a:rPr lang="it-IT" sz="1600" b="0" i="1" smtClean="0">
                            <a:latin typeface="Cambria Math" panose="02040503050406030204" pitchFamily="18" charset="0"/>
                          </a:rPr>
                          <m:t>−1</m:t>
                        </m:r>
                      </m:sub>
                    </m:sSub>
                    <m:r>
                      <a:rPr lang="it-IT" sz="1600" b="0" i="1" smtClean="0">
                        <a:latin typeface="Cambria Math" panose="02040503050406030204" pitchFamily="18" charset="0"/>
                      </a:rPr>
                      <m:t>−</m:t>
                    </m:r>
                    <m:f>
                      <m:fPr>
                        <m:ctrlPr>
                          <a:rPr lang="it-IT" sz="1600" b="0" i="1" smtClean="0">
                            <a:latin typeface="Cambria Math" panose="02040503050406030204" pitchFamily="18" charset="0"/>
                          </a:rPr>
                        </m:ctrlPr>
                      </m:fPr>
                      <m:num>
                        <m:r>
                          <a:rPr lang="it-IT" sz="1600" i="1">
                            <a:latin typeface="Cambria Math" panose="02040503050406030204" pitchFamily="18" charset="0"/>
                            <a:ea typeface="Cambria Math" panose="02040503050406030204" pitchFamily="18" charset="0"/>
                          </a:rPr>
                          <m:t>1</m:t>
                        </m:r>
                      </m:num>
                      <m:den>
                        <m:sSub>
                          <m:sSubPr>
                            <m:ctrlPr>
                              <a:rPr lang="it-IT" sz="1600" i="1">
                                <a:latin typeface="Cambria Math" panose="02040503050406030204" pitchFamily="18" charset="0"/>
                                <a:ea typeface="Cambria Math" panose="02040503050406030204" pitchFamily="18" charset="0"/>
                              </a:rPr>
                            </m:ctrlPr>
                          </m:sSubPr>
                          <m:e>
                            <m:r>
                              <a:rPr lang="it-IT" sz="1600" i="1">
                                <a:latin typeface="Cambria Math" panose="02040503050406030204" pitchFamily="18" charset="0"/>
                                <a:ea typeface="Cambria Math" panose="02040503050406030204" pitchFamily="18" charset="0"/>
                              </a:rPr>
                              <m:t>𝑁</m:t>
                            </m:r>
                          </m:e>
                          <m:sub>
                            <m:r>
                              <a:rPr lang="it-IT" sz="1600" i="1">
                                <a:latin typeface="Cambria Math" panose="02040503050406030204" pitchFamily="18" charset="0"/>
                                <a:ea typeface="Cambria Math" panose="02040503050406030204" pitchFamily="18" charset="0"/>
                              </a:rPr>
                              <m:t>𝐿</m:t>
                            </m:r>
                          </m:sub>
                        </m:sSub>
                      </m:den>
                    </m:f>
                  </m:oMath>
                </a14:m>
                <a:endParaRPr lang="it-IT" sz="1600" dirty="0"/>
              </a:p>
              <a:p>
                <a:pPr marL="342900" indent="-342900">
                  <a:buFont typeface="+mj-lt"/>
                  <a:buAutoNum type="arabicPeriod"/>
                </a:pPr>
                <a:endParaRPr lang="it-IT" sz="1800" baseline="-25000" dirty="0"/>
              </a:p>
            </p:txBody>
          </p:sp>
        </mc:Choice>
        <mc:Fallback xmlns="">
          <p:sp>
            <p:nvSpPr>
              <p:cNvPr id="3" name="Content Placeholder 2">
                <a:extLst>
                  <a:ext uri="{FF2B5EF4-FFF2-40B4-BE49-F238E27FC236}">
                    <a16:creationId xmlns:a16="http://schemas.microsoft.com/office/drawing/2014/main" id="{F9E1888F-B333-97E0-8981-BB36ED9B72A9}"/>
                  </a:ext>
                </a:extLst>
              </p:cNvPr>
              <p:cNvSpPr>
                <a:spLocks noGrp="1" noRot="1" noChangeAspect="1" noMove="1" noResize="1" noEditPoints="1" noAdjustHandles="1" noChangeArrowheads="1" noChangeShapeType="1" noTextEdit="1"/>
              </p:cNvSpPr>
              <p:nvPr>
                <p:ph idx="1"/>
              </p:nvPr>
            </p:nvSpPr>
            <p:spPr>
              <a:xfrm>
                <a:off x="700636" y="1563077"/>
                <a:ext cx="6706514" cy="4572000"/>
              </a:xfrm>
              <a:blipFill>
                <a:blip r:embed="rId3"/>
                <a:stretch>
                  <a:fillRect l="-727" t="-10133" b="-12533"/>
                </a:stretch>
              </a:blipFill>
            </p:spPr>
            <p:txBody>
              <a:bodyPr/>
              <a:lstStyle/>
              <a:p>
                <a:r>
                  <a:rPr lang="it-IT">
                    <a:noFill/>
                  </a:rPr>
                  <a:t> </a:t>
                </a:r>
              </a:p>
            </p:txBody>
          </p:sp>
        </mc:Fallback>
      </mc:AlternateContent>
      <p:pic>
        <p:nvPicPr>
          <p:cNvPr id="7" name="Picture 6" descr="A diagram of a function&#10;&#10;AI-generated content may be incorrect.">
            <a:extLst>
              <a:ext uri="{FF2B5EF4-FFF2-40B4-BE49-F238E27FC236}">
                <a16:creationId xmlns:a16="http://schemas.microsoft.com/office/drawing/2014/main" id="{7C378D7B-C700-55CE-A02B-0B35BF9A68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7150" y="896112"/>
            <a:ext cx="3984750" cy="2627455"/>
          </a:xfrm>
          <a:prstGeom prst="rect">
            <a:avLst/>
          </a:prstGeom>
        </p:spPr>
      </p:pic>
      <p:pic>
        <p:nvPicPr>
          <p:cNvPr id="9" name="Picture 8" descr="A diagram of a space&#10;&#10;AI-generated content may be incorrect.">
            <a:extLst>
              <a:ext uri="{FF2B5EF4-FFF2-40B4-BE49-F238E27FC236}">
                <a16:creationId xmlns:a16="http://schemas.microsoft.com/office/drawing/2014/main" id="{A3F0FE4C-890E-4A70-5C32-5BAC25C7A6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07149" y="3762482"/>
            <a:ext cx="3984751" cy="1992376"/>
          </a:xfrm>
          <a:prstGeom prst="rect">
            <a:avLst/>
          </a:prstGeom>
        </p:spPr>
      </p:pic>
    </p:spTree>
    <p:extLst>
      <p:ext uri="{BB962C8B-B14F-4D97-AF65-F5344CB8AC3E}">
        <p14:creationId xmlns:p14="http://schemas.microsoft.com/office/powerpoint/2010/main" val="374719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7A6F1-A7CF-F68C-574D-D96E7E4AB8E5}"/>
              </a:ext>
            </a:extLst>
          </p:cNvPr>
          <p:cNvSpPr>
            <a:spLocks noGrp="1"/>
          </p:cNvSpPr>
          <p:nvPr>
            <p:ph type="title"/>
          </p:nvPr>
        </p:nvSpPr>
        <p:spPr/>
        <p:txBody>
          <a:bodyPr/>
          <a:lstStyle/>
          <a:p>
            <a:r>
              <a:rPr lang="it-IT" dirty="0">
                <a:solidFill>
                  <a:srgbClr val="FF0000"/>
                </a:solidFill>
              </a:rPr>
              <a:t>Nested sampling (2/2)</a:t>
            </a:r>
            <a:endParaRPr lang="it-I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2FA4E1-25E2-5359-9B47-85B90BBE5F6E}"/>
                  </a:ext>
                </a:extLst>
              </p:cNvPr>
              <p:cNvSpPr>
                <a:spLocks noGrp="1"/>
              </p:cNvSpPr>
              <p:nvPr>
                <p:ph idx="1"/>
              </p:nvPr>
            </p:nvSpPr>
            <p:spPr>
              <a:xfrm>
                <a:off x="700635" y="1570891"/>
                <a:ext cx="10691265" cy="4806463"/>
              </a:xfrm>
            </p:spPr>
            <p:txBody>
              <a:bodyPr>
                <a:normAutofit/>
              </a:bodyPr>
              <a:lstStyle/>
              <a:p>
                <a:pPr marL="342900" indent="-342900">
                  <a:buFont typeface="+mj-lt"/>
                  <a:buAutoNum type="arabicPeriod" startAt="5"/>
                </a:pPr>
                <a:r>
                  <a:rPr lang="it-IT" sz="1800" dirty="0"/>
                  <a:t>Compute </a:t>
                </a:r>
                <a:r>
                  <a:rPr lang="it-IT" sz="1800" b="1" dirty="0"/>
                  <a:t>weights</a:t>
                </a:r>
                <a:r>
                  <a:rPr lang="it-IT" sz="1800" dirty="0"/>
                  <a:t>:                </a:t>
                </a:r>
                <a14:m>
                  <m:oMath xmlns:m="http://schemas.openxmlformats.org/officeDocument/2006/math">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𝑤</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𝜉</m:t>
                        </m:r>
                      </m:e>
                      <m:sub>
                        <m:r>
                          <a:rPr lang="it-IT" sz="1800" b="0" i="1" smtClean="0">
                            <a:latin typeface="Cambria Math" panose="02040503050406030204" pitchFamily="18" charset="0"/>
                          </a:rPr>
                          <m:t>𝑖</m:t>
                        </m:r>
                        <m:r>
                          <a:rPr lang="it-IT" sz="1800" b="0" i="1" smtClean="0">
                            <a:latin typeface="Cambria Math" panose="02040503050406030204" pitchFamily="18" charset="0"/>
                          </a:rPr>
                          <m:t>−1</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𝜉</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             ⇒ </m:t>
                    </m:r>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𝑤</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r>
                      <a:rPr lang="it-IT" sz="1800" b="0" i="1" smtClean="0">
                        <a:latin typeface="Cambria Math" panose="02040503050406030204" pitchFamily="18" charset="0"/>
                      </a:rPr>
                      <m:t>𝑙𝑜𝑔</m:t>
                    </m:r>
                    <m:d>
                      <m:dPr>
                        <m:ctrlPr>
                          <a:rPr lang="it-IT" sz="1800" b="0" i="1" smtClean="0">
                            <a:latin typeface="Cambria Math" panose="02040503050406030204" pitchFamily="18" charset="0"/>
                          </a:rPr>
                        </m:ctrlPr>
                      </m:dPr>
                      <m:e>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𝑒</m:t>
                            </m:r>
                          </m:e>
                          <m:sup>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i="1">
                                    <a:latin typeface="Cambria Math" panose="02040503050406030204" pitchFamily="18" charset="0"/>
                                  </a:rPr>
                                  <m:t>𝜉</m:t>
                                </m:r>
                              </m:e>
                              <m:sub>
                                <m:r>
                                  <a:rPr lang="it-IT" sz="1800" i="1">
                                    <a:latin typeface="Cambria Math" panose="02040503050406030204" pitchFamily="18" charset="0"/>
                                  </a:rPr>
                                  <m:t>𝑖</m:t>
                                </m:r>
                                <m:r>
                                  <a:rPr lang="it-IT" sz="1800" i="1">
                                    <a:latin typeface="Cambria Math" panose="02040503050406030204" pitchFamily="18" charset="0"/>
                                  </a:rPr>
                                  <m:t>−1</m:t>
                                </m:r>
                              </m:sub>
                            </m:sSub>
                          </m:sup>
                        </m:sSup>
                        <m:r>
                          <a:rPr lang="it-IT" sz="1800" b="0" i="1" smtClean="0">
                            <a:latin typeface="Cambria Math" panose="02040503050406030204" pitchFamily="18" charset="0"/>
                          </a:rPr>
                          <m:t>−</m:t>
                        </m:r>
                        <m:sSup>
                          <m:sSupPr>
                            <m:ctrlPr>
                              <a:rPr lang="it-IT" sz="1800" b="0" i="1" smtClean="0">
                                <a:latin typeface="Cambria Math" panose="02040503050406030204" pitchFamily="18" charset="0"/>
                              </a:rPr>
                            </m:ctrlPr>
                          </m:sSupPr>
                          <m:e>
                            <m:r>
                              <a:rPr lang="it-IT" sz="1800" i="1">
                                <a:latin typeface="Cambria Math" panose="02040503050406030204" pitchFamily="18" charset="0"/>
                              </a:rPr>
                              <m:t>𝑒</m:t>
                            </m:r>
                          </m:e>
                          <m:sup>
                            <m:r>
                              <a:rPr lang="it-IT" sz="1800" i="1">
                                <a:latin typeface="Cambria Math" panose="02040503050406030204" pitchFamily="18" charset="0"/>
                              </a:rPr>
                              <m:t>𝑙𝑜𝑔</m:t>
                            </m:r>
                            <m:sSub>
                              <m:sSubPr>
                                <m:ctrlPr>
                                  <a:rPr lang="it-IT" sz="1800" i="1">
                                    <a:latin typeface="Cambria Math" panose="02040503050406030204" pitchFamily="18" charset="0"/>
                                  </a:rPr>
                                </m:ctrlPr>
                              </m:sSubPr>
                              <m:e>
                                <m:r>
                                  <a:rPr lang="it-IT" sz="1800" i="1">
                                    <a:latin typeface="Cambria Math" panose="02040503050406030204" pitchFamily="18" charset="0"/>
                                  </a:rPr>
                                  <m:t>𝜉</m:t>
                                </m:r>
                              </m:e>
                              <m:sub>
                                <m:r>
                                  <a:rPr lang="it-IT" sz="1800" i="1">
                                    <a:latin typeface="Cambria Math" panose="02040503050406030204" pitchFamily="18" charset="0"/>
                                  </a:rPr>
                                  <m:t>𝑖</m:t>
                                </m:r>
                              </m:sub>
                            </m:sSub>
                          </m:sup>
                        </m:sSup>
                      </m:e>
                    </m:d>
                  </m:oMath>
                </a14:m>
                <a:endParaRPr lang="it-IT" sz="1800" b="0" dirty="0"/>
              </a:p>
              <a:p>
                <a:pPr marL="342900" indent="-342900">
                  <a:buFont typeface="+mj-lt"/>
                  <a:buAutoNum type="arabicPeriod" startAt="5"/>
                </a:pPr>
                <a:r>
                  <a:rPr lang="it-IT" sz="1800" dirty="0"/>
                  <a:t>Accumulate </a:t>
                </a:r>
                <a:r>
                  <a:rPr lang="it-IT" sz="1800" b="1" dirty="0"/>
                  <a:t>evidence</a:t>
                </a:r>
                <a:r>
                  <a:rPr lang="it-IT" sz="1800" dirty="0"/>
                  <a:t>:          </a:t>
                </a:r>
                <a14:m>
                  <m:oMath xmlns:m="http://schemas.openxmlformats.org/officeDocument/2006/math">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a:rPr lang="it-IT" sz="1800" b="0" i="1" smtClean="0">
                            <a:latin typeface="Cambria Math" panose="02040503050406030204" pitchFamily="18" charset="0"/>
                          </a:rPr>
                          <m:t>𝑖</m:t>
                        </m:r>
                        <m:r>
                          <a:rPr lang="it-IT" sz="1800" b="0" i="1" smtClean="0">
                            <a:latin typeface="Cambria Math" panose="02040503050406030204" pitchFamily="18" charset="0"/>
                          </a:rPr>
                          <m:t>−1</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𝑤</m:t>
                        </m:r>
                      </m:e>
                      <m:sub>
                        <m:r>
                          <a:rPr lang="it-IT" sz="1800" b="0" i="1" smtClean="0">
                            <a:latin typeface="Cambria Math" panose="02040503050406030204" pitchFamily="18" charset="0"/>
                          </a:rPr>
                          <m:t>𝑖</m:t>
                        </m:r>
                      </m:sub>
                    </m:sSub>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𝐿</m:t>
                        </m:r>
                      </m:e>
                      <m:sub>
                        <m:r>
                          <a:rPr lang="it-IT" sz="1800" b="0" i="1" smtClean="0">
                            <a:latin typeface="Cambria Math" panose="02040503050406030204" pitchFamily="18" charset="0"/>
                          </a:rPr>
                          <m:t>𝑚𝑖𝑛</m:t>
                        </m:r>
                        <m:r>
                          <a:rPr lang="it-IT" sz="1800" b="0" i="1" smtClean="0">
                            <a:latin typeface="Cambria Math" panose="02040503050406030204" pitchFamily="18" charset="0"/>
                          </a:rPr>
                          <m:t>,</m:t>
                        </m:r>
                        <m:r>
                          <a:rPr lang="it-IT" sz="1800" b="0" i="1" smtClean="0">
                            <a:latin typeface="Cambria Math" panose="02040503050406030204" pitchFamily="18" charset="0"/>
                          </a:rPr>
                          <m:t>𝑖</m:t>
                        </m:r>
                      </m:sub>
                    </m:sSub>
                    <m:r>
                      <a:rPr lang="it-IT" sz="1800" b="0" i="1" smtClean="0">
                        <a:latin typeface="Cambria Math" panose="02040503050406030204" pitchFamily="18" charset="0"/>
                      </a:rPr>
                      <m:t> ⇒ </m:t>
                    </m:r>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r>
                      <a:rPr lang="it-IT" sz="1800" b="0" i="1" smtClean="0">
                        <a:latin typeface="Cambria Math" panose="02040503050406030204" pitchFamily="18" charset="0"/>
                      </a:rPr>
                      <m:t>𝑙𝑜𝑔</m:t>
                    </m:r>
                    <m:d>
                      <m:dPr>
                        <m:ctrlPr>
                          <a:rPr lang="it-IT" sz="1800" b="0" i="1" smtClean="0">
                            <a:latin typeface="Cambria Math" panose="02040503050406030204" pitchFamily="18" charset="0"/>
                          </a:rPr>
                        </m:ctrlPr>
                      </m:dPr>
                      <m:e>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𝑒</m:t>
                            </m:r>
                          </m:e>
                          <m:sup>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a:rPr lang="it-IT" sz="1800" b="0" i="1" smtClean="0">
                                    <a:latin typeface="Cambria Math" panose="02040503050406030204" pitchFamily="18" charset="0"/>
                                  </a:rPr>
                                  <m:t>𝑖</m:t>
                                </m:r>
                                <m:r>
                                  <a:rPr lang="it-IT" sz="1800" b="0" i="1" smtClean="0">
                                    <a:latin typeface="Cambria Math" panose="02040503050406030204" pitchFamily="18" charset="0"/>
                                  </a:rPr>
                                  <m:t>−1</m:t>
                                </m:r>
                              </m:sub>
                            </m:sSub>
                          </m:sup>
                        </m:sSup>
                        <m:r>
                          <a:rPr lang="it-IT" sz="1800" b="0" i="1" smtClean="0">
                            <a:latin typeface="Cambria Math" panose="02040503050406030204" pitchFamily="18" charset="0"/>
                          </a:rPr>
                          <m:t>+</m:t>
                        </m:r>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𝑒</m:t>
                            </m:r>
                          </m:e>
                          <m:sup>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𝑤</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𝐿</m:t>
                                </m:r>
                              </m:e>
                              <m:sub>
                                <m:r>
                                  <a:rPr lang="it-IT" sz="1800" b="0" i="1" smtClean="0">
                                    <a:latin typeface="Cambria Math" panose="02040503050406030204" pitchFamily="18" charset="0"/>
                                  </a:rPr>
                                  <m:t>𝑚𝑖𝑛</m:t>
                                </m:r>
                                <m:r>
                                  <a:rPr lang="it-IT" sz="1800" b="0" i="1" smtClean="0">
                                    <a:latin typeface="Cambria Math" panose="02040503050406030204" pitchFamily="18" charset="0"/>
                                  </a:rPr>
                                  <m:t>,</m:t>
                                </m:r>
                                <m:r>
                                  <a:rPr lang="it-IT" sz="1800" b="0" i="1" smtClean="0">
                                    <a:latin typeface="Cambria Math" panose="02040503050406030204" pitchFamily="18" charset="0"/>
                                  </a:rPr>
                                  <m:t>𝑖</m:t>
                                </m:r>
                              </m:sub>
                            </m:sSub>
                          </m:sup>
                        </m:sSup>
                      </m:e>
                    </m:d>
                  </m:oMath>
                </a14:m>
                <a:endParaRPr lang="it-IT" sz="1800" dirty="0"/>
              </a:p>
              <a:p>
                <a:pPr marL="342900" indent="-342900">
                  <a:buFont typeface="+mj-lt"/>
                  <a:buAutoNum type="arabicPeriod" startAt="5"/>
                </a:pPr>
                <a:r>
                  <a:rPr lang="it-IT" sz="1800" b="1" dirty="0"/>
                  <a:t>Stopping condition</a:t>
                </a:r>
                <a:r>
                  <a:rPr lang="it-IT" sz="1800" dirty="0"/>
                  <a:t>: </a:t>
                </a:r>
                <a14:m>
                  <m:oMath xmlns:m="http://schemas.openxmlformats.org/officeDocument/2006/math">
                    <m:r>
                      <a:rPr lang="it-IT" sz="1800" b="0" i="0" smtClean="0">
                        <a:latin typeface="Cambria Math" panose="02040503050406030204" pitchFamily="18" charset="0"/>
                      </a:rPr>
                      <m:t>              </m:t>
                    </m:r>
                    <m:r>
                      <m:rPr>
                        <m:sty m:val="p"/>
                      </m:rPr>
                      <a:rPr lang="it-IT" sz="1800" b="0" i="0" smtClean="0">
                        <a:latin typeface="Cambria Math" panose="02040503050406030204" pitchFamily="18" charset="0"/>
                      </a:rPr>
                      <m:t>Δ</m:t>
                    </m:r>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r>
                      <a:rPr lang="it-IT" sz="1800" b="0" i="1" smtClean="0">
                        <a:latin typeface="Cambria Math" panose="02040503050406030204" pitchFamily="18" charset="0"/>
                      </a:rPr>
                      <m:t>𝑙𝑜𝑔</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r>
                          <m:rPr>
                            <m:sty m:val="p"/>
                          </m:rPr>
                          <a:rPr lang="it-IT" sz="1800" b="0" i="0" smtClean="0">
                            <a:latin typeface="Cambria Math" panose="02040503050406030204" pitchFamily="18" charset="0"/>
                          </a:rPr>
                          <m:t>Δ</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a:rPr lang="it-IT" sz="1800" b="0" i="1" smtClean="0">
                                <a:latin typeface="Cambria Math" panose="02040503050406030204" pitchFamily="18" charset="0"/>
                              </a:rPr>
                              <m:t>𝑖</m:t>
                            </m:r>
                          </m:sub>
                        </m:sSub>
                      </m:e>
                    </m:d>
                    <m:r>
                      <a:rPr lang="it-IT" sz="1800" b="0" i="1" smtClean="0">
                        <a:latin typeface="Cambria Math" panose="02040503050406030204" pitchFamily="18" charset="0"/>
                      </a:rPr>
                      <m:t>−</m:t>
                    </m:r>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a:rPr lang="it-IT" sz="1800" b="0" i="1" smtClean="0">
                            <a:latin typeface="Cambria Math" panose="02040503050406030204" pitchFamily="18" charset="0"/>
                          </a:rPr>
                          <m:t>𝑖</m:t>
                        </m:r>
                      </m:sub>
                    </m:sSub>
                    <m:r>
                      <m:rPr>
                        <m:nor/>
                      </m:rPr>
                      <a:rPr lang="it-IT" sz="1800" b="0" i="0" smtClean="0">
                        <a:latin typeface="Cambria Math" panose="02040503050406030204" pitchFamily="18" charset="0"/>
                      </a:rPr>
                      <m:t> </m:t>
                    </m:r>
                    <m:r>
                      <m:rPr>
                        <m:nor/>
                      </m:rPr>
                      <a:rPr lang="it-IT" sz="1800"/>
                      <m:t>≲</m:t>
                    </m:r>
                    <m:r>
                      <m:rPr>
                        <m:nor/>
                      </m:rPr>
                      <a:rPr lang="it-IT" sz="1800" b="0" i="0" smtClean="0"/>
                      <m:t> </m:t>
                    </m:r>
                    <m:r>
                      <a:rPr lang="it-IT" sz="1800" i="1">
                        <a:latin typeface="Cambria Math" panose="02040503050406030204" pitchFamily="18" charset="0"/>
                      </a:rPr>
                      <m:t>𝑙𝑜𝑔</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𝑍</m:t>
                            </m:r>
                          </m:e>
                          <m:sub>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𝐿</m:t>
                            </m:r>
                          </m:e>
                          <m:sub>
                            <m:r>
                              <a:rPr lang="it-IT" sz="1800" b="0" i="1" smtClean="0">
                                <a:latin typeface="Cambria Math" panose="02040503050406030204" pitchFamily="18" charset="0"/>
                              </a:rPr>
                              <m:t>𝑚𝑎𝑥</m:t>
                            </m:r>
                            <m:r>
                              <a:rPr lang="it-IT" sz="1800" b="0" i="1" smtClean="0">
                                <a:latin typeface="Cambria Math" panose="02040503050406030204" pitchFamily="18" charset="0"/>
                              </a:rPr>
                              <m:t>,</m:t>
                            </m:r>
                            <m:r>
                              <a:rPr lang="it-IT" sz="1800" b="0" i="1" smtClean="0">
                                <a:latin typeface="Cambria Math" panose="02040503050406030204" pitchFamily="18" charset="0"/>
                              </a:rPr>
                              <m:t>𝑖</m:t>
                            </m:r>
                          </m:sub>
                        </m:sSub>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𝜉</m:t>
                            </m:r>
                          </m:e>
                          <m:sub>
                            <m:r>
                              <a:rPr lang="it-IT" sz="1800" b="0" i="1" smtClean="0">
                                <a:latin typeface="Cambria Math" panose="02040503050406030204" pitchFamily="18" charset="0"/>
                              </a:rPr>
                              <m:t>𝑖</m:t>
                            </m:r>
                          </m:sub>
                        </m:sSub>
                      </m:e>
                    </m:d>
                    <m:r>
                      <a:rPr lang="it-IT" sz="1800" i="1">
                        <a:latin typeface="Cambria Math" panose="02040503050406030204" pitchFamily="18" charset="0"/>
                      </a:rPr>
                      <m:t>−</m:t>
                    </m:r>
                    <m:r>
                      <a:rPr lang="it-IT" sz="1800" i="1">
                        <a:latin typeface="Cambria Math" panose="02040503050406030204" pitchFamily="18" charset="0"/>
                      </a:rPr>
                      <m:t>𝑙𝑜𝑔</m:t>
                    </m:r>
                    <m:sSub>
                      <m:sSubPr>
                        <m:ctrlPr>
                          <a:rPr lang="it-IT" sz="1800" i="1">
                            <a:latin typeface="Cambria Math" panose="02040503050406030204" pitchFamily="18" charset="0"/>
                          </a:rPr>
                        </m:ctrlPr>
                      </m:sSubPr>
                      <m:e>
                        <m:r>
                          <a:rPr lang="it-IT" sz="1800" i="1">
                            <a:latin typeface="Cambria Math" panose="02040503050406030204" pitchFamily="18" charset="0"/>
                          </a:rPr>
                          <m:t>𝑍</m:t>
                        </m:r>
                      </m:e>
                      <m:sub>
                        <m:r>
                          <a:rPr lang="it-IT" sz="1800" i="1">
                            <a:latin typeface="Cambria Math" panose="02040503050406030204" pitchFamily="18" charset="0"/>
                          </a:rPr>
                          <m:t>𝑖</m:t>
                        </m:r>
                      </m:sub>
                    </m:sSub>
                    <m:r>
                      <a:rPr lang="it-IT" sz="1800" b="0" i="1" smtClean="0">
                        <a:latin typeface="Cambria Math" panose="02040503050406030204" pitchFamily="18" charset="0"/>
                      </a:rPr>
                      <m:t> &lt; </m:t>
                    </m:r>
                    <m:r>
                      <m:rPr>
                        <m:sty m:val="p"/>
                      </m:rPr>
                      <a:rPr lang="it-IT" sz="1800" b="0" i="1" smtClean="0">
                        <a:latin typeface="Cambria Math" panose="02040503050406030204" pitchFamily="18" charset="0"/>
                      </a:rPr>
                      <m:t>ε</m:t>
                    </m:r>
                  </m:oMath>
                </a14:m>
                <a:endParaRPr lang="it-IT" sz="1800" dirty="0"/>
              </a:p>
              <a:p>
                <a:pPr lvl="1"/>
                <a14:m>
                  <m:oMath xmlns:m="http://schemas.openxmlformats.org/officeDocument/2006/math">
                    <m:r>
                      <m:rPr>
                        <m:sty m:val="p"/>
                      </m:rPr>
                      <a:rPr lang="it-IT" sz="1600" i="1">
                        <a:latin typeface="Cambria Math" panose="02040503050406030204" pitchFamily="18" charset="0"/>
                      </a:rPr>
                      <m:t>ε</m:t>
                    </m:r>
                  </m:oMath>
                </a14:m>
                <a:r>
                  <a:rPr lang="it-IT" sz="1600" dirty="0"/>
                  <a:t> is the tolerance and </a:t>
                </a:r>
                <a14:m>
                  <m:oMath xmlns:m="http://schemas.openxmlformats.org/officeDocument/2006/math">
                    <m:r>
                      <m:rPr>
                        <m:sty m:val="p"/>
                      </m:rPr>
                      <a:rPr lang="it-IT" sz="1600">
                        <a:latin typeface="Cambria Math" panose="02040503050406030204" pitchFamily="18" charset="0"/>
                      </a:rPr>
                      <m:t>Δ</m:t>
                    </m:r>
                    <m:sSub>
                      <m:sSubPr>
                        <m:ctrlPr>
                          <a:rPr lang="it-IT" sz="1600" i="1">
                            <a:latin typeface="Cambria Math" panose="02040503050406030204" pitchFamily="18" charset="0"/>
                          </a:rPr>
                        </m:ctrlPr>
                      </m:sSubPr>
                      <m:e>
                        <m:r>
                          <a:rPr lang="it-IT" sz="1600" i="1">
                            <a:latin typeface="Cambria Math" panose="02040503050406030204" pitchFamily="18" charset="0"/>
                          </a:rPr>
                          <m:t>𝑍</m:t>
                        </m:r>
                      </m:e>
                      <m:sub>
                        <m:r>
                          <a:rPr lang="it-IT" sz="1600" i="1">
                            <a:latin typeface="Cambria Math" panose="02040503050406030204" pitchFamily="18" charset="0"/>
                          </a:rPr>
                          <m:t>𝑖</m:t>
                        </m:r>
                      </m:sub>
                    </m:sSub>
                    <m:r>
                      <m:rPr>
                        <m:nor/>
                      </m:rPr>
                      <a:rPr lang="it-IT" sz="1600" b="0" i="0" smtClean="0">
                        <a:latin typeface="Cambria Math" panose="02040503050406030204" pitchFamily="18" charset="0"/>
                      </a:rPr>
                      <m:t> </m:t>
                    </m:r>
                    <m:r>
                      <m:rPr>
                        <m:nor/>
                      </m:rPr>
                      <a:rPr lang="it-IT" sz="1600"/>
                      <m:t>≲</m:t>
                    </m:r>
                    <m:r>
                      <m:rPr>
                        <m:nor/>
                      </m:rPr>
                      <a:rPr lang="it-IT" sz="1600" b="0" i="0" smtClean="0"/>
                      <m:t> </m:t>
                    </m:r>
                    <m:sSub>
                      <m:sSubPr>
                        <m:ctrlPr>
                          <a:rPr lang="it-IT" sz="1600" i="1">
                            <a:latin typeface="Cambria Math" panose="02040503050406030204" pitchFamily="18" charset="0"/>
                          </a:rPr>
                        </m:ctrlPr>
                      </m:sSubPr>
                      <m:e>
                        <m:r>
                          <a:rPr lang="it-IT" sz="1600" i="1">
                            <a:latin typeface="Cambria Math" panose="02040503050406030204" pitchFamily="18" charset="0"/>
                          </a:rPr>
                          <m:t>𝐿</m:t>
                        </m:r>
                      </m:e>
                      <m:sub>
                        <m:r>
                          <a:rPr lang="it-IT" sz="1600" i="1">
                            <a:latin typeface="Cambria Math" panose="02040503050406030204" pitchFamily="18" charset="0"/>
                          </a:rPr>
                          <m:t>𝑚𝑎𝑥</m:t>
                        </m:r>
                        <m:r>
                          <a:rPr lang="it-IT" sz="1600" i="1">
                            <a:latin typeface="Cambria Math" panose="02040503050406030204" pitchFamily="18" charset="0"/>
                          </a:rPr>
                          <m:t>,</m:t>
                        </m:r>
                        <m:r>
                          <a:rPr lang="it-IT" sz="1600" i="1">
                            <a:latin typeface="Cambria Math" panose="02040503050406030204" pitchFamily="18" charset="0"/>
                          </a:rPr>
                          <m:t>𝑖</m:t>
                        </m:r>
                      </m:sub>
                    </m:sSub>
                    <m:sSub>
                      <m:sSubPr>
                        <m:ctrlPr>
                          <a:rPr lang="it-IT" sz="1600" i="1">
                            <a:latin typeface="Cambria Math" panose="02040503050406030204" pitchFamily="18" charset="0"/>
                          </a:rPr>
                        </m:ctrlPr>
                      </m:sSubPr>
                      <m:e>
                        <m:r>
                          <a:rPr lang="it-IT" sz="1600" i="1">
                            <a:latin typeface="Cambria Math" panose="02040503050406030204" pitchFamily="18" charset="0"/>
                          </a:rPr>
                          <m:t>𝜉</m:t>
                        </m:r>
                      </m:e>
                      <m:sub>
                        <m:r>
                          <a:rPr lang="it-IT" sz="1600" i="1">
                            <a:latin typeface="Cambria Math" panose="02040503050406030204" pitchFamily="18" charset="0"/>
                          </a:rPr>
                          <m:t>𝑖</m:t>
                        </m:r>
                      </m:sub>
                    </m:sSub>
                  </m:oMath>
                </a14:m>
                <a:r>
                  <a:rPr lang="it-IT" sz="1600" dirty="0"/>
                  <a:t> is the </a:t>
                </a:r>
                <a:r>
                  <a:rPr lang="it-IT" sz="1600" b="1" dirty="0"/>
                  <a:t>estimated remaining evidence</a:t>
                </a:r>
                <a:r>
                  <a:rPr lang="it-IT" sz="1600" dirty="0"/>
                  <a:t>, where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𝐿</m:t>
                        </m:r>
                      </m:e>
                      <m:sub>
                        <m:r>
                          <a:rPr lang="it-IT" sz="1600" i="1">
                            <a:latin typeface="Cambria Math" panose="02040503050406030204" pitchFamily="18" charset="0"/>
                          </a:rPr>
                          <m:t>𝑚𝑎𝑥</m:t>
                        </m:r>
                        <m:r>
                          <a:rPr lang="it-IT" sz="1600" i="1">
                            <a:latin typeface="Cambria Math" panose="02040503050406030204" pitchFamily="18" charset="0"/>
                          </a:rPr>
                          <m:t>,</m:t>
                        </m:r>
                        <m:r>
                          <a:rPr lang="it-IT" sz="1600" i="1">
                            <a:latin typeface="Cambria Math" panose="02040503050406030204" pitchFamily="18" charset="0"/>
                          </a:rPr>
                          <m:t>𝑖</m:t>
                        </m:r>
                      </m:sub>
                    </m:sSub>
                  </m:oMath>
                </a14:m>
                <a:r>
                  <a:rPr lang="it-IT" sz="1600" dirty="0"/>
                  <a:t> is the maximum value of the likelihood among the live points at iteration </a:t>
                </a:r>
                <a:r>
                  <a:rPr lang="it-IT" sz="1600" i="1" dirty="0"/>
                  <a:t>i</a:t>
                </a:r>
                <a:r>
                  <a:rPr lang="it-IT" sz="1600" dirty="0"/>
                  <a:t> and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𝜉</m:t>
                        </m:r>
                      </m:e>
                      <m:sub>
                        <m:r>
                          <a:rPr lang="it-IT" sz="1600" i="1">
                            <a:latin typeface="Cambria Math" panose="02040503050406030204" pitchFamily="18" charset="0"/>
                          </a:rPr>
                          <m:t>𝑖</m:t>
                        </m:r>
                      </m:sub>
                    </m:sSub>
                  </m:oMath>
                </a14:m>
                <a:r>
                  <a:rPr lang="it-IT" sz="1600" dirty="0"/>
                  <a:t> is the remaning prior volume.</a:t>
                </a:r>
              </a:p>
              <a:p>
                <a:pPr lvl="1"/>
                <a:r>
                  <a:rPr lang="it-IT" sz="1600" dirty="0"/>
                  <a:t>The condition </a:t>
                </a:r>
                <a14:m>
                  <m:oMath xmlns:m="http://schemas.openxmlformats.org/officeDocument/2006/math">
                    <m:r>
                      <m:rPr>
                        <m:sty m:val="p"/>
                      </m:rPr>
                      <a:rPr lang="it-IT" sz="1600">
                        <a:latin typeface="Cambria Math" panose="02040503050406030204" pitchFamily="18" charset="0"/>
                      </a:rPr>
                      <m:t>Δ</m:t>
                    </m:r>
                    <m:sSub>
                      <m:sSubPr>
                        <m:ctrlPr>
                          <a:rPr lang="it-IT" sz="1600" i="1">
                            <a:latin typeface="Cambria Math" panose="02040503050406030204" pitchFamily="18" charset="0"/>
                          </a:rPr>
                        </m:ctrlPr>
                      </m:sSubPr>
                      <m:e>
                        <m:r>
                          <a:rPr lang="it-IT" sz="1600" i="1">
                            <a:latin typeface="Cambria Math" panose="02040503050406030204" pitchFamily="18" charset="0"/>
                          </a:rPr>
                          <m:t>𝑍</m:t>
                        </m:r>
                      </m:e>
                      <m:sub>
                        <m:r>
                          <a:rPr lang="it-IT" sz="1600" i="1">
                            <a:latin typeface="Cambria Math" panose="02040503050406030204" pitchFamily="18" charset="0"/>
                          </a:rPr>
                          <m:t>𝑖</m:t>
                        </m:r>
                      </m:sub>
                    </m:sSub>
                    <m:r>
                      <m:rPr>
                        <m:nor/>
                      </m:rPr>
                      <a:rPr lang="it-IT" sz="1600" b="0" i="0" smtClean="0">
                        <a:latin typeface="Cambria Math" panose="02040503050406030204" pitchFamily="18" charset="0"/>
                      </a:rPr>
                      <m:t> </m:t>
                    </m:r>
                    <m:r>
                      <m:rPr>
                        <m:nor/>
                      </m:rPr>
                      <a:rPr lang="it-IT" sz="1600"/>
                      <m:t>≲</m:t>
                    </m:r>
                    <m:r>
                      <m:rPr>
                        <m:nor/>
                      </m:rPr>
                      <a:rPr lang="it-IT" sz="1600" b="0" i="0" smtClean="0"/>
                      <m:t> </m:t>
                    </m:r>
                    <m:sSub>
                      <m:sSubPr>
                        <m:ctrlPr>
                          <a:rPr lang="it-IT" sz="1600" i="1" smtClean="0">
                            <a:latin typeface="Cambria Math" panose="02040503050406030204" pitchFamily="18" charset="0"/>
                          </a:rPr>
                        </m:ctrlPr>
                      </m:sSubPr>
                      <m:e>
                        <m:r>
                          <a:rPr lang="it-IT" sz="1600" i="1">
                            <a:latin typeface="Cambria Math" panose="02040503050406030204" pitchFamily="18" charset="0"/>
                          </a:rPr>
                          <m:t>𝐿</m:t>
                        </m:r>
                      </m:e>
                      <m:sub>
                        <m:r>
                          <a:rPr lang="it-IT" sz="1600" i="1">
                            <a:latin typeface="Cambria Math" panose="02040503050406030204" pitchFamily="18" charset="0"/>
                          </a:rPr>
                          <m:t>𝑚𝑎𝑥</m:t>
                        </m:r>
                        <m:r>
                          <a:rPr lang="it-IT" sz="1600" i="1">
                            <a:latin typeface="Cambria Math" panose="02040503050406030204" pitchFamily="18" charset="0"/>
                          </a:rPr>
                          <m:t>,</m:t>
                        </m:r>
                        <m:r>
                          <a:rPr lang="it-IT" sz="1600" i="1">
                            <a:latin typeface="Cambria Math" panose="02040503050406030204" pitchFamily="18" charset="0"/>
                          </a:rPr>
                          <m:t>𝑖</m:t>
                        </m:r>
                      </m:sub>
                    </m:sSub>
                    <m:sSub>
                      <m:sSubPr>
                        <m:ctrlPr>
                          <a:rPr lang="it-IT" sz="1600" i="1">
                            <a:latin typeface="Cambria Math" panose="02040503050406030204" pitchFamily="18" charset="0"/>
                          </a:rPr>
                        </m:ctrlPr>
                      </m:sSubPr>
                      <m:e>
                        <m:r>
                          <a:rPr lang="it-IT" sz="1600" i="1">
                            <a:latin typeface="Cambria Math" panose="02040503050406030204" pitchFamily="18" charset="0"/>
                          </a:rPr>
                          <m:t>𝜉</m:t>
                        </m:r>
                      </m:e>
                      <m:sub>
                        <m:r>
                          <a:rPr lang="it-IT" sz="1600" i="1">
                            <a:latin typeface="Cambria Math" panose="02040503050406030204" pitchFamily="18" charset="0"/>
                          </a:rPr>
                          <m:t>𝑖</m:t>
                        </m:r>
                      </m:sub>
                    </m:sSub>
                  </m:oMath>
                </a14:m>
                <a:r>
                  <a:rPr lang="it-IT" sz="1600" dirty="0"/>
                  <a:t> is an </a:t>
                </a:r>
                <a:r>
                  <a:rPr lang="it-IT" sz="1600" b="1" dirty="0"/>
                  <a:t>upper bound </a:t>
                </a:r>
                <a:r>
                  <a:rPr lang="it-IT" sz="1600" dirty="0"/>
                  <a:t>and is valid only </a:t>
                </a:r>
                <a:r>
                  <a:rPr lang="en-US" sz="1600" dirty="0"/>
                  <a:t>if there is </a:t>
                </a:r>
                <a:r>
                  <a:rPr lang="en-US" sz="1600" b="1" dirty="0"/>
                  <a:t>not</a:t>
                </a:r>
                <a:r>
                  <a:rPr lang="en-US" sz="1600" dirty="0"/>
                  <a:t> an </a:t>
                </a:r>
                <a:r>
                  <a:rPr lang="en-US" sz="1600" b="1" dirty="0"/>
                  <a:t>extremely narrow likelihood peak</a:t>
                </a:r>
                <a:r>
                  <a:rPr lang="en-US" sz="1600" dirty="0"/>
                  <a:t> within the remaining prior volume that has not yet been discovered by the </a:t>
                </a:r>
                <a:r>
                  <a:rPr lang="it-IT" sz="1600" i="1" dirty="0"/>
                  <a:t>N</a:t>
                </a:r>
                <a:r>
                  <a:rPr lang="it-IT" sz="1600" i="1" baseline="-25000" dirty="0"/>
                  <a:t>L</a:t>
                </a:r>
                <a:r>
                  <a:rPr lang="en-US" sz="1600" dirty="0"/>
                  <a:t> live points. </a:t>
                </a:r>
                <a:endParaRPr lang="it-IT" sz="1600" dirty="0"/>
              </a:p>
              <a:p>
                <a:pPr marL="342900" indent="-342900">
                  <a:lnSpc>
                    <a:spcPct val="100000"/>
                  </a:lnSpc>
                  <a:buFont typeface="+mj-lt"/>
                  <a:buAutoNum type="arabicPeriod" startAt="8"/>
                </a:pPr>
                <a:r>
                  <a:rPr lang="it-IT" sz="1800" dirty="0"/>
                  <a:t>Residual:                               </a:t>
                </a:r>
                <a14:m>
                  <m:oMath xmlns:m="http://schemas.openxmlformats.org/officeDocument/2006/math">
                    <m:r>
                      <a:rPr lang="it-IT" sz="1800" b="0" i="1" smtClean="0">
                        <a:latin typeface="Cambria Math" panose="02040503050406030204" pitchFamily="18" charset="0"/>
                      </a:rPr>
                      <m:t>𝑍</m:t>
                    </m:r>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𝑍</m:t>
                        </m:r>
                      </m:e>
                      <m:sub>
                        <m:r>
                          <m:rPr>
                            <m:sty m:val="p"/>
                          </m:rPr>
                          <a:rPr lang="it-IT" sz="1800" b="0" i="1" smtClean="0">
                            <a:latin typeface="Cambria Math" panose="02040503050406030204" pitchFamily="18" charset="0"/>
                          </a:rPr>
                          <m:t>K</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𝜉</m:t>
                        </m:r>
                      </m:e>
                      <m:sub>
                        <m:r>
                          <m:rPr>
                            <m:sty m:val="p"/>
                          </m:rPr>
                          <a:rPr lang="it-IT" sz="1800" b="0" i="1" smtClean="0">
                            <a:latin typeface="Cambria Math" panose="02040503050406030204" pitchFamily="18" charset="0"/>
                          </a:rPr>
                          <m:t>K</m:t>
                        </m:r>
                      </m:sub>
                    </m:sSub>
                    <m:bar>
                      <m:barPr>
                        <m:pos m:val="top"/>
                        <m:ctrlPr>
                          <a:rPr lang="it-IT" sz="1800" b="0" i="1" smtClean="0">
                            <a:latin typeface="Cambria Math" panose="02040503050406030204" pitchFamily="18" charset="0"/>
                          </a:rPr>
                        </m:ctrlPr>
                      </m:barPr>
                      <m:e>
                        <m:r>
                          <a:rPr lang="it-IT" sz="1800" b="0" i="1" smtClean="0">
                            <a:latin typeface="Cambria Math" panose="02040503050406030204" pitchFamily="18" charset="0"/>
                          </a:rPr>
                          <m:t>𝐿</m:t>
                        </m:r>
                      </m:e>
                    </m:bar>
                    <m:r>
                      <a:rPr lang="it-IT" sz="1800" i="1">
                        <a:latin typeface="Cambria Math" panose="02040503050406030204" pitchFamily="18" charset="0"/>
                      </a:rPr>
                      <m:t> </m:t>
                    </m:r>
                    <m:r>
                      <a:rPr lang="it-IT" sz="1800" b="0" i="1" smtClean="0">
                        <a:latin typeface="Cambria Math" panose="02040503050406030204" pitchFamily="18" charset="0"/>
                      </a:rPr>
                      <m:t>              </m:t>
                    </m:r>
                    <m:r>
                      <a:rPr lang="it-IT" sz="1800" i="1">
                        <a:latin typeface="Cambria Math" panose="02040503050406030204" pitchFamily="18" charset="0"/>
                      </a:rPr>
                      <m:t>⇒ </m:t>
                    </m:r>
                    <m:r>
                      <a:rPr lang="it-IT" sz="1800" i="1">
                        <a:latin typeface="Cambria Math" panose="02040503050406030204" pitchFamily="18" charset="0"/>
                      </a:rPr>
                      <m:t>𝑙𝑜𝑔𝑍</m:t>
                    </m:r>
                    <m:r>
                      <a:rPr lang="it-IT" sz="1800" i="1">
                        <a:latin typeface="Cambria Math" panose="02040503050406030204" pitchFamily="18" charset="0"/>
                      </a:rPr>
                      <m:t>=</m:t>
                    </m:r>
                    <m:r>
                      <a:rPr lang="it-IT" sz="1800" i="1">
                        <a:latin typeface="Cambria Math" panose="02040503050406030204" pitchFamily="18" charset="0"/>
                      </a:rPr>
                      <m:t>𝑙𝑜𝑔</m:t>
                    </m:r>
                    <m:d>
                      <m:dPr>
                        <m:ctrlPr>
                          <a:rPr lang="it-IT" sz="1800" i="1">
                            <a:latin typeface="Cambria Math" panose="02040503050406030204" pitchFamily="18" charset="0"/>
                          </a:rPr>
                        </m:ctrlPr>
                      </m:dPr>
                      <m:e>
                        <m:sSup>
                          <m:sSupPr>
                            <m:ctrlPr>
                              <a:rPr lang="it-IT" sz="1800" i="1">
                                <a:latin typeface="Cambria Math" panose="02040503050406030204" pitchFamily="18" charset="0"/>
                              </a:rPr>
                            </m:ctrlPr>
                          </m:sSupPr>
                          <m:e>
                            <m:r>
                              <a:rPr lang="it-IT" sz="1800" i="1">
                                <a:latin typeface="Cambria Math" panose="02040503050406030204" pitchFamily="18" charset="0"/>
                              </a:rPr>
                              <m:t>𝑒</m:t>
                            </m:r>
                          </m:e>
                          <m:sup>
                            <m:r>
                              <a:rPr lang="it-IT" sz="1800" i="1">
                                <a:latin typeface="Cambria Math" panose="02040503050406030204" pitchFamily="18" charset="0"/>
                              </a:rPr>
                              <m:t>𝑙𝑜𝑔</m:t>
                            </m:r>
                            <m:sSub>
                              <m:sSubPr>
                                <m:ctrlPr>
                                  <a:rPr lang="it-IT" sz="1800" i="1">
                                    <a:latin typeface="Cambria Math" panose="02040503050406030204" pitchFamily="18" charset="0"/>
                                  </a:rPr>
                                </m:ctrlPr>
                              </m:sSubPr>
                              <m:e>
                                <m:r>
                                  <a:rPr lang="it-IT" sz="1800" i="1">
                                    <a:latin typeface="Cambria Math" panose="02040503050406030204" pitchFamily="18" charset="0"/>
                                  </a:rPr>
                                  <m:t>𝑍</m:t>
                                </m:r>
                              </m:e>
                              <m:sub>
                                <m:r>
                                  <m:rPr>
                                    <m:sty m:val="p"/>
                                  </m:rPr>
                                  <a:rPr lang="it-IT" sz="1800" b="0" i="1" smtClean="0">
                                    <a:latin typeface="Cambria Math" panose="02040503050406030204" pitchFamily="18" charset="0"/>
                                  </a:rPr>
                                  <m:t>K</m:t>
                                </m:r>
                              </m:sub>
                            </m:sSub>
                          </m:sup>
                        </m:sSup>
                        <m:r>
                          <a:rPr lang="it-IT" sz="1800" i="1">
                            <a:latin typeface="Cambria Math" panose="02040503050406030204" pitchFamily="18" charset="0"/>
                          </a:rPr>
                          <m:t>+</m:t>
                        </m:r>
                        <m:sSup>
                          <m:sSupPr>
                            <m:ctrlPr>
                              <a:rPr lang="it-IT" sz="1800" i="1">
                                <a:latin typeface="Cambria Math" panose="02040503050406030204" pitchFamily="18" charset="0"/>
                              </a:rPr>
                            </m:ctrlPr>
                          </m:sSupPr>
                          <m:e>
                            <m:r>
                              <a:rPr lang="it-IT" sz="1800" i="1">
                                <a:latin typeface="Cambria Math" panose="02040503050406030204" pitchFamily="18" charset="0"/>
                              </a:rPr>
                              <m:t>𝑒</m:t>
                            </m:r>
                          </m:e>
                          <m:sup>
                            <m:r>
                              <a:rPr lang="it-IT" sz="1800" i="1">
                                <a:latin typeface="Cambria Math" panose="02040503050406030204" pitchFamily="18" charset="0"/>
                              </a:rPr>
                              <m:t>𝑙𝑜𝑔</m:t>
                            </m:r>
                            <m:sSub>
                              <m:sSubPr>
                                <m:ctrlPr>
                                  <a:rPr lang="it-IT" sz="1800" i="1">
                                    <a:latin typeface="Cambria Math" panose="02040503050406030204" pitchFamily="18" charset="0"/>
                                  </a:rPr>
                                </m:ctrlPr>
                              </m:sSubPr>
                              <m:e>
                                <m:r>
                                  <a:rPr lang="it-IT" sz="1800" b="0" i="1" smtClean="0">
                                    <a:latin typeface="Cambria Math" panose="02040503050406030204" pitchFamily="18" charset="0"/>
                                  </a:rPr>
                                  <m:t>𝜉</m:t>
                                </m:r>
                              </m:e>
                              <m:sub>
                                <m:r>
                                  <m:rPr>
                                    <m:sty m:val="p"/>
                                  </m:rPr>
                                  <a:rPr lang="it-IT" sz="1800" b="0" i="1" smtClean="0">
                                    <a:latin typeface="Cambria Math" panose="02040503050406030204" pitchFamily="18" charset="0"/>
                                  </a:rPr>
                                  <m:t>K</m:t>
                                </m:r>
                              </m:sub>
                            </m:sSub>
                            <m:r>
                              <a:rPr lang="it-IT" sz="1800" i="1">
                                <a:latin typeface="Cambria Math" panose="02040503050406030204" pitchFamily="18" charset="0"/>
                              </a:rPr>
                              <m:t>+</m:t>
                            </m:r>
                            <m:r>
                              <a:rPr lang="it-IT" sz="1800" i="1">
                                <a:latin typeface="Cambria Math" panose="02040503050406030204" pitchFamily="18" charset="0"/>
                              </a:rPr>
                              <m:t>𝑙𝑜𝑔</m:t>
                            </m:r>
                            <m:bar>
                              <m:barPr>
                                <m:pos m:val="top"/>
                                <m:ctrlPr>
                                  <a:rPr lang="it-IT" sz="1800" i="1">
                                    <a:latin typeface="Cambria Math" panose="02040503050406030204" pitchFamily="18" charset="0"/>
                                  </a:rPr>
                                </m:ctrlPr>
                              </m:barPr>
                              <m:e>
                                <m:r>
                                  <a:rPr lang="it-IT" sz="1800" i="1">
                                    <a:latin typeface="Cambria Math" panose="02040503050406030204" pitchFamily="18" charset="0"/>
                                  </a:rPr>
                                  <m:t>𝐿</m:t>
                                </m:r>
                              </m:e>
                            </m:bar>
                          </m:sup>
                        </m:sSup>
                      </m:e>
                    </m:d>
                  </m:oMath>
                </a14:m>
                <a:endParaRPr lang="it-IT" sz="1800" i="1" dirty="0"/>
              </a:p>
              <a:p>
                <a:pPr lvl="1"/>
                <a:r>
                  <a:rPr lang="it-IT" sz="1600" dirty="0"/>
                  <a:t>K indicates the final iteration and </a:t>
                </a:r>
                <a14:m>
                  <m:oMath xmlns:m="http://schemas.openxmlformats.org/officeDocument/2006/math">
                    <m:bar>
                      <m:barPr>
                        <m:pos m:val="top"/>
                        <m:ctrlPr>
                          <a:rPr lang="it-IT" sz="1600" i="1">
                            <a:latin typeface="Cambria Math" panose="02040503050406030204" pitchFamily="18" charset="0"/>
                          </a:rPr>
                        </m:ctrlPr>
                      </m:barPr>
                      <m:e>
                        <m:r>
                          <a:rPr lang="it-IT" sz="1600" i="1">
                            <a:latin typeface="Cambria Math" panose="02040503050406030204" pitchFamily="18" charset="0"/>
                          </a:rPr>
                          <m:t>𝐿</m:t>
                        </m:r>
                      </m:e>
                    </m:bar>
                  </m:oMath>
                </a14:m>
                <a:r>
                  <a:rPr lang="it-IT" sz="1600" dirty="0"/>
                  <a:t> </a:t>
                </a:r>
                <a:r>
                  <a:rPr lang="en-US" sz="1600" dirty="0"/>
                  <a:t>is the mean likelihood of the remaining live points. </a:t>
                </a:r>
              </a:p>
              <a:p>
                <a:pPr marL="342900" indent="-342900">
                  <a:buFont typeface="+mj-lt"/>
                  <a:buAutoNum type="arabicPeriod" startAt="9"/>
                </a:pPr>
                <a:r>
                  <a:rPr lang="en-US" sz="1800" b="1" dirty="0"/>
                  <a:t>Posterior samples</a:t>
                </a:r>
                <a:r>
                  <a:rPr lang="en-US" sz="1800" dirty="0"/>
                  <a:t>:               </a:t>
                </a:r>
                <a14:m>
                  <m:oMath xmlns:m="http://schemas.openxmlformats.org/officeDocument/2006/math">
                    <m:r>
                      <a:rPr lang="it-IT" sz="1800" b="0" i="1" smtClean="0">
                        <a:latin typeface="Cambria Math" panose="02040503050406030204" pitchFamily="18" charset="0"/>
                      </a:rPr>
                      <m:t>𝑝</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1" i="1" smtClean="0">
                                <a:latin typeface="Cambria Math" panose="02040503050406030204" pitchFamily="18" charset="0"/>
                              </a:rPr>
                              <m:t>𝜽</m:t>
                            </m:r>
                          </m:e>
                          <m:sub>
                            <m:r>
                              <a:rPr lang="it-IT" sz="1800" b="0" i="1" smtClean="0">
                                <a:latin typeface="Cambria Math" panose="02040503050406030204" pitchFamily="18" charset="0"/>
                              </a:rPr>
                              <m:t>𝑖</m:t>
                            </m:r>
                          </m:sub>
                        </m:sSub>
                      </m:e>
                    </m:d>
                    <m:r>
                      <a:rPr lang="it-IT" sz="1800" b="0" i="1" smtClean="0">
                        <a:latin typeface="Cambria Math" panose="02040503050406030204" pitchFamily="18" charset="0"/>
                      </a:rPr>
                      <m:t>= </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𝑤</m:t>
                        </m:r>
                      </m:e>
                      <m:sub>
                        <m:r>
                          <a:rPr lang="it-IT" sz="1800" b="0" i="1" smtClean="0">
                            <a:latin typeface="Cambria Math" panose="02040503050406030204" pitchFamily="18" charset="0"/>
                          </a:rPr>
                          <m:t>𝑖</m:t>
                        </m:r>
                      </m:sub>
                    </m:sSub>
                    <m:sSub>
                      <m:sSubPr>
                        <m:ctrlPr>
                          <a:rPr lang="it-IT" sz="1800" i="1">
                            <a:latin typeface="Cambria Math" panose="02040503050406030204" pitchFamily="18" charset="0"/>
                          </a:rPr>
                        </m:ctrlPr>
                      </m:sSubPr>
                      <m:e>
                        <m:r>
                          <a:rPr lang="it-IT" sz="1800" i="1">
                            <a:latin typeface="Cambria Math" panose="02040503050406030204" pitchFamily="18" charset="0"/>
                          </a:rPr>
                          <m:t>𝐿</m:t>
                        </m:r>
                      </m:e>
                      <m:sub>
                        <m:r>
                          <a:rPr lang="it-IT" sz="1800" i="1">
                            <a:latin typeface="Cambria Math" panose="02040503050406030204" pitchFamily="18" charset="0"/>
                          </a:rPr>
                          <m:t>𝑚𝑖𝑛</m:t>
                        </m:r>
                        <m:r>
                          <a:rPr lang="it-IT" sz="1800" i="1">
                            <a:latin typeface="Cambria Math" panose="02040503050406030204" pitchFamily="18" charset="0"/>
                          </a:rPr>
                          <m:t>,</m:t>
                        </m:r>
                        <m:r>
                          <a:rPr lang="it-IT" sz="1800" i="1">
                            <a:latin typeface="Cambria Math" panose="02040503050406030204" pitchFamily="18" charset="0"/>
                          </a:rPr>
                          <m:t>𝑖</m:t>
                        </m:r>
                      </m:sub>
                    </m:sSub>
                    <m:r>
                      <m:rPr>
                        <m:lit/>
                      </m:rPr>
                      <a:rPr lang="it-IT" sz="1800" b="0" i="1" smtClean="0">
                        <a:latin typeface="Cambria Math" panose="02040503050406030204" pitchFamily="18" charset="0"/>
                      </a:rPr>
                      <m:t>/</m:t>
                    </m:r>
                    <m:r>
                      <a:rPr lang="it-IT" sz="1800" b="0" i="1" smtClean="0">
                        <a:latin typeface="Cambria Math" panose="02040503050406030204" pitchFamily="18" charset="0"/>
                      </a:rPr>
                      <m:t>𝑍</m:t>
                    </m:r>
                    <m:r>
                      <a:rPr lang="it-IT" sz="1800" b="0" i="1" smtClean="0">
                        <a:latin typeface="Cambria Math" panose="02040503050406030204" pitchFamily="18" charset="0"/>
                      </a:rPr>
                      <m:t>       ⇒    </m:t>
                    </m:r>
                    <m:r>
                      <a:rPr lang="it-IT" sz="1800" b="0" i="1" smtClean="0">
                        <a:latin typeface="Cambria Math" panose="02040503050406030204" pitchFamily="18" charset="0"/>
                      </a:rPr>
                      <m:t>𝑝</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𝜽</m:t>
                            </m:r>
                          </m:e>
                          <m:sub>
                            <m:r>
                              <a:rPr lang="it-IT" sz="1800" b="0" i="1" smtClean="0">
                                <a:latin typeface="Cambria Math" panose="02040503050406030204" pitchFamily="18" charset="0"/>
                              </a:rPr>
                              <m:t>𝑖</m:t>
                            </m:r>
                          </m:sub>
                        </m:sSub>
                      </m:e>
                    </m:d>
                    <m:r>
                      <a:rPr lang="it-IT" sz="1800" b="0" i="1" smtClean="0">
                        <a:latin typeface="Cambria Math" panose="02040503050406030204" pitchFamily="18" charset="0"/>
                      </a:rPr>
                      <m:t>=</m:t>
                    </m:r>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𝑒</m:t>
                        </m:r>
                      </m:e>
                      <m:sup>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𝑤</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𝐿</m:t>
                            </m:r>
                          </m:e>
                          <m:sub>
                            <m:r>
                              <a:rPr lang="it-IT" sz="1800" b="0" i="1" smtClean="0">
                                <a:latin typeface="Cambria Math" panose="02040503050406030204" pitchFamily="18" charset="0"/>
                              </a:rPr>
                              <m:t>𝑚𝑖𝑛</m:t>
                            </m:r>
                            <m:r>
                              <a:rPr lang="it-IT" sz="1800" b="0" i="1" smtClean="0">
                                <a:latin typeface="Cambria Math" panose="02040503050406030204" pitchFamily="18" charset="0"/>
                              </a:rPr>
                              <m:t>,</m:t>
                            </m:r>
                            <m:r>
                              <a:rPr lang="it-IT" sz="1800" b="0" i="1" smtClean="0">
                                <a:latin typeface="Cambria Math" panose="02040503050406030204" pitchFamily="18" charset="0"/>
                              </a:rPr>
                              <m:t>𝑖</m:t>
                            </m:r>
                          </m:sub>
                        </m:sSub>
                        <m:r>
                          <a:rPr lang="it-IT" sz="1800" b="0" i="1" smtClean="0">
                            <a:latin typeface="Cambria Math" panose="02040503050406030204" pitchFamily="18" charset="0"/>
                          </a:rPr>
                          <m:t>−</m:t>
                        </m:r>
                        <m:r>
                          <a:rPr lang="it-IT" sz="1800" b="0" i="1" smtClean="0">
                            <a:latin typeface="Cambria Math" panose="02040503050406030204" pitchFamily="18" charset="0"/>
                          </a:rPr>
                          <m:t>𝑙𝑜𝑔𝑍</m:t>
                        </m:r>
                      </m:sup>
                    </m:sSup>
                  </m:oMath>
                </a14:m>
                <a:r>
                  <a:rPr lang="it-IT" sz="1800" dirty="0"/>
                  <a:t> </a:t>
                </a:r>
              </a:p>
              <a:p>
                <a:pPr lvl="1"/>
                <a:r>
                  <a:rPr lang="it-IT" sz="1600" dirty="0"/>
                  <a:t>From the available </a:t>
                </a:r>
                <a:r>
                  <a:rPr lang="it-IT" sz="1600" b="1" dirty="0"/>
                  <a:t>weighted samples </a:t>
                </a:r>
                <a:r>
                  <a:rPr lang="it-IT" sz="1600" dirty="0"/>
                  <a:t>(</a:t>
                </a:r>
                <a:r>
                  <a:rPr lang="it-IT" sz="1600" i="1" dirty="0"/>
                  <a:t>K + N</a:t>
                </a:r>
                <a:r>
                  <a:rPr lang="it-IT" sz="1600" i="1" baseline="-25000" dirty="0"/>
                  <a:t>L</a:t>
                </a:r>
                <a:r>
                  <a:rPr lang="it-IT" sz="1600" i="1" dirty="0"/>
                  <a:t> = </a:t>
                </a:r>
                <a:r>
                  <a:rPr lang="it-IT" sz="1600" dirty="0"/>
                  <a:t>#iterations + residuals), draw M </a:t>
                </a:r>
                <a:r>
                  <a:rPr lang="it-IT" sz="1600" b="1" dirty="0"/>
                  <a:t>unweighted posterior samples </a:t>
                </a:r>
                <a:r>
                  <a:rPr lang="it-IT" sz="1600" dirty="0"/>
                  <a:t>using </a:t>
                </a:r>
                <a:r>
                  <a:rPr lang="it-IT" sz="1600" dirty="0">
                    <a:latin typeface="Consolas" panose="020B0609020204030204" pitchFamily="49" charset="0"/>
                  </a:rPr>
                  <a:t>numpy.random.choice </a:t>
                </a:r>
                <a:r>
                  <a:rPr lang="it-IT" sz="1600" dirty="0"/>
                  <a:t>with probabilities </a:t>
                </a:r>
                <a14:m>
                  <m:oMath xmlns:m="http://schemas.openxmlformats.org/officeDocument/2006/math">
                    <m:r>
                      <a:rPr lang="it-IT" sz="1600" b="0" i="1" smtClean="0">
                        <a:latin typeface="Cambria Math" panose="02040503050406030204" pitchFamily="18" charset="0"/>
                      </a:rPr>
                      <m:t>𝑝</m:t>
                    </m:r>
                    <m:r>
                      <a:rPr lang="it-IT" sz="1600" b="0" i="1" smtClean="0">
                        <a:latin typeface="Cambria Math" panose="02040503050406030204" pitchFamily="18" charset="0"/>
                      </a:rPr>
                      <m:t>={</m:t>
                    </m:r>
                    <m:r>
                      <a:rPr lang="it-IT" sz="1600" i="1">
                        <a:latin typeface="Cambria Math" panose="02040503050406030204" pitchFamily="18" charset="0"/>
                      </a:rPr>
                      <m:t>𝑝</m:t>
                    </m:r>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b="1" i="1">
                                <a:latin typeface="Cambria Math" panose="02040503050406030204" pitchFamily="18" charset="0"/>
                              </a:rPr>
                              <m:t>𝜽</m:t>
                            </m:r>
                          </m:e>
                          <m:sub>
                            <m:r>
                              <a:rPr lang="it-IT" sz="1600" i="1">
                                <a:latin typeface="Cambria Math" panose="02040503050406030204" pitchFamily="18" charset="0"/>
                              </a:rPr>
                              <m:t>𝑖</m:t>
                            </m:r>
                          </m:sub>
                        </m:sSub>
                      </m:e>
                    </m:d>
                    <m:r>
                      <a:rPr lang="it-IT" sz="1600" b="0" i="1" smtClean="0">
                        <a:latin typeface="Cambria Math" panose="02040503050406030204" pitchFamily="18" charset="0"/>
                      </a:rPr>
                      <m:t>}</m:t>
                    </m:r>
                  </m:oMath>
                </a14:m>
                <a:r>
                  <a:rPr lang="it-IT" sz="1600" dirty="0"/>
                  <a:t>.</a:t>
                </a:r>
              </a:p>
              <a:p>
                <a:pPr lvl="1"/>
                <a:endParaRPr lang="it-IT" sz="1600" i="1" dirty="0"/>
              </a:p>
            </p:txBody>
          </p:sp>
        </mc:Choice>
        <mc:Fallback xmlns="">
          <p:sp>
            <p:nvSpPr>
              <p:cNvPr id="3" name="Content Placeholder 2">
                <a:extLst>
                  <a:ext uri="{FF2B5EF4-FFF2-40B4-BE49-F238E27FC236}">
                    <a16:creationId xmlns:a16="http://schemas.microsoft.com/office/drawing/2014/main" id="{172FA4E1-25E2-5359-9B47-85B90BBE5F6E}"/>
                  </a:ext>
                </a:extLst>
              </p:cNvPr>
              <p:cNvSpPr>
                <a:spLocks noGrp="1" noRot="1" noChangeAspect="1" noMove="1" noResize="1" noEditPoints="1" noAdjustHandles="1" noChangeArrowheads="1" noChangeShapeType="1" noTextEdit="1"/>
              </p:cNvSpPr>
              <p:nvPr>
                <p:ph idx="1"/>
              </p:nvPr>
            </p:nvSpPr>
            <p:spPr>
              <a:xfrm>
                <a:off x="700635" y="1570891"/>
                <a:ext cx="10691265" cy="4806463"/>
              </a:xfrm>
              <a:blipFill>
                <a:blip r:embed="rId3"/>
                <a:stretch>
                  <a:fillRect l="-456"/>
                </a:stretch>
              </a:blipFill>
            </p:spPr>
            <p:txBody>
              <a:bodyPr/>
              <a:lstStyle/>
              <a:p>
                <a:r>
                  <a:rPr lang="it-IT">
                    <a:noFill/>
                  </a:rPr>
                  <a:t> </a:t>
                </a:r>
              </a:p>
            </p:txBody>
          </p:sp>
        </mc:Fallback>
      </mc:AlternateContent>
    </p:spTree>
    <p:extLst>
      <p:ext uri="{BB962C8B-B14F-4D97-AF65-F5344CB8AC3E}">
        <p14:creationId xmlns:p14="http://schemas.microsoft.com/office/powerpoint/2010/main" val="193531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390138-9EB4-C624-22DD-9BE75D20BD12}"/>
              </a:ext>
            </a:extLst>
          </p:cNvPr>
          <p:cNvSpPr>
            <a:spLocks noGrp="1"/>
          </p:cNvSpPr>
          <p:nvPr>
            <p:ph type="title"/>
          </p:nvPr>
        </p:nvSpPr>
        <p:spPr>
          <a:xfrm>
            <a:off x="704088" y="914400"/>
            <a:ext cx="10780776" cy="1180210"/>
          </a:xfrm>
        </p:spPr>
        <p:txBody>
          <a:bodyPr>
            <a:normAutofit/>
          </a:bodyPr>
          <a:lstStyle/>
          <a:p>
            <a:r>
              <a:rPr lang="it-IT" dirty="0">
                <a:solidFill>
                  <a:srgbClr val="FF0000"/>
                </a:solidFill>
              </a:rPr>
              <a:t>Library: Dynesty</a:t>
            </a:r>
          </a:p>
        </p:txBody>
      </p:sp>
      <p:cxnSp>
        <p:nvCxnSpPr>
          <p:cNvPr id="24" name="Straight Connector 23">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descr="A close-up of a word&#10;&#10;AI-generated content may be incorrect.">
            <a:extLst>
              <a:ext uri="{FF2B5EF4-FFF2-40B4-BE49-F238E27FC236}">
                <a16:creationId xmlns:a16="http://schemas.microsoft.com/office/drawing/2014/main" id="{198ACC95-8D5C-2F03-3C06-EB81520BA3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098" y="4067965"/>
            <a:ext cx="5549902" cy="209508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02D20B-0198-44EA-95AA-A0DD074531D7}"/>
                  </a:ext>
                </a:extLst>
              </p:cNvPr>
              <p:cNvSpPr>
                <a:spLocks noGrp="1"/>
              </p:cNvSpPr>
              <p:nvPr>
                <p:ph idx="1"/>
              </p:nvPr>
            </p:nvSpPr>
            <p:spPr>
              <a:xfrm>
                <a:off x="6424246" y="2346960"/>
                <a:ext cx="5060618" cy="3775456"/>
              </a:xfrm>
            </p:spPr>
            <p:txBody>
              <a:bodyPr>
                <a:normAutofit/>
              </a:bodyPr>
              <a:lstStyle/>
              <a:p>
                <a:r>
                  <a:rPr lang="it-IT" dirty="0"/>
                  <a:t>Class: </a:t>
                </a:r>
                <a:r>
                  <a:rPr lang="it-IT" dirty="0">
                    <a:latin typeface="Consolas" panose="020B0609020204030204" pitchFamily="49" charset="0"/>
                  </a:rPr>
                  <a:t>NestedSampler</a:t>
                </a:r>
              </a:p>
              <a:p>
                <a:r>
                  <a:rPr lang="it-IT" dirty="0"/>
                  <a:t>#Live points </a:t>
                </a:r>
                <a14:m>
                  <m:oMath xmlns:m="http://schemas.openxmlformats.org/officeDocument/2006/math">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𝑁</m:t>
                        </m:r>
                      </m:e>
                      <m:sub>
                        <m:r>
                          <a:rPr lang="it-IT" b="0" i="1" smtClean="0">
                            <a:latin typeface="Cambria Math" panose="02040503050406030204" pitchFamily="18" charset="0"/>
                          </a:rPr>
                          <m:t>𝐿</m:t>
                        </m:r>
                      </m:sub>
                    </m:sSub>
                    <m:r>
                      <a:rPr lang="it-IT" b="0" i="1" smtClean="0">
                        <a:latin typeface="Cambria Math" panose="02040503050406030204" pitchFamily="18" charset="0"/>
                      </a:rPr>
                      <m:t>=1200</m:t>
                    </m:r>
                  </m:oMath>
                </a14:m>
                <a:endParaRPr lang="it-IT" b="0" i="1" dirty="0">
                  <a:latin typeface="Cambria Math" panose="02040503050406030204" pitchFamily="18" charset="0"/>
                </a:endParaRPr>
              </a:p>
              <a:p>
                <a:r>
                  <a:rPr lang="it-IT" b="0" dirty="0"/>
                  <a:t>Tolerance      </a:t>
                </a:r>
                <a14:m>
                  <m:oMath xmlns:m="http://schemas.openxmlformats.org/officeDocument/2006/math">
                    <m:r>
                      <a:rPr lang="it-IT" b="0" i="1" smtClean="0">
                        <a:latin typeface="Cambria Math" panose="02040503050406030204" pitchFamily="18" charset="0"/>
                      </a:rPr>
                      <m:t>⇒</m:t>
                    </m:r>
                    <m:r>
                      <a:rPr lang="it-IT" b="0" i="1" smtClean="0">
                        <a:latin typeface="Cambria Math" panose="02040503050406030204" pitchFamily="18" charset="0"/>
                      </a:rPr>
                      <m:t>𝜀</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−2</m:t>
                        </m:r>
                      </m:sup>
                    </m:sSup>
                  </m:oMath>
                </a14:m>
                <a:endParaRPr lang="it-IT" i="1" dirty="0"/>
              </a:p>
              <a:p>
                <a:r>
                  <a:rPr lang="it-IT" dirty="0"/>
                  <a:t>Bound           </a:t>
                </a:r>
                <a14:m>
                  <m:oMath xmlns:m="http://schemas.openxmlformats.org/officeDocument/2006/math">
                    <m:r>
                      <a:rPr lang="it-IT" i="1">
                        <a:latin typeface="Cambria Math" panose="02040503050406030204" pitchFamily="18" charset="0"/>
                      </a:rPr>
                      <m:t>⇒</m:t>
                    </m:r>
                  </m:oMath>
                </a14:m>
                <a:r>
                  <a:rPr lang="it-IT" dirty="0"/>
                  <a:t> Multiple ellipsoids (‘multi’)</a:t>
                </a:r>
              </a:p>
              <a:p>
                <a:r>
                  <a:rPr lang="it-IT" dirty="0"/>
                  <a:t>Sample          </a:t>
                </a:r>
                <a14:m>
                  <m:oMath xmlns:m="http://schemas.openxmlformats.org/officeDocument/2006/math">
                    <m:r>
                      <a:rPr lang="it-IT" i="1">
                        <a:latin typeface="Cambria Math" panose="02040503050406030204" pitchFamily="18" charset="0"/>
                      </a:rPr>
                      <m:t>⇒</m:t>
                    </m:r>
                  </m:oMath>
                </a14:m>
                <a:r>
                  <a:rPr lang="it-IT" dirty="0"/>
                  <a:t> Random walk (‘rwalk’)</a:t>
                </a:r>
              </a:p>
              <a:p>
                <a:endParaRPr lang="it-IT" dirty="0"/>
              </a:p>
              <a:p>
                <a:pPr marL="0" indent="0">
                  <a:buNone/>
                </a:pPr>
                <a:endParaRPr lang="it-IT" dirty="0"/>
              </a:p>
              <a:p>
                <a:endParaRPr lang="it-IT" dirty="0">
                  <a:latin typeface="Consolas" panose="020B0609020204030204" pitchFamily="49" charset="0"/>
                </a:endParaRPr>
              </a:p>
            </p:txBody>
          </p:sp>
        </mc:Choice>
        <mc:Fallback xmlns="">
          <p:sp>
            <p:nvSpPr>
              <p:cNvPr id="3" name="Content Placeholder 2">
                <a:extLst>
                  <a:ext uri="{FF2B5EF4-FFF2-40B4-BE49-F238E27FC236}">
                    <a16:creationId xmlns:a16="http://schemas.microsoft.com/office/drawing/2014/main" id="{AF02D20B-0198-44EA-95AA-A0DD074531D7}"/>
                  </a:ext>
                </a:extLst>
              </p:cNvPr>
              <p:cNvSpPr>
                <a:spLocks noGrp="1" noRot="1" noChangeAspect="1" noMove="1" noResize="1" noEditPoints="1" noAdjustHandles="1" noChangeArrowheads="1" noChangeShapeType="1" noTextEdit="1"/>
              </p:cNvSpPr>
              <p:nvPr>
                <p:ph idx="1"/>
              </p:nvPr>
            </p:nvSpPr>
            <p:spPr>
              <a:xfrm>
                <a:off x="6424246" y="2346960"/>
                <a:ext cx="5060618" cy="3775456"/>
              </a:xfrm>
              <a:blipFill>
                <a:blip r:embed="rId3"/>
                <a:stretch>
                  <a:fillRect l="-1084" t="-646" r="-1205"/>
                </a:stretch>
              </a:blipFill>
            </p:spPr>
            <p:txBody>
              <a:bodyPr/>
              <a:lstStyle/>
              <a:p>
                <a:r>
                  <a:rPr lang="it-IT">
                    <a:noFill/>
                  </a:rPr>
                  <a:t> </a:t>
                </a:r>
              </a:p>
            </p:txBody>
          </p:sp>
        </mc:Fallback>
      </mc:AlternateContent>
    </p:spTree>
    <p:extLst>
      <p:ext uri="{BB962C8B-B14F-4D97-AF65-F5344CB8AC3E}">
        <p14:creationId xmlns:p14="http://schemas.microsoft.com/office/powerpoint/2010/main" val="4078462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324B-79EA-86CB-8E21-9F9BCBC45A75}"/>
              </a:ext>
            </a:extLst>
          </p:cNvPr>
          <p:cNvSpPr>
            <a:spLocks noGrp="1"/>
          </p:cNvSpPr>
          <p:nvPr>
            <p:ph type="title"/>
          </p:nvPr>
        </p:nvSpPr>
        <p:spPr/>
        <p:txBody>
          <a:bodyPr/>
          <a:lstStyle/>
          <a:p>
            <a:r>
              <a:rPr lang="it-IT" dirty="0">
                <a:solidFill>
                  <a:srgbClr val="FF0000"/>
                </a:solidFill>
              </a:rPr>
              <a:t>Prior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E26403-BD09-D977-BD09-0A7056A58B12}"/>
                  </a:ext>
                </a:extLst>
              </p:cNvPr>
              <p:cNvSpPr>
                <a:spLocks noGrp="1"/>
              </p:cNvSpPr>
              <p:nvPr>
                <p:ph idx="1"/>
              </p:nvPr>
            </p:nvSpPr>
            <p:spPr>
              <a:xfrm>
                <a:off x="700635" y="1570891"/>
                <a:ext cx="10691265" cy="4564185"/>
              </a:xfrm>
            </p:spPr>
            <p:txBody>
              <a:bodyPr>
                <a:normAutofit/>
              </a:bodyPr>
              <a:lstStyle/>
              <a:p>
                <a:r>
                  <a:rPr lang="it-IT" sz="1800" dirty="0">
                    <a:latin typeface="Consolas" panose="020B0609020204030204" pitchFamily="49" charset="0"/>
                  </a:rPr>
                  <a:t>dynesty</a:t>
                </a:r>
                <a:r>
                  <a:rPr lang="it-IT" sz="1800" dirty="0"/>
                  <a:t> uniformly draws prior samples from a multidimensional unit cube </a:t>
                </a:r>
                <a:r>
                  <a:rPr lang="en-US" sz="1800" dirty="0"/>
                  <a:t>and then applies a transformation using a user-defined function.</a:t>
                </a:r>
              </a:p>
              <a:p>
                <a:r>
                  <a:rPr lang="en-US" sz="1800" dirty="0"/>
                  <a:t>For model selection, the priors must be </a:t>
                </a:r>
                <a:r>
                  <a:rPr lang="en-US" sz="1800" b="1" dirty="0"/>
                  <a:t>normalized</a:t>
                </a:r>
                <a:r>
                  <a:rPr lang="en-US" sz="1800" dirty="0"/>
                  <a:t>.</a:t>
                </a:r>
              </a:p>
              <a:p>
                <a:r>
                  <a:rPr lang="it-IT" sz="1800" dirty="0"/>
                  <a:t>Weights are constructed using a </a:t>
                </a:r>
                <a:r>
                  <a:rPr lang="it-IT" sz="1800" b="1" dirty="0"/>
                  <a:t>strick breaking process:</a:t>
                </a:r>
              </a:p>
              <a:p>
                <a:pPr lvl="1"/>
                <a14:m>
                  <m:oMath xmlns:m="http://schemas.openxmlformats.org/officeDocument/2006/math">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𝑤</m:t>
                        </m:r>
                      </m:e>
                      <m:sub>
                        <m:r>
                          <a:rPr lang="it-IT" sz="1600" b="0" i="1" smtClean="0">
                            <a:latin typeface="Cambria Math" panose="02040503050406030204" pitchFamily="18" charset="0"/>
                          </a:rPr>
                          <m:t>1</m:t>
                        </m:r>
                      </m:sub>
                    </m:sSub>
                    <m:r>
                      <a:rPr lang="it-IT" sz="1600" b="0" i="1" smtClean="0">
                        <a:latin typeface="Cambria Math" panose="02040503050406030204" pitchFamily="18" charset="0"/>
                      </a:rPr>
                      <m:t>=</m:t>
                    </m:r>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𝑣</m:t>
                        </m:r>
                      </m:e>
                      <m:sub>
                        <m:r>
                          <a:rPr lang="it-IT" sz="1600" b="0" i="1" smtClean="0">
                            <a:latin typeface="Cambria Math" panose="02040503050406030204" pitchFamily="18" charset="0"/>
                          </a:rPr>
                          <m:t>1</m:t>
                        </m:r>
                      </m:sub>
                    </m:sSub>
                    <m:r>
                      <a:rPr lang="it-IT" sz="1600" b="0" i="1" smtClean="0">
                        <a:latin typeface="Cambria Math" panose="02040503050406030204" pitchFamily="18" charset="0"/>
                      </a:rPr>
                      <m:t>, </m:t>
                    </m:r>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𝑤</m:t>
                        </m:r>
                      </m:e>
                      <m:sub>
                        <m:r>
                          <a:rPr lang="it-IT" sz="1600" b="0" i="1" smtClean="0">
                            <a:latin typeface="Cambria Math" panose="02040503050406030204" pitchFamily="18" charset="0"/>
                          </a:rPr>
                          <m:t>2</m:t>
                        </m:r>
                      </m:sub>
                    </m:sSub>
                    <m:r>
                      <a:rPr lang="it-IT" sz="1600" b="0" i="1" smtClean="0">
                        <a:latin typeface="Cambria Math" panose="02040503050406030204" pitchFamily="18" charset="0"/>
                      </a:rPr>
                      <m:t>=</m:t>
                    </m:r>
                    <m:d>
                      <m:dPr>
                        <m:ctrlPr>
                          <a:rPr lang="it-IT" sz="1600" i="1" smtClean="0">
                            <a:latin typeface="Cambria Math" panose="02040503050406030204" pitchFamily="18" charset="0"/>
                          </a:rPr>
                        </m:ctrlPr>
                      </m:dPr>
                      <m:e>
                        <m:r>
                          <a:rPr lang="it-IT" sz="1600" b="0" i="1" smtClean="0">
                            <a:latin typeface="Cambria Math" panose="02040503050406030204" pitchFamily="18" charset="0"/>
                          </a:rPr>
                          <m:t>1</m:t>
                        </m:r>
                        <m:r>
                          <a:rPr lang="it-IT" sz="1600" b="0" i="1" smtClean="0">
                            <a:latin typeface="Cambria Math" panose="02040503050406030204" pitchFamily="18" charset="0"/>
                          </a:rPr>
                          <m:t>−</m:t>
                        </m:r>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𝑣</m:t>
                            </m:r>
                          </m:e>
                          <m:sub>
                            <m:r>
                              <a:rPr lang="it-IT" sz="1600" b="0" i="1" smtClean="0">
                                <a:latin typeface="Cambria Math" panose="02040503050406030204" pitchFamily="18" charset="0"/>
                              </a:rPr>
                              <m:t>1</m:t>
                            </m:r>
                          </m:sub>
                        </m:sSub>
                      </m:e>
                    </m:d>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𝑣</m:t>
                        </m:r>
                      </m:e>
                      <m:sub>
                        <m:r>
                          <a:rPr lang="it-IT" sz="1600" b="0" i="1" smtClean="0">
                            <a:latin typeface="Cambria Math" panose="02040503050406030204" pitchFamily="18" charset="0"/>
                          </a:rPr>
                          <m:t>2</m:t>
                        </m:r>
                      </m:sub>
                    </m:sSub>
                    <m:r>
                      <a:rPr lang="it-IT" sz="1600" b="0" i="1" smtClean="0">
                        <a:latin typeface="Cambria Math" panose="02040503050406030204" pitchFamily="18" charset="0"/>
                      </a:rPr>
                      <m:t>, </m:t>
                    </m:r>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𝑤</m:t>
                        </m:r>
                      </m:e>
                      <m:sub>
                        <m:r>
                          <a:rPr lang="it-IT" sz="1600" b="0" i="1" smtClean="0">
                            <a:latin typeface="Cambria Math" panose="02040503050406030204" pitchFamily="18" charset="0"/>
                          </a:rPr>
                          <m:t>3</m:t>
                        </m:r>
                      </m:sub>
                    </m:sSub>
                    <m:r>
                      <a:rPr lang="it-IT" sz="1600" b="0" i="1" smtClean="0">
                        <a:latin typeface="Cambria Math" panose="02040503050406030204" pitchFamily="18" charset="0"/>
                      </a:rPr>
                      <m:t>=</m:t>
                    </m:r>
                    <m:r>
                      <a:rPr lang="it-IT" sz="1600" b="0" i="1" smtClean="0">
                        <a:latin typeface="Cambria Math" panose="02040503050406030204" pitchFamily="18" charset="0"/>
                      </a:rPr>
                      <m:t>1</m:t>
                    </m:r>
                    <m:r>
                      <a:rPr lang="it-IT" sz="1600" b="0" i="1" smtClean="0">
                        <a:latin typeface="Cambria Math" panose="02040503050406030204" pitchFamily="18" charset="0"/>
                      </a:rPr>
                      <m:t>−</m:t>
                    </m:r>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𝑤</m:t>
                        </m:r>
                      </m:e>
                      <m:sub>
                        <m:r>
                          <a:rPr lang="it-IT" sz="1600" b="0" i="1" smtClean="0">
                            <a:latin typeface="Cambria Math" panose="02040503050406030204" pitchFamily="18" charset="0"/>
                          </a:rPr>
                          <m:t>1</m:t>
                        </m:r>
                      </m:sub>
                    </m:sSub>
                    <m:r>
                      <a:rPr lang="it-IT" sz="1600" b="0" i="1" smtClean="0">
                        <a:latin typeface="Cambria Math" panose="02040503050406030204" pitchFamily="18" charset="0"/>
                      </a:rPr>
                      <m:t>−</m:t>
                    </m:r>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𝑤</m:t>
                        </m:r>
                      </m:e>
                      <m:sub>
                        <m:r>
                          <a:rPr lang="it-IT" sz="1600" b="0" i="1" smtClean="0">
                            <a:latin typeface="Cambria Math" panose="02040503050406030204" pitchFamily="18" charset="0"/>
                          </a:rPr>
                          <m:t>2</m:t>
                        </m:r>
                      </m:sub>
                    </m:sSub>
                  </m:oMath>
                </a14:m>
                <a:r>
                  <a:rPr lang="it-IT" sz="1600" b="1" dirty="0"/>
                  <a:t> </a:t>
                </a:r>
              </a:p>
              <a:p>
                <a:pPr lvl="1"/>
                <a14:m>
                  <m:oMath xmlns:m="http://schemas.openxmlformats.org/officeDocument/2006/math">
                    <m:r>
                      <a:rPr lang="it-IT" sz="1600" b="0" i="1" smtClean="0">
                        <a:latin typeface="Cambria Math" panose="02040503050406030204" pitchFamily="18" charset="0"/>
                      </a:rPr>
                      <m:t>𝑝</m:t>
                    </m:r>
                    <m:d>
                      <m:dPr>
                        <m:ctrlPr>
                          <a:rPr lang="it-IT" sz="1600" b="0" i="1" smtClean="0">
                            <a:latin typeface="Cambria Math" panose="02040503050406030204" pitchFamily="18" charset="0"/>
                          </a:rPr>
                        </m:ctrlPr>
                      </m:dPr>
                      <m:e>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𝑣</m:t>
                            </m:r>
                          </m:e>
                          <m:sub>
                            <m:r>
                              <m:rPr>
                                <m:sty m:val="p"/>
                              </m:rPr>
                              <a:rPr lang="it-IT" sz="1600" b="0" i="1" smtClean="0">
                                <a:latin typeface="Cambria Math" panose="02040503050406030204" pitchFamily="18" charset="0"/>
                              </a:rPr>
                              <m:t>i</m:t>
                            </m:r>
                          </m:sub>
                        </m:sSub>
                      </m:e>
                    </m:d>
                    <m:r>
                      <a:rPr lang="it-IT" sz="1600" b="0" i="1" smtClean="0">
                        <a:latin typeface="Cambria Math" panose="02040503050406030204" pitchFamily="18" charset="0"/>
                      </a:rPr>
                      <m:t>=</m:t>
                    </m:r>
                    <m:r>
                      <a:rPr lang="it-IT" sz="1600" b="0" i="1" smtClean="0">
                        <a:latin typeface="Cambria Math" panose="02040503050406030204" pitchFamily="18" charset="0"/>
                      </a:rPr>
                      <m:t>𝐵𝑒𝑡𝑎</m:t>
                    </m:r>
                    <m:d>
                      <m:dPr>
                        <m:ctrlPr>
                          <a:rPr lang="it-IT" sz="1600" i="1" smtClean="0">
                            <a:latin typeface="Cambria Math" panose="02040503050406030204" pitchFamily="18" charset="0"/>
                          </a:rPr>
                        </m:ctrlPr>
                      </m:dPr>
                      <m:e>
                        <m:r>
                          <a:rPr lang="it-IT" sz="1600" b="0" i="1" smtClean="0">
                            <a:latin typeface="Cambria Math" panose="02040503050406030204" pitchFamily="18" charset="0"/>
                          </a:rPr>
                          <m:t>2</m:t>
                        </m:r>
                        <m:r>
                          <a:rPr lang="it-IT" sz="1600" b="0" i="1" smtClean="0">
                            <a:latin typeface="Cambria Math" panose="02040503050406030204" pitchFamily="18" charset="0"/>
                          </a:rPr>
                          <m:t>,</m:t>
                        </m:r>
                        <m:r>
                          <a:rPr lang="it-IT" sz="1600" b="0" i="1" smtClean="0">
                            <a:latin typeface="Cambria Math" panose="02040503050406030204" pitchFamily="18" charset="0"/>
                          </a:rPr>
                          <m:t>2</m:t>
                        </m:r>
                      </m:e>
                    </m:d>
                    <m:r>
                      <a:rPr lang="it-IT" sz="1600" b="0" i="1" smtClean="0">
                        <a:latin typeface="Cambria Math" panose="02040503050406030204" pitchFamily="18" charset="0"/>
                      </a:rPr>
                      <m:t>=</m:t>
                    </m:r>
                    <m:r>
                      <a:rPr lang="it-IT" sz="1600" b="0" i="1" smtClean="0">
                        <a:latin typeface="Cambria Math" panose="02040503050406030204" pitchFamily="18" charset="0"/>
                      </a:rPr>
                      <m:t>6</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𝑣</m:t>
                        </m:r>
                      </m:e>
                      <m:sub>
                        <m:r>
                          <a:rPr lang="it-IT" sz="1600" b="0" i="1" smtClean="0">
                            <a:latin typeface="Cambria Math" panose="02040503050406030204" pitchFamily="18" charset="0"/>
                          </a:rPr>
                          <m:t>𝑖</m:t>
                        </m:r>
                      </m:sub>
                    </m:sSub>
                    <m:d>
                      <m:dPr>
                        <m:ctrlPr>
                          <a:rPr lang="it-IT" sz="1600" b="0" i="1" smtClean="0">
                            <a:latin typeface="Cambria Math" panose="02040503050406030204" pitchFamily="18" charset="0"/>
                          </a:rPr>
                        </m:ctrlPr>
                      </m:dPr>
                      <m:e>
                        <m:r>
                          <a:rPr lang="it-IT" sz="1600" b="0" i="1" smtClean="0">
                            <a:latin typeface="Cambria Math" panose="02040503050406030204" pitchFamily="18" charset="0"/>
                          </a:rPr>
                          <m:t>1</m:t>
                        </m:r>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𝑣</m:t>
                            </m:r>
                          </m:e>
                          <m:sub>
                            <m:r>
                              <a:rPr lang="it-IT" sz="1600" b="0" i="1" smtClean="0">
                                <a:latin typeface="Cambria Math" panose="02040503050406030204" pitchFamily="18" charset="0"/>
                              </a:rPr>
                              <m:t>𝑖</m:t>
                            </m:r>
                          </m:sub>
                        </m:sSub>
                      </m:e>
                    </m:d>
                  </m:oMath>
                </a14:m>
                <a:endParaRPr lang="it-IT" sz="1600" dirty="0"/>
              </a:p>
              <a:p>
                <a14:m>
                  <m:oMath xmlns:m="http://schemas.openxmlformats.org/officeDocument/2006/math">
                    <m:sSub>
                      <m:sSubPr>
                        <m:ctrlPr>
                          <a:rPr lang="it-IT" sz="1800" b="0" i="1" smtClean="0">
                            <a:latin typeface="Cambria Math" panose="02040503050406030204" pitchFamily="18" charset="0"/>
                          </a:rPr>
                        </m:ctrlPr>
                      </m:sSubPr>
                      <m:e>
                        <m:r>
                          <m:rPr>
                            <m:sty m:val="p"/>
                          </m:rPr>
                          <a:rPr lang="it-IT" sz="1800" b="0" i="1" smtClean="0">
                            <a:latin typeface="Cambria Math" panose="02040503050406030204" pitchFamily="18" charset="0"/>
                          </a:rPr>
                          <m:t>p</m:t>
                        </m:r>
                        <m:r>
                          <a:rPr lang="it-IT" sz="1800" b="0" i="1" smtClean="0">
                            <a:latin typeface="Cambria Math" panose="02040503050406030204" pitchFamily="18" charset="0"/>
                          </a:rPr>
                          <m:t>(</m:t>
                        </m:r>
                        <m:r>
                          <a:rPr lang="it-IT" sz="1800" b="0" i="1" smtClean="0">
                            <a:latin typeface="Cambria Math" panose="02040503050406030204" pitchFamily="18" charset="0"/>
                          </a:rPr>
                          <m:t>𝜇</m:t>
                        </m:r>
                      </m:e>
                      <m:sub>
                        <m:r>
                          <a:rPr lang="it-IT" sz="1800" b="0" i="1" smtClean="0">
                            <a:latin typeface="Cambria Math" panose="02040503050406030204" pitchFamily="18" charset="0"/>
                          </a:rPr>
                          <m:t>1</m:t>
                        </m:r>
                      </m:sub>
                    </m:sSub>
                    <m:r>
                      <a:rPr lang="it-IT" sz="1800" b="0" i="1" smtClean="0">
                        <a:latin typeface="Cambria Math" panose="02040503050406030204" pitchFamily="18" charset="0"/>
                      </a:rPr>
                      <m:t>) =</m:t>
                    </m:r>
                    <m:r>
                      <a:rPr lang="it-IT" sz="1800" i="1">
                        <a:latin typeface="Cambria Math" panose="02040503050406030204" pitchFamily="18" charset="0"/>
                      </a:rPr>
                      <m:t>𝒰</m:t>
                    </m:r>
                    <m:r>
                      <a:rPr lang="it-IT" sz="1800" b="0" i="1" smtClean="0">
                        <a:latin typeface="Cambria Math" panose="02040503050406030204" pitchFamily="18" charset="0"/>
                      </a:rPr>
                      <m:t>(</m:t>
                    </m:r>
                    <m:r>
                      <a:rPr lang="it-IT" sz="1800" b="0" i="1" smtClean="0">
                        <a:latin typeface="Cambria Math" panose="02040503050406030204" pitchFamily="18" charset="0"/>
                      </a:rPr>
                      <m:t>𝑚𝑖𝑛</m:t>
                    </m:r>
                    <m:r>
                      <a:rPr lang="it-IT" sz="1800" b="0" i="1" smtClean="0">
                        <a:latin typeface="Cambria Math" panose="02040503050406030204" pitchFamily="18" charset="0"/>
                      </a:rPr>
                      <m:t>(</m:t>
                    </m:r>
                    <m:r>
                      <a:rPr lang="it-IT" sz="1800" b="0" i="1" smtClean="0">
                        <a:latin typeface="Cambria Math" panose="02040503050406030204" pitchFamily="18" charset="0"/>
                      </a:rPr>
                      <m:t>𝑙𝑜𝑔</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𝑇</m:t>
                        </m:r>
                      </m:e>
                      <m:sub>
                        <m:r>
                          <a:rPr lang="it-IT" sz="1800" b="0" i="1" smtClean="0">
                            <a:latin typeface="Cambria Math" panose="02040503050406030204" pitchFamily="18" charset="0"/>
                          </a:rPr>
                          <m:t>90</m:t>
                        </m:r>
                      </m:sub>
                    </m:sSub>
                    <m:r>
                      <a:rPr lang="it-IT" sz="1800" b="0" i="1" smtClean="0">
                        <a:latin typeface="Cambria Math" panose="02040503050406030204" pitchFamily="18" charset="0"/>
                      </a:rPr>
                      <m:t>),  </m:t>
                    </m:r>
                    <m:r>
                      <a:rPr lang="it-IT" sz="1800" b="0" i="1" smtClean="0">
                        <a:latin typeface="Cambria Math" panose="02040503050406030204" pitchFamily="18" charset="0"/>
                      </a:rPr>
                      <m:t>𝑚𝑎𝑥</m:t>
                    </m:r>
                    <m:r>
                      <a:rPr lang="it-IT" sz="1800" b="0" i="1" smtClean="0">
                        <a:latin typeface="Cambria Math" panose="02040503050406030204" pitchFamily="18" charset="0"/>
                      </a:rPr>
                      <m:t>(</m:t>
                    </m:r>
                    <m:r>
                      <a:rPr lang="it-IT" sz="1800" i="1" smtClean="0">
                        <a:latin typeface="Cambria Math" panose="02040503050406030204" pitchFamily="18" charset="0"/>
                      </a:rPr>
                      <m:t>𝑙𝑜𝑔</m:t>
                    </m:r>
                    <m:sSub>
                      <m:sSubPr>
                        <m:ctrlPr>
                          <a:rPr lang="it-IT" sz="1800" i="1">
                            <a:latin typeface="Cambria Math" panose="02040503050406030204" pitchFamily="18" charset="0"/>
                          </a:rPr>
                        </m:ctrlPr>
                      </m:sSubPr>
                      <m:e>
                        <m:r>
                          <m:rPr>
                            <m:sty m:val="p"/>
                          </m:rPr>
                          <a:rPr lang="it-IT" sz="1800" b="0" i="1" smtClean="0">
                            <a:latin typeface="Cambria Math" panose="02040503050406030204" pitchFamily="18" charset="0"/>
                          </a:rPr>
                          <m:t>T</m:t>
                        </m:r>
                      </m:e>
                      <m:sub>
                        <m:r>
                          <a:rPr lang="it-IT" sz="1800" i="1">
                            <a:latin typeface="Cambria Math" panose="02040503050406030204" pitchFamily="18" charset="0"/>
                          </a:rPr>
                          <m:t>90</m:t>
                        </m:r>
                      </m:sub>
                    </m:sSub>
                  </m:oMath>
                </a14:m>
                <a:r>
                  <a:rPr lang="it-IT" sz="1800" dirty="0"/>
                  <a:t>))</a:t>
                </a:r>
              </a:p>
              <a:p>
                <a:r>
                  <a:rPr lang="it-IT" sz="1800" dirty="0"/>
                  <a:t>p</a:t>
                </a:r>
                <a:r>
                  <a:rPr lang="it-IT" sz="1800" b="0" dirty="0"/>
                  <a:t>(</a:t>
                </a:r>
                <a14:m>
                  <m:oMath xmlns:m="http://schemas.openxmlformats.org/officeDocument/2006/math">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𝛿</m:t>
                        </m:r>
                      </m:e>
                      <m:sub>
                        <m:r>
                          <a:rPr lang="it-IT" sz="1800" b="0" i="1" smtClean="0">
                            <a:latin typeface="Cambria Math" panose="02040503050406030204" pitchFamily="18" charset="0"/>
                          </a:rPr>
                          <m:t>12</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𝜇</m:t>
                        </m:r>
                      </m:e>
                      <m:sub>
                        <m:r>
                          <a:rPr lang="it-IT" sz="1800" b="0" i="1" smtClean="0">
                            <a:latin typeface="Cambria Math" panose="02040503050406030204" pitchFamily="18" charset="0"/>
                          </a:rPr>
                          <m:t>1</m:t>
                        </m:r>
                      </m:sub>
                    </m:sSub>
                    <m:r>
                      <a:rPr lang="it-IT" sz="1800" b="0" i="1" smtClean="0">
                        <a:latin typeface="Cambria Math" panose="02040503050406030204" pitchFamily="18" charset="0"/>
                      </a:rPr>
                      <m:t>)=</m:t>
                    </m:r>
                    <m:r>
                      <a:rPr lang="it-IT" sz="1800" i="1">
                        <a:latin typeface="Cambria Math" panose="02040503050406030204" pitchFamily="18" charset="0"/>
                      </a:rPr>
                      <m:t>𝒰</m:t>
                    </m:r>
                    <m:r>
                      <a:rPr lang="it-IT" sz="1800" b="0" i="1" smtClean="0">
                        <a:latin typeface="Cambria Math" panose="02040503050406030204" pitchFamily="18" charset="0"/>
                      </a:rPr>
                      <m:t>(</m:t>
                    </m:r>
                    <m:r>
                      <a:rPr lang="it-IT" sz="1800" b="0" i="1" smtClean="0">
                        <a:latin typeface="Cambria Math" panose="02040503050406030204" pitchFamily="18" charset="0"/>
                      </a:rPr>
                      <m:t>0</m:t>
                    </m:r>
                    <m:r>
                      <a:rPr lang="it-IT" sz="1800" b="0" i="1" smtClean="0">
                        <a:latin typeface="Cambria Math" panose="02040503050406030204" pitchFamily="18" charset="0"/>
                      </a:rPr>
                      <m:t>,</m:t>
                    </m:r>
                    <m:r>
                      <a:rPr lang="it-IT" sz="1800" i="1">
                        <a:latin typeface="Cambria Math" panose="02040503050406030204" pitchFamily="18" charset="0"/>
                      </a:rPr>
                      <m:t>𝑚𝑎𝑥</m:t>
                    </m:r>
                    <m:r>
                      <a:rPr lang="it-IT" sz="1800" i="1">
                        <a:latin typeface="Cambria Math" panose="02040503050406030204" pitchFamily="18" charset="0"/>
                      </a:rPr>
                      <m:t>(</m:t>
                    </m:r>
                    <m:r>
                      <a:rPr lang="it-IT" sz="1800" i="1">
                        <a:latin typeface="Cambria Math" panose="02040503050406030204" pitchFamily="18" charset="0"/>
                      </a:rPr>
                      <m:t>𝑙𝑜𝑔</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T</m:t>
                        </m:r>
                      </m:e>
                      <m:sub>
                        <m:r>
                          <a:rPr lang="it-IT" sz="1800" i="1">
                            <a:latin typeface="Cambria Math" panose="02040503050406030204" pitchFamily="18" charset="0"/>
                          </a:rPr>
                          <m:t>90</m:t>
                        </m:r>
                      </m:sub>
                    </m:sSub>
                    <m:r>
                      <m:rPr>
                        <m:nor/>
                      </m:rPr>
                      <a:rPr lang="it-IT" sz="1800" dirty="0" smtClean="0"/>
                      <m:t>)</m:t>
                    </m:r>
                    <m:r>
                      <m:rPr>
                        <m:nor/>
                      </m:rPr>
                      <a:rPr lang="it-IT" sz="1800" b="0" i="0" dirty="0" smtClean="0"/>
                      <m:t> </m:t>
                    </m:r>
                    <m:r>
                      <m:rPr>
                        <m:nor/>
                      </m:rPr>
                      <a:rPr lang="it-IT" sz="1800" dirty="0"/>
                      <m:t>−</m:t>
                    </m:r>
                    <m:r>
                      <m:rPr>
                        <m:nor/>
                      </m:rPr>
                      <a:rPr lang="it-IT" sz="1800" b="0" i="0" dirty="0" smtClean="0"/>
                      <m:t> </m:t>
                    </m:r>
                    <m:sSub>
                      <m:sSubPr>
                        <m:ctrlPr>
                          <a:rPr lang="it-IT" sz="1800" b="0" i="1" dirty="0" smtClean="0">
                            <a:latin typeface="Cambria Math" panose="02040503050406030204" pitchFamily="18" charset="0"/>
                          </a:rPr>
                        </m:ctrlPr>
                      </m:sSubPr>
                      <m:e>
                        <m:r>
                          <a:rPr lang="it-IT" sz="1800" b="0" i="1" dirty="0" smtClean="0">
                            <a:latin typeface="Cambria Math" panose="02040503050406030204" pitchFamily="18" charset="0"/>
                          </a:rPr>
                          <m:t>𝜇</m:t>
                        </m:r>
                      </m:e>
                      <m:sub>
                        <m:r>
                          <a:rPr lang="it-IT" sz="1800" b="0" i="1" dirty="0" smtClean="0">
                            <a:latin typeface="Cambria Math" panose="02040503050406030204" pitchFamily="18" charset="0"/>
                          </a:rPr>
                          <m:t>1</m:t>
                        </m:r>
                      </m:sub>
                    </m:sSub>
                    <m:r>
                      <m:rPr>
                        <m:nor/>
                      </m:rPr>
                      <a:rPr lang="it-IT" sz="1800" dirty="0"/>
                      <m:t>)</m:t>
                    </m:r>
                  </m:oMath>
                </a14:m>
                <a:endParaRPr lang="it-IT" sz="1800" dirty="0"/>
              </a:p>
              <a:p>
                <a:r>
                  <a:rPr lang="it-IT" sz="1800" dirty="0"/>
                  <a:t>p(</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𝛿</m:t>
                        </m:r>
                      </m:e>
                      <m:sub>
                        <m:r>
                          <a:rPr lang="it-IT" sz="1800" i="1">
                            <a:latin typeface="Cambria Math" panose="02040503050406030204" pitchFamily="18" charset="0"/>
                          </a:rPr>
                          <m:t>2</m:t>
                        </m:r>
                        <m:r>
                          <a:rPr lang="it-IT" sz="1800" b="0" i="1" smtClean="0">
                            <a:latin typeface="Cambria Math" panose="02040503050406030204" pitchFamily="18" charset="0"/>
                          </a:rPr>
                          <m:t>3</m:t>
                        </m:r>
                      </m:sub>
                    </m:sSub>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𝛿</m:t>
                        </m:r>
                      </m:e>
                      <m:sub>
                        <m:r>
                          <a:rPr lang="it-IT" sz="1800" i="1">
                            <a:latin typeface="Cambria Math" panose="02040503050406030204" pitchFamily="18" charset="0"/>
                          </a:rPr>
                          <m:t>12</m:t>
                        </m:r>
                      </m:sub>
                    </m:sSub>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1</m:t>
                        </m:r>
                      </m:sub>
                    </m:sSub>
                    <m:r>
                      <a:rPr lang="it-IT" sz="1800" b="0" i="1" smtClean="0">
                        <a:latin typeface="Cambria Math" panose="02040503050406030204" pitchFamily="18" charset="0"/>
                      </a:rPr>
                      <m:t>)=</m:t>
                    </m:r>
                    <m:r>
                      <a:rPr lang="it-IT" sz="1800" i="1">
                        <a:latin typeface="Cambria Math" panose="02040503050406030204" pitchFamily="18" charset="0"/>
                      </a:rPr>
                      <m:t>𝒰</m:t>
                    </m:r>
                    <m:r>
                      <a:rPr lang="it-IT" sz="1800" i="1">
                        <a:latin typeface="Cambria Math" panose="02040503050406030204" pitchFamily="18" charset="0"/>
                      </a:rPr>
                      <m:t>(</m:t>
                    </m:r>
                    <m:r>
                      <a:rPr lang="it-IT" sz="1800" i="1">
                        <a:latin typeface="Cambria Math" panose="02040503050406030204" pitchFamily="18" charset="0"/>
                      </a:rPr>
                      <m:t>0</m:t>
                    </m:r>
                    <m:r>
                      <a:rPr lang="it-IT" sz="1800" i="1">
                        <a:latin typeface="Cambria Math" panose="02040503050406030204" pitchFamily="18" charset="0"/>
                      </a:rPr>
                      <m:t>,</m:t>
                    </m:r>
                    <m:r>
                      <a:rPr lang="it-IT" sz="1800" i="1">
                        <a:latin typeface="Cambria Math" panose="02040503050406030204" pitchFamily="18" charset="0"/>
                      </a:rPr>
                      <m:t>𝑚𝑎𝑥</m:t>
                    </m:r>
                    <m:r>
                      <a:rPr lang="it-IT" sz="1800" i="1">
                        <a:latin typeface="Cambria Math" panose="02040503050406030204" pitchFamily="18" charset="0"/>
                      </a:rPr>
                      <m:t>(</m:t>
                    </m:r>
                    <m:r>
                      <a:rPr lang="it-IT" sz="1800" i="1">
                        <a:latin typeface="Cambria Math" panose="02040503050406030204" pitchFamily="18" charset="0"/>
                      </a:rPr>
                      <m:t>𝑙𝑜𝑔</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T</m:t>
                        </m:r>
                      </m:e>
                      <m:sub>
                        <m:r>
                          <a:rPr lang="it-IT" sz="1800" i="1">
                            <a:latin typeface="Cambria Math" panose="02040503050406030204" pitchFamily="18" charset="0"/>
                          </a:rPr>
                          <m:t>90</m:t>
                        </m:r>
                      </m:sub>
                    </m:sSub>
                    <m:r>
                      <m:rPr>
                        <m:nor/>
                      </m:rPr>
                      <a:rPr lang="it-IT" sz="1800" dirty="0"/>
                      <m:t>) </m:t>
                    </m:r>
                    <m:r>
                      <m:rPr>
                        <m:nor/>
                      </m:rPr>
                      <a:rPr lang="it-IT" sz="1800" dirty="0"/>
                      <m:t>− </m:t>
                    </m:r>
                    <m:sSub>
                      <m:sSubPr>
                        <m:ctrlPr>
                          <a:rPr lang="it-IT" sz="1800" i="1" dirty="0">
                            <a:latin typeface="Cambria Math" panose="02040503050406030204" pitchFamily="18" charset="0"/>
                          </a:rPr>
                        </m:ctrlPr>
                      </m:sSubPr>
                      <m:e>
                        <m:r>
                          <a:rPr lang="it-IT" sz="1800" b="0" i="1" dirty="0" smtClean="0">
                            <a:latin typeface="Cambria Math" panose="02040503050406030204" pitchFamily="18" charset="0"/>
                          </a:rPr>
                          <m:t>(</m:t>
                        </m:r>
                        <m:r>
                          <a:rPr lang="it-IT" sz="1800" i="1" dirty="0">
                            <a:latin typeface="Cambria Math" panose="02040503050406030204" pitchFamily="18" charset="0"/>
                          </a:rPr>
                          <m:t>𝜇</m:t>
                        </m:r>
                      </m:e>
                      <m:sub>
                        <m:r>
                          <a:rPr lang="it-IT" sz="1800" i="1" dirty="0">
                            <a:latin typeface="Cambria Math" panose="02040503050406030204" pitchFamily="18" charset="0"/>
                          </a:rPr>
                          <m:t>1</m:t>
                        </m:r>
                      </m:sub>
                    </m:sSub>
                    <m:r>
                      <a:rPr lang="it-IT" sz="1800" b="0" i="1" dirty="0" smtClean="0">
                        <a:latin typeface="Cambria Math" panose="02040503050406030204" pitchFamily="18" charset="0"/>
                      </a:rPr>
                      <m:t> + </m:t>
                    </m:r>
                    <m:sSub>
                      <m:sSubPr>
                        <m:ctrlPr>
                          <a:rPr lang="it-IT" sz="1800" b="0" i="1" dirty="0" smtClean="0">
                            <a:latin typeface="Cambria Math" panose="02040503050406030204" pitchFamily="18" charset="0"/>
                          </a:rPr>
                        </m:ctrlPr>
                      </m:sSubPr>
                      <m:e>
                        <m:r>
                          <a:rPr lang="it-IT" sz="1800" b="0" i="1" dirty="0" smtClean="0">
                            <a:latin typeface="Cambria Math" panose="02040503050406030204" pitchFamily="18" charset="0"/>
                          </a:rPr>
                          <m:t>𝛿</m:t>
                        </m:r>
                      </m:e>
                      <m:sub>
                        <m:r>
                          <a:rPr lang="it-IT" sz="1800" b="0" i="1" dirty="0" smtClean="0">
                            <a:latin typeface="Cambria Math" panose="02040503050406030204" pitchFamily="18" charset="0"/>
                          </a:rPr>
                          <m:t>12</m:t>
                        </m:r>
                      </m:sub>
                    </m:sSub>
                    <m:r>
                      <m:rPr>
                        <m:nor/>
                      </m:rPr>
                      <a:rPr lang="it-IT" sz="1800" dirty="0"/>
                      <m:t>)</m:t>
                    </m:r>
                  </m:oMath>
                </a14:m>
                <a:r>
                  <a:rPr lang="it-IT" sz="1800" dirty="0"/>
                  <a:t>)</a:t>
                </a:r>
              </a:p>
              <a:p>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r>
                          <a:rPr lang="it-IT" sz="1800" i="1">
                            <a:latin typeface="Cambria Math" panose="02040503050406030204" pitchFamily="18" charset="0"/>
                          </a:rPr>
                          <m:t>𝑙𝑜𝑔</m:t>
                        </m:r>
                        <m:sSub>
                          <m:sSubPr>
                            <m:ctrlPr>
                              <a:rPr lang="it-IT" sz="1800" i="1">
                                <a:latin typeface="Cambria Math" panose="02040503050406030204" pitchFamily="18" charset="0"/>
                              </a:rPr>
                            </m:ctrlPr>
                          </m:sSubPr>
                          <m:e>
                            <m:r>
                              <a:rPr lang="it-IT" sz="1800" i="1">
                                <a:latin typeface="Cambria Math" panose="02040503050406030204" pitchFamily="18" charset="0"/>
                              </a:rPr>
                              <m:t>𝜎</m:t>
                            </m:r>
                          </m:e>
                          <m:sub>
                            <m:r>
                              <a:rPr lang="it-IT" sz="1800" i="1">
                                <a:latin typeface="Cambria Math" panose="02040503050406030204" pitchFamily="18" charset="0"/>
                              </a:rPr>
                              <m:t>𝑖</m:t>
                            </m:r>
                          </m:sub>
                        </m:sSub>
                      </m:e>
                    </m:d>
                    <m:r>
                      <a:rPr lang="it-IT" sz="1800" b="0" i="1" smtClean="0">
                        <a:latin typeface="Cambria Math" panose="02040503050406030204" pitchFamily="18" charset="0"/>
                      </a:rPr>
                      <m:t>=</m:t>
                    </m:r>
                    <m:r>
                      <a:rPr lang="it-IT" sz="1800" i="1">
                        <a:latin typeface="Cambria Math" panose="02040503050406030204" pitchFamily="18" charset="0"/>
                      </a:rPr>
                      <m:t>𝒰</m:t>
                    </m:r>
                    <m:d>
                      <m:dPr>
                        <m:ctrlPr>
                          <a:rPr lang="it-IT" sz="1800" i="1">
                            <a:latin typeface="Cambria Math" panose="02040503050406030204" pitchFamily="18" charset="0"/>
                          </a:rPr>
                        </m:ctrlPr>
                      </m:dPr>
                      <m:e>
                        <m:r>
                          <a:rPr lang="it-IT" sz="1800" i="1">
                            <a:latin typeface="Cambria Math" panose="02040503050406030204" pitchFamily="18" charset="0"/>
                          </a:rPr>
                          <m:t>𝑙𝑜𝑔</m:t>
                        </m:r>
                        <m:d>
                          <m:dPr>
                            <m:ctrlPr>
                              <a:rPr lang="it-IT" sz="1800" i="1">
                                <a:latin typeface="Cambria Math" panose="02040503050406030204" pitchFamily="18" charset="0"/>
                              </a:rPr>
                            </m:ctrlPr>
                          </m:dPr>
                          <m:e>
                            <m:r>
                              <a:rPr lang="it-IT" sz="1800" i="1">
                                <a:latin typeface="Cambria Math" panose="02040503050406030204" pitchFamily="18" charset="0"/>
                              </a:rPr>
                              <m:t>0</m:t>
                            </m:r>
                            <m:r>
                              <a:rPr lang="it-IT" sz="1800" i="1">
                                <a:latin typeface="Cambria Math" panose="02040503050406030204" pitchFamily="18" charset="0"/>
                              </a:rPr>
                              <m:t>.</m:t>
                            </m:r>
                            <m:r>
                              <a:rPr lang="it-IT" sz="1800" i="1">
                                <a:latin typeface="Cambria Math" panose="02040503050406030204" pitchFamily="18" charset="0"/>
                              </a:rPr>
                              <m:t>1</m:t>
                            </m:r>
                          </m:e>
                        </m:d>
                        <m:r>
                          <a:rPr lang="it-IT" sz="1800" i="1">
                            <a:latin typeface="Cambria Math" panose="02040503050406030204" pitchFamily="18" charset="0"/>
                          </a:rPr>
                          <m:t>,</m:t>
                        </m:r>
                        <m:r>
                          <a:rPr lang="it-IT" sz="1800" i="1">
                            <a:latin typeface="Cambria Math" panose="02040503050406030204" pitchFamily="18" charset="0"/>
                          </a:rPr>
                          <m:t>𝑙𝑜𝑔</m:t>
                        </m:r>
                        <m:d>
                          <m:dPr>
                            <m:ctrlPr>
                              <a:rPr lang="it-IT" sz="1800" i="1">
                                <a:latin typeface="Cambria Math" panose="02040503050406030204" pitchFamily="18" charset="0"/>
                              </a:rPr>
                            </m:ctrlPr>
                          </m:dPr>
                          <m:e>
                            <m:r>
                              <a:rPr lang="it-IT" sz="1800" i="1">
                                <a:latin typeface="Cambria Math" panose="02040503050406030204" pitchFamily="18" charset="0"/>
                              </a:rPr>
                              <m:t>6</m:t>
                            </m:r>
                          </m:e>
                        </m:d>
                      </m:e>
                    </m:d>
                  </m:oMath>
                </a14:m>
                <a:endParaRPr lang="it-IT" sz="1800" dirty="0"/>
              </a:p>
              <a:p>
                <a:r>
                  <a:rPr lang="it-IT" sz="1800" dirty="0"/>
                  <a:t>For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𝐻</m:t>
                        </m:r>
                      </m:e>
                      <m:sub>
                        <m:r>
                          <a:rPr lang="it-IT" sz="1800" i="1">
                            <a:latin typeface="Cambria Math" panose="02040503050406030204" pitchFamily="18" charset="0"/>
                          </a:rPr>
                          <m:t>0</m:t>
                        </m:r>
                      </m:sub>
                    </m:sSub>
                  </m:oMath>
                </a14:m>
                <a:r>
                  <a:rPr lang="it-IT" sz="1800" dirty="0"/>
                  <a:t> the priors are the same, but </a:t>
                </a:r>
                <a14:m>
                  <m:oMath xmlns:m="http://schemas.openxmlformats.org/officeDocument/2006/math">
                    <m:sSub>
                      <m:sSubPr>
                        <m:ctrlPr>
                          <a:rPr lang="it-IT" sz="1800" i="1" smtClean="0">
                            <a:latin typeface="Cambria Math" panose="02040503050406030204" pitchFamily="18" charset="0"/>
                          </a:rPr>
                        </m:ctrlPr>
                      </m:sSubPr>
                      <m:e>
                        <m:r>
                          <a:rPr lang="it-IT" sz="1800" i="1">
                            <a:latin typeface="Cambria Math" panose="02040503050406030204" pitchFamily="18" charset="0"/>
                          </a:rPr>
                          <m:t>𝑤</m:t>
                        </m:r>
                      </m:e>
                      <m:sub>
                        <m:r>
                          <a:rPr lang="it-IT" sz="1800" i="1">
                            <a:latin typeface="Cambria Math" panose="02040503050406030204" pitchFamily="18" charset="0"/>
                          </a:rPr>
                          <m:t>1</m:t>
                        </m:r>
                      </m:sub>
                    </m:sSub>
                    <m:r>
                      <a:rPr lang="it-IT" sz="1800" i="1">
                        <a:latin typeface="Cambria Math" panose="02040503050406030204" pitchFamily="18" charset="0"/>
                      </a:rPr>
                      <m:t>=</m:t>
                    </m:r>
                    <m:r>
                      <a:rPr lang="it-IT" sz="1800" b="0" i="1" smtClean="0">
                        <a:latin typeface="Cambria Math" panose="02040503050406030204" pitchFamily="18" charset="0"/>
                      </a:rPr>
                      <m:t>𝑤</m:t>
                    </m:r>
                  </m:oMath>
                </a14:m>
                <a:r>
                  <a:rPr lang="it-IT" sz="1800" dirty="0"/>
                  <a:t> and </a:t>
                </a:r>
                <a14:m>
                  <m:oMath xmlns:m="http://schemas.openxmlformats.org/officeDocument/2006/math">
                    <m:sSub>
                      <m:sSubPr>
                        <m:ctrlPr>
                          <a:rPr lang="it-IT" sz="1800" i="1" smtClean="0">
                            <a:latin typeface="Cambria Math" panose="02040503050406030204" pitchFamily="18" charset="0"/>
                          </a:rPr>
                        </m:ctrlPr>
                      </m:sSubPr>
                      <m:e>
                        <m:r>
                          <a:rPr lang="it-IT" sz="1800" i="1">
                            <a:latin typeface="Cambria Math" panose="02040503050406030204" pitchFamily="18" charset="0"/>
                          </a:rPr>
                          <m:t>𝑤</m:t>
                        </m:r>
                      </m:e>
                      <m:sub>
                        <m:r>
                          <a:rPr lang="it-IT" sz="1800" b="0" i="1" smtClean="0">
                            <a:latin typeface="Cambria Math" panose="02040503050406030204" pitchFamily="18" charset="0"/>
                          </a:rPr>
                          <m:t>2</m:t>
                        </m:r>
                      </m:sub>
                    </m:sSub>
                    <m:r>
                      <a:rPr lang="it-IT" sz="1800" i="1">
                        <a:latin typeface="Cambria Math" panose="02040503050406030204" pitchFamily="18" charset="0"/>
                      </a:rPr>
                      <m:t>=</m:t>
                    </m:r>
                    <m:r>
                      <a:rPr lang="it-IT" sz="1800" b="0" i="1" smtClean="0">
                        <a:latin typeface="Cambria Math" panose="02040503050406030204" pitchFamily="18" charset="0"/>
                      </a:rPr>
                      <m:t>1</m:t>
                    </m:r>
                    <m:r>
                      <a:rPr lang="it-IT" sz="1800" b="0" i="1" smtClean="0">
                        <a:latin typeface="Cambria Math" panose="02040503050406030204" pitchFamily="18" charset="0"/>
                      </a:rPr>
                      <m:t>−</m:t>
                    </m:r>
                    <m:r>
                      <a:rPr lang="it-IT" sz="1800" i="1">
                        <a:latin typeface="Cambria Math" panose="02040503050406030204" pitchFamily="18" charset="0"/>
                      </a:rPr>
                      <m:t>𝑤</m:t>
                    </m:r>
                  </m:oMath>
                </a14:m>
                <a:r>
                  <a:rPr lang="it-IT" sz="1800" dirty="0"/>
                  <a:t>.</a:t>
                </a:r>
              </a:p>
            </p:txBody>
          </p:sp>
        </mc:Choice>
        <mc:Fallback xmlns="">
          <p:sp>
            <p:nvSpPr>
              <p:cNvPr id="3" name="Content Placeholder 2">
                <a:extLst>
                  <a:ext uri="{FF2B5EF4-FFF2-40B4-BE49-F238E27FC236}">
                    <a16:creationId xmlns:a16="http://schemas.microsoft.com/office/drawing/2014/main" id="{D7E26403-BD09-D977-BD09-0A7056A58B12}"/>
                  </a:ext>
                </a:extLst>
              </p:cNvPr>
              <p:cNvSpPr>
                <a:spLocks noGrp="1" noRot="1" noChangeAspect="1" noMove="1" noResize="1" noEditPoints="1" noAdjustHandles="1" noChangeArrowheads="1" noChangeShapeType="1" noTextEdit="1"/>
              </p:cNvSpPr>
              <p:nvPr>
                <p:ph idx="1"/>
              </p:nvPr>
            </p:nvSpPr>
            <p:spPr>
              <a:xfrm>
                <a:off x="700635" y="1570891"/>
                <a:ext cx="10691265" cy="4564185"/>
              </a:xfrm>
              <a:blipFill>
                <a:blip r:embed="rId3"/>
                <a:stretch>
                  <a:fillRect l="-399" t="-668"/>
                </a:stretch>
              </a:blipFill>
            </p:spPr>
            <p:txBody>
              <a:bodyPr/>
              <a:lstStyle/>
              <a:p>
                <a:r>
                  <a:rPr lang="it-IT">
                    <a:noFill/>
                  </a:rPr>
                  <a:t> </a:t>
                </a:r>
              </a:p>
            </p:txBody>
          </p:sp>
        </mc:Fallback>
      </mc:AlternateContent>
    </p:spTree>
    <p:extLst>
      <p:ext uri="{BB962C8B-B14F-4D97-AF65-F5344CB8AC3E}">
        <p14:creationId xmlns:p14="http://schemas.microsoft.com/office/powerpoint/2010/main" val="97584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90AD4-EA57-889E-80DE-838C166A5126}"/>
              </a:ext>
            </a:extLst>
          </p:cNvPr>
          <p:cNvSpPr>
            <a:spLocks noGrp="1"/>
          </p:cNvSpPr>
          <p:nvPr>
            <p:ph type="title"/>
          </p:nvPr>
        </p:nvSpPr>
        <p:spPr/>
        <p:txBody>
          <a:bodyPr/>
          <a:lstStyle/>
          <a:p>
            <a:r>
              <a:rPr lang="it-IT" dirty="0">
                <a:solidFill>
                  <a:srgbClr val="FF0000"/>
                </a:solidFill>
              </a:rPr>
              <a:t>bound</a:t>
            </a:r>
          </a:p>
        </p:txBody>
      </p:sp>
      <p:pic>
        <p:nvPicPr>
          <p:cNvPr id="5" name="Picture 4" descr="A collage of different types of ellipsoid&#10;&#10;AI-generated content may be incorrect.">
            <a:extLst>
              <a:ext uri="{FF2B5EF4-FFF2-40B4-BE49-F238E27FC236}">
                <a16:creationId xmlns:a16="http://schemas.microsoft.com/office/drawing/2014/main" id="{FBD473D6-C3C3-A517-8D40-CC4783A4D8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5477" y="896112"/>
            <a:ext cx="4685888" cy="2144074"/>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D9A3BB-BD2D-7960-85FA-C4544F48F80F}"/>
                  </a:ext>
                </a:extLst>
              </p:cNvPr>
              <p:cNvSpPr>
                <a:spLocks noGrp="1"/>
              </p:cNvSpPr>
              <p:nvPr>
                <p:ph idx="1"/>
              </p:nvPr>
            </p:nvSpPr>
            <p:spPr>
              <a:xfrm>
                <a:off x="700635" y="1570891"/>
                <a:ext cx="10691265" cy="4634523"/>
              </a:xfrm>
            </p:spPr>
            <p:txBody>
              <a:bodyPr>
                <a:normAutofit/>
              </a:bodyPr>
              <a:lstStyle/>
              <a:p>
                <a:r>
                  <a:rPr lang="it-IT" b="1" dirty="0"/>
                  <a:t>Bound = ‘none’</a:t>
                </a:r>
              </a:p>
              <a:p>
                <a:pPr lvl="1"/>
                <a:r>
                  <a:rPr lang="it-IT" sz="1600" dirty="0"/>
                  <a:t>Inefficient: the rejection probability grows whit </a:t>
                </a:r>
                <a14:m>
                  <m:oMath xmlns:m="http://schemas.openxmlformats.org/officeDocument/2006/math">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𝐿</m:t>
                        </m:r>
                      </m:e>
                      <m:sub>
                        <m:r>
                          <a:rPr lang="it-IT" sz="1600" b="0" i="1" smtClean="0">
                            <a:latin typeface="Cambria Math" panose="02040503050406030204" pitchFamily="18" charset="0"/>
                          </a:rPr>
                          <m:t>𝑚𝑖𝑛</m:t>
                        </m:r>
                        <m:r>
                          <a:rPr lang="it-IT" sz="1600" b="0" i="1" smtClean="0">
                            <a:latin typeface="Cambria Math" panose="02040503050406030204" pitchFamily="18" charset="0"/>
                          </a:rPr>
                          <m:t>,</m:t>
                        </m:r>
                        <m:r>
                          <a:rPr lang="it-IT" sz="1600" b="0" i="1" smtClean="0">
                            <a:latin typeface="Cambria Math" panose="02040503050406030204" pitchFamily="18" charset="0"/>
                          </a:rPr>
                          <m:t>𝑖</m:t>
                        </m:r>
                      </m:sub>
                    </m:sSub>
                  </m:oMath>
                </a14:m>
                <a:r>
                  <a:rPr lang="it-IT" sz="1600" dirty="0"/>
                  <a:t>.</a:t>
                </a:r>
              </a:p>
              <a:p>
                <a:r>
                  <a:rPr lang="it-IT" b="1" dirty="0"/>
                  <a:t>Bound = ‘single’</a:t>
                </a:r>
              </a:p>
              <a:p>
                <a:pPr lvl="1"/>
                <a:r>
                  <a:rPr lang="it-IT" sz="1600" dirty="0"/>
                  <a:t>Create an ellipsoid using mean and covariance of the live points.</a:t>
                </a:r>
              </a:p>
              <a:p>
                <a:pPr lvl="1"/>
                <a:r>
                  <a:rPr lang="en-US" sz="1600" dirty="0"/>
                  <a:t>Works well for approximately Gaussian, unimodal posteriors; inefficient for multimodal posteriors.</a:t>
                </a:r>
              </a:p>
              <a:p>
                <a:r>
                  <a:rPr lang="it-IT" b="1" dirty="0"/>
                  <a:t>Bound = ‘multi’</a:t>
                </a:r>
              </a:p>
              <a:p>
                <a:pPr lvl="1"/>
                <a:r>
                  <a:rPr lang="en-US" sz="1600" dirty="0"/>
                  <a:t>Build </a:t>
                </a:r>
                <a:r>
                  <a:rPr lang="en-US" sz="1600" b="1" dirty="0"/>
                  <a:t>multiple ellipsoids </a:t>
                </a:r>
                <a:r>
                  <a:rPr lang="en-US" sz="1600" dirty="0"/>
                  <a:t>by recursive clustering:</a:t>
                </a:r>
                <a:endParaRPr lang="it-IT" sz="1600" b="1" dirty="0"/>
              </a:p>
              <a:p>
                <a:pPr marL="1257300" lvl="2" indent="-342900">
                  <a:buFont typeface="+mj-lt"/>
                  <a:buAutoNum type="arabicPeriod"/>
                </a:pPr>
                <a:r>
                  <a:rPr lang="en-US" dirty="0"/>
                  <a:t>Compute the mean and covariance of the current live points and construct an ellipsoid.</a:t>
                </a:r>
              </a:p>
              <a:p>
                <a:pPr marL="1257300" lvl="2" indent="-342900">
                  <a:buFont typeface="+mj-lt"/>
                  <a:buAutoNum type="arabicPeriod"/>
                </a:pPr>
                <a:r>
                  <a:rPr lang="en-US" dirty="0"/>
                  <a:t>Select the two points corresponding to the opposite ends of the major axis of the ellipsoid.</a:t>
                </a:r>
              </a:p>
              <a:p>
                <a:pPr marL="1257300" lvl="2" indent="-342900">
                  <a:buFont typeface="+mj-lt"/>
                  <a:buAutoNum type="arabicPeriod"/>
                </a:pPr>
                <a:r>
                  <a:rPr lang="en-US" dirty="0"/>
                  <a:t>Apply k-means using those two points (k=2) and assign them to the two clusters.</a:t>
                </a:r>
              </a:p>
              <a:p>
                <a:pPr marL="1257300" lvl="2" indent="-342900">
                  <a:buFont typeface="+mj-lt"/>
                  <a:buAutoNum type="arabicPeriod"/>
                </a:pPr>
                <a:r>
                  <a:rPr lang="en-US" dirty="0"/>
                  <a:t>Construct an ellipsoid for each cluster.</a:t>
                </a:r>
              </a:p>
              <a:p>
                <a:pPr marL="1257300" lvl="2" indent="-342900">
                  <a:buFont typeface="+mj-lt"/>
                  <a:buAutoNum type="arabicPeriod"/>
                </a:pPr>
                <a:r>
                  <a:rPr lang="en-US" dirty="0"/>
                  <a:t>If the decrease in volume exceeds a threshold, repeat from step 2 on each ellipsoid (further subdivide); otherwise stop.</a:t>
                </a:r>
                <a:endParaRPr lang="it-IT" dirty="0"/>
              </a:p>
            </p:txBody>
          </p:sp>
        </mc:Choice>
        <mc:Fallback xmlns="">
          <p:sp>
            <p:nvSpPr>
              <p:cNvPr id="3" name="Content Placeholder 2">
                <a:extLst>
                  <a:ext uri="{FF2B5EF4-FFF2-40B4-BE49-F238E27FC236}">
                    <a16:creationId xmlns:a16="http://schemas.microsoft.com/office/drawing/2014/main" id="{54D9A3BB-BD2D-7960-85FA-C4544F48F80F}"/>
                  </a:ext>
                </a:extLst>
              </p:cNvPr>
              <p:cNvSpPr>
                <a:spLocks noGrp="1" noRot="1" noChangeAspect="1" noMove="1" noResize="1" noEditPoints="1" noAdjustHandles="1" noChangeArrowheads="1" noChangeShapeType="1" noTextEdit="1"/>
              </p:cNvSpPr>
              <p:nvPr>
                <p:ph idx="1"/>
              </p:nvPr>
            </p:nvSpPr>
            <p:spPr>
              <a:xfrm>
                <a:off x="700635" y="1570891"/>
                <a:ext cx="10691265" cy="4634523"/>
              </a:xfrm>
              <a:blipFill>
                <a:blip r:embed="rId4"/>
                <a:stretch>
                  <a:fillRect l="-513" t="-658" b="-921"/>
                </a:stretch>
              </a:blipFill>
            </p:spPr>
            <p:txBody>
              <a:bodyPr/>
              <a:lstStyle/>
              <a:p>
                <a:r>
                  <a:rPr lang="it-IT">
                    <a:noFill/>
                  </a:rPr>
                  <a:t> </a:t>
                </a:r>
              </a:p>
            </p:txBody>
          </p:sp>
        </mc:Fallback>
      </mc:AlternateContent>
    </p:spTree>
    <p:extLst>
      <p:ext uri="{BB962C8B-B14F-4D97-AF65-F5344CB8AC3E}">
        <p14:creationId xmlns:p14="http://schemas.microsoft.com/office/powerpoint/2010/main" val="806234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5161A-A951-FD50-683E-51336F94730A}"/>
              </a:ext>
            </a:extLst>
          </p:cNvPr>
          <p:cNvSpPr>
            <a:spLocks noGrp="1"/>
          </p:cNvSpPr>
          <p:nvPr>
            <p:ph type="title"/>
          </p:nvPr>
        </p:nvSpPr>
        <p:spPr>
          <a:xfrm>
            <a:off x="700635" y="914400"/>
            <a:ext cx="10691265" cy="1307592"/>
          </a:xfrm>
        </p:spPr>
        <p:txBody>
          <a:bodyPr/>
          <a:lstStyle/>
          <a:p>
            <a:r>
              <a:rPr lang="it-IT" dirty="0">
                <a:solidFill>
                  <a:srgbClr val="FF0000"/>
                </a:solidFill>
              </a:rPr>
              <a:t>SaMple</a:t>
            </a:r>
          </a:p>
        </p:txBody>
      </p:sp>
      <p:pic>
        <p:nvPicPr>
          <p:cNvPr id="5" name="Picture 4" descr="A diagram of a diagram&#10;&#10;AI-generated content may be incorrect.">
            <a:extLst>
              <a:ext uri="{FF2B5EF4-FFF2-40B4-BE49-F238E27FC236}">
                <a16:creationId xmlns:a16="http://schemas.microsoft.com/office/drawing/2014/main" id="{21A4E7B3-2748-98F0-8268-87F64AFADC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811743"/>
            <a:ext cx="4076700" cy="1964286"/>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FB76B2-6C1E-CA79-D0F9-B2A8EA12AA0A}"/>
                  </a:ext>
                </a:extLst>
              </p:cNvPr>
              <p:cNvSpPr>
                <a:spLocks noGrp="1"/>
              </p:cNvSpPr>
              <p:nvPr>
                <p:ph idx="1"/>
              </p:nvPr>
            </p:nvSpPr>
            <p:spPr>
              <a:xfrm>
                <a:off x="700635" y="1563077"/>
                <a:ext cx="10691265" cy="4595446"/>
              </a:xfrm>
            </p:spPr>
            <p:txBody>
              <a:bodyPr>
                <a:normAutofit lnSpcReduction="10000"/>
              </a:bodyPr>
              <a:lstStyle/>
              <a:p>
                <a:r>
                  <a:rPr lang="it-IT" b="1" dirty="0"/>
                  <a:t>Sample = ‘unif’</a:t>
                </a:r>
              </a:p>
              <a:p>
                <a:pPr lvl="1"/>
                <a:r>
                  <a:rPr lang="it-IT" b="1" dirty="0"/>
                  <a:t>Rejection sampling</a:t>
                </a:r>
                <a:r>
                  <a:rPr lang="it-IT" dirty="0"/>
                  <a:t> inside the bound.</a:t>
                </a:r>
              </a:p>
              <a:p>
                <a:r>
                  <a:rPr lang="it-IT" b="1" dirty="0"/>
                  <a:t>Sample = ‘rwalk’</a:t>
                </a:r>
              </a:p>
              <a:p>
                <a:pPr lvl="1"/>
                <a:r>
                  <a:rPr lang="it-IT" dirty="0"/>
                  <a:t>The </a:t>
                </a:r>
                <a:r>
                  <a:rPr lang="it-IT" b="1" dirty="0"/>
                  <a:t>proposal</a:t>
                </a:r>
                <a:r>
                  <a:rPr lang="it-IT" dirty="0"/>
                  <a:t> is a uniform ellipsoid centered on the point to be replaced and </a:t>
                </a:r>
                <a:r>
                  <a:rPr lang="en-US" dirty="0"/>
                  <a:t>with the same size as the bound. </a:t>
                </a:r>
                <a:r>
                  <a:rPr lang="it-IT" dirty="0"/>
                  <a:t>If </a:t>
                </a:r>
                <a:r>
                  <a:rPr lang="it-IT" i="1" dirty="0"/>
                  <a:t>bound = ‘multi’, </a:t>
                </a:r>
                <a:r>
                  <a:rPr lang="it-IT" dirty="0"/>
                  <a:t>randomly pick one of the ellipsoids that intersect the point.</a:t>
                </a:r>
              </a:p>
              <a:p>
                <a:pPr lvl="1"/>
                <a:r>
                  <a:rPr lang="it-IT" dirty="0"/>
                  <a:t>The </a:t>
                </a:r>
                <a:r>
                  <a:rPr lang="it-IT" b="1" dirty="0"/>
                  <a:t>number of chain steps </a:t>
                </a:r>
                <a:r>
                  <a:rPr lang="it-IT" dirty="0"/>
                  <a:t>per iteration is set by the parameter </a:t>
                </a:r>
                <a:r>
                  <a:rPr lang="it-IT" i="1" dirty="0"/>
                  <a:t>walks </a:t>
                </a:r>
                <a:r>
                  <a:rPr lang="it-IT" dirty="0"/>
                  <a:t>(default </a:t>
                </a:r>
                <a:r>
                  <a:rPr lang="it-IT" i="1" dirty="0"/>
                  <a:t>walks </a:t>
                </a:r>
                <a:r>
                  <a:rPr lang="it-IT" dirty="0"/>
                  <a:t>= 25).</a:t>
                </a:r>
              </a:p>
              <a:p>
                <a:pPr lvl="1"/>
                <a:r>
                  <a:rPr lang="en-US" dirty="0"/>
                  <a:t>The </a:t>
                </a:r>
                <a:r>
                  <a:rPr lang="en-US" b="1" dirty="0"/>
                  <a:t>bound is updated</a:t>
                </a:r>
                <a:r>
                  <a:rPr lang="en-US" dirty="0"/>
                  <a:t> after</a:t>
                </a:r>
                <a:r>
                  <a:rPr lang="it-IT" dirty="0"/>
                  <a:t> </a:t>
                </a:r>
                <a14:m>
                  <m:oMath xmlns:m="http://schemas.openxmlformats.org/officeDocument/2006/math">
                    <m:r>
                      <a:rPr lang="it-IT" b="0" i="1" smtClean="0">
                        <a:latin typeface="Cambria Math" panose="02040503050406030204" pitchFamily="18" charset="0"/>
                      </a:rPr>
                      <m:t>𝑟𝑜𝑢𝑛𝑑</m:t>
                    </m:r>
                    <m:d>
                      <m:dPr>
                        <m:ctrlPr>
                          <a:rPr lang="it-IT" b="0" i="1" smtClean="0">
                            <a:latin typeface="Cambria Math" panose="02040503050406030204" pitchFamily="18" charset="0"/>
                          </a:rPr>
                        </m:ctrlPr>
                      </m:dPr>
                      <m:e>
                        <m:r>
                          <a:rPr lang="it-IT" b="0" i="1" smtClean="0">
                            <a:latin typeface="Cambria Math" panose="02040503050406030204" pitchFamily="18" charset="0"/>
                          </a:rPr>
                          <m:t>0</m:t>
                        </m:r>
                        <m:r>
                          <a:rPr lang="it-IT" b="0" i="1" smtClean="0">
                            <a:latin typeface="Cambria Math" panose="02040503050406030204" pitchFamily="18" charset="0"/>
                          </a:rPr>
                          <m:t>.</m:t>
                        </m:r>
                        <m:r>
                          <a:rPr lang="it-IT" b="0" i="1" smtClean="0">
                            <a:latin typeface="Cambria Math" panose="02040503050406030204" pitchFamily="18" charset="0"/>
                          </a:rPr>
                          <m:t>15</m:t>
                        </m:r>
                        <m:r>
                          <a:rPr lang="it-IT" b="0" i="1" smtClean="0">
                            <a:latin typeface="Cambria Math" panose="02040503050406030204" pitchFamily="18" charset="0"/>
                          </a:rPr>
                          <m:t>×</m:t>
                        </m:r>
                        <m:r>
                          <a:rPr lang="it-IT" b="0" i="1" smtClean="0">
                            <a:latin typeface="Cambria Math" panose="02040503050406030204" pitchFamily="18" charset="0"/>
                          </a:rPr>
                          <m:t>𝑤𝑎𝑙𝑘𝑠</m:t>
                        </m:r>
                      </m:e>
                    </m:d>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𝑁</m:t>
                        </m:r>
                      </m:e>
                      <m:sub>
                        <m:r>
                          <a:rPr lang="it-IT" b="0" i="1" smtClean="0">
                            <a:latin typeface="Cambria Math" panose="02040503050406030204" pitchFamily="18" charset="0"/>
                          </a:rPr>
                          <m:t>𝐿</m:t>
                        </m:r>
                      </m:sub>
                    </m:sSub>
                  </m:oMath>
                </a14:m>
                <a:r>
                  <a:rPr lang="it-IT" dirty="0"/>
                  <a:t> likelihood calls: </a:t>
                </a:r>
              </a:p>
              <a:p>
                <a:pPr lvl="2"/>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𝑁</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1200</m:t>
                    </m:r>
                    <m:r>
                      <a:rPr lang="it-IT" b="0" i="1" smtClean="0">
                        <a:latin typeface="Cambria Math" panose="02040503050406030204" pitchFamily="18" charset="0"/>
                      </a:rPr>
                      <m:t>, </m:t>
                    </m:r>
                    <m:r>
                      <a:rPr lang="it-IT" b="0" i="1" smtClean="0">
                        <a:latin typeface="Cambria Math" panose="02040503050406030204" pitchFamily="18" charset="0"/>
                      </a:rPr>
                      <m:t>𝑤𝑎𝑙𝑘𝑠</m:t>
                    </m:r>
                    <m:r>
                      <a:rPr lang="it-IT" b="0" i="1" smtClean="0">
                        <a:latin typeface="Cambria Math" panose="02040503050406030204" pitchFamily="18" charset="0"/>
                      </a:rPr>
                      <m:t>=</m:t>
                    </m:r>
                    <m:r>
                      <a:rPr lang="it-IT" b="0" i="1" smtClean="0">
                        <a:latin typeface="Cambria Math" panose="02040503050406030204" pitchFamily="18" charset="0"/>
                      </a:rPr>
                      <m:t>25</m:t>
                    </m:r>
                    <m:r>
                      <a:rPr lang="it-IT" b="0" i="1" smtClean="0">
                        <a:latin typeface="Cambria Math" panose="02040503050406030204" pitchFamily="18" charset="0"/>
                      </a:rPr>
                      <m:t> ⇒ </m:t>
                    </m:r>
                    <m:r>
                      <a:rPr lang="it-IT" i="1">
                        <a:latin typeface="Cambria Math" panose="02040503050406030204" pitchFamily="18" charset="0"/>
                      </a:rPr>
                      <m:t>𝑟𝑜𝑢𝑛𝑑</m:t>
                    </m:r>
                    <m:d>
                      <m:dPr>
                        <m:ctrlPr>
                          <a:rPr lang="it-IT" i="1">
                            <a:latin typeface="Cambria Math" panose="02040503050406030204" pitchFamily="18" charset="0"/>
                          </a:rPr>
                        </m:ctrlPr>
                      </m:dPr>
                      <m:e>
                        <m:r>
                          <a:rPr lang="it-IT" i="1">
                            <a:latin typeface="Cambria Math" panose="02040503050406030204" pitchFamily="18" charset="0"/>
                          </a:rPr>
                          <m:t>0</m:t>
                        </m:r>
                        <m:r>
                          <a:rPr lang="it-IT" i="1">
                            <a:latin typeface="Cambria Math" panose="02040503050406030204" pitchFamily="18" charset="0"/>
                          </a:rPr>
                          <m:t>.</m:t>
                        </m:r>
                        <m:r>
                          <a:rPr lang="it-IT" i="1">
                            <a:latin typeface="Cambria Math" panose="02040503050406030204" pitchFamily="18" charset="0"/>
                          </a:rPr>
                          <m:t>15</m:t>
                        </m:r>
                        <m:r>
                          <a:rPr lang="it-IT" i="1">
                            <a:latin typeface="Cambria Math" panose="02040503050406030204" pitchFamily="18" charset="0"/>
                          </a:rPr>
                          <m:t>×</m:t>
                        </m:r>
                        <m:r>
                          <a:rPr lang="it-IT" i="1">
                            <a:latin typeface="Cambria Math" panose="02040503050406030204" pitchFamily="18" charset="0"/>
                          </a:rPr>
                          <m:t>𝑤𝑎𝑙𝑘𝑠</m:t>
                        </m:r>
                      </m:e>
                    </m:d>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𝑁</m:t>
                        </m:r>
                      </m:e>
                      <m:sub>
                        <m:r>
                          <a:rPr lang="it-IT" i="1">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4500</m:t>
                    </m:r>
                  </m:oMath>
                </a14:m>
                <a:r>
                  <a:rPr lang="it-IT" dirty="0"/>
                  <a:t> likelihood calls (</a:t>
                </a:r>
                <a14:m>
                  <m:oMath xmlns:m="http://schemas.openxmlformats.org/officeDocument/2006/math">
                    <m:r>
                      <a:rPr lang="it-IT" i="1" dirty="0" smtClean="0">
                        <a:latin typeface="Cambria Math" panose="02040503050406030204" pitchFamily="18" charset="0"/>
                      </a:rPr>
                      <m:t>1</m:t>
                    </m:r>
                    <m:r>
                      <a:rPr lang="it-IT" b="0" i="1" dirty="0" smtClean="0">
                        <a:latin typeface="Cambria Math" panose="02040503050406030204" pitchFamily="18" charset="0"/>
                      </a:rPr>
                      <m:t>80</m:t>
                    </m:r>
                    <m:r>
                      <a:rPr lang="it-IT" i="1">
                        <a:latin typeface="Cambria Math" panose="02040503050406030204" pitchFamily="18" charset="0"/>
                      </a:rPr>
                      <m:t> </m:t>
                    </m:r>
                  </m:oMath>
                </a14:m>
                <a:r>
                  <a:rPr lang="it-IT" dirty="0"/>
                  <a:t>iterations)</a:t>
                </a:r>
              </a:p>
              <a:p>
                <a:pPr lvl="1"/>
                <a:r>
                  <a:rPr lang="it-IT" dirty="0"/>
                  <a:t>The </a:t>
                </a:r>
                <a:r>
                  <a:rPr lang="it-IT" b="1" dirty="0"/>
                  <a:t>proposal scale </a:t>
                </a:r>
                <a:r>
                  <a:rPr lang="it-IT" dirty="0"/>
                  <a:t>is adapted each iteration: </a:t>
                </a:r>
                <a:endParaRPr lang="it-IT" b="0" i="1" dirty="0">
                  <a:latin typeface="Cambria Math" panose="02040503050406030204" pitchFamily="18" charset="0"/>
                </a:endParaRPr>
              </a:p>
              <a:p>
                <a:pPr marL="457200" lvl="1" indent="0" algn="ctr">
                  <a:buNone/>
                </a:pPr>
                <a14:m>
                  <m:oMathPara xmlns:m="http://schemas.openxmlformats.org/officeDocument/2006/math">
                    <m:oMathParaPr>
                      <m:jc m:val="center"/>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𝑖</m:t>
                          </m:r>
                          <m:r>
                            <a:rPr lang="it-IT" b="0" i="1" smtClean="0">
                              <a:latin typeface="Cambria Math" panose="02040503050406030204" pitchFamily="18" charset="0"/>
                            </a:rPr>
                            <m:t>+</m:t>
                          </m:r>
                          <m:r>
                            <a:rPr lang="it-IT" b="0" i="1" smtClean="0">
                              <a:latin typeface="Cambria Math" panose="02040503050406030204" pitchFamily="18" charset="0"/>
                            </a:rPr>
                            <m:t>1</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𝑖</m:t>
                          </m:r>
                        </m:sub>
                      </m:sSub>
                      <m:r>
                        <a:rPr lang="it-IT" b="0" i="1" smtClean="0">
                          <a:latin typeface="Cambria Math" panose="02040503050406030204" pitchFamily="18" charset="0"/>
                        </a:rPr>
                        <m:t>×</m:t>
                      </m:r>
                      <m:r>
                        <a:rPr lang="it-IT" b="0" i="1" smtClean="0">
                          <a:latin typeface="Cambria Math" panose="02040503050406030204" pitchFamily="18" charset="0"/>
                        </a:rPr>
                        <m:t>𝑒𝑥𝑝</m:t>
                      </m:r>
                      <m:d>
                        <m:dPr>
                          <m:ctrlPr>
                            <a:rPr lang="it-IT" b="0" i="1" smtClean="0">
                              <a:latin typeface="Cambria Math" panose="02040503050406030204" pitchFamily="18" charset="0"/>
                            </a:rPr>
                          </m:ctrlPr>
                        </m:dPr>
                        <m:e>
                          <m:f>
                            <m:fPr>
                              <m:ctrlPr>
                                <a:rPr lang="it-IT" b="0" i="1" smtClean="0">
                                  <a:latin typeface="Cambria Math" panose="02040503050406030204" pitchFamily="18" charset="0"/>
                                </a:rPr>
                              </m:ctrlPr>
                            </m:fPr>
                            <m:num>
                              <m:r>
                                <a:rPr lang="it-IT" i="1">
                                  <a:latin typeface="Cambria Math" panose="02040503050406030204" pitchFamily="18" charset="0"/>
                                </a:rPr>
                                <m:t>𝑟𝑎𝑡𝑖𝑜</m:t>
                              </m:r>
                              <m:r>
                                <a:rPr lang="it-IT" i="1">
                                  <a:latin typeface="Cambria Math" panose="02040503050406030204" pitchFamily="18" charset="0"/>
                                </a:rPr>
                                <m:t>−</m:t>
                              </m:r>
                              <m:r>
                                <a:rPr lang="it-IT" i="1">
                                  <a:latin typeface="Cambria Math" panose="02040503050406030204" pitchFamily="18" charset="0"/>
                                </a:rPr>
                                <m:t>𝑡𝑎𝑟𝑔𝑒𝑡</m:t>
                              </m:r>
                            </m:num>
                            <m:den>
                              <m:r>
                                <a:rPr lang="it-IT" i="1">
                                  <a:latin typeface="Cambria Math" panose="02040503050406030204" pitchFamily="18" charset="0"/>
                                </a:rPr>
                                <m:t>𝑑</m:t>
                              </m:r>
                              <m:r>
                                <a:rPr lang="it-IT" i="1">
                                  <a:latin typeface="Cambria Math" panose="02040503050406030204" pitchFamily="18" charset="0"/>
                                </a:rPr>
                                <m:t>×</m:t>
                              </m:r>
                              <m:r>
                                <a:rPr lang="it-IT" i="1">
                                  <a:latin typeface="Cambria Math" panose="02040503050406030204" pitchFamily="18" charset="0"/>
                                </a:rPr>
                                <m:t>𝑡𝑎𝑟𝑔𝑒𝑡</m:t>
                              </m:r>
                            </m:den>
                          </m:f>
                        </m:e>
                      </m:d>
                      <m:r>
                        <a:rPr lang="it-IT" b="0" i="1" smtClean="0">
                          <a:latin typeface="Cambria Math" panose="02040503050406030204" pitchFamily="18" charset="0"/>
                        </a:rPr>
                        <m:t> ⇒ </m:t>
                      </m:r>
                      <m:r>
                        <a:rPr lang="it-IT" b="0" i="1" smtClean="0">
                          <a:latin typeface="Cambria Math" panose="02040503050406030204" pitchFamily="18" charset="0"/>
                        </a:rPr>
                        <m:t>𝑙𝑜𝑔</m:t>
                      </m:r>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𝑖</m:t>
                          </m:r>
                          <m:r>
                            <a:rPr lang="it-IT" b="0" i="1" smtClean="0">
                              <a:latin typeface="Cambria Math" panose="02040503050406030204" pitchFamily="18" charset="0"/>
                            </a:rPr>
                            <m:t>+</m:t>
                          </m:r>
                          <m:r>
                            <a:rPr lang="it-IT" b="0" i="1" smtClean="0">
                              <a:latin typeface="Cambria Math" panose="02040503050406030204" pitchFamily="18" charset="0"/>
                            </a:rPr>
                            <m:t>1</m:t>
                          </m:r>
                        </m:sub>
                      </m:sSub>
                      <m:r>
                        <a:rPr lang="it-IT" b="0" i="1" smtClean="0">
                          <a:latin typeface="Cambria Math" panose="02040503050406030204" pitchFamily="18" charset="0"/>
                        </a:rPr>
                        <m:t>)=</m:t>
                      </m:r>
                      <m:r>
                        <a:rPr lang="it-IT" b="0" i="1" smtClean="0">
                          <a:latin typeface="Cambria Math" panose="02040503050406030204" pitchFamily="18" charset="0"/>
                        </a:rPr>
                        <m:t>𝑙𝑜𝑔</m:t>
                      </m:r>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𝑠</m:t>
                          </m:r>
                        </m:e>
                        <m:sub>
                          <m:r>
                            <a:rPr lang="it-IT" b="0" i="1" smtClean="0">
                              <a:latin typeface="Cambria Math" panose="02040503050406030204" pitchFamily="18" charset="0"/>
                            </a:rPr>
                            <m:t>𝑖</m:t>
                          </m:r>
                        </m:sub>
                      </m:sSub>
                      <m:r>
                        <a:rPr lang="it-IT" b="0" i="1" smtClean="0">
                          <a:latin typeface="Cambria Math" panose="02040503050406030204" pitchFamily="18" charset="0"/>
                        </a:rPr>
                        <m:t>)+</m:t>
                      </m:r>
                      <m:r>
                        <a:rPr lang="it-IT" b="0" i="1" smtClean="0">
                          <a:latin typeface="Cambria Math" panose="02040503050406030204" pitchFamily="18" charset="0"/>
                        </a:rPr>
                        <m:t>𝜂</m:t>
                      </m:r>
                      <m:d>
                        <m:dPr>
                          <m:ctrlPr>
                            <a:rPr lang="it-IT" b="0" i="1" smtClean="0">
                              <a:latin typeface="Cambria Math" panose="02040503050406030204" pitchFamily="18" charset="0"/>
                            </a:rPr>
                          </m:ctrlPr>
                        </m:dPr>
                        <m:e>
                          <m:r>
                            <a:rPr lang="it-IT" b="0" i="1" smtClean="0">
                              <a:latin typeface="Cambria Math" panose="02040503050406030204" pitchFamily="18" charset="0"/>
                            </a:rPr>
                            <m:t>𝑟𝑎𝑡𝑖𝑜</m:t>
                          </m:r>
                          <m:r>
                            <a:rPr lang="it-IT" b="0" i="1" smtClean="0">
                              <a:latin typeface="Cambria Math" panose="02040503050406030204" pitchFamily="18" charset="0"/>
                            </a:rPr>
                            <m:t>−</m:t>
                          </m:r>
                          <m:r>
                            <a:rPr lang="it-IT" b="0" i="1" smtClean="0">
                              <a:latin typeface="Cambria Math" panose="02040503050406030204" pitchFamily="18" charset="0"/>
                            </a:rPr>
                            <m:t>𝑡𝑎𝑟𝑔𝑒𝑡</m:t>
                          </m:r>
                        </m:e>
                      </m:d>
                      <m:r>
                        <a:rPr lang="it-IT" b="0" i="1" smtClean="0">
                          <a:latin typeface="Cambria Math" panose="02040503050406030204" pitchFamily="18" charset="0"/>
                        </a:rPr>
                        <m:t>,</m:t>
                      </m:r>
                    </m:oMath>
                  </m:oMathPara>
                </a14:m>
                <a:endParaRPr lang="it-IT" dirty="0"/>
              </a:p>
              <a:p>
                <a:pPr marL="457200" lvl="1" indent="0">
                  <a:buNone/>
                </a:pPr>
                <a:r>
                  <a:rPr lang="it-IT" dirty="0"/>
                  <a:t>where </a:t>
                </a:r>
                <a14:m>
                  <m:oMath xmlns:m="http://schemas.openxmlformats.org/officeDocument/2006/math">
                    <m:r>
                      <a:rPr lang="it-IT" i="1">
                        <a:latin typeface="Cambria Math" panose="02040503050406030204" pitchFamily="18" charset="0"/>
                      </a:rPr>
                      <m:t>𝜂</m:t>
                    </m:r>
                    <m:r>
                      <a:rPr lang="it-IT" i="1">
                        <a:latin typeface="Cambria Math" panose="02040503050406030204" pitchFamily="18" charset="0"/>
                      </a:rPr>
                      <m:t>=</m:t>
                    </m:r>
                    <m:r>
                      <a:rPr lang="it-IT" i="1">
                        <a:latin typeface="Cambria Math" panose="02040503050406030204" pitchFamily="18" charset="0"/>
                      </a:rPr>
                      <m:t>1</m:t>
                    </m:r>
                    <m:r>
                      <m:rPr>
                        <m:lit/>
                      </m:rPr>
                      <a:rPr lang="it-IT" i="1">
                        <a:latin typeface="Cambria Math" panose="02040503050406030204" pitchFamily="18" charset="0"/>
                      </a:rPr>
                      <m:t>/</m:t>
                    </m:r>
                    <m:d>
                      <m:dPr>
                        <m:ctrlPr>
                          <a:rPr lang="it-IT" i="1">
                            <a:latin typeface="Cambria Math" panose="02040503050406030204" pitchFamily="18" charset="0"/>
                          </a:rPr>
                        </m:ctrlPr>
                      </m:dPr>
                      <m:e>
                        <m:r>
                          <a:rPr lang="it-IT" i="1">
                            <a:latin typeface="Cambria Math" panose="02040503050406030204" pitchFamily="18" charset="0"/>
                          </a:rPr>
                          <m:t>𝑑</m:t>
                        </m:r>
                        <m:r>
                          <a:rPr lang="it-IT" i="1">
                            <a:latin typeface="Cambria Math" panose="02040503050406030204" pitchFamily="18" charset="0"/>
                          </a:rPr>
                          <m:t>×</m:t>
                        </m:r>
                        <m:r>
                          <a:rPr lang="it-IT" i="1">
                            <a:latin typeface="Cambria Math" panose="02040503050406030204" pitchFamily="18" charset="0"/>
                          </a:rPr>
                          <m:t>𝑡𝑎𝑟𝑔𝑒𝑡</m:t>
                        </m:r>
                      </m:e>
                    </m:d>
                    <m:r>
                      <a:rPr lang="it-IT" b="0" i="1" smtClean="0">
                        <a:latin typeface="Cambria Math" panose="02040503050406030204" pitchFamily="18" charset="0"/>
                      </a:rPr>
                      <m:t>,</m:t>
                    </m:r>
                  </m:oMath>
                </a14:m>
                <a:r>
                  <a:rPr lang="it-IT" dirty="0"/>
                  <a:t> </a:t>
                </a:r>
                <a14:m>
                  <m:oMath xmlns:m="http://schemas.openxmlformats.org/officeDocument/2006/math">
                    <m:r>
                      <a:rPr lang="it-IT" i="1">
                        <a:latin typeface="Cambria Math" panose="02040503050406030204" pitchFamily="18" charset="0"/>
                      </a:rPr>
                      <m:t>𝑟𝑎𝑡𝑖𝑜</m:t>
                    </m:r>
                    <m:r>
                      <a:rPr lang="it-IT" i="1">
                        <a:latin typeface="Cambria Math" panose="02040503050406030204" pitchFamily="18" charset="0"/>
                      </a:rPr>
                      <m:t> </m:t>
                    </m:r>
                  </m:oMath>
                </a14:m>
                <a:r>
                  <a:rPr lang="it-IT" dirty="0"/>
                  <a:t>is the acceptance ratio in that iteration, </a:t>
                </a:r>
                <a14:m>
                  <m:oMath xmlns:m="http://schemas.openxmlformats.org/officeDocument/2006/math">
                    <m:r>
                      <a:rPr lang="it-IT" i="1">
                        <a:latin typeface="Cambria Math" panose="02040503050406030204" pitchFamily="18" charset="0"/>
                      </a:rPr>
                      <m:t>𝑡𝑎𝑟𝑔𝑒𝑡</m:t>
                    </m:r>
                    <m:r>
                      <a:rPr lang="it-IT" i="1">
                        <a:latin typeface="Cambria Math" panose="02040503050406030204" pitchFamily="18" charset="0"/>
                      </a:rPr>
                      <m:t> </m:t>
                    </m:r>
                  </m:oMath>
                </a14:m>
                <a:r>
                  <a:rPr lang="it-IT" dirty="0"/>
                  <a:t>(default is 0.5) is the desired acceptance ratio, and </a:t>
                </a:r>
                <a14:m>
                  <m:oMath xmlns:m="http://schemas.openxmlformats.org/officeDocument/2006/math">
                    <m:r>
                      <a:rPr lang="it-IT" i="1">
                        <a:latin typeface="Cambria Math" panose="02040503050406030204" pitchFamily="18" charset="0"/>
                      </a:rPr>
                      <m:t>𝑑</m:t>
                    </m:r>
                  </m:oMath>
                </a14:m>
                <a:r>
                  <a:rPr lang="it-IT" dirty="0"/>
                  <a:t> is the parameter dimension.</a:t>
                </a:r>
              </a:p>
            </p:txBody>
          </p:sp>
        </mc:Choice>
        <mc:Fallback xmlns="">
          <p:sp>
            <p:nvSpPr>
              <p:cNvPr id="3" name="Content Placeholder 2">
                <a:extLst>
                  <a:ext uri="{FF2B5EF4-FFF2-40B4-BE49-F238E27FC236}">
                    <a16:creationId xmlns:a16="http://schemas.microsoft.com/office/drawing/2014/main" id="{B8FB76B2-6C1E-CA79-D0F9-B2A8EA12AA0A}"/>
                  </a:ext>
                </a:extLst>
              </p:cNvPr>
              <p:cNvSpPr>
                <a:spLocks noGrp="1" noRot="1" noChangeAspect="1" noMove="1" noResize="1" noEditPoints="1" noAdjustHandles="1" noChangeArrowheads="1" noChangeShapeType="1" noTextEdit="1"/>
              </p:cNvSpPr>
              <p:nvPr>
                <p:ph idx="1"/>
              </p:nvPr>
            </p:nvSpPr>
            <p:spPr>
              <a:xfrm>
                <a:off x="700635" y="1563077"/>
                <a:ext cx="10691265" cy="4595446"/>
              </a:xfrm>
              <a:blipFill>
                <a:blip r:embed="rId4"/>
                <a:stretch>
                  <a:fillRect l="-513" t="-663" r="-456"/>
                </a:stretch>
              </a:blipFill>
            </p:spPr>
            <p:txBody>
              <a:bodyPr/>
              <a:lstStyle/>
              <a:p>
                <a:r>
                  <a:rPr lang="it-IT">
                    <a:noFill/>
                  </a:rPr>
                  <a:t> </a:t>
                </a:r>
              </a:p>
            </p:txBody>
          </p:sp>
        </mc:Fallback>
      </mc:AlternateContent>
    </p:spTree>
    <p:extLst>
      <p:ext uri="{BB962C8B-B14F-4D97-AF65-F5344CB8AC3E}">
        <p14:creationId xmlns:p14="http://schemas.microsoft.com/office/powerpoint/2010/main" val="910196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578EB459-3385-4BF6-A9E1-154CBA25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2F25C6-2C76-07B0-3D11-A87D6749F796}"/>
              </a:ext>
            </a:extLst>
          </p:cNvPr>
          <p:cNvSpPr>
            <a:spLocks noGrp="1"/>
          </p:cNvSpPr>
          <p:nvPr>
            <p:ph type="title"/>
          </p:nvPr>
        </p:nvSpPr>
        <p:spPr>
          <a:xfrm>
            <a:off x="704088" y="909637"/>
            <a:ext cx="4397556" cy="1316736"/>
          </a:xfrm>
        </p:spPr>
        <p:txBody>
          <a:bodyPr>
            <a:normAutofit/>
          </a:bodyPr>
          <a:lstStyle/>
          <a:p>
            <a:r>
              <a:rPr lang="it-IT" dirty="0">
                <a:solidFill>
                  <a:srgbClr val="FF0000"/>
                </a:solidFill>
              </a:rPr>
              <a:t>RESULTS</a:t>
            </a:r>
          </a:p>
        </p:txBody>
      </p:sp>
      <p:cxnSp>
        <p:nvCxnSpPr>
          <p:cNvPr id="35" name="Straight Connector 34">
            <a:extLst>
              <a:ext uri="{FF2B5EF4-FFF2-40B4-BE49-F238E27FC236}">
                <a16:creationId xmlns:a16="http://schemas.microsoft.com/office/drawing/2014/main" id="{1DC20223-0542-4FF7-8F2F-136889161E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A2E71-7788-F0C3-BBE1-19F29CA490B8}"/>
                  </a:ext>
                </a:extLst>
              </p:cNvPr>
              <p:cNvSpPr>
                <a:spLocks noGrp="1"/>
              </p:cNvSpPr>
              <p:nvPr>
                <p:ph idx="1"/>
              </p:nvPr>
            </p:nvSpPr>
            <p:spPr>
              <a:xfrm>
                <a:off x="704088" y="1633538"/>
                <a:ext cx="5023120" cy="4576763"/>
              </a:xfrm>
            </p:spPr>
            <p:txBody>
              <a:bodyPr>
                <a:normAutofit/>
              </a:bodyPr>
              <a:lstStyle/>
              <a:p>
                <a:pPr>
                  <a:lnSpc>
                    <a:spcPct val="100000"/>
                  </a:lnSpc>
                </a:pPr>
                <a:r>
                  <a:rPr lang="it-IT" sz="1800" dirty="0"/>
                  <a:t>The evidences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𝑍</m:t>
                        </m:r>
                      </m:e>
                      <m:sub>
                        <m:r>
                          <m:rPr>
                            <m:sty m:val="p"/>
                          </m:rPr>
                          <a:rPr lang="it-IT" sz="1800" b="0" i="1" smtClean="0">
                            <a:latin typeface="Cambria Math" panose="02040503050406030204" pitchFamily="18" charset="0"/>
                          </a:rPr>
                          <m:t>i</m:t>
                        </m:r>
                      </m:sub>
                    </m:sSub>
                  </m:oMath>
                </a14:m>
                <a:r>
                  <a:rPr lang="it-IT" sz="1800" dirty="0"/>
                  <a:t> were computed </a:t>
                </a:r>
                <a:r>
                  <a:rPr lang="it-IT" sz="1800" b="1" dirty="0"/>
                  <a:t>5 times </a:t>
                </a:r>
                <a:r>
                  <a:rPr lang="it-IT" sz="1800" dirty="0"/>
                  <a:t>for each hypothesis.</a:t>
                </a:r>
              </a:p>
              <a:p>
                <a:pPr>
                  <a:lnSpc>
                    <a:spcPct val="100000"/>
                  </a:lnSpc>
                </a:pPr>
                <a:r>
                  <a:rPr lang="it-IT" sz="1800" dirty="0"/>
                  <a:t>Validation on </a:t>
                </a:r>
                <a:r>
                  <a:rPr lang="it-IT" sz="1800" b="1" dirty="0"/>
                  <a:t>simulated data</a:t>
                </a:r>
                <a:r>
                  <a:rPr lang="it-IT" sz="1800" dirty="0"/>
                  <a:t>:</a:t>
                </a:r>
              </a:p>
              <a:p>
                <a:pPr lvl="1">
                  <a:lnSpc>
                    <a:spcPct val="100000"/>
                  </a:lnSpc>
                </a:pPr>
                <a:r>
                  <a:rPr lang="it-IT" dirty="0"/>
                  <a:t>Data generated from </a:t>
                </a:r>
                <a:r>
                  <a:rPr lang="it-IT" b="1" dirty="0"/>
                  <a:t>2 components</a:t>
                </a:r>
                <a:r>
                  <a:rPr lang="it-IT" dirty="0"/>
                  <a:t>:</a:t>
                </a:r>
              </a:p>
              <a:p>
                <a:pPr marL="457200" lvl="1" indent="0">
                  <a:lnSpc>
                    <a:spcPct val="100000"/>
                  </a:lnSpc>
                  <a:buNone/>
                </a:pPr>
                <a14:m>
                  <m:oMathPara xmlns:m="http://schemas.openxmlformats.org/officeDocument/2006/math">
                    <m:oMathParaPr>
                      <m:jc m:val="center"/>
                    </m:oMathParaPr>
                    <m:oMath xmlns:m="http://schemas.openxmlformats.org/officeDocument/2006/math">
                      <m:r>
                        <m:rPr>
                          <m:sty m:val="p"/>
                        </m:rPr>
                        <a:rPr lang="it-IT" i="1">
                          <a:latin typeface="Cambria Math" panose="02040503050406030204" pitchFamily="18" charset="0"/>
                        </a:rPr>
                        <m:t>logBF</m:t>
                      </m:r>
                      <m:r>
                        <a:rPr lang="it-IT" i="1">
                          <a:latin typeface="Cambria Math" panose="02040503050406030204" pitchFamily="18" charset="0"/>
                        </a:rPr>
                        <m:t> = −</m:t>
                      </m:r>
                      <m:r>
                        <a:rPr lang="it-IT" i="1">
                          <a:latin typeface="Cambria Math" panose="02040503050406030204" pitchFamily="18" charset="0"/>
                        </a:rPr>
                        <m:t>2</m:t>
                      </m:r>
                      <m:r>
                        <a:rPr lang="it-IT" i="1">
                          <a:latin typeface="Cambria Math" panose="02040503050406030204" pitchFamily="18" charset="0"/>
                        </a:rPr>
                        <m:t>.</m:t>
                      </m:r>
                      <m:r>
                        <a:rPr lang="it-IT" i="1">
                          <a:latin typeface="Cambria Math" panose="02040503050406030204" pitchFamily="18" charset="0"/>
                        </a:rPr>
                        <m:t>63</m:t>
                      </m:r>
                      <m:r>
                        <a:rPr lang="it-IT" i="1">
                          <a:latin typeface="Cambria Math" panose="02040503050406030204" pitchFamily="18" charset="0"/>
                        </a:rPr>
                        <m:t> ± </m:t>
                      </m:r>
                      <m:r>
                        <a:rPr lang="it-IT" i="1">
                          <a:latin typeface="Cambria Math" panose="02040503050406030204" pitchFamily="18" charset="0"/>
                        </a:rPr>
                        <m:t>0</m:t>
                      </m:r>
                      <m:r>
                        <a:rPr lang="it-IT" i="1">
                          <a:latin typeface="Cambria Math" panose="02040503050406030204" pitchFamily="18" charset="0"/>
                        </a:rPr>
                        <m:t>.</m:t>
                      </m:r>
                      <m:r>
                        <a:rPr lang="it-IT" i="1">
                          <a:latin typeface="Cambria Math" panose="02040503050406030204" pitchFamily="18" charset="0"/>
                        </a:rPr>
                        <m:t>19</m:t>
                      </m:r>
                      <m:r>
                        <a:rPr lang="it-IT" i="1">
                          <a:latin typeface="Cambria Math" panose="02040503050406030204" pitchFamily="18" charset="0"/>
                        </a:rPr>
                        <m:t> &lt; </m:t>
                      </m:r>
                      <m:r>
                        <a:rPr lang="it-IT" i="1">
                          <a:latin typeface="Cambria Math" panose="02040503050406030204" pitchFamily="18" charset="0"/>
                        </a:rPr>
                        <m:t>0</m:t>
                      </m:r>
                      <m:r>
                        <a:rPr lang="it-IT" i="1">
                          <a:latin typeface="Cambria Math" panose="02040503050406030204" pitchFamily="18" charset="0"/>
                        </a:rPr>
                        <m:t> ⇒ </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𝐻</m:t>
                              </m:r>
                            </m:e>
                            <m:sub>
                              <m:r>
                                <a:rPr lang="it-IT" i="1">
                                  <a:latin typeface="Cambria Math" panose="02040503050406030204" pitchFamily="18" charset="0"/>
                                </a:rPr>
                                <m:t>0</m:t>
                              </m:r>
                            </m:sub>
                          </m:sSub>
                        </m:e>
                        <m:e>
                          <m:r>
                            <a:rPr lang="it-IT" i="1">
                              <a:latin typeface="Cambria Math" panose="02040503050406030204" pitchFamily="18" charset="0"/>
                            </a:rPr>
                            <m:t>𝑫</m:t>
                          </m:r>
                        </m:e>
                      </m:d>
                      <m:r>
                        <a:rPr lang="it-IT" i="1">
                          <a:latin typeface="Cambria Math" panose="02040503050406030204" pitchFamily="18" charset="0"/>
                        </a:rPr>
                        <m:t>&gt;</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𝐻</m:t>
                              </m:r>
                            </m:e>
                            <m:sub>
                              <m:r>
                                <a:rPr lang="it-IT" i="1">
                                  <a:latin typeface="Cambria Math" panose="02040503050406030204" pitchFamily="18" charset="0"/>
                                </a:rPr>
                                <m:t>1</m:t>
                              </m:r>
                            </m:sub>
                          </m:sSub>
                        </m:e>
                        <m:e>
                          <m:r>
                            <a:rPr lang="it-IT" i="1">
                              <a:latin typeface="Cambria Math" panose="02040503050406030204" pitchFamily="18" charset="0"/>
                            </a:rPr>
                            <m:t>𝑫</m:t>
                          </m:r>
                        </m:e>
                      </m:d>
                    </m:oMath>
                  </m:oMathPara>
                </a14:m>
                <a:endParaRPr lang="it-IT" dirty="0"/>
              </a:p>
              <a:p>
                <a:pPr lvl="1">
                  <a:lnSpc>
                    <a:spcPct val="100000"/>
                  </a:lnSpc>
                </a:pPr>
                <a:r>
                  <a:rPr lang="it-IT" dirty="0"/>
                  <a:t>Data generated from </a:t>
                </a:r>
                <a:r>
                  <a:rPr lang="it-IT" b="1" dirty="0"/>
                  <a:t>3 components</a:t>
                </a:r>
                <a:r>
                  <a:rPr lang="it-IT" dirty="0"/>
                  <a:t>: </a:t>
                </a:r>
              </a:p>
              <a:p>
                <a:pPr marL="457200" lvl="1" indent="0">
                  <a:lnSpc>
                    <a:spcPct val="100000"/>
                  </a:lnSpc>
                  <a:buNone/>
                </a:pPr>
                <a14:m>
                  <m:oMathPara xmlns:m="http://schemas.openxmlformats.org/officeDocument/2006/math">
                    <m:oMathParaPr>
                      <m:jc m:val="center"/>
                    </m:oMathParaPr>
                    <m:oMath xmlns:m="http://schemas.openxmlformats.org/officeDocument/2006/math">
                      <m:r>
                        <m:rPr>
                          <m:sty m:val="p"/>
                        </m:rPr>
                        <a:rPr lang="it-IT" i="1">
                          <a:latin typeface="Cambria Math" panose="02040503050406030204" pitchFamily="18" charset="0"/>
                        </a:rPr>
                        <m:t>logBF</m:t>
                      </m:r>
                      <m:r>
                        <a:rPr lang="it-IT" i="1">
                          <a:latin typeface="Cambria Math" panose="02040503050406030204" pitchFamily="18" charset="0"/>
                        </a:rPr>
                        <m:t> =    </m:t>
                      </m:r>
                      <m:r>
                        <a:rPr lang="it-IT" i="1">
                          <a:latin typeface="Cambria Math" panose="02040503050406030204" pitchFamily="18" charset="0"/>
                        </a:rPr>
                        <m:t>6</m:t>
                      </m:r>
                      <m:r>
                        <a:rPr lang="it-IT" i="1">
                          <a:latin typeface="Cambria Math" panose="02040503050406030204" pitchFamily="18" charset="0"/>
                        </a:rPr>
                        <m:t>.</m:t>
                      </m:r>
                      <m:r>
                        <a:rPr lang="it-IT" i="1">
                          <a:latin typeface="Cambria Math" panose="02040503050406030204" pitchFamily="18" charset="0"/>
                        </a:rPr>
                        <m:t>07</m:t>
                      </m:r>
                      <m:r>
                        <a:rPr lang="it-IT" i="1">
                          <a:latin typeface="Cambria Math" panose="02040503050406030204" pitchFamily="18" charset="0"/>
                        </a:rPr>
                        <m:t> ± </m:t>
                      </m:r>
                      <m:r>
                        <a:rPr lang="it-IT" i="1">
                          <a:latin typeface="Cambria Math" panose="02040503050406030204" pitchFamily="18" charset="0"/>
                        </a:rPr>
                        <m:t>0</m:t>
                      </m:r>
                      <m:r>
                        <a:rPr lang="it-IT" i="1">
                          <a:latin typeface="Cambria Math" panose="02040503050406030204" pitchFamily="18" charset="0"/>
                        </a:rPr>
                        <m:t>.</m:t>
                      </m:r>
                      <m:r>
                        <a:rPr lang="it-IT" i="1">
                          <a:latin typeface="Cambria Math" panose="02040503050406030204" pitchFamily="18" charset="0"/>
                        </a:rPr>
                        <m:t>18</m:t>
                      </m:r>
                      <m:r>
                        <a:rPr lang="it-IT" i="1">
                          <a:latin typeface="Cambria Math" panose="02040503050406030204" pitchFamily="18" charset="0"/>
                        </a:rPr>
                        <m:t> &gt; </m:t>
                      </m:r>
                      <m:r>
                        <a:rPr lang="it-IT" i="1">
                          <a:latin typeface="Cambria Math" panose="02040503050406030204" pitchFamily="18" charset="0"/>
                        </a:rPr>
                        <m:t>0</m:t>
                      </m:r>
                      <m:r>
                        <a:rPr lang="it-IT" i="1">
                          <a:latin typeface="Cambria Math" panose="02040503050406030204" pitchFamily="18" charset="0"/>
                        </a:rPr>
                        <m:t> ⇒ </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𝐻</m:t>
                              </m:r>
                            </m:e>
                            <m:sub>
                              <m:r>
                                <a:rPr lang="it-IT" i="1">
                                  <a:latin typeface="Cambria Math" panose="02040503050406030204" pitchFamily="18" charset="0"/>
                                </a:rPr>
                                <m:t>0</m:t>
                              </m:r>
                            </m:sub>
                          </m:sSub>
                        </m:e>
                        <m:e>
                          <m:r>
                            <a:rPr lang="it-IT" i="1">
                              <a:latin typeface="Cambria Math" panose="02040503050406030204" pitchFamily="18" charset="0"/>
                            </a:rPr>
                            <m:t>𝑫</m:t>
                          </m:r>
                        </m:e>
                      </m:d>
                      <m:r>
                        <a:rPr lang="it-IT" i="1">
                          <a:latin typeface="Cambria Math" panose="02040503050406030204" pitchFamily="18" charset="0"/>
                        </a:rPr>
                        <m:t>&lt;</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𝐻</m:t>
                              </m:r>
                            </m:e>
                            <m:sub>
                              <m:r>
                                <a:rPr lang="it-IT" i="1">
                                  <a:latin typeface="Cambria Math" panose="02040503050406030204" pitchFamily="18" charset="0"/>
                                </a:rPr>
                                <m:t>1</m:t>
                              </m:r>
                            </m:sub>
                          </m:sSub>
                        </m:e>
                        <m:e>
                          <m:r>
                            <a:rPr lang="it-IT" i="1">
                              <a:latin typeface="Cambria Math" panose="02040503050406030204" pitchFamily="18" charset="0"/>
                            </a:rPr>
                            <m:t>𝑫</m:t>
                          </m:r>
                        </m:e>
                      </m:d>
                    </m:oMath>
                  </m:oMathPara>
                </a14:m>
                <a:endParaRPr lang="it-IT" dirty="0"/>
              </a:p>
              <a:p>
                <a:pPr>
                  <a:lnSpc>
                    <a:spcPct val="100000"/>
                  </a:lnSpc>
                </a:pPr>
                <a:r>
                  <a:rPr lang="it-IT" sz="1800" dirty="0"/>
                  <a:t>On real data: </a:t>
                </a:r>
                <a:endParaRPr lang="it-IT" sz="1800" b="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m:rPr>
                          <m:sty m:val="p"/>
                        </m:rPr>
                        <a:rPr lang="it-IT" b="0" i="1" smtClean="0">
                          <a:latin typeface="Cambria Math" panose="02040503050406030204" pitchFamily="18" charset="0"/>
                        </a:rPr>
                        <m:t>logBF</m:t>
                      </m:r>
                      <m:r>
                        <a:rPr lang="it-IT" b="0" i="1" smtClean="0">
                          <a:latin typeface="Cambria Math" panose="02040503050406030204" pitchFamily="18" charset="0"/>
                        </a:rPr>
                        <m:t> = −</m:t>
                      </m:r>
                      <m:r>
                        <a:rPr lang="it-IT" b="0" i="1" smtClean="0">
                          <a:latin typeface="Cambria Math" panose="02040503050406030204" pitchFamily="18" charset="0"/>
                        </a:rPr>
                        <m:t>1</m:t>
                      </m:r>
                      <m:r>
                        <a:rPr lang="it-IT" b="0" i="1" smtClean="0">
                          <a:latin typeface="Cambria Math" panose="02040503050406030204" pitchFamily="18" charset="0"/>
                        </a:rPr>
                        <m:t>.</m:t>
                      </m:r>
                      <m:r>
                        <a:rPr lang="it-IT" b="0" i="1" smtClean="0">
                          <a:latin typeface="Cambria Math" panose="02040503050406030204" pitchFamily="18" charset="0"/>
                        </a:rPr>
                        <m:t>75</m:t>
                      </m:r>
                      <m:r>
                        <a:rPr lang="it-IT" b="0" i="1" smtClean="0">
                          <a:latin typeface="Cambria Math" panose="02040503050406030204" pitchFamily="18" charset="0"/>
                        </a:rPr>
                        <m:t> ±</m:t>
                      </m:r>
                      <m:r>
                        <a:rPr lang="it-IT" b="0" i="1" smtClean="0">
                          <a:latin typeface="Cambria Math" panose="02040503050406030204" pitchFamily="18" charset="0"/>
                        </a:rPr>
                        <m:t>0</m:t>
                      </m:r>
                      <m:r>
                        <a:rPr lang="it-IT" b="0" i="1" smtClean="0">
                          <a:latin typeface="Cambria Math" panose="02040503050406030204" pitchFamily="18" charset="0"/>
                        </a:rPr>
                        <m:t>.</m:t>
                      </m:r>
                      <m:r>
                        <a:rPr lang="it-IT" b="0" i="1" smtClean="0">
                          <a:latin typeface="Cambria Math" panose="02040503050406030204" pitchFamily="18" charset="0"/>
                        </a:rPr>
                        <m:t>12</m:t>
                      </m:r>
                      <m:r>
                        <a:rPr lang="it-IT" b="0" i="1" smtClean="0">
                          <a:latin typeface="Cambria Math" panose="02040503050406030204" pitchFamily="18" charset="0"/>
                        </a:rPr>
                        <m:t>&lt; </m:t>
                      </m:r>
                      <m:r>
                        <a:rPr lang="it-IT" b="0" i="1" smtClean="0">
                          <a:latin typeface="Cambria Math" panose="02040503050406030204" pitchFamily="18" charset="0"/>
                        </a:rPr>
                        <m:t>0</m:t>
                      </m:r>
                      <m:r>
                        <a:rPr lang="it-IT" b="0" i="1" smtClean="0">
                          <a:latin typeface="Cambria Math" panose="02040503050406030204" pitchFamily="18" charset="0"/>
                        </a:rPr>
                        <m:t> ⇒ </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𝐻</m:t>
                              </m:r>
                            </m:e>
                            <m:sub>
                              <m:r>
                                <a:rPr lang="it-IT" i="1">
                                  <a:latin typeface="Cambria Math" panose="02040503050406030204" pitchFamily="18" charset="0"/>
                                </a:rPr>
                                <m:t>0</m:t>
                              </m:r>
                            </m:sub>
                          </m:sSub>
                        </m:e>
                        <m:e>
                          <m:r>
                            <a:rPr lang="it-IT" i="1">
                              <a:latin typeface="Cambria Math" panose="02040503050406030204" pitchFamily="18" charset="0"/>
                            </a:rPr>
                            <m:t>𝑫</m:t>
                          </m:r>
                        </m:e>
                      </m:d>
                      <m:r>
                        <a:rPr lang="it-IT" i="1">
                          <a:latin typeface="Cambria Math" panose="02040503050406030204" pitchFamily="18" charset="0"/>
                        </a:rPr>
                        <m:t>&gt;</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𝐻</m:t>
                              </m:r>
                            </m:e>
                            <m:sub>
                              <m:r>
                                <a:rPr lang="it-IT" i="1">
                                  <a:latin typeface="Cambria Math" panose="02040503050406030204" pitchFamily="18" charset="0"/>
                                </a:rPr>
                                <m:t>1</m:t>
                              </m:r>
                            </m:sub>
                          </m:sSub>
                        </m:e>
                        <m:e>
                          <m:r>
                            <a:rPr lang="it-IT" i="1">
                              <a:latin typeface="Cambria Math" panose="02040503050406030204" pitchFamily="18" charset="0"/>
                            </a:rPr>
                            <m:t>𝑫</m:t>
                          </m:r>
                        </m:e>
                      </m:d>
                    </m:oMath>
                  </m:oMathPara>
                </a14:m>
                <a:endParaRPr lang="it-IT" dirty="0"/>
              </a:p>
            </p:txBody>
          </p:sp>
        </mc:Choice>
        <mc:Fallback xmlns="">
          <p:sp>
            <p:nvSpPr>
              <p:cNvPr id="3" name="Content Placeholder 2">
                <a:extLst>
                  <a:ext uri="{FF2B5EF4-FFF2-40B4-BE49-F238E27FC236}">
                    <a16:creationId xmlns:a16="http://schemas.microsoft.com/office/drawing/2014/main" id="{D9CA2E71-7788-F0C3-BBE1-19F29CA490B8}"/>
                  </a:ext>
                </a:extLst>
              </p:cNvPr>
              <p:cNvSpPr>
                <a:spLocks noGrp="1" noRot="1" noChangeAspect="1" noMove="1" noResize="1" noEditPoints="1" noAdjustHandles="1" noChangeArrowheads="1" noChangeShapeType="1" noTextEdit="1"/>
              </p:cNvSpPr>
              <p:nvPr>
                <p:ph idx="1"/>
              </p:nvPr>
            </p:nvSpPr>
            <p:spPr>
              <a:xfrm>
                <a:off x="704088" y="1633538"/>
                <a:ext cx="5023120" cy="4576763"/>
              </a:xfrm>
              <a:blipFill>
                <a:blip r:embed="rId3"/>
                <a:stretch>
                  <a:fillRect l="-850" t="-799"/>
                </a:stretch>
              </a:blipFill>
            </p:spPr>
            <p:txBody>
              <a:bodyPr/>
              <a:lstStyle/>
              <a:p>
                <a:r>
                  <a:rPr lang="it-IT">
                    <a:noFill/>
                  </a:rPr>
                  <a:t> </a:t>
                </a:r>
              </a:p>
            </p:txBody>
          </p:sp>
        </mc:Fallback>
      </mc:AlternateContent>
      <p:pic>
        <p:nvPicPr>
          <p:cNvPr id="7" name="Picture 6" descr="A graph of a function&#10;&#10;AI-generated content may be incorrect.">
            <a:extLst>
              <a:ext uri="{FF2B5EF4-FFF2-40B4-BE49-F238E27FC236}">
                <a16:creationId xmlns:a16="http://schemas.microsoft.com/office/drawing/2014/main" id="{E49980FC-4219-6C3D-D26E-6D5E492BCD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09920" y="1334324"/>
            <a:ext cx="2659223" cy="1648719"/>
          </a:xfrm>
          <a:prstGeom prst="rect">
            <a:avLst/>
          </a:prstGeom>
        </p:spPr>
      </p:pic>
      <p:pic>
        <p:nvPicPr>
          <p:cNvPr id="9" name="Picture 8" descr="A graph of a graph with numbers and a line&#10;&#10;AI-generated content may be incorrect.">
            <a:extLst>
              <a:ext uri="{FF2B5EF4-FFF2-40B4-BE49-F238E27FC236}">
                <a16:creationId xmlns:a16="http://schemas.microsoft.com/office/drawing/2014/main" id="{569AC47D-C297-9216-56AD-6429A83562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07305" y="1334323"/>
            <a:ext cx="2659222" cy="1648720"/>
          </a:xfrm>
          <a:prstGeom prst="rect">
            <a:avLst/>
          </a:prstGeom>
        </p:spPr>
      </p:pic>
      <p:pic>
        <p:nvPicPr>
          <p:cNvPr id="5" name="Picture 4" descr="A graph of a number of numbers and a line&#10;&#10;AI-generated content may be incorrect.">
            <a:extLst>
              <a:ext uri="{FF2B5EF4-FFF2-40B4-BE49-F238E27FC236}">
                <a16:creationId xmlns:a16="http://schemas.microsoft.com/office/drawing/2014/main" id="{D3D01648-2A3E-11E2-907E-DDB53E821CD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66133" y="2970783"/>
            <a:ext cx="5082344" cy="3151055"/>
          </a:xfrm>
          <a:prstGeom prst="rect">
            <a:avLst/>
          </a:prstGeom>
        </p:spPr>
      </p:pic>
      <p:sp>
        <p:nvSpPr>
          <p:cNvPr id="13" name="TextBox 12">
            <a:extLst>
              <a:ext uri="{FF2B5EF4-FFF2-40B4-BE49-F238E27FC236}">
                <a16:creationId xmlns:a16="http://schemas.microsoft.com/office/drawing/2014/main" id="{0052DC18-0F1B-4CA9-0E59-AAF11913F9BF}"/>
              </a:ext>
            </a:extLst>
          </p:cNvPr>
          <p:cNvSpPr txBox="1"/>
          <p:nvPr/>
        </p:nvSpPr>
        <p:spPr>
          <a:xfrm>
            <a:off x="6113289" y="1057324"/>
            <a:ext cx="2494016" cy="276999"/>
          </a:xfrm>
          <a:prstGeom prst="rect">
            <a:avLst/>
          </a:prstGeom>
          <a:noFill/>
        </p:spPr>
        <p:txBody>
          <a:bodyPr wrap="square" rtlCol="0">
            <a:spAutoFit/>
          </a:bodyPr>
          <a:lstStyle/>
          <a:p>
            <a:r>
              <a:rPr lang="it-IT" sz="1200" dirty="0"/>
              <a:t>Data generated from </a:t>
            </a:r>
            <a:r>
              <a:rPr lang="it-IT" sz="1200" b="1" dirty="0"/>
              <a:t>2 components</a:t>
            </a:r>
            <a:endParaRPr lang="it-IT" sz="1200" dirty="0"/>
          </a:p>
        </p:txBody>
      </p:sp>
      <p:sp>
        <p:nvSpPr>
          <p:cNvPr id="14" name="TextBox 13">
            <a:extLst>
              <a:ext uri="{FF2B5EF4-FFF2-40B4-BE49-F238E27FC236}">
                <a16:creationId xmlns:a16="http://schemas.microsoft.com/office/drawing/2014/main" id="{78C6187E-EFAC-0A20-A39D-BB0E00B1C3A2}"/>
              </a:ext>
            </a:extLst>
          </p:cNvPr>
          <p:cNvSpPr txBox="1"/>
          <p:nvPr/>
        </p:nvSpPr>
        <p:spPr>
          <a:xfrm>
            <a:off x="8810674" y="1057324"/>
            <a:ext cx="2494016" cy="276999"/>
          </a:xfrm>
          <a:prstGeom prst="rect">
            <a:avLst/>
          </a:prstGeom>
          <a:noFill/>
        </p:spPr>
        <p:txBody>
          <a:bodyPr wrap="square" rtlCol="0">
            <a:spAutoFit/>
          </a:bodyPr>
          <a:lstStyle/>
          <a:p>
            <a:r>
              <a:rPr lang="it-IT" sz="1200" dirty="0"/>
              <a:t>Data generated from </a:t>
            </a:r>
            <a:r>
              <a:rPr lang="it-IT" sz="1200" b="1" dirty="0"/>
              <a:t>3 components</a:t>
            </a:r>
            <a:endParaRPr lang="it-IT" sz="1200" dirty="0"/>
          </a:p>
        </p:txBody>
      </p:sp>
    </p:spTree>
    <p:extLst>
      <p:ext uri="{BB962C8B-B14F-4D97-AF65-F5344CB8AC3E}">
        <p14:creationId xmlns:p14="http://schemas.microsoft.com/office/powerpoint/2010/main" val="8698290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8" name="Rectangle 27">
            <a:extLst>
              <a:ext uri="{FF2B5EF4-FFF2-40B4-BE49-F238E27FC236}">
                <a16:creationId xmlns:a16="http://schemas.microsoft.com/office/drawing/2014/main" id="{341BFA31-6544-45C2-9DA0-9E1C5E0B1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DC36F877-5419-44C1-A2CD-376BDDDC3E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667603"/>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screenshot of a graph&#10;&#10;AI-generated content may be incorrect.">
            <a:extLst>
              <a:ext uri="{FF2B5EF4-FFF2-40B4-BE49-F238E27FC236}">
                <a16:creationId xmlns:a16="http://schemas.microsoft.com/office/drawing/2014/main" id="{818F23FD-ABFE-9ABD-B0E4-C2558C703D5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0448" y="1011218"/>
            <a:ext cx="5437377" cy="5410195"/>
          </a:xfrm>
          <a:prstGeom prst="rect">
            <a:avLst/>
          </a:prstGeom>
        </p:spPr>
      </p:pic>
      <p:pic>
        <p:nvPicPr>
          <p:cNvPr id="7" name="Picture 6" descr="A chart of a diagram&#10;&#10;AI-generated content may be incorrect.">
            <a:extLst>
              <a:ext uri="{FF2B5EF4-FFF2-40B4-BE49-F238E27FC236}">
                <a16:creationId xmlns:a16="http://schemas.microsoft.com/office/drawing/2014/main" id="{7A81D610-7527-4C8B-CBF3-806F279A0D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77825" y="647598"/>
            <a:ext cx="5873727" cy="5697517"/>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26C7B7C-77D5-A86A-D7EB-1173AA8F1058}"/>
                  </a:ext>
                </a:extLst>
              </p:cNvPr>
              <p:cNvSpPr txBox="1"/>
              <p:nvPr/>
            </p:nvSpPr>
            <p:spPr>
              <a:xfrm>
                <a:off x="1308310" y="293655"/>
                <a:ext cx="3635932" cy="677108"/>
              </a:xfrm>
              <a:prstGeom prst="rect">
                <a:avLst/>
              </a:prstGeom>
              <a:noFill/>
            </p:spPr>
            <p:txBody>
              <a:bodyPr wrap="none" rtlCol="0">
                <a:spAutoFit/>
              </a:bodyPr>
              <a:lstStyle/>
              <a:p>
                <a:r>
                  <a:rPr lang="it-IT" sz="2000" dirty="0"/>
                  <a:t>Corner plot - Model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𝐻</m:t>
                        </m:r>
                      </m:e>
                      <m:sub>
                        <m:r>
                          <a:rPr lang="it-IT" sz="2000" i="1">
                            <a:latin typeface="Cambria Math" panose="02040503050406030204" pitchFamily="18" charset="0"/>
                          </a:rPr>
                          <m:t>0</m:t>
                        </m:r>
                      </m:sub>
                    </m:sSub>
                  </m:oMath>
                </a14:m>
                <a:endParaRPr lang="it-IT" sz="2000" dirty="0"/>
              </a:p>
              <a:p>
                <a:r>
                  <a:rPr lang="it-IT" dirty="0"/>
                  <a:t>(Metropolis posterior means in red)</a:t>
                </a:r>
              </a:p>
            </p:txBody>
          </p:sp>
        </mc:Choice>
        <mc:Fallback xmlns="">
          <p:sp>
            <p:nvSpPr>
              <p:cNvPr id="8" name="TextBox 7">
                <a:extLst>
                  <a:ext uri="{FF2B5EF4-FFF2-40B4-BE49-F238E27FC236}">
                    <a16:creationId xmlns:a16="http://schemas.microsoft.com/office/drawing/2014/main" id="{226C7B7C-77D5-A86A-D7EB-1173AA8F1058}"/>
                  </a:ext>
                </a:extLst>
              </p:cNvPr>
              <p:cNvSpPr txBox="1">
                <a:spLocks noRot="1" noChangeAspect="1" noMove="1" noResize="1" noEditPoints="1" noAdjustHandles="1" noChangeArrowheads="1" noChangeShapeType="1" noTextEdit="1"/>
              </p:cNvSpPr>
              <p:nvPr/>
            </p:nvSpPr>
            <p:spPr>
              <a:xfrm>
                <a:off x="1308310" y="293655"/>
                <a:ext cx="3635932" cy="677108"/>
              </a:xfrm>
              <a:prstGeom prst="rect">
                <a:avLst/>
              </a:prstGeom>
              <a:blipFill>
                <a:blip r:embed="rId5"/>
                <a:stretch>
                  <a:fillRect l="-1846" t="-4505" r="-503" b="-1351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F45FF70-A031-77FA-093C-F4AC9F0BD397}"/>
                  </a:ext>
                </a:extLst>
              </p:cNvPr>
              <p:cNvSpPr txBox="1"/>
              <p:nvPr/>
            </p:nvSpPr>
            <p:spPr>
              <a:xfrm>
                <a:off x="7398146" y="276281"/>
                <a:ext cx="2833083" cy="400110"/>
              </a:xfrm>
              <a:prstGeom prst="rect">
                <a:avLst/>
              </a:prstGeom>
              <a:noFill/>
            </p:spPr>
            <p:txBody>
              <a:bodyPr wrap="none" rtlCol="0">
                <a:spAutoFit/>
              </a:bodyPr>
              <a:lstStyle/>
              <a:p>
                <a:r>
                  <a:rPr lang="it-IT" sz="2000" dirty="0"/>
                  <a:t>Corner plot – Model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𝐻</m:t>
                        </m:r>
                      </m:e>
                      <m:sub>
                        <m:r>
                          <a:rPr lang="it-IT" sz="2000" b="0" i="1" smtClean="0">
                            <a:latin typeface="Cambria Math" panose="02040503050406030204" pitchFamily="18" charset="0"/>
                          </a:rPr>
                          <m:t>1</m:t>
                        </m:r>
                      </m:sub>
                    </m:sSub>
                  </m:oMath>
                </a14:m>
                <a:r>
                  <a:rPr lang="it-IT" sz="2000" dirty="0"/>
                  <a:t> </a:t>
                </a:r>
              </a:p>
            </p:txBody>
          </p:sp>
        </mc:Choice>
        <mc:Fallback xmlns="">
          <p:sp>
            <p:nvSpPr>
              <p:cNvPr id="9" name="TextBox 8">
                <a:extLst>
                  <a:ext uri="{FF2B5EF4-FFF2-40B4-BE49-F238E27FC236}">
                    <a16:creationId xmlns:a16="http://schemas.microsoft.com/office/drawing/2014/main" id="{2F45FF70-A031-77FA-093C-F4AC9F0BD397}"/>
                  </a:ext>
                </a:extLst>
              </p:cNvPr>
              <p:cNvSpPr txBox="1">
                <a:spLocks noRot="1" noChangeAspect="1" noMove="1" noResize="1" noEditPoints="1" noAdjustHandles="1" noChangeArrowheads="1" noChangeShapeType="1" noTextEdit="1"/>
              </p:cNvSpPr>
              <p:nvPr/>
            </p:nvSpPr>
            <p:spPr>
              <a:xfrm>
                <a:off x="7398146" y="276281"/>
                <a:ext cx="2833083" cy="400110"/>
              </a:xfrm>
              <a:prstGeom prst="rect">
                <a:avLst/>
              </a:prstGeom>
              <a:blipFill>
                <a:blip r:embed="rId6"/>
                <a:stretch>
                  <a:fillRect l="-2371" t="-7576" b="-25758"/>
                </a:stretch>
              </a:blipFill>
            </p:spPr>
            <p:txBody>
              <a:bodyPr/>
              <a:lstStyle/>
              <a:p>
                <a:r>
                  <a:rPr lang="it-IT">
                    <a:noFill/>
                  </a:rPr>
                  <a:t> </a:t>
                </a:r>
              </a:p>
            </p:txBody>
          </p:sp>
        </mc:Fallback>
      </mc:AlternateContent>
    </p:spTree>
    <p:extLst>
      <p:ext uri="{BB962C8B-B14F-4D97-AF65-F5344CB8AC3E}">
        <p14:creationId xmlns:p14="http://schemas.microsoft.com/office/powerpoint/2010/main" val="2618827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a:extLst>
              <a:ext uri="{FF2B5EF4-FFF2-40B4-BE49-F238E27FC236}">
                <a16:creationId xmlns:a16="http://schemas.microsoft.com/office/drawing/2014/main" id="{5EEF9C2C-2B42-379A-3066-7849273E5ADA}"/>
              </a:ext>
            </a:extLst>
          </p:cNvPr>
          <p:cNvGraphicFramePr/>
          <p:nvPr>
            <p:extLst>
              <p:ext uri="{D42A27DB-BD31-4B8C-83A1-F6EECF244321}">
                <p14:modId xmlns:p14="http://schemas.microsoft.com/office/powerpoint/2010/main" val="386932732"/>
              </p:ext>
            </p:extLst>
          </p:nvPr>
        </p:nvGraphicFramePr>
        <p:xfrm>
          <a:off x="700635" y="2623363"/>
          <a:ext cx="10691265" cy="35586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07B21162-C74D-5E4A-FCB7-A6A1DEC90A91}"/>
              </a:ext>
            </a:extLst>
          </p:cNvPr>
          <p:cNvSpPr>
            <a:spLocks noGrp="1"/>
          </p:cNvSpPr>
          <p:nvPr>
            <p:ph type="title"/>
          </p:nvPr>
        </p:nvSpPr>
        <p:spPr/>
        <p:txBody>
          <a:bodyPr/>
          <a:lstStyle/>
          <a:p>
            <a:r>
              <a:rPr lang="it-IT" dirty="0">
                <a:solidFill>
                  <a:srgbClr val="FF0000"/>
                </a:solidFill>
              </a:rPr>
              <a:t>Problem 5 - clustering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D530CC-FDC8-392C-3D97-FC2D6C593F5B}"/>
                  </a:ext>
                </a:extLst>
              </p:cNvPr>
              <p:cNvSpPr>
                <a:spLocks noGrp="1"/>
              </p:cNvSpPr>
              <p:nvPr>
                <p:ph idx="1"/>
              </p:nvPr>
            </p:nvSpPr>
            <p:spPr>
              <a:xfrm>
                <a:off x="700635" y="1563077"/>
                <a:ext cx="10691265" cy="4618892"/>
              </a:xfrm>
            </p:spPr>
            <p:txBody>
              <a:bodyPr>
                <a:normAutofit/>
              </a:bodyPr>
              <a:lstStyle/>
              <a:p>
                <a:r>
                  <a:rPr lang="it-IT" b="1" dirty="0"/>
                  <a:t>Problem 5: </a:t>
                </a:r>
                <a:r>
                  <a:rPr lang="en-US" sz="1800" dirty="0"/>
                  <a:t>Another possibility is to classify GRBs in </a:t>
                </a:r>
                <a:r>
                  <a:rPr lang="en-US" sz="1800" b="1" dirty="0"/>
                  <a:t>soft</a:t>
                </a:r>
                <a:r>
                  <a:rPr lang="en-US" sz="1800" dirty="0"/>
                  <a:t> and </a:t>
                </a:r>
                <a:r>
                  <a:rPr lang="en-US" sz="1800" b="1" dirty="0"/>
                  <a:t>hard</a:t>
                </a:r>
                <a:r>
                  <a:rPr lang="en-US" sz="1800" dirty="0"/>
                  <a:t>, according to the hardness ratio:</a:t>
                </a:r>
              </a:p>
              <a:p>
                <a:pPr marL="0" indent="0">
                  <a:buNone/>
                </a:pPr>
                <a14:m>
                  <m:oMathPara xmlns:m="http://schemas.openxmlformats.org/officeDocument/2006/math">
                    <m:oMathParaPr>
                      <m:jc m:val="centerGroup"/>
                    </m:oMathParaPr>
                    <m:oMath xmlns:m="http://schemas.openxmlformats.org/officeDocument/2006/math">
                      <m:r>
                        <a:rPr lang="it-IT" sz="1800" b="0" i="1" smtClean="0">
                          <a:latin typeface="Cambria Math" panose="02040503050406030204" pitchFamily="18" charset="0"/>
                        </a:rPr>
                        <m:t>𝐻𝑅</m:t>
                      </m:r>
                      <m:r>
                        <a:rPr lang="it-IT" sz="1800" b="0" i="1" smtClean="0">
                          <a:latin typeface="Cambria Math" panose="02040503050406030204" pitchFamily="18" charset="0"/>
                        </a:rPr>
                        <m:t> = </m:t>
                      </m:r>
                      <m:f>
                        <m:fPr>
                          <m:ctrlPr>
                            <a:rPr lang="it-IT" sz="1800" i="1" smtClean="0">
                              <a:latin typeface="Cambria Math" panose="02040503050406030204" pitchFamily="18" charset="0"/>
                            </a:rPr>
                          </m:ctrlPr>
                        </m:fPr>
                        <m:num>
                          <m:sSub>
                            <m:sSubPr>
                              <m:ctrlPr>
                                <a:rPr lang="it-IT" sz="1800" i="1" smtClean="0">
                                  <a:latin typeface="Cambria Math" panose="02040503050406030204" pitchFamily="18" charset="0"/>
                                </a:rPr>
                              </m:ctrlPr>
                            </m:sSubPr>
                            <m:e>
                              <m:r>
                                <a:rPr lang="it-IT" sz="1800" b="0" i="1" smtClean="0">
                                  <a:latin typeface="Cambria Math" panose="02040503050406030204" pitchFamily="18" charset="0"/>
                                </a:rPr>
                                <m:t>𝐹</m:t>
                              </m:r>
                            </m:e>
                            <m:sub>
                              <m:r>
                                <a:rPr lang="it-IT" sz="1800" b="0" i="1" smtClean="0">
                                  <a:latin typeface="Cambria Math" panose="02040503050406030204" pitchFamily="18" charset="0"/>
                                </a:rPr>
                                <m:t>50−100 </m:t>
                              </m:r>
                              <m:r>
                                <m:rPr>
                                  <m:sty m:val="p"/>
                                </m:rPr>
                                <a:rPr lang="it-IT" sz="1800" b="0" i="0" smtClean="0">
                                  <a:latin typeface="Cambria Math" panose="02040503050406030204" pitchFamily="18" charset="0"/>
                                </a:rPr>
                                <m:t>keV</m:t>
                              </m:r>
                            </m:sub>
                          </m:sSub>
                        </m:num>
                        <m:den>
                          <m:sSub>
                            <m:sSubPr>
                              <m:ctrlPr>
                                <a:rPr lang="it-IT" sz="1800" i="1">
                                  <a:latin typeface="Cambria Math" panose="02040503050406030204" pitchFamily="18" charset="0"/>
                                </a:rPr>
                              </m:ctrlPr>
                            </m:sSubPr>
                            <m:e>
                              <m:r>
                                <a:rPr lang="it-IT" sz="1800" b="0" i="1">
                                  <a:latin typeface="Cambria Math" panose="02040503050406030204" pitchFamily="18" charset="0"/>
                                </a:rPr>
                                <m:t>𝐹</m:t>
                              </m:r>
                            </m:e>
                            <m:sub>
                              <m:r>
                                <a:rPr lang="it-IT" sz="1800" b="0" i="1" smtClean="0">
                                  <a:latin typeface="Cambria Math" panose="02040503050406030204" pitchFamily="18" charset="0"/>
                                </a:rPr>
                                <m:t>2</m:t>
                              </m:r>
                              <m:r>
                                <a:rPr lang="it-IT" sz="1800" b="0" i="1">
                                  <a:latin typeface="Cambria Math" panose="02040503050406030204" pitchFamily="18" charset="0"/>
                                </a:rPr>
                                <m:t>0−</m:t>
                              </m:r>
                              <m:r>
                                <a:rPr lang="it-IT" sz="1800" b="0" i="1" smtClean="0">
                                  <a:latin typeface="Cambria Math" panose="02040503050406030204" pitchFamily="18" charset="0"/>
                                </a:rPr>
                                <m:t>5</m:t>
                              </m:r>
                              <m:r>
                                <a:rPr lang="it-IT" sz="1800" b="0" i="1">
                                  <a:latin typeface="Cambria Math" panose="02040503050406030204" pitchFamily="18" charset="0"/>
                                </a:rPr>
                                <m:t>0</m:t>
                              </m:r>
                              <m:r>
                                <a:rPr lang="it-IT" sz="1800" b="0" i="1" smtClean="0">
                                  <a:latin typeface="Cambria Math" panose="02040503050406030204" pitchFamily="18" charset="0"/>
                                </a:rPr>
                                <m:t> </m:t>
                              </m:r>
                              <m:r>
                                <m:rPr>
                                  <m:sty m:val="p"/>
                                </m:rPr>
                                <a:rPr lang="it-IT" sz="1800" b="0" i="0">
                                  <a:latin typeface="Cambria Math" panose="02040503050406030204" pitchFamily="18" charset="0"/>
                                </a:rPr>
                                <m:t>keV</m:t>
                              </m:r>
                            </m:sub>
                          </m:sSub>
                        </m:den>
                      </m:f>
                    </m:oMath>
                  </m:oMathPara>
                </a14:m>
                <a:endParaRPr lang="it-IT" sz="1800" i="1" dirty="0"/>
              </a:p>
              <a:p>
                <a:pPr marL="0" indent="0">
                  <a:buNone/>
                </a:pPr>
                <a:r>
                  <a:rPr lang="en-US" sz="1800" dirty="0"/>
                  <a:t>	          where </a:t>
                </a:r>
                <a:r>
                  <a:rPr lang="en-US" sz="1800" i="1" dirty="0"/>
                  <a:t>F</a:t>
                </a:r>
                <a:r>
                  <a:rPr lang="en-US" sz="1800" dirty="0"/>
                  <a:t> is the measured flux in a certain energy interval. Study the bimodal distribution in 	          the </a:t>
                </a:r>
                <a:r>
                  <a:rPr lang="en-US" sz="1800" i="1" dirty="0"/>
                  <a:t>log(T90)</a:t>
                </a:r>
                <a:r>
                  <a:rPr lang="en-US" sz="1800" dirty="0"/>
                  <a:t> - </a:t>
                </a:r>
                <a:r>
                  <a:rPr lang="en-US" sz="1800" i="1" dirty="0"/>
                  <a:t>log(HR)</a:t>
                </a:r>
                <a:r>
                  <a:rPr lang="en-US" sz="1800" dirty="0"/>
                  <a:t> space.</a:t>
                </a:r>
              </a:p>
            </p:txBody>
          </p:sp>
        </mc:Choice>
        <mc:Fallback xmlns="">
          <p:sp>
            <p:nvSpPr>
              <p:cNvPr id="3" name="Content Placeholder 2">
                <a:extLst>
                  <a:ext uri="{FF2B5EF4-FFF2-40B4-BE49-F238E27FC236}">
                    <a16:creationId xmlns:a16="http://schemas.microsoft.com/office/drawing/2014/main" id="{4AD530CC-FDC8-392C-3D97-FC2D6C593F5B}"/>
                  </a:ext>
                </a:extLst>
              </p:cNvPr>
              <p:cNvSpPr>
                <a:spLocks noGrp="1" noRot="1" noChangeAspect="1" noMove="1" noResize="1" noEditPoints="1" noAdjustHandles="1" noChangeArrowheads="1" noChangeShapeType="1" noTextEdit="1"/>
              </p:cNvSpPr>
              <p:nvPr>
                <p:ph idx="1"/>
              </p:nvPr>
            </p:nvSpPr>
            <p:spPr>
              <a:xfrm>
                <a:off x="700635" y="1563077"/>
                <a:ext cx="10691265" cy="4618892"/>
              </a:xfrm>
              <a:blipFill>
                <a:blip r:embed="rId7"/>
                <a:stretch>
                  <a:fillRect l="-513" t="-528"/>
                </a:stretch>
              </a:blipFill>
            </p:spPr>
            <p:txBody>
              <a:bodyPr/>
              <a:lstStyle/>
              <a:p>
                <a:r>
                  <a:rPr lang="it-IT">
                    <a:noFill/>
                  </a:rPr>
                  <a:t> </a:t>
                </a:r>
              </a:p>
            </p:txBody>
          </p:sp>
        </mc:Fallback>
      </mc:AlternateContent>
      <p:sp>
        <p:nvSpPr>
          <p:cNvPr id="13" name="Right Brace 12">
            <a:extLst>
              <a:ext uri="{FF2B5EF4-FFF2-40B4-BE49-F238E27FC236}">
                <a16:creationId xmlns:a16="http://schemas.microsoft.com/office/drawing/2014/main" id="{8157EF63-64E4-F85C-3B7C-0941FCE81A54}"/>
              </a:ext>
            </a:extLst>
          </p:cNvPr>
          <p:cNvSpPr/>
          <p:nvPr/>
        </p:nvSpPr>
        <p:spPr>
          <a:xfrm rot="5400000">
            <a:off x="4245736" y="1584569"/>
            <a:ext cx="509548" cy="7500285"/>
          </a:xfrm>
          <a:prstGeom prst="rightBrac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rtlCol="0" anchor="ctr"/>
          <a:lstStyle/>
          <a:p>
            <a:pPr algn="ctr"/>
            <a:endParaRPr lang="it-IT"/>
          </a:p>
        </p:txBody>
      </p:sp>
      <p:sp>
        <p:nvSpPr>
          <p:cNvPr id="14" name="TextBox 13">
            <a:extLst>
              <a:ext uri="{FF2B5EF4-FFF2-40B4-BE49-F238E27FC236}">
                <a16:creationId xmlns:a16="http://schemas.microsoft.com/office/drawing/2014/main" id="{B551E40E-BD34-5ED9-4DD9-D9F7DF3939A8}"/>
              </a:ext>
            </a:extLst>
          </p:cNvPr>
          <p:cNvSpPr txBox="1"/>
          <p:nvPr/>
        </p:nvSpPr>
        <p:spPr>
          <a:xfrm>
            <a:off x="3574647" y="5589485"/>
            <a:ext cx="1851725" cy="369332"/>
          </a:xfrm>
          <a:prstGeom prst="rect">
            <a:avLst/>
          </a:prstGeom>
          <a:noFill/>
        </p:spPr>
        <p:txBody>
          <a:bodyPr wrap="none" rtlCol="0">
            <a:spAutoFit/>
          </a:bodyPr>
          <a:lstStyle/>
          <a:p>
            <a:r>
              <a:rPr lang="it-IT" dirty="0"/>
              <a:t>Only logT</a:t>
            </a:r>
            <a:r>
              <a:rPr lang="it-IT" baseline="-25000" dirty="0"/>
              <a:t>90</a:t>
            </a:r>
            <a:r>
              <a:rPr lang="it-IT" dirty="0"/>
              <a:t> (1D)</a:t>
            </a:r>
          </a:p>
        </p:txBody>
      </p:sp>
    </p:spTree>
    <p:extLst>
      <p:ext uri="{BB962C8B-B14F-4D97-AF65-F5344CB8AC3E}">
        <p14:creationId xmlns:p14="http://schemas.microsoft.com/office/powerpoint/2010/main" val="3121691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6186-3E2E-B3BB-1591-41757A545F8B}"/>
              </a:ext>
            </a:extLst>
          </p:cNvPr>
          <p:cNvSpPr>
            <a:spLocks noGrp="1"/>
          </p:cNvSpPr>
          <p:nvPr>
            <p:ph type="title"/>
          </p:nvPr>
        </p:nvSpPr>
        <p:spPr/>
        <p:txBody>
          <a:bodyPr/>
          <a:lstStyle/>
          <a:p>
            <a:r>
              <a:rPr lang="it-IT" dirty="0">
                <a:solidFill>
                  <a:srgbClr val="FF0000"/>
                </a:solidFill>
              </a:rPr>
              <a:t>Gibbs sampling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5C04F7-B3B5-746A-32AF-732BBCCCA637}"/>
                  </a:ext>
                </a:extLst>
              </p:cNvPr>
              <p:cNvSpPr>
                <a:spLocks noGrp="1"/>
              </p:cNvSpPr>
              <p:nvPr>
                <p:ph idx="1"/>
              </p:nvPr>
            </p:nvSpPr>
            <p:spPr>
              <a:xfrm>
                <a:off x="700635" y="1563077"/>
                <a:ext cx="10691265" cy="4814277"/>
              </a:xfrm>
            </p:spPr>
            <p:txBody>
              <a:bodyPr>
                <a:normAutofit/>
              </a:bodyPr>
              <a:lstStyle/>
              <a:p>
                <a:r>
                  <a:rPr lang="it-IT" sz="1800" dirty="0"/>
                  <a:t>A </a:t>
                </a:r>
                <a:r>
                  <a:rPr lang="it-IT" sz="1800" b="1" dirty="0"/>
                  <a:t>Markov Chain Monte Carlo </a:t>
                </a:r>
                <a:r>
                  <a:rPr lang="it-IT" sz="1800" dirty="0"/>
                  <a:t>(</a:t>
                </a:r>
                <a:r>
                  <a:rPr lang="it-IT" sz="1800" b="1" dirty="0"/>
                  <a:t>MCMC</a:t>
                </a:r>
                <a:r>
                  <a:rPr lang="it-IT" sz="1800" dirty="0"/>
                  <a:t>) method to draw samples from a </a:t>
                </a:r>
                <a:r>
                  <a:rPr lang="it-IT" sz="1800" b="1" dirty="0"/>
                  <a:t>joint posterior </a:t>
                </a:r>
                <a:r>
                  <a:rPr lang="it-IT" sz="1800" dirty="0"/>
                  <a:t>by iteratively sampling each variable from its </a:t>
                </a:r>
                <a:r>
                  <a:rPr lang="it-IT" sz="1800" b="1" dirty="0"/>
                  <a:t>conditional distribution </a:t>
                </a:r>
                <a:r>
                  <a:rPr lang="it-IT" sz="1800" dirty="0"/>
                  <a:t>given the current values of the others.</a:t>
                </a:r>
              </a:p>
              <a:p>
                <a:r>
                  <a:rPr lang="it-IT" sz="1800" b="1" dirty="0"/>
                  <a:t>Assignments</a:t>
                </a:r>
                <a:r>
                  <a:rPr lang="it-IT" sz="1800" dirty="0"/>
                  <a:t>: </a:t>
                </a:r>
                <a14:m>
                  <m:oMath xmlns:m="http://schemas.openxmlformats.org/officeDocument/2006/math">
                    <m:r>
                      <a:rPr lang="it-IT" sz="1800" b="0" i="1" smtClean="0">
                        <a:latin typeface="Cambria Math" panose="02040503050406030204" pitchFamily="18" charset="0"/>
                      </a:rPr>
                      <m:t>𝒛</m:t>
                    </m:r>
                    <m: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𝑧</m:t>
                            </m:r>
                          </m:e>
                          <m:sub>
                            <m:r>
                              <a:rPr lang="it-IT" sz="1800" b="0" i="1" smtClean="0">
                                <a:latin typeface="Cambria Math" panose="02040503050406030204" pitchFamily="18" charset="0"/>
                              </a:rPr>
                              <m:t>1</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𝑧</m:t>
                            </m:r>
                          </m:e>
                          <m:sub>
                            <m:r>
                              <m:rPr>
                                <m:sty m:val="p"/>
                              </m:rPr>
                              <a:rPr lang="it-IT" sz="1800" b="0" i="1" smtClean="0">
                                <a:latin typeface="Cambria Math" panose="02040503050406030204" pitchFamily="18" charset="0"/>
                              </a:rPr>
                              <m:t>N</m:t>
                            </m:r>
                          </m:sub>
                        </m:sSub>
                      </m:e>
                    </m:d>
                    <m:r>
                      <a:rPr lang="it-IT" sz="1800" b="0" i="1" smtClean="0">
                        <a:latin typeface="Cambria Math" panose="02040503050406030204" pitchFamily="18" charset="0"/>
                      </a:rPr>
                      <m:t>,  </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𝑧</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r>
                      <a:rPr lang="it-IT" sz="1800" b="0" i="1" smtClean="0">
                        <a:latin typeface="Cambria Math" panose="02040503050406030204" pitchFamily="18" charset="0"/>
                      </a:rPr>
                      <m:t>1</m:t>
                    </m:r>
                    <m:r>
                      <a:rPr lang="it-IT" sz="1800" b="0" i="1" smtClean="0">
                        <a:latin typeface="Cambria Math" panose="02040503050406030204" pitchFamily="18" charset="0"/>
                      </a:rPr>
                      <m:t>,…,</m:t>
                    </m:r>
                    <m:r>
                      <a:rPr lang="it-IT" sz="1800" b="0" i="1" smtClean="0">
                        <a:latin typeface="Cambria Math" panose="02040503050406030204" pitchFamily="18" charset="0"/>
                      </a:rPr>
                      <m:t>𝐾</m:t>
                    </m:r>
                    <m:r>
                      <a:rPr lang="it-IT" sz="1800" b="0" i="1" smtClean="0">
                        <a:latin typeface="Cambria Math" panose="02040503050406030204" pitchFamily="18" charset="0"/>
                      </a:rPr>
                      <m:t>}    </m:t>
                    </m:r>
                    <m:r>
                      <a:rPr lang="it-IT" sz="1800" b="0" i="1" smtClean="0">
                        <a:latin typeface="Cambria Math" panose="02040503050406030204" pitchFamily="18" charset="0"/>
                      </a:rPr>
                      <m:t>𝐾</m:t>
                    </m:r>
                    <m:eqArr>
                      <m:eqArrPr>
                        <m:ctrlPr>
                          <a:rPr lang="it-IT" sz="1800" b="0" i="1" smtClean="0">
                            <a:latin typeface="Cambria Math" panose="02040503050406030204" pitchFamily="18" charset="0"/>
                          </a:rPr>
                        </m:ctrlPr>
                      </m:eqArrPr>
                      <m:e>
                        <m:r>
                          <m:rPr>
                            <m:brk/>
                          </m:rPr>
                          <a:rPr lang="it-IT" sz="1800" b="0" i="1" smtClean="0">
                            <a:latin typeface="Cambria Math" panose="02040503050406030204" pitchFamily="18" charset="0"/>
                          </a:rPr>
                          <m:t>=</m:t>
                        </m:r>
                        <m:r>
                          <a:rPr lang="it-IT" sz="1800" b="0" i="1" smtClean="0">
                            <a:latin typeface="Cambria Math" panose="02040503050406030204" pitchFamily="18" charset="0"/>
                          </a:rPr>
                          <m:t>#</m:t>
                        </m:r>
                        <m:r>
                          <m:rPr>
                            <m:nor/>
                          </m:rPr>
                          <a:rPr lang="it-IT" sz="1800" b="0" i="0" smtClean="0">
                            <a:latin typeface="Cambria Math" panose="02040503050406030204" pitchFamily="18" charset="0"/>
                          </a:rPr>
                          <m:t>#</m:t>
                        </m:r>
                        <m:r>
                          <m:rPr>
                            <m:nor/>
                          </m:rPr>
                          <a:rPr lang="it-IT" sz="1800" b="0" i="0" smtClean="0">
                            <a:latin typeface="Cambria Math" panose="02040503050406030204" pitchFamily="18" charset="0"/>
                          </a:rPr>
                          <m:t>Gaussian</m:t>
                        </m:r>
                        <m:r>
                          <m:rPr>
                            <m:nor/>
                          </m:rPr>
                          <a:rPr lang="it-IT" sz="1800" b="0" i="0" smtClean="0">
                            <a:latin typeface="Cambria Math" panose="02040503050406030204" pitchFamily="18" charset="0"/>
                          </a:rPr>
                          <m:t> </m:t>
                        </m:r>
                        <m:r>
                          <m:rPr>
                            <m:nor/>
                          </m:rPr>
                          <a:rPr lang="it-IT" sz="1800" b="0" i="0" smtClean="0">
                            <a:latin typeface="Cambria Math" panose="02040503050406030204" pitchFamily="18" charset="0"/>
                          </a:rPr>
                          <m:t>components</m:t>
                        </m:r>
                      </m:e>
                    </m:eqArr>
                  </m:oMath>
                </a14:m>
                <a:r>
                  <a:rPr lang="en-US" sz="1800" dirty="0"/>
                  <a:t>		</a:t>
                </a:r>
              </a:p>
              <a:p>
                <a:r>
                  <a:rPr lang="en-US" sz="1800" b="1" dirty="0"/>
                  <a:t>Parameters</a:t>
                </a:r>
                <a:r>
                  <a:rPr lang="en-US" sz="1800" dirty="0"/>
                  <a:t>: weights </a:t>
                </a:r>
                <a14:m>
                  <m:oMath xmlns:m="http://schemas.openxmlformats.org/officeDocument/2006/math">
                    <m:r>
                      <a:rPr lang="it-IT" sz="1800" b="0" i="1" smtClean="0">
                        <a:latin typeface="Cambria Math" panose="02040503050406030204" pitchFamily="18" charset="0"/>
                      </a:rPr>
                      <m:t>𝒘</m:t>
                    </m:r>
                    <m: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𝑤</m:t>
                            </m:r>
                          </m:e>
                          <m:sub>
                            <m:r>
                              <a:rPr lang="it-IT" sz="1800" b="0" i="1" smtClean="0">
                                <a:latin typeface="Cambria Math" panose="02040503050406030204" pitchFamily="18" charset="0"/>
                              </a:rPr>
                              <m:t>1</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𝑤</m:t>
                            </m:r>
                          </m:e>
                          <m:sub>
                            <m:r>
                              <a:rPr lang="it-IT" sz="1800" b="0" i="1" smtClean="0">
                                <a:latin typeface="Cambria Math" panose="02040503050406030204" pitchFamily="18" charset="0"/>
                              </a:rPr>
                              <m:t>𝐾</m:t>
                            </m:r>
                          </m:sub>
                        </m:sSub>
                      </m:e>
                    </m:d>
                    <m:r>
                      <a:rPr lang="it-IT" sz="1800" b="0" i="1" smtClean="0">
                        <a:latin typeface="Cambria Math" panose="02040503050406030204" pitchFamily="18" charset="0"/>
                      </a:rPr>
                      <m:t>,</m:t>
                    </m:r>
                    <m:r>
                      <m:rPr>
                        <m:nor/>
                      </m:rPr>
                      <a:rPr lang="it-IT" sz="1800" b="0" i="0" smtClean="0">
                        <a:latin typeface="Cambria Math" panose="02040503050406030204" pitchFamily="18" charset="0"/>
                      </a:rPr>
                      <m:t> </m:t>
                    </m:r>
                    <m:r>
                      <m:rPr>
                        <m:nor/>
                      </m:rPr>
                      <a:rPr lang="it-IT" sz="1800" b="0" i="0" smtClean="0">
                        <a:latin typeface="Cambria Math" panose="02040503050406030204" pitchFamily="18" charset="0"/>
                      </a:rPr>
                      <m:t>gaussian</m:t>
                    </m:r>
                    <m:r>
                      <m:rPr>
                        <m:nor/>
                      </m:rPr>
                      <a:rPr lang="it-IT" sz="1800" b="0" i="0" smtClean="0">
                        <a:latin typeface="Cambria Math" panose="02040503050406030204" pitchFamily="18" charset="0"/>
                      </a:rPr>
                      <m:t> </m:t>
                    </m:r>
                    <m:r>
                      <m:rPr>
                        <m:nor/>
                      </m:rPr>
                      <a:rPr lang="it-IT" sz="1800" b="0" i="0" smtClean="0">
                        <a:latin typeface="Cambria Math" panose="02040503050406030204" pitchFamily="18" charset="0"/>
                      </a:rPr>
                      <m:t>param</m:t>
                    </m:r>
                    <m:r>
                      <m:rPr>
                        <m:sty m:val="p"/>
                      </m:rPr>
                      <a:rPr lang="it-IT" sz="1800" i="1">
                        <a:latin typeface="Cambria Math" panose="02040503050406030204" pitchFamily="18" charset="0"/>
                      </a:rPr>
                      <m:t>eters</m:t>
                    </m:r>
                    <m:r>
                      <a:rPr lang="it-IT" sz="1800" i="1">
                        <a:latin typeface="Cambria Math" panose="02040503050406030204" pitchFamily="18" charset="0"/>
                      </a:rPr>
                      <m:t> </m:t>
                    </m:r>
                    <m:r>
                      <a:rPr lang="it-IT" sz="1800" i="1">
                        <a:latin typeface="Cambria Math" panose="02040503050406030204" pitchFamily="18" charset="0"/>
                      </a:rPr>
                      <m:t>𝜽</m:t>
                    </m:r>
                    <m:r>
                      <a:rPr lang="it-IT" sz="1800" i="1" smtClean="0">
                        <a:latin typeface="Cambria Math" panose="02040503050406030204" pitchFamily="18" charset="0"/>
                      </a:rPr>
                      <m:t>=</m:t>
                    </m:r>
                    <m:d>
                      <m:dPr>
                        <m:ctrlPr>
                          <a:rPr lang="it-IT" sz="1800" b="0" i="1" smtClean="0">
                            <a:latin typeface="Cambria Math" panose="02040503050406030204" pitchFamily="18" charset="0"/>
                          </a:rPr>
                        </m:ctrlPr>
                      </m:dPr>
                      <m:e>
                        <m:r>
                          <a:rPr lang="it-IT" sz="1800" b="0" i="1" smtClean="0">
                            <a:latin typeface="Cambria Math" panose="02040503050406030204" pitchFamily="18" charset="0"/>
                          </a:rPr>
                          <m:t>𝝁</m:t>
                        </m:r>
                        <m:r>
                          <a:rPr lang="it-IT" sz="1800" b="0" i="1" smtClean="0">
                            <a:latin typeface="Cambria Math" panose="02040503050406030204" pitchFamily="18" charset="0"/>
                          </a:rPr>
                          <m:t>,</m:t>
                        </m:r>
                        <m:sSup>
                          <m:sSupPr>
                            <m:ctrlPr>
                              <a:rPr lang="it-IT" sz="1800" i="1">
                                <a:latin typeface="Cambria Math" panose="02040503050406030204" pitchFamily="18" charset="0"/>
                              </a:rPr>
                            </m:ctrlPr>
                          </m:sSupPr>
                          <m:e>
                            <m:r>
                              <a:rPr lang="it-IT" sz="1800" i="1">
                                <a:latin typeface="Cambria Math" panose="02040503050406030204" pitchFamily="18" charset="0"/>
                              </a:rPr>
                              <m:t>𝝈</m:t>
                            </m:r>
                          </m:e>
                          <m:sup>
                            <m:r>
                              <a:rPr lang="it-IT" sz="1800" i="1">
                                <a:latin typeface="Cambria Math" panose="02040503050406030204" pitchFamily="18" charset="0"/>
                              </a:rPr>
                              <m:t>𝟐</m:t>
                            </m:r>
                          </m:sup>
                        </m:sSup>
                      </m:e>
                    </m:d>
                    <m: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Sup>
                          <m:sSubSupPr>
                            <m:ctrlPr>
                              <a:rPr lang="it-IT" sz="1800" b="0" i="1" smtClean="0">
                                <a:latin typeface="Cambria Math" panose="02040503050406030204" pitchFamily="18" charset="0"/>
                              </a:rPr>
                            </m:ctrlPr>
                          </m:sSubSup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m:t>
                                </m:r>
                                <m:r>
                                  <a:rPr lang="it-IT" sz="1800" b="0" i="1" smtClean="0">
                                    <a:latin typeface="Cambria Math" panose="02040503050406030204" pitchFamily="18" charset="0"/>
                                  </a:rPr>
                                  <m:t>𝜇</m:t>
                                </m:r>
                              </m:e>
                              <m:sub>
                                <m:r>
                                  <a:rPr lang="it-IT" sz="1800" b="0" i="1" smtClean="0">
                                    <a:latin typeface="Cambria Math" panose="02040503050406030204" pitchFamily="18" charset="0"/>
                                  </a:rPr>
                                  <m:t>𝑘</m:t>
                                </m:r>
                              </m:sub>
                            </m:sSub>
                            <m:r>
                              <a:rPr lang="it-IT" sz="1800" b="0" i="1" smtClean="0">
                                <a:latin typeface="Cambria Math" panose="02040503050406030204" pitchFamily="18" charset="0"/>
                              </a:rPr>
                              <m:t>}</m:t>
                            </m:r>
                          </m:e>
                          <m:sub>
                            <m:r>
                              <a:rPr lang="it-IT" sz="1800" b="0" i="1" smtClean="0">
                                <a:latin typeface="Cambria Math" panose="02040503050406030204" pitchFamily="18" charset="0"/>
                              </a:rPr>
                              <m:t>𝑘</m:t>
                            </m:r>
                            <m:r>
                              <a:rPr lang="it-IT" sz="1800" b="0" i="1" smtClean="0">
                                <a:latin typeface="Cambria Math" panose="02040503050406030204" pitchFamily="18" charset="0"/>
                              </a:rPr>
                              <m:t>=</m:t>
                            </m:r>
                            <m:r>
                              <a:rPr lang="it-IT" sz="1800" b="0" i="1" smtClean="0">
                                <a:latin typeface="Cambria Math" panose="02040503050406030204" pitchFamily="18" charset="0"/>
                              </a:rPr>
                              <m:t>1</m:t>
                            </m:r>
                          </m:sub>
                          <m:sup>
                            <m:r>
                              <a:rPr lang="it-IT" sz="1800" b="0" i="1" smtClean="0">
                                <a:latin typeface="Cambria Math" panose="02040503050406030204" pitchFamily="18" charset="0"/>
                              </a:rPr>
                              <m:t>𝐾</m:t>
                            </m:r>
                          </m:sup>
                        </m:sSubSup>
                        <m:r>
                          <a:rPr lang="it-IT" sz="1800" b="0" i="1" smtClean="0">
                            <a:latin typeface="Cambria Math" panose="02040503050406030204" pitchFamily="18" charset="0"/>
                          </a:rPr>
                          <m:t>,</m:t>
                        </m:r>
                        <m:sSubSup>
                          <m:sSubSupPr>
                            <m:ctrlPr>
                              <a:rPr lang="it-IT" sz="1800" b="0" i="1" smtClean="0">
                                <a:latin typeface="Cambria Math" panose="02040503050406030204" pitchFamily="18" charset="0"/>
                              </a:rPr>
                            </m:ctrlPr>
                          </m:sSubSupPr>
                          <m:e>
                            <m:r>
                              <a:rPr lang="it-IT" sz="1800" b="0" i="1" smtClean="0">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a:rPr lang="it-IT" sz="1800" b="0" i="1" smtClean="0">
                                <a:latin typeface="Cambria Math" panose="02040503050406030204" pitchFamily="18" charset="0"/>
                              </a:rPr>
                              <m:t>}</m:t>
                            </m:r>
                          </m:e>
                          <m:sub>
                            <m:r>
                              <a:rPr lang="it-IT" sz="1800" b="0" i="1" smtClean="0">
                                <a:latin typeface="Cambria Math" panose="02040503050406030204" pitchFamily="18" charset="0"/>
                              </a:rPr>
                              <m:t>𝑘</m:t>
                            </m:r>
                            <m:r>
                              <a:rPr lang="it-IT" sz="1800" b="0" i="1" smtClean="0">
                                <a:latin typeface="Cambria Math" panose="02040503050406030204" pitchFamily="18" charset="0"/>
                              </a:rPr>
                              <m:t>=</m:t>
                            </m:r>
                            <m:r>
                              <a:rPr lang="it-IT" sz="1800" b="0" i="1" smtClean="0">
                                <a:latin typeface="Cambria Math" panose="02040503050406030204" pitchFamily="18" charset="0"/>
                              </a:rPr>
                              <m:t>1</m:t>
                            </m:r>
                          </m:sub>
                          <m:sup>
                            <m:r>
                              <a:rPr lang="it-IT" sz="1800" b="0" i="1" smtClean="0">
                                <a:latin typeface="Cambria Math" panose="02040503050406030204" pitchFamily="18" charset="0"/>
                              </a:rPr>
                              <m:t>𝐾</m:t>
                            </m:r>
                          </m:sup>
                        </m:sSubSup>
                      </m:e>
                    </m:d>
                  </m:oMath>
                </a14:m>
                <a:endParaRPr lang="it-IT" sz="1800" dirty="0"/>
              </a:p>
              <a:p>
                <a:r>
                  <a:rPr lang="it-IT" sz="1800" dirty="0"/>
                  <a:t>Principle:	</a:t>
                </a:r>
              </a:p>
              <a:p>
                <a:pPr marL="0" indent="0">
                  <a:buNone/>
                </a:pPr>
                <a14:m>
                  <m:oMathPara xmlns:m="http://schemas.openxmlformats.org/officeDocument/2006/math">
                    <m:oMathParaPr>
                      <m:jc m:val="centerGroup"/>
                    </m:oMathParaPr>
                    <m:oMath xmlns:m="http://schemas.openxmlformats.org/officeDocument/2006/math">
                      <m:r>
                        <a:rPr lang="it-IT" sz="1800" i="1" dirty="0" smtClean="0">
                          <a:latin typeface="Cambria Math" panose="02040503050406030204" pitchFamily="18" charset="0"/>
                        </a:rPr>
                        <m:t>𝑝</m:t>
                      </m:r>
                      <m:d>
                        <m:dPr>
                          <m:ctrlPr>
                            <a:rPr lang="it-IT" sz="1800" i="1" dirty="0" smtClean="0">
                              <a:latin typeface="Cambria Math" panose="02040503050406030204" pitchFamily="18" charset="0"/>
                            </a:rPr>
                          </m:ctrlPr>
                        </m:dPr>
                        <m:e>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𝛾</m:t>
                              </m:r>
                            </m:e>
                            <m:sub>
                              <m:r>
                                <a:rPr lang="it-IT" sz="1800" i="1" dirty="0" smtClean="0">
                                  <a:latin typeface="Cambria Math" panose="02040503050406030204" pitchFamily="18" charset="0"/>
                                </a:rPr>
                                <m:t>𝑗</m:t>
                              </m:r>
                            </m:sub>
                          </m:sSub>
                        </m:e>
                        <m:e>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𝛾</m:t>
                              </m:r>
                            </m:e>
                            <m:sub>
                              <m:r>
                                <a:rPr lang="it-IT" sz="1800" i="1" dirty="0" smtClean="0">
                                  <a:latin typeface="Cambria Math" panose="02040503050406030204" pitchFamily="18" charset="0"/>
                                </a:rPr>
                                <m:t>¬</m:t>
                              </m:r>
                              <m:r>
                                <a:rPr lang="it-IT" sz="1800" i="1" dirty="0" smtClean="0">
                                  <a:latin typeface="Cambria Math" panose="02040503050406030204" pitchFamily="18" charset="0"/>
                                </a:rPr>
                                <m:t>𝑗</m:t>
                              </m:r>
                            </m:sub>
                          </m:sSub>
                          <m:r>
                            <a:rPr lang="it-IT" sz="1800" b="0" i="1" dirty="0" smtClean="0">
                              <a:latin typeface="Cambria Math" panose="02040503050406030204" pitchFamily="18" charset="0"/>
                            </a:rPr>
                            <m:t>,</m:t>
                          </m:r>
                          <m:r>
                            <a:rPr lang="it-IT" sz="1800" i="1" dirty="0">
                              <a:latin typeface="Cambria Math" panose="02040503050406030204" pitchFamily="18" charset="0"/>
                            </a:rPr>
                            <m:t>𝒙</m:t>
                          </m:r>
                        </m:e>
                      </m:d>
                      <m:r>
                        <a:rPr lang="it-IT" sz="1800" i="1" dirty="0" smtClean="0">
                          <a:latin typeface="Cambria Math" panose="02040503050406030204" pitchFamily="18" charset="0"/>
                        </a:rPr>
                        <m:t>=</m:t>
                      </m:r>
                      <m:r>
                        <a:rPr lang="it-IT" sz="1800" i="1" dirty="0" smtClean="0">
                          <a:latin typeface="Cambria Math" panose="02040503050406030204" pitchFamily="18" charset="0"/>
                        </a:rPr>
                        <m:t>𝑝</m:t>
                      </m:r>
                      <m:d>
                        <m:dPr>
                          <m:ctrlPr>
                            <a:rPr lang="it-IT" sz="1800" i="1" dirty="0" smtClean="0">
                              <a:latin typeface="Cambria Math" panose="02040503050406030204" pitchFamily="18" charset="0"/>
                            </a:rPr>
                          </m:ctrlPr>
                        </m:dPr>
                        <m:e>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𝛾</m:t>
                              </m:r>
                            </m:e>
                            <m:sub>
                              <m:r>
                                <a:rPr lang="it-IT" sz="1800" i="1" dirty="0" smtClean="0">
                                  <a:latin typeface="Cambria Math" panose="02040503050406030204" pitchFamily="18" charset="0"/>
                                </a:rPr>
                                <m:t>𝑗</m:t>
                              </m:r>
                            </m:sub>
                          </m:sSub>
                          <m:r>
                            <a:rPr lang="it-IT" sz="1800" i="1" dirty="0" smtClean="0">
                              <a:latin typeface="Cambria Math" panose="02040503050406030204" pitchFamily="18" charset="0"/>
                            </a:rPr>
                            <m:t>,</m:t>
                          </m:r>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𝛾</m:t>
                              </m:r>
                            </m:e>
                            <m:sub>
                              <m:r>
                                <a:rPr lang="it-IT" sz="1800" i="1" dirty="0" smtClean="0">
                                  <a:latin typeface="Cambria Math" panose="02040503050406030204" pitchFamily="18" charset="0"/>
                                </a:rPr>
                                <m:t>¬</m:t>
                              </m:r>
                              <m:r>
                                <a:rPr lang="it-IT" sz="1800" i="1" dirty="0" smtClean="0">
                                  <a:latin typeface="Cambria Math" panose="02040503050406030204" pitchFamily="18" charset="0"/>
                                </a:rPr>
                                <m:t>𝑗</m:t>
                              </m:r>
                            </m:sub>
                          </m:sSub>
                        </m:e>
                        <m:e>
                          <m:r>
                            <a:rPr lang="it-IT" sz="1800" i="1" dirty="0" smtClean="0">
                              <a:latin typeface="Cambria Math" panose="02040503050406030204" pitchFamily="18" charset="0"/>
                            </a:rPr>
                            <m:t>𝒙</m:t>
                          </m:r>
                        </m:e>
                      </m:d>
                      <m:r>
                        <m:rPr>
                          <m:lit/>
                        </m:rPr>
                        <a:rPr lang="it-IT" sz="1800" i="1" dirty="0" smtClean="0">
                          <a:latin typeface="Cambria Math" panose="02040503050406030204" pitchFamily="18" charset="0"/>
                        </a:rPr>
                        <m:t>/</m:t>
                      </m:r>
                      <m:r>
                        <a:rPr lang="it-IT" sz="1800" i="1" dirty="0" smtClean="0">
                          <a:latin typeface="Cambria Math" panose="02040503050406030204" pitchFamily="18" charset="0"/>
                        </a:rPr>
                        <m:t>𝑝</m:t>
                      </m:r>
                      <m:d>
                        <m:dPr>
                          <m:ctrlPr>
                            <a:rPr lang="it-IT" sz="1800" i="1" dirty="0" smtClean="0">
                              <a:latin typeface="Cambria Math" panose="02040503050406030204" pitchFamily="18" charset="0"/>
                            </a:rPr>
                          </m:ctrlPr>
                        </m:dPr>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𝛾</m:t>
                              </m:r>
                            </m:e>
                            <m:sub>
                              <m:r>
                                <a:rPr lang="it-IT" sz="1800" i="1" dirty="0">
                                  <a:latin typeface="Cambria Math" panose="02040503050406030204" pitchFamily="18" charset="0"/>
                                </a:rPr>
                                <m:t>¬</m:t>
                              </m:r>
                              <m:r>
                                <a:rPr lang="it-IT" sz="1800" i="1" dirty="0">
                                  <a:latin typeface="Cambria Math" panose="02040503050406030204" pitchFamily="18" charset="0"/>
                                </a:rPr>
                                <m:t>𝑗</m:t>
                              </m:r>
                            </m:sub>
                          </m:sSub>
                          <m:r>
                            <a:rPr lang="it-IT" sz="1800" b="0" i="1" dirty="0" smtClean="0">
                              <a:latin typeface="Cambria Math" panose="02040503050406030204" pitchFamily="18" charset="0"/>
                            </a:rPr>
                            <m:t>|</m:t>
                          </m:r>
                          <m:r>
                            <a:rPr lang="it-IT" sz="1800" i="1" dirty="0" smtClean="0">
                              <a:latin typeface="Cambria Math" panose="02040503050406030204" pitchFamily="18" charset="0"/>
                            </a:rPr>
                            <m:t>𝒙</m:t>
                          </m:r>
                        </m:e>
                      </m:d>
                      <m:r>
                        <a:rPr lang="it-IT" sz="1800" i="1" dirty="0" smtClean="0">
                          <a:latin typeface="Cambria Math" panose="02040503050406030204" pitchFamily="18" charset="0"/>
                        </a:rPr>
                        <m:t>∝</m:t>
                      </m:r>
                      <m:r>
                        <a:rPr lang="it-IT" sz="1800" i="1" dirty="0" smtClean="0">
                          <a:latin typeface="Cambria Math" panose="02040503050406030204" pitchFamily="18" charset="0"/>
                        </a:rPr>
                        <m:t>𝑝</m:t>
                      </m:r>
                      <m:d>
                        <m:dPr>
                          <m:ctrlPr>
                            <a:rPr lang="it-IT" sz="1800" i="1" dirty="0" smtClean="0">
                              <a:latin typeface="Cambria Math" panose="02040503050406030204" pitchFamily="18" charset="0"/>
                            </a:rPr>
                          </m:ctrlPr>
                        </m:dPr>
                        <m:e>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𝛾</m:t>
                              </m:r>
                            </m:e>
                            <m:sub>
                              <m:r>
                                <a:rPr lang="it-IT" sz="1800" i="1" dirty="0" smtClean="0">
                                  <a:latin typeface="Cambria Math" panose="02040503050406030204" pitchFamily="18" charset="0"/>
                                </a:rPr>
                                <m:t>𝑗</m:t>
                              </m:r>
                            </m:sub>
                          </m:sSub>
                          <m:r>
                            <a:rPr lang="it-IT" sz="1800" i="1" dirty="0" smtClean="0">
                              <a:latin typeface="Cambria Math" panose="02040503050406030204" pitchFamily="18" charset="0"/>
                            </a:rPr>
                            <m:t>,</m:t>
                          </m:r>
                          <m:sSub>
                            <m:sSubPr>
                              <m:ctrlPr>
                                <a:rPr lang="it-IT" sz="1800" i="1" dirty="0" smtClean="0">
                                  <a:latin typeface="Cambria Math" panose="02040503050406030204" pitchFamily="18" charset="0"/>
                                </a:rPr>
                              </m:ctrlPr>
                            </m:sSubPr>
                            <m:e>
                              <m:r>
                                <a:rPr lang="it-IT" sz="1800" i="1" dirty="0" smtClean="0">
                                  <a:latin typeface="Cambria Math" panose="02040503050406030204" pitchFamily="18" charset="0"/>
                                </a:rPr>
                                <m:t>𝛾</m:t>
                              </m:r>
                            </m:e>
                            <m:sub>
                              <m:r>
                                <a:rPr lang="it-IT" sz="1800" i="1" dirty="0" smtClean="0">
                                  <a:latin typeface="Cambria Math" panose="02040503050406030204" pitchFamily="18" charset="0"/>
                                </a:rPr>
                                <m:t>¬</m:t>
                              </m:r>
                              <m:r>
                                <a:rPr lang="it-IT" sz="1800" i="1" dirty="0" smtClean="0">
                                  <a:latin typeface="Cambria Math" panose="02040503050406030204" pitchFamily="18" charset="0"/>
                                </a:rPr>
                                <m:t>𝑗</m:t>
                              </m:r>
                            </m:sub>
                          </m:sSub>
                        </m:e>
                        <m:e>
                          <m:r>
                            <a:rPr lang="it-IT" sz="1800" i="1" dirty="0" smtClean="0">
                              <a:latin typeface="Cambria Math" panose="02040503050406030204" pitchFamily="18" charset="0"/>
                            </a:rPr>
                            <m:t>𝒙</m:t>
                          </m:r>
                        </m:e>
                      </m:d>
                      <m:r>
                        <a:rPr lang="it-IT" sz="1800" i="1" dirty="0" smtClean="0">
                          <a:latin typeface="Cambria Math" panose="02040503050406030204" pitchFamily="18" charset="0"/>
                        </a:rPr>
                        <m:t>=</m:t>
                      </m:r>
                      <m:r>
                        <a:rPr lang="it-IT" sz="1800" i="1" dirty="0" smtClean="0">
                          <a:latin typeface="Cambria Math" panose="02040503050406030204" pitchFamily="18" charset="0"/>
                        </a:rPr>
                        <m:t>𝑝</m:t>
                      </m:r>
                      <m:d>
                        <m:dPr>
                          <m:ctrlPr>
                            <a:rPr lang="it-IT" sz="1800" i="1" dirty="0" smtClean="0">
                              <a:latin typeface="Cambria Math" panose="02040503050406030204" pitchFamily="18" charset="0"/>
                            </a:rPr>
                          </m:ctrlPr>
                        </m:dPr>
                        <m:e>
                          <m:r>
                            <a:rPr lang="it-IT" sz="1800" i="1" dirty="0" smtClean="0">
                              <a:latin typeface="Cambria Math" panose="02040503050406030204" pitchFamily="18" charset="0"/>
                            </a:rPr>
                            <m:t>𝜸</m:t>
                          </m:r>
                        </m:e>
                        <m:e>
                          <m:r>
                            <a:rPr lang="it-IT" sz="1800" i="1" dirty="0" smtClean="0">
                              <a:latin typeface="Cambria Math" panose="02040503050406030204" pitchFamily="18" charset="0"/>
                            </a:rPr>
                            <m:t>𝒙</m:t>
                          </m:r>
                        </m:e>
                      </m:d>
                    </m:oMath>
                  </m:oMathPara>
                </a14:m>
                <a:endParaRPr lang="it-IT" sz="1800" dirty="0"/>
              </a:p>
              <a:p>
                <a:pPr marL="0" indent="0">
                  <a:lnSpc>
                    <a:spcPct val="150000"/>
                  </a:lnSpc>
                  <a:buNone/>
                </a:pPr>
                <a:endParaRPr lang="it-IT" sz="1800" i="1" dirty="0">
                  <a:latin typeface="Cambria Math" panose="02040503050406030204" pitchFamily="18" charset="0"/>
                </a:endParaRPr>
              </a:p>
              <a:p>
                <a:pPr>
                  <a:lnSpc>
                    <a:spcPct val="150000"/>
                  </a:lnSpc>
                </a:pPr>
                <a:endParaRPr lang="it-IT" sz="1800" dirty="0">
                  <a:latin typeface="Cambria Math" panose="02040503050406030204" pitchFamily="18" charset="0"/>
                </a:endParaRPr>
              </a:p>
              <a:p>
                <a:pPr>
                  <a:lnSpc>
                    <a:spcPct val="150000"/>
                  </a:lnSpc>
                </a:pPr>
                <a:endParaRPr lang="it-IT" sz="1800" dirty="0">
                  <a:latin typeface="Cambria Math" panose="02040503050406030204" pitchFamily="18" charset="0"/>
                </a:endParaRPr>
              </a:p>
              <a:p>
                <a:pPr>
                  <a:lnSpc>
                    <a:spcPct val="100000"/>
                  </a:lnSpc>
                </a:pPr>
                <a:r>
                  <a:rPr lang="it-IT" sz="1800" dirty="0">
                    <a:latin typeface="Cambria Math" panose="02040503050406030204" pitchFamily="18" charset="0"/>
                  </a:rPr>
                  <a:t>For each </a:t>
                </a:r>
                <a14:m>
                  <m:oMath xmlns:m="http://schemas.openxmlformats.org/officeDocument/2006/math">
                    <m:sSub>
                      <m:sSubPr>
                        <m:ctrlPr>
                          <a:rPr lang="it-IT" sz="1800" i="1" dirty="0">
                            <a:latin typeface="Cambria Math" panose="02040503050406030204" pitchFamily="18" charset="0"/>
                          </a:rPr>
                        </m:ctrlPr>
                      </m:sSubPr>
                      <m:e>
                        <m:r>
                          <a:rPr lang="it-IT" sz="1800" i="1" dirty="0">
                            <a:latin typeface="Cambria Math" panose="02040503050406030204" pitchFamily="18" charset="0"/>
                          </a:rPr>
                          <m:t>𝛾</m:t>
                        </m:r>
                      </m:e>
                      <m:sub>
                        <m:r>
                          <a:rPr lang="it-IT" sz="1800" i="1" dirty="0">
                            <a:latin typeface="Cambria Math" panose="02040503050406030204" pitchFamily="18" charset="0"/>
                          </a:rPr>
                          <m:t>𝑗</m:t>
                        </m:r>
                      </m:sub>
                    </m:sSub>
                  </m:oMath>
                </a14:m>
                <a:r>
                  <a:rPr lang="it-IT" sz="1800" dirty="0">
                    <a:latin typeface="Cambria Math" panose="02040503050406030204" pitchFamily="18" charset="0"/>
                  </a:rPr>
                  <a:t> compute the posterior discarting all the pieces that depends only on </a:t>
                </a:r>
                <a14:m>
                  <m:oMath xmlns:m="http://schemas.openxmlformats.org/officeDocument/2006/math">
                    <m:sSub>
                      <m:sSubPr>
                        <m:ctrlPr>
                          <a:rPr lang="it-IT" sz="1800" i="1" dirty="0">
                            <a:latin typeface="Cambria Math" panose="02040503050406030204" pitchFamily="18" charset="0"/>
                          </a:rPr>
                        </m:ctrlPr>
                      </m:sSubPr>
                      <m:e>
                        <m:r>
                          <a:rPr lang="it-IT" sz="1800" i="1" dirty="0">
                            <a:latin typeface="Cambria Math" panose="02040503050406030204" pitchFamily="18" charset="0"/>
                          </a:rPr>
                          <m:t>𝛾</m:t>
                        </m:r>
                      </m:e>
                      <m:sub>
                        <m:r>
                          <a:rPr lang="it-IT" sz="1800" i="1" dirty="0">
                            <a:latin typeface="Cambria Math" panose="02040503050406030204" pitchFamily="18" charset="0"/>
                          </a:rPr>
                          <m:t>¬</m:t>
                        </m:r>
                        <m:r>
                          <a:rPr lang="it-IT" sz="1800" i="1" dirty="0">
                            <a:latin typeface="Cambria Math" panose="02040503050406030204" pitchFamily="18" charset="0"/>
                          </a:rPr>
                          <m:t>𝑗</m:t>
                        </m:r>
                      </m:sub>
                    </m:sSub>
                  </m:oMath>
                </a14:m>
                <a:r>
                  <a:rPr lang="it-IT" sz="1800" dirty="0">
                    <a:latin typeface="Cambria Math" panose="02040503050406030204" pitchFamily="18" charset="0"/>
                  </a:rPr>
                  <a:t>.</a:t>
                </a:r>
              </a:p>
              <a:p>
                <a:pPr marL="0" indent="0">
                  <a:lnSpc>
                    <a:spcPct val="150000"/>
                  </a:lnSpc>
                  <a:buNone/>
                </a:pPr>
                <a:endParaRPr lang="it-IT" sz="1800"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D15C04F7-B3B5-746A-32AF-732BBCCCA637}"/>
                  </a:ext>
                </a:extLst>
              </p:cNvPr>
              <p:cNvSpPr>
                <a:spLocks noGrp="1" noRot="1" noChangeAspect="1" noMove="1" noResize="1" noEditPoints="1" noAdjustHandles="1" noChangeArrowheads="1" noChangeShapeType="1" noTextEdit="1"/>
              </p:cNvSpPr>
              <p:nvPr>
                <p:ph idx="1"/>
              </p:nvPr>
            </p:nvSpPr>
            <p:spPr>
              <a:xfrm>
                <a:off x="700635" y="1563077"/>
                <a:ext cx="10691265" cy="4814277"/>
              </a:xfrm>
              <a:blipFill>
                <a:blip r:embed="rId3"/>
                <a:stretch>
                  <a:fillRect l="-513" t="-506" b="-4304"/>
                </a:stretch>
              </a:blipFill>
            </p:spPr>
            <p:txBody>
              <a:bodyPr/>
              <a:lstStyle/>
              <a:p>
                <a:r>
                  <a:rPr lang="it-IT">
                    <a:noFill/>
                  </a:rPr>
                  <a:t> </a:t>
                </a:r>
              </a:p>
            </p:txBody>
          </p:sp>
        </mc:Fallback>
      </mc:AlternateContent>
      <p:sp>
        <p:nvSpPr>
          <p:cNvPr id="4" name="TextBox 3">
            <a:extLst>
              <a:ext uri="{FF2B5EF4-FFF2-40B4-BE49-F238E27FC236}">
                <a16:creationId xmlns:a16="http://schemas.microsoft.com/office/drawing/2014/main" id="{996383DD-6125-B136-5C5B-AFE4E36605F1}"/>
              </a:ext>
            </a:extLst>
          </p:cNvPr>
          <p:cNvSpPr txBox="1"/>
          <p:nvPr/>
        </p:nvSpPr>
        <p:spPr>
          <a:xfrm>
            <a:off x="5638800" y="2973754"/>
            <a:ext cx="914400" cy="914400"/>
          </a:xfrm>
          <a:prstGeom prst="rect">
            <a:avLst/>
          </a:prstGeom>
          <a:noFill/>
        </p:spPr>
        <p:txBody>
          <a:bodyPr wrap="square" rtlCol="0">
            <a:spAutoFit/>
          </a:bodyPr>
          <a:lstStyle/>
          <a:p>
            <a:endParaRPr lang="it-IT" dirty="0"/>
          </a:p>
        </p:txBody>
      </p:sp>
      <p:sp>
        <p:nvSpPr>
          <p:cNvPr id="6" name="TextBox 5">
            <a:extLst>
              <a:ext uri="{FF2B5EF4-FFF2-40B4-BE49-F238E27FC236}">
                <a16:creationId xmlns:a16="http://schemas.microsoft.com/office/drawing/2014/main" id="{8B143D3C-B5F1-5B6F-D0FA-C85335B5E1D2}"/>
              </a:ext>
            </a:extLst>
          </p:cNvPr>
          <p:cNvSpPr txBox="1"/>
          <p:nvPr/>
        </p:nvSpPr>
        <p:spPr>
          <a:xfrm>
            <a:off x="11840308" y="2973754"/>
            <a:ext cx="184731" cy="369332"/>
          </a:xfrm>
          <a:prstGeom prst="rect">
            <a:avLst/>
          </a:prstGeom>
          <a:noFill/>
        </p:spPr>
        <p:txBody>
          <a:bodyPr wrap="none" rtlCol="0">
            <a:spAutoFit/>
          </a:bodyPr>
          <a:lstStyle/>
          <a:p>
            <a:endParaRPr lang="it-IT"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C2F653-BBF4-F61D-387E-4A9D83C9512F}"/>
                  </a:ext>
                </a:extLst>
              </p:cNvPr>
              <p:cNvSpPr txBox="1"/>
              <p:nvPr/>
            </p:nvSpPr>
            <p:spPr>
              <a:xfrm>
                <a:off x="700635" y="4212492"/>
                <a:ext cx="10691265" cy="1261051"/>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𝜸</m:t>
                          </m:r>
                        </m:e>
                        <m:e>
                          <m:r>
                            <a:rPr lang="it-IT" i="1" dirty="0">
                              <a:latin typeface="Cambria Math" panose="02040503050406030204" pitchFamily="18" charset="0"/>
                            </a:rPr>
                            <m:t>𝒙</m:t>
                          </m:r>
                        </m:e>
                      </m:d>
                      <m:r>
                        <a:rPr lang="it-IT" i="1" dirty="0">
                          <a:latin typeface="Cambria Math" panose="02040503050406030204" pitchFamily="18" charset="0"/>
                        </a:rPr>
                        <m:t> </m:t>
                      </m:r>
                      <m:r>
                        <a:rPr lang="it-IT" b="0" i="1" dirty="0" smtClean="0">
                          <a:latin typeface="Cambria Math" panose="02040503050406030204" pitchFamily="18" charset="0"/>
                        </a:rPr>
                        <m:t>=</m:t>
                      </m:r>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𝜽</m:t>
                          </m:r>
                          <m:r>
                            <a:rPr lang="it-IT" i="1" dirty="0">
                              <a:latin typeface="Cambria Math" panose="02040503050406030204" pitchFamily="18" charset="0"/>
                            </a:rPr>
                            <m:t>,</m:t>
                          </m:r>
                          <m:r>
                            <a:rPr lang="it-IT" i="1" dirty="0">
                              <a:latin typeface="Cambria Math" panose="02040503050406030204" pitchFamily="18" charset="0"/>
                            </a:rPr>
                            <m:t>𝒘</m:t>
                          </m:r>
                          <m:r>
                            <a:rPr lang="it-IT" i="1" dirty="0">
                              <a:latin typeface="Cambria Math" panose="02040503050406030204" pitchFamily="18" charset="0"/>
                            </a:rPr>
                            <m:t>,</m:t>
                          </m:r>
                          <m:r>
                            <a:rPr lang="it-IT" i="1" dirty="0">
                              <a:latin typeface="Cambria Math" panose="02040503050406030204" pitchFamily="18" charset="0"/>
                            </a:rPr>
                            <m:t>𝒛</m:t>
                          </m:r>
                        </m:e>
                        <m:e>
                          <m:r>
                            <a:rPr lang="it-IT" i="1" dirty="0">
                              <a:latin typeface="Cambria Math" panose="02040503050406030204" pitchFamily="18" charset="0"/>
                            </a:rPr>
                            <m:t>𝒙</m:t>
                          </m:r>
                        </m:e>
                      </m:d>
                      <m:r>
                        <a:rPr lang="it-IT" i="1" dirty="0">
                          <a:latin typeface="Cambria Math" panose="02040503050406030204" pitchFamily="18" charset="0"/>
                        </a:rPr>
                        <m:t>∝</m:t>
                      </m:r>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𝒙</m:t>
                          </m:r>
                        </m:e>
                        <m:e>
                          <m:r>
                            <a:rPr lang="it-IT" i="1" dirty="0">
                              <a:latin typeface="Cambria Math" panose="02040503050406030204" pitchFamily="18" charset="0"/>
                            </a:rPr>
                            <m:t>𝜽</m:t>
                          </m:r>
                          <m:r>
                            <a:rPr lang="it-IT" i="1" dirty="0">
                              <a:latin typeface="Cambria Math" panose="02040503050406030204" pitchFamily="18" charset="0"/>
                            </a:rPr>
                            <m:t>,</m:t>
                          </m:r>
                          <m:r>
                            <a:rPr lang="it-IT" i="1" dirty="0">
                              <a:latin typeface="Cambria Math" panose="02040503050406030204" pitchFamily="18" charset="0"/>
                            </a:rPr>
                            <m:t>𝒘</m:t>
                          </m:r>
                          <m:r>
                            <a:rPr lang="it-IT" i="1" dirty="0">
                              <a:latin typeface="Cambria Math" panose="02040503050406030204" pitchFamily="18" charset="0"/>
                            </a:rPr>
                            <m:t>,</m:t>
                          </m:r>
                          <m:r>
                            <a:rPr lang="it-IT" i="1" dirty="0">
                              <a:latin typeface="Cambria Math" panose="02040503050406030204" pitchFamily="18" charset="0"/>
                            </a:rPr>
                            <m:t>𝒛</m:t>
                          </m:r>
                        </m:e>
                      </m:d>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𝒛</m:t>
                          </m:r>
                        </m:e>
                        <m:e>
                          <m:r>
                            <a:rPr lang="it-IT" i="1" dirty="0">
                              <a:latin typeface="Cambria Math" panose="02040503050406030204" pitchFamily="18" charset="0"/>
                            </a:rPr>
                            <m:t>𝒘</m:t>
                          </m:r>
                        </m:e>
                      </m:d>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𝒘</m:t>
                          </m:r>
                        </m:e>
                      </m:d>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𝜽</m:t>
                          </m:r>
                        </m:e>
                      </m:d>
                      <m:r>
                        <a:rPr lang="it-IT" b="0" i="1" dirty="0" smtClean="0">
                          <a:latin typeface="Cambria Math" panose="02040503050406030204" pitchFamily="18" charset="0"/>
                        </a:rPr>
                        <m:t>=</m:t>
                      </m:r>
                    </m:oMath>
                  </m:oMathPara>
                </a14:m>
                <a:endParaRPr lang="it-IT"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it-IT" i="1" dirty="0">
                          <a:latin typeface="Cambria Math" panose="02040503050406030204" pitchFamily="18" charset="0"/>
                        </a:rPr>
                        <m:t>=</m:t>
                      </m:r>
                      <m:d>
                        <m:dPr>
                          <m:ctrlPr>
                            <a:rPr lang="it-IT" i="1" dirty="0">
                              <a:latin typeface="Cambria Math" panose="02040503050406030204" pitchFamily="18" charset="0"/>
                            </a:rPr>
                          </m:ctrlPr>
                        </m:dPr>
                        <m:e>
                          <m:nary>
                            <m:naryPr>
                              <m:chr m:val="∏"/>
                              <m:ctrlPr>
                                <a:rPr lang="it-IT" i="1" dirty="0">
                                  <a:latin typeface="Cambria Math" panose="02040503050406030204" pitchFamily="18" charset="0"/>
                                </a:rPr>
                              </m:ctrlPr>
                            </m:naryPr>
                            <m:sub>
                              <m:r>
                                <a:rPr lang="it-IT" i="1" dirty="0">
                                  <a:latin typeface="Cambria Math" panose="02040503050406030204" pitchFamily="18" charset="0"/>
                                </a:rPr>
                                <m:t>𝑖</m:t>
                              </m:r>
                              <m:r>
                                <a:rPr lang="it-IT" i="1" dirty="0">
                                  <a:latin typeface="Cambria Math" panose="02040503050406030204" pitchFamily="18" charset="0"/>
                                </a:rPr>
                                <m:t>=</m:t>
                              </m:r>
                              <m:r>
                                <a:rPr lang="it-IT" i="1" dirty="0">
                                  <a:latin typeface="Cambria Math" panose="02040503050406030204" pitchFamily="18" charset="0"/>
                                </a:rPr>
                                <m:t>1</m:t>
                              </m:r>
                            </m:sub>
                            <m:sup>
                              <m:r>
                                <a:rPr lang="it-IT" i="1" dirty="0">
                                  <a:latin typeface="Cambria Math" panose="02040503050406030204" pitchFamily="18" charset="0"/>
                                </a:rPr>
                                <m:t>𝑁</m:t>
                              </m:r>
                            </m:sup>
                            <m:e>
                              <m:r>
                                <a:rPr lang="it-IT" i="1" dirty="0">
                                  <a:latin typeface="Cambria Math" panose="02040503050406030204" pitchFamily="18" charset="0"/>
                                </a:rPr>
                                <m:t>𝑝</m:t>
                              </m:r>
                              <m:d>
                                <m:dPr>
                                  <m:ctrlPr>
                                    <a:rPr lang="it-IT" i="1" dirty="0">
                                      <a:latin typeface="Cambria Math" panose="02040503050406030204" pitchFamily="18" charset="0"/>
                                    </a:rPr>
                                  </m:ctrlPr>
                                </m:dPr>
                                <m:e>
                                  <m:sSub>
                                    <m:sSubPr>
                                      <m:ctrlPr>
                                        <a:rPr lang="it-IT" i="1" dirty="0">
                                          <a:latin typeface="Cambria Math" panose="02040503050406030204" pitchFamily="18" charset="0"/>
                                        </a:rPr>
                                      </m:ctrlPr>
                                    </m:sSubPr>
                                    <m:e>
                                      <m:r>
                                        <a:rPr lang="it-IT" i="1" dirty="0">
                                          <a:latin typeface="Cambria Math" panose="02040503050406030204" pitchFamily="18" charset="0"/>
                                        </a:rPr>
                                        <m:t>𝑥</m:t>
                                      </m:r>
                                    </m:e>
                                    <m:sub>
                                      <m:r>
                                        <a:rPr lang="it-IT" i="1" dirty="0">
                                          <a:latin typeface="Cambria Math" panose="02040503050406030204" pitchFamily="18" charset="0"/>
                                        </a:rPr>
                                        <m:t>𝑖</m:t>
                                      </m:r>
                                    </m:sub>
                                  </m:sSub>
                                </m:e>
                                <m:e>
                                  <m:sSub>
                                    <m:sSubPr>
                                      <m:ctrlPr>
                                        <a:rPr lang="it-IT" i="1" dirty="0">
                                          <a:latin typeface="Cambria Math" panose="02040503050406030204" pitchFamily="18" charset="0"/>
                                        </a:rPr>
                                      </m:ctrlPr>
                                    </m:sSubPr>
                                    <m:e>
                                      <m:r>
                                        <a:rPr lang="it-IT" i="1" dirty="0">
                                          <a:latin typeface="Cambria Math" panose="02040503050406030204" pitchFamily="18" charset="0"/>
                                        </a:rPr>
                                        <m:t>𝑧</m:t>
                                      </m:r>
                                    </m:e>
                                    <m:sub>
                                      <m:r>
                                        <a:rPr lang="it-IT" i="1" dirty="0">
                                          <a:latin typeface="Cambria Math" panose="02040503050406030204" pitchFamily="18" charset="0"/>
                                        </a:rPr>
                                        <m:t>𝑖</m:t>
                                      </m:r>
                                    </m:sub>
                                  </m:sSub>
                                  <m:r>
                                    <a:rPr lang="it-IT" i="1" dirty="0">
                                      <a:latin typeface="Cambria Math" panose="02040503050406030204" pitchFamily="18" charset="0"/>
                                    </a:rPr>
                                    <m:t>,</m:t>
                                  </m:r>
                                  <m:r>
                                    <a:rPr lang="it-IT" i="1" dirty="0">
                                      <a:latin typeface="Cambria Math" panose="02040503050406030204" pitchFamily="18" charset="0"/>
                                    </a:rPr>
                                    <m:t>𝜽</m:t>
                                  </m:r>
                                </m:e>
                              </m:d>
                            </m:e>
                          </m:nary>
                        </m:e>
                      </m:d>
                      <m:d>
                        <m:dPr>
                          <m:ctrlPr>
                            <a:rPr lang="it-IT" i="1" dirty="0">
                              <a:latin typeface="Cambria Math" panose="02040503050406030204" pitchFamily="18" charset="0"/>
                            </a:rPr>
                          </m:ctrlPr>
                        </m:dPr>
                        <m:e>
                          <m:nary>
                            <m:naryPr>
                              <m:chr m:val="∏"/>
                              <m:ctrlPr>
                                <a:rPr lang="it-IT" i="1" dirty="0">
                                  <a:latin typeface="Cambria Math" panose="02040503050406030204" pitchFamily="18" charset="0"/>
                                </a:rPr>
                              </m:ctrlPr>
                            </m:naryPr>
                            <m:sub>
                              <m:r>
                                <a:rPr lang="it-IT" i="1" dirty="0">
                                  <a:latin typeface="Cambria Math" panose="02040503050406030204" pitchFamily="18" charset="0"/>
                                </a:rPr>
                                <m:t>𝑖</m:t>
                              </m:r>
                              <m:r>
                                <a:rPr lang="it-IT" i="1" dirty="0">
                                  <a:latin typeface="Cambria Math" panose="02040503050406030204" pitchFamily="18" charset="0"/>
                                </a:rPr>
                                <m:t>=</m:t>
                              </m:r>
                              <m:r>
                                <a:rPr lang="it-IT" i="1" dirty="0">
                                  <a:latin typeface="Cambria Math" panose="02040503050406030204" pitchFamily="18" charset="0"/>
                                </a:rPr>
                                <m:t>1</m:t>
                              </m:r>
                            </m:sub>
                            <m:sup>
                              <m:r>
                                <a:rPr lang="it-IT" i="1" dirty="0">
                                  <a:latin typeface="Cambria Math" panose="02040503050406030204" pitchFamily="18" charset="0"/>
                                </a:rPr>
                                <m:t>𝑁</m:t>
                              </m:r>
                            </m:sup>
                            <m:e>
                              <m:sSub>
                                <m:sSubPr>
                                  <m:ctrlPr>
                                    <a:rPr lang="it-IT" i="1" dirty="0">
                                      <a:latin typeface="Cambria Math" panose="02040503050406030204" pitchFamily="18" charset="0"/>
                                    </a:rPr>
                                  </m:ctrlPr>
                                </m:sSubPr>
                                <m:e>
                                  <m:r>
                                    <a:rPr lang="it-IT" i="1" dirty="0">
                                      <a:latin typeface="Cambria Math" panose="02040503050406030204" pitchFamily="18" charset="0"/>
                                    </a:rPr>
                                    <m:t>𝑤</m:t>
                                  </m:r>
                                </m:e>
                                <m:sub>
                                  <m:sSub>
                                    <m:sSubPr>
                                      <m:ctrlPr>
                                        <a:rPr lang="it-IT" i="1" dirty="0">
                                          <a:latin typeface="Cambria Math" panose="02040503050406030204" pitchFamily="18" charset="0"/>
                                        </a:rPr>
                                      </m:ctrlPr>
                                    </m:sSubPr>
                                    <m:e>
                                      <m:r>
                                        <a:rPr lang="it-IT" i="1" dirty="0">
                                          <a:latin typeface="Cambria Math" panose="02040503050406030204" pitchFamily="18" charset="0"/>
                                        </a:rPr>
                                        <m:t>𝑧</m:t>
                                      </m:r>
                                    </m:e>
                                    <m:sub>
                                      <m:r>
                                        <a:rPr lang="it-IT" i="1" dirty="0">
                                          <a:latin typeface="Cambria Math" panose="02040503050406030204" pitchFamily="18" charset="0"/>
                                        </a:rPr>
                                        <m:t>𝑖</m:t>
                                      </m:r>
                                    </m:sub>
                                  </m:sSub>
                                </m:sub>
                              </m:sSub>
                            </m:e>
                          </m:nary>
                        </m:e>
                      </m:d>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𝒘</m:t>
                          </m:r>
                        </m:e>
                      </m:d>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𝜽</m:t>
                          </m:r>
                        </m:e>
                      </m:d>
                      <m:r>
                        <a:rPr lang="it-IT" i="1" dirty="0">
                          <a:latin typeface="Cambria Math" panose="02040503050406030204" pitchFamily="18" charset="0"/>
                        </a:rPr>
                        <m:t>=</m:t>
                      </m:r>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𝜽</m:t>
                          </m:r>
                        </m:e>
                      </m:d>
                      <m:r>
                        <a:rPr lang="it-IT" i="1" dirty="0">
                          <a:latin typeface="Cambria Math" panose="02040503050406030204" pitchFamily="18" charset="0"/>
                        </a:rPr>
                        <m:t>𝑝</m:t>
                      </m:r>
                      <m:d>
                        <m:dPr>
                          <m:ctrlPr>
                            <a:rPr lang="it-IT" i="1" dirty="0">
                              <a:latin typeface="Cambria Math" panose="02040503050406030204" pitchFamily="18" charset="0"/>
                            </a:rPr>
                          </m:ctrlPr>
                        </m:dPr>
                        <m:e>
                          <m:r>
                            <a:rPr lang="it-IT" i="1" dirty="0">
                              <a:latin typeface="Cambria Math" panose="02040503050406030204" pitchFamily="18" charset="0"/>
                            </a:rPr>
                            <m:t>𝒘</m:t>
                          </m:r>
                        </m:e>
                      </m:d>
                      <m:nary>
                        <m:naryPr>
                          <m:chr m:val="∏"/>
                          <m:ctrlPr>
                            <a:rPr lang="it-IT" i="1" dirty="0">
                              <a:latin typeface="Cambria Math" panose="02040503050406030204" pitchFamily="18" charset="0"/>
                            </a:rPr>
                          </m:ctrlPr>
                        </m:naryPr>
                        <m:sub>
                          <m:r>
                            <a:rPr lang="it-IT" i="1" dirty="0">
                              <a:latin typeface="Cambria Math" panose="02040503050406030204" pitchFamily="18" charset="0"/>
                            </a:rPr>
                            <m:t>𝑖</m:t>
                          </m:r>
                          <m:r>
                            <a:rPr lang="it-IT" i="1" dirty="0">
                              <a:latin typeface="Cambria Math" panose="02040503050406030204" pitchFamily="18" charset="0"/>
                            </a:rPr>
                            <m:t>=</m:t>
                          </m:r>
                          <m:r>
                            <a:rPr lang="it-IT" i="1" dirty="0">
                              <a:latin typeface="Cambria Math" panose="02040503050406030204" pitchFamily="18" charset="0"/>
                            </a:rPr>
                            <m:t>1</m:t>
                          </m:r>
                        </m:sub>
                        <m:sup>
                          <m:r>
                            <a:rPr lang="it-IT" i="1" dirty="0">
                              <a:latin typeface="Cambria Math" panose="02040503050406030204" pitchFamily="18" charset="0"/>
                            </a:rPr>
                            <m:t>𝑁</m:t>
                          </m:r>
                        </m:sup>
                        <m:e>
                          <m:sSub>
                            <m:sSubPr>
                              <m:ctrlPr>
                                <a:rPr lang="it-IT" i="1" dirty="0">
                                  <a:latin typeface="Cambria Math" panose="02040503050406030204" pitchFamily="18" charset="0"/>
                                </a:rPr>
                              </m:ctrlPr>
                            </m:sSubPr>
                            <m:e>
                              <m:r>
                                <a:rPr lang="it-IT" i="1" dirty="0">
                                  <a:latin typeface="Cambria Math" panose="02040503050406030204" pitchFamily="18" charset="0"/>
                                </a:rPr>
                                <m:t>𝑤</m:t>
                              </m:r>
                            </m:e>
                            <m:sub>
                              <m:sSub>
                                <m:sSubPr>
                                  <m:ctrlPr>
                                    <a:rPr lang="it-IT" i="1" dirty="0">
                                      <a:latin typeface="Cambria Math" panose="02040503050406030204" pitchFamily="18" charset="0"/>
                                    </a:rPr>
                                  </m:ctrlPr>
                                </m:sSubPr>
                                <m:e>
                                  <m:r>
                                    <a:rPr lang="it-IT" i="1" dirty="0">
                                      <a:latin typeface="Cambria Math" panose="02040503050406030204" pitchFamily="18" charset="0"/>
                                    </a:rPr>
                                    <m:t>𝑧</m:t>
                                  </m:r>
                                </m:e>
                                <m:sub>
                                  <m:r>
                                    <a:rPr lang="it-IT" i="1" dirty="0">
                                      <a:latin typeface="Cambria Math" panose="02040503050406030204" pitchFamily="18" charset="0"/>
                                    </a:rPr>
                                    <m:t>𝑖</m:t>
                                  </m:r>
                                </m:sub>
                              </m:sSub>
                            </m:sub>
                          </m:sSub>
                          <m:r>
                            <a:rPr lang="it-IT" i="1" dirty="0">
                              <a:latin typeface="Cambria Math" panose="02040503050406030204" pitchFamily="18" charset="0"/>
                            </a:rPr>
                            <m:t>𝒩</m:t>
                          </m:r>
                          <m:d>
                            <m:dPr>
                              <m:ctrlPr>
                                <a:rPr lang="it-IT" i="1" dirty="0">
                                  <a:latin typeface="Cambria Math" panose="02040503050406030204" pitchFamily="18" charset="0"/>
                                </a:rPr>
                              </m:ctrlPr>
                            </m:dPr>
                            <m:e>
                              <m:sSub>
                                <m:sSubPr>
                                  <m:ctrlPr>
                                    <a:rPr lang="it-IT" i="1" dirty="0">
                                      <a:latin typeface="Cambria Math" panose="02040503050406030204" pitchFamily="18" charset="0"/>
                                    </a:rPr>
                                  </m:ctrlPr>
                                </m:sSubPr>
                                <m:e>
                                  <m:r>
                                    <a:rPr lang="it-IT" i="1" dirty="0">
                                      <a:latin typeface="Cambria Math" panose="02040503050406030204" pitchFamily="18" charset="0"/>
                                    </a:rPr>
                                    <m:t>𝑥</m:t>
                                  </m:r>
                                </m:e>
                                <m:sub>
                                  <m:r>
                                    <a:rPr lang="it-IT" i="1" dirty="0">
                                      <a:latin typeface="Cambria Math" panose="02040503050406030204" pitchFamily="18" charset="0"/>
                                    </a:rPr>
                                    <m:t>𝑖</m:t>
                                  </m:r>
                                </m:sub>
                              </m:sSub>
                            </m:e>
                            <m:e>
                              <m:sSub>
                                <m:sSubPr>
                                  <m:ctrlPr>
                                    <a:rPr lang="it-IT" i="1" dirty="0">
                                      <a:latin typeface="Cambria Math" panose="02040503050406030204" pitchFamily="18" charset="0"/>
                                    </a:rPr>
                                  </m:ctrlPr>
                                </m:sSubPr>
                                <m:e>
                                  <m:r>
                                    <a:rPr lang="it-IT" i="1" dirty="0">
                                      <a:latin typeface="Cambria Math" panose="02040503050406030204" pitchFamily="18" charset="0"/>
                                    </a:rPr>
                                    <m:t>𝜇</m:t>
                                  </m:r>
                                </m:e>
                                <m:sub>
                                  <m:sSub>
                                    <m:sSubPr>
                                      <m:ctrlPr>
                                        <a:rPr lang="it-IT" i="1" dirty="0">
                                          <a:latin typeface="Cambria Math" panose="02040503050406030204" pitchFamily="18" charset="0"/>
                                        </a:rPr>
                                      </m:ctrlPr>
                                    </m:sSubPr>
                                    <m:e>
                                      <m:r>
                                        <a:rPr lang="it-IT" i="1" dirty="0">
                                          <a:latin typeface="Cambria Math" panose="02040503050406030204" pitchFamily="18" charset="0"/>
                                        </a:rPr>
                                        <m:t>𝑧</m:t>
                                      </m:r>
                                    </m:e>
                                    <m:sub>
                                      <m:r>
                                        <a:rPr lang="it-IT" i="1" dirty="0">
                                          <a:latin typeface="Cambria Math" panose="02040503050406030204" pitchFamily="18" charset="0"/>
                                        </a:rPr>
                                        <m:t>𝑖</m:t>
                                      </m:r>
                                    </m:sub>
                                  </m:sSub>
                                </m:sub>
                              </m:sSub>
                              <m:r>
                                <a:rPr lang="it-IT" i="1" dirty="0">
                                  <a:latin typeface="Cambria Math" panose="02040503050406030204" pitchFamily="18" charset="0"/>
                                </a:rPr>
                                <m:t>,</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sSub>
                                    <m:sSubPr>
                                      <m:ctrlPr>
                                        <a:rPr lang="it-IT" i="1" dirty="0">
                                          <a:latin typeface="Cambria Math" panose="02040503050406030204" pitchFamily="18" charset="0"/>
                                        </a:rPr>
                                      </m:ctrlPr>
                                    </m:sSubPr>
                                    <m:e>
                                      <m:r>
                                        <a:rPr lang="it-IT" i="1" dirty="0">
                                          <a:latin typeface="Cambria Math" panose="02040503050406030204" pitchFamily="18" charset="0"/>
                                        </a:rPr>
                                        <m:t>𝑧</m:t>
                                      </m:r>
                                    </m:e>
                                    <m:sub>
                                      <m:r>
                                        <a:rPr lang="it-IT" i="1" dirty="0">
                                          <a:latin typeface="Cambria Math" panose="02040503050406030204" pitchFamily="18" charset="0"/>
                                        </a:rPr>
                                        <m:t>𝑖</m:t>
                                      </m:r>
                                    </m:sub>
                                  </m:sSub>
                                </m:sub>
                                <m:sup>
                                  <m:r>
                                    <a:rPr lang="it-IT" i="1" dirty="0">
                                      <a:latin typeface="Cambria Math" panose="02040503050406030204" pitchFamily="18" charset="0"/>
                                    </a:rPr>
                                    <m:t>2</m:t>
                                  </m:r>
                                </m:sup>
                              </m:sSubSup>
                            </m:e>
                          </m:d>
                        </m:e>
                      </m:nary>
                    </m:oMath>
                  </m:oMathPara>
                </a14:m>
                <a:endParaRPr lang="it-IT" dirty="0"/>
              </a:p>
            </p:txBody>
          </p:sp>
        </mc:Choice>
        <mc:Fallback xmlns="">
          <p:sp>
            <p:nvSpPr>
              <p:cNvPr id="5" name="TextBox 4">
                <a:extLst>
                  <a:ext uri="{FF2B5EF4-FFF2-40B4-BE49-F238E27FC236}">
                    <a16:creationId xmlns:a16="http://schemas.microsoft.com/office/drawing/2014/main" id="{22C2F653-BBF4-F61D-387E-4A9D83C9512F}"/>
                  </a:ext>
                </a:extLst>
              </p:cNvPr>
              <p:cNvSpPr txBox="1">
                <a:spLocks noRot="1" noChangeAspect="1" noMove="1" noResize="1" noEditPoints="1" noAdjustHandles="1" noChangeArrowheads="1" noChangeShapeType="1" noTextEdit="1"/>
              </p:cNvSpPr>
              <p:nvPr/>
            </p:nvSpPr>
            <p:spPr>
              <a:xfrm>
                <a:off x="700635" y="4212492"/>
                <a:ext cx="10691265" cy="1261051"/>
              </a:xfrm>
              <a:prstGeom prst="rect">
                <a:avLst/>
              </a:prstGeom>
              <a:blipFill>
                <a:blip r:embed="rId4"/>
                <a:stretch>
                  <a:fillRect/>
                </a:stretch>
              </a:blipFill>
            </p:spPr>
            <p:txBody>
              <a:bodyPr/>
              <a:lstStyle/>
              <a:p>
                <a:r>
                  <a:rPr lang="it-IT">
                    <a:noFill/>
                  </a:rPr>
                  <a:t> </a:t>
                </a:r>
              </a:p>
            </p:txBody>
          </p:sp>
        </mc:Fallback>
      </mc:AlternateContent>
    </p:spTree>
    <p:extLst>
      <p:ext uri="{BB962C8B-B14F-4D97-AF65-F5344CB8AC3E}">
        <p14:creationId xmlns:p14="http://schemas.microsoft.com/office/powerpoint/2010/main" val="4081166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9F2C3-E210-0A02-2073-B7464733EAA9}"/>
              </a:ext>
            </a:extLst>
          </p:cNvPr>
          <p:cNvSpPr>
            <a:spLocks noGrp="1"/>
          </p:cNvSpPr>
          <p:nvPr>
            <p:ph type="title"/>
          </p:nvPr>
        </p:nvSpPr>
        <p:spPr/>
        <p:txBody>
          <a:bodyPr/>
          <a:lstStyle/>
          <a:p>
            <a:r>
              <a:rPr lang="it-IT" dirty="0">
                <a:solidFill>
                  <a:srgbClr val="FF0000"/>
                </a:solidFill>
              </a:rPr>
              <a:t>Gibbs sampling algorithm</a:t>
            </a:r>
            <a:endParaRPr lang="it-I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E78A52-FAB1-0A19-A235-2CCFEBA44101}"/>
                  </a:ext>
                </a:extLst>
              </p:cNvPr>
              <p:cNvSpPr>
                <a:spLocks noGrp="1"/>
              </p:cNvSpPr>
              <p:nvPr>
                <p:ph idx="1"/>
              </p:nvPr>
            </p:nvSpPr>
            <p:spPr>
              <a:xfrm>
                <a:off x="700634" y="2053492"/>
                <a:ext cx="10691265" cy="2751015"/>
              </a:xfrm>
            </p:spPr>
            <p:txBody>
              <a:bodyPr/>
              <a:lstStyle/>
              <a:p>
                <a:pPr marL="457200" indent="-457200">
                  <a:buFont typeface="+mj-lt"/>
                  <a:buAutoNum type="arabicPeriod"/>
                </a:pPr>
                <a:r>
                  <a:rPr lang="it-IT" dirty="0"/>
                  <a:t>Initialize </a:t>
                </a:r>
                <a14:m>
                  <m:oMath xmlns:m="http://schemas.openxmlformats.org/officeDocument/2006/math">
                    <m:sSup>
                      <m:sSupPr>
                        <m:ctrlPr>
                          <a:rPr lang="it-IT" b="0" i="1" smtClean="0">
                            <a:latin typeface="Cambria Math" panose="02040503050406030204" pitchFamily="18" charset="0"/>
                          </a:rPr>
                        </m:ctrlPr>
                      </m:sSupPr>
                      <m:e>
                        <m:r>
                          <a:rPr lang="it-IT" b="0" i="1" smtClean="0">
                            <a:latin typeface="Cambria Math" panose="02040503050406030204" pitchFamily="18" charset="0"/>
                          </a:rPr>
                          <m:t>𝜽</m:t>
                        </m:r>
                      </m:e>
                      <m:sup>
                        <m:d>
                          <m:dPr>
                            <m:ctrlPr>
                              <a:rPr lang="it-IT" i="1" smtClean="0">
                                <a:latin typeface="Cambria Math" panose="02040503050406030204" pitchFamily="18" charset="0"/>
                              </a:rPr>
                            </m:ctrlPr>
                          </m:dPr>
                          <m:e>
                            <m:r>
                              <a:rPr lang="it-IT" b="0" i="1" smtClean="0">
                                <a:latin typeface="Cambria Math" panose="02040503050406030204" pitchFamily="18" charset="0"/>
                              </a:rPr>
                              <m:t>0</m:t>
                            </m:r>
                          </m:e>
                        </m:d>
                      </m:sup>
                    </m:sSup>
                  </m:oMath>
                </a14:m>
                <a:r>
                  <a:rPr lang="it-IT" dirty="0"/>
                  <a:t>, </a:t>
                </a:r>
                <a14:m>
                  <m:oMath xmlns:m="http://schemas.openxmlformats.org/officeDocument/2006/math">
                    <m:sSup>
                      <m:sSupPr>
                        <m:ctrlPr>
                          <a:rPr lang="it-IT" b="0" i="1" smtClean="0">
                            <a:latin typeface="Cambria Math" panose="02040503050406030204" pitchFamily="18" charset="0"/>
                          </a:rPr>
                        </m:ctrlPr>
                      </m:sSupPr>
                      <m:e>
                        <m:r>
                          <a:rPr lang="it-IT" b="0" i="1" smtClean="0">
                            <a:latin typeface="Cambria Math" panose="02040503050406030204" pitchFamily="18" charset="0"/>
                          </a:rPr>
                          <m:t>𝒘</m:t>
                        </m:r>
                      </m:e>
                      <m:sup>
                        <m:d>
                          <m:dPr>
                            <m:ctrlPr>
                              <a:rPr lang="it-IT" i="1" smtClean="0">
                                <a:latin typeface="Cambria Math" panose="02040503050406030204" pitchFamily="18" charset="0"/>
                              </a:rPr>
                            </m:ctrlPr>
                          </m:dPr>
                          <m:e>
                            <m:r>
                              <a:rPr lang="it-IT" b="0" i="1" smtClean="0">
                                <a:latin typeface="Cambria Math" panose="02040503050406030204" pitchFamily="18" charset="0"/>
                              </a:rPr>
                              <m:t>0</m:t>
                            </m:r>
                          </m:e>
                        </m:d>
                      </m:sup>
                    </m:sSup>
                  </m:oMath>
                </a14:m>
                <a:r>
                  <a:rPr lang="it-IT" dirty="0"/>
                  <a:t> and </a:t>
                </a:r>
                <a14:m>
                  <m:oMath xmlns:m="http://schemas.openxmlformats.org/officeDocument/2006/math">
                    <m:sSup>
                      <m:sSupPr>
                        <m:ctrlPr>
                          <a:rPr lang="it-IT" b="0" i="1" smtClean="0">
                            <a:latin typeface="Cambria Math" panose="02040503050406030204" pitchFamily="18" charset="0"/>
                          </a:rPr>
                        </m:ctrlPr>
                      </m:sSupPr>
                      <m:e>
                        <m:r>
                          <a:rPr lang="it-IT" b="1" i="1" smtClean="0">
                            <a:latin typeface="Cambria Math" panose="02040503050406030204" pitchFamily="18" charset="0"/>
                          </a:rPr>
                          <m:t>𝒛</m:t>
                        </m:r>
                      </m:e>
                      <m:sup>
                        <m:d>
                          <m:dPr>
                            <m:ctrlPr>
                              <a:rPr lang="it-IT" b="0" i="1" smtClean="0">
                                <a:latin typeface="Cambria Math" panose="02040503050406030204" pitchFamily="18" charset="0"/>
                              </a:rPr>
                            </m:ctrlPr>
                          </m:dPr>
                          <m:e>
                            <m:r>
                              <a:rPr lang="it-IT" b="0" i="1" smtClean="0">
                                <a:latin typeface="Cambria Math" panose="02040503050406030204" pitchFamily="18" charset="0"/>
                              </a:rPr>
                              <m:t>0</m:t>
                            </m:r>
                          </m:e>
                        </m:d>
                      </m:sup>
                    </m:sSup>
                  </m:oMath>
                </a14:m>
                <a:r>
                  <a:rPr lang="it-IT" dirty="0"/>
                  <a:t>.</a:t>
                </a:r>
              </a:p>
              <a:p>
                <a:pPr marL="457200" indent="-457200">
                  <a:buFont typeface="+mj-lt"/>
                  <a:buAutoNum type="arabicPeriod"/>
                </a:pPr>
                <a:r>
                  <a:rPr lang="it-IT" dirty="0"/>
                  <a:t>For iterations </a:t>
                </a:r>
                <a14:m>
                  <m:oMath xmlns:m="http://schemas.openxmlformats.org/officeDocument/2006/math">
                    <m:r>
                      <m:rPr>
                        <m:sty m:val="p"/>
                      </m:rPr>
                      <a:rPr lang="it-IT" b="0" i="1" smtClean="0">
                        <a:latin typeface="Cambria Math" panose="02040503050406030204" pitchFamily="18" charset="0"/>
                      </a:rPr>
                      <m:t>t</m:t>
                    </m:r>
                    <m:r>
                      <a:rPr lang="it-IT" b="0" i="1" smtClean="0">
                        <a:latin typeface="Cambria Math" panose="02040503050406030204" pitchFamily="18" charset="0"/>
                      </a:rPr>
                      <m:t> = </m:t>
                    </m:r>
                    <m:r>
                      <a:rPr lang="it-IT" b="0" i="1" smtClean="0">
                        <a:latin typeface="Cambria Math" panose="02040503050406030204" pitchFamily="18" charset="0"/>
                      </a:rPr>
                      <m:t>1</m:t>
                    </m:r>
                    <m:r>
                      <a:rPr lang="it-IT" b="0" i="1" smtClean="0">
                        <a:latin typeface="Cambria Math" panose="02040503050406030204" pitchFamily="18" charset="0"/>
                      </a:rPr>
                      <m:t>,</m:t>
                    </m:r>
                    <m:r>
                      <a:rPr lang="it-IT" b="0" i="1" smtClean="0">
                        <a:latin typeface="Cambria Math" panose="02040503050406030204" pitchFamily="18" charset="0"/>
                      </a:rPr>
                      <m:t>2</m:t>
                    </m:r>
                    <m:r>
                      <a:rPr lang="it-IT" b="0" i="1" smtClean="0">
                        <a:latin typeface="Cambria Math" panose="02040503050406030204" pitchFamily="18" charset="0"/>
                      </a:rPr>
                      <m:t>,…, </m:t>
                    </m:r>
                    <m:r>
                      <m:rPr>
                        <m:sty m:val="p"/>
                      </m:rPr>
                      <a:rPr lang="it-IT" b="0" i="1" smtClean="0">
                        <a:latin typeface="Cambria Math" panose="02040503050406030204" pitchFamily="18" charset="0"/>
                      </a:rPr>
                      <m:t>M</m:t>
                    </m:r>
                    <m:r>
                      <a:rPr lang="it-IT" b="0" i="1" smtClean="0">
                        <a:latin typeface="Cambria Math" panose="02040503050406030204" pitchFamily="18" charset="0"/>
                      </a:rPr>
                      <m:t>:</m:t>
                    </m:r>
                  </m:oMath>
                </a14:m>
                <a:endParaRPr lang="it-IT" dirty="0"/>
              </a:p>
              <a:p>
                <a:pPr lvl="1"/>
                <a:r>
                  <a:rPr lang="it-IT" dirty="0"/>
                  <a:t>For each </a:t>
                </a:r>
                <a:r>
                  <a:rPr lang="it-IT" i="1" dirty="0"/>
                  <a:t>i</a:t>
                </a:r>
                <a:r>
                  <a:rPr lang="it-IT" dirty="0"/>
                  <a:t>: draw </a:t>
                </a:r>
                <a14:m>
                  <m:oMath xmlns:m="http://schemas.openxmlformats.org/officeDocument/2006/math">
                    <m:sSubSup>
                      <m:sSubSupPr>
                        <m:ctrlPr>
                          <a:rPr lang="it-IT" b="0" i="1" smtClean="0">
                            <a:latin typeface="Cambria Math" panose="02040503050406030204" pitchFamily="18" charset="0"/>
                          </a:rPr>
                        </m:ctrlPr>
                      </m:sSubSupPr>
                      <m:e>
                        <m:r>
                          <a:rPr lang="it-IT" b="0" i="0" smtClean="0">
                            <a:latin typeface="Cambria Math" panose="02040503050406030204" pitchFamily="18" charset="0"/>
                          </a:rPr>
                          <m:t>𝑧</m:t>
                        </m:r>
                      </m:e>
                      <m:sub>
                        <m:r>
                          <a:rPr lang="it-IT" b="0" i="0" smtClean="0">
                            <a:latin typeface="Cambria Math" panose="02040503050406030204" pitchFamily="18" charset="0"/>
                          </a:rPr>
                          <m:t>𝑖</m:t>
                        </m:r>
                      </m:sub>
                      <m:sup>
                        <m:d>
                          <m:dPr>
                            <m:ctrlPr>
                              <a:rPr lang="it-IT" b="0" i="1" smtClean="0">
                                <a:latin typeface="Cambria Math" panose="02040503050406030204" pitchFamily="18" charset="0"/>
                              </a:rPr>
                            </m:ctrlPr>
                          </m:dPr>
                          <m:e>
                            <m:r>
                              <a:rPr lang="it-IT" b="0" i="0" smtClean="0">
                                <a:latin typeface="Cambria Math" panose="02040503050406030204" pitchFamily="18" charset="0"/>
                              </a:rPr>
                              <m:t>𝑡</m:t>
                            </m:r>
                          </m:e>
                        </m:d>
                      </m:sup>
                    </m:sSubSup>
                    <m:r>
                      <a:rPr lang="it-IT" b="0" i="1" smtClean="0">
                        <a:latin typeface="Cambria Math" panose="02040503050406030204" pitchFamily="18" charset="0"/>
                      </a:rPr>
                      <m:t>∼</m:t>
                    </m:r>
                    <m:r>
                      <a:rPr lang="it-IT" b="0" i="1" smtClean="0">
                        <a:latin typeface="Cambria Math" panose="02040503050406030204" pitchFamily="18" charset="0"/>
                      </a:rPr>
                      <m:t>𝑝</m:t>
                    </m:r>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𝑧</m:t>
                            </m:r>
                          </m:e>
                          <m:sub>
                            <m:r>
                              <a:rPr lang="it-IT" b="0" i="1" smtClean="0">
                                <a:latin typeface="Cambria Math" panose="02040503050406030204" pitchFamily="18" charset="0"/>
                              </a:rPr>
                              <m:t>𝑖</m:t>
                            </m:r>
                          </m:sub>
                        </m:sSub>
                      </m:e>
                      <m:e>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𝒘</m:t>
                            </m:r>
                          </m:e>
                          <m:sup>
                            <m:d>
                              <m:dPr>
                                <m:ctrlPr>
                                  <a:rPr lang="it-IT" i="1" smtClean="0">
                                    <a:latin typeface="Cambria Math" panose="02040503050406030204" pitchFamily="18" charset="0"/>
                                  </a:rPr>
                                </m:ctrlPr>
                              </m:dPr>
                              <m:e>
                                <m:r>
                                  <a:rPr lang="it-IT" b="0" i="1" smtClean="0">
                                    <a:latin typeface="Cambria Math" panose="02040503050406030204" pitchFamily="18" charset="0"/>
                                  </a:rPr>
                                  <m:t>𝑡</m:t>
                                </m:r>
                                <m:r>
                                  <a:rPr lang="it-IT" b="0" i="1" smtClean="0">
                                    <a:latin typeface="Cambria Math" panose="02040503050406030204" pitchFamily="18" charset="0"/>
                                  </a:rPr>
                                  <m:t>−</m:t>
                                </m:r>
                                <m:r>
                                  <a:rPr lang="it-IT" b="0" i="1" smtClean="0">
                                    <a:latin typeface="Cambria Math" panose="02040503050406030204" pitchFamily="18" charset="0"/>
                                  </a:rPr>
                                  <m:t>1</m:t>
                                </m:r>
                              </m:e>
                            </m:d>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𝜽</m:t>
                            </m:r>
                          </m:e>
                          <m:sup>
                            <m:d>
                              <m:dPr>
                                <m:ctrlPr>
                                  <a:rPr lang="it-IT" i="1" smtClean="0">
                                    <a:latin typeface="Cambria Math" panose="02040503050406030204" pitchFamily="18" charset="0"/>
                                  </a:rPr>
                                </m:ctrlPr>
                              </m:dPr>
                              <m:e>
                                <m:r>
                                  <a:rPr lang="it-IT" b="0" i="1">
                                    <a:latin typeface="Cambria Math" panose="02040503050406030204" pitchFamily="18" charset="0"/>
                                  </a:rPr>
                                  <m:t>𝑡</m:t>
                                </m:r>
                                <m:r>
                                  <a:rPr lang="it-IT" b="0" i="1">
                                    <a:latin typeface="Cambria Math" panose="02040503050406030204" pitchFamily="18" charset="0"/>
                                  </a:rPr>
                                  <m:t>−</m:t>
                                </m:r>
                                <m:r>
                                  <a:rPr lang="it-IT" b="0" i="1">
                                    <a:latin typeface="Cambria Math" panose="02040503050406030204" pitchFamily="18" charset="0"/>
                                  </a:rPr>
                                  <m:t>1</m:t>
                                </m:r>
                              </m:e>
                            </m:d>
                          </m:sup>
                        </m:sSup>
                      </m:e>
                    </m:d>
                  </m:oMath>
                </a14:m>
                <a:r>
                  <a:rPr lang="it-IT" i="1" dirty="0"/>
                  <a:t>.</a:t>
                </a:r>
              </a:p>
              <a:p>
                <a:pPr lvl="1"/>
                <a:r>
                  <a:rPr lang="it-IT" dirty="0"/>
                  <a:t>Draw </a:t>
                </a:r>
                <a14:m>
                  <m:oMath xmlns:m="http://schemas.openxmlformats.org/officeDocument/2006/math">
                    <m:sSup>
                      <m:sSupPr>
                        <m:ctrlPr>
                          <a:rPr lang="it-IT" b="0" i="1" smtClean="0">
                            <a:latin typeface="Cambria Math" panose="02040503050406030204" pitchFamily="18" charset="0"/>
                          </a:rPr>
                        </m:ctrlPr>
                      </m:sSupPr>
                      <m:e>
                        <m:r>
                          <a:rPr lang="it-IT" b="0" i="1" smtClean="0">
                            <a:latin typeface="Cambria Math" panose="02040503050406030204" pitchFamily="18" charset="0"/>
                          </a:rPr>
                          <m:t>𝒘</m:t>
                        </m:r>
                      </m:e>
                      <m:sup>
                        <m:d>
                          <m:dPr>
                            <m:ctrlPr>
                              <a:rPr lang="it-IT" i="1" smtClean="0">
                                <a:latin typeface="Cambria Math" panose="02040503050406030204" pitchFamily="18" charset="0"/>
                              </a:rPr>
                            </m:ctrlPr>
                          </m:dPr>
                          <m:e>
                            <m:r>
                              <a:rPr lang="it-IT" b="0" i="1" smtClean="0">
                                <a:latin typeface="Cambria Math" panose="02040503050406030204" pitchFamily="18" charset="0"/>
                              </a:rPr>
                              <m:t>𝑡</m:t>
                            </m:r>
                          </m:e>
                        </m:d>
                      </m:sup>
                    </m:sSup>
                    <m:r>
                      <a:rPr lang="it-IT" b="0" i="1" smtClean="0">
                        <a:latin typeface="Cambria Math" panose="02040503050406030204" pitchFamily="18" charset="0"/>
                      </a:rPr>
                      <m:t>∼</m:t>
                    </m:r>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𝒘</m:t>
                        </m:r>
                      </m:e>
                      <m:e>
                        <m:sSup>
                          <m:sSupPr>
                            <m:ctrlPr>
                              <a:rPr lang="it-IT" b="0" i="1" smtClean="0">
                                <a:latin typeface="Cambria Math" panose="02040503050406030204" pitchFamily="18" charset="0"/>
                              </a:rPr>
                            </m:ctrlPr>
                          </m:sSupPr>
                          <m:e>
                            <m:r>
                              <a:rPr lang="it-IT" b="0" i="1" smtClean="0">
                                <a:latin typeface="Cambria Math" panose="02040503050406030204" pitchFamily="18" charset="0"/>
                              </a:rPr>
                              <m:t>𝒛</m:t>
                            </m:r>
                          </m:e>
                          <m:sup>
                            <m:d>
                              <m:dPr>
                                <m:ctrlPr>
                                  <a:rPr lang="it-IT" i="1" smtClean="0">
                                    <a:latin typeface="Cambria Math" panose="02040503050406030204" pitchFamily="18" charset="0"/>
                                  </a:rPr>
                                </m:ctrlPr>
                              </m:dPr>
                              <m:e>
                                <m:r>
                                  <a:rPr lang="it-IT" b="0" i="1" smtClean="0">
                                    <a:latin typeface="Cambria Math" panose="02040503050406030204" pitchFamily="18" charset="0"/>
                                  </a:rPr>
                                  <m:t>𝑡</m:t>
                                </m:r>
                              </m:e>
                            </m:d>
                          </m:sup>
                        </m:sSup>
                      </m:e>
                    </m:d>
                    <m:r>
                      <a:rPr lang="it-IT" b="0" i="1" smtClean="0">
                        <a:latin typeface="Cambria Math" panose="02040503050406030204" pitchFamily="18" charset="0"/>
                      </a:rPr>
                      <m:t>.</m:t>
                    </m:r>
                  </m:oMath>
                </a14:m>
                <a:endParaRPr lang="it-IT" dirty="0"/>
              </a:p>
              <a:p>
                <a:pPr lvl="1"/>
                <a:r>
                  <a:rPr lang="it-IT" dirty="0"/>
                  <a:t>For each k: draw </a:t>
                </a:r>
                <a14:m>
                  <m:oMath xmlns:m="http://schemas.openxmlformats.org/officeDocument/2006/math">
                    <m:d>
                      <m:dPr>
                        <m:ctrlPr>
                          <a:rPr lang="it-IT" i="1" dirty="0" smtClean="0">
                            <a:latin typeface="Cambria Math" panose="02040503050406030204" pitchFamily="18" charset="0"/>
                          </a:rPr>
                        </m:ctrlPr>
                      </m:dPr>
                      <m:e>
                        <m:sSubSup>
                          <m:sSubSupPr>
                            <m:ctrlPr>
                              <a:rPr lang="it-IT" i="1" dirty="0" smtClean="0">
                                <a:latin typeface="Cambria Math" panose="02040503050406030204" pitchFamily="18" charset="0"/>
                              </a:rPr>
                            </m:ctrlPr>
                          </m:sSubSupPr>
                          <m:e>
                            <m:r>
                              <a:rPr lang="it-IT" i="1" dirty="0" smtClean="0">
                                <a:latin typeface="Cambria Math" panose="02040503050406030204" pitchFamily="18" charset="0"/>
                              </a:rPr>
                              <m:t>𝜇</m:t>
                            </m:r>
                          </m:e>
                          <m:sub>
                            <m:r>
                              <a:rPr lang="it-IT" i="1" dirty="0" smtClean="0">
                                <a:latin typeface="Cambria Math" panose="02040503050406030204" pitchFamily="18" charset="0"/>
                              </a:rPr>
                              <m:t>𝑘</m:t>
                            </m:r>
                          </m:sub>
                          <m:sup>
                            <m:d>
                              <m:dPr>
                                <m:ctrlPr>
                                  <a:rPr lang="it-IT" i="1" dirty="0" smtClean="0">
                                    <a:latin typeface="Cambria Math" panose="02040503050406030204" pitchFamily="18" charset="0"/>
                                  </a:rPr>
                                </m:ctrlPr>
                              </m:dPr>
                              <m:e>
                                <m:r>
                                  <a:rPr lang="it-IT" i="1" dirty="0" smtClean="0">
                                    <a:latin typeface="Cambria Math" panose="02040503050406030204" pitchFamily="18" charset="0"/>
                                  </a:rPr>
                                  <m:t>𝑡</m:t>
                                </m:r>
                              </m:e>
                            </m:d>
                          </m:sup>
                        </m:sSubSup>
                        <m:r>
                          <a:rPr lang="it-IT" i="1" dirty="0" smtClean="0">
                            <a:latin typeface="Cambria Math" panose="02040503050406030204" pitchFamily="18" charset="0"/>
                          </a:rPr>
                          <m:t>,</m:t>
                        </m:r>
                        <m:sSubSup>
                          <m:sSubSupPr>
                            <m:ctrlPr>
                              <a:rPr lang="it-IT" b="0" i="1" dirty="0" smtClean="0">
                                <a:latin typeface="Cambria Math" panose="02040503050406030204" pitchFamily="18" charset="0"/>
                              </a:rPr>
                            </m:ctrlPr>
                          </m:sSubSupPr>
                          <m:e>
                            <m:r>
                              <a:rPr lang="it-IT" b="0" i="1" dirty="0" smtClean="0">
                                <a:latin typeface="Cambria Math" panose="02040503050406030204" pitchFamily="18" charset="0"/>
                              </a:rPr>
                              <m:t>𝜎</m:t>
                            </m:r>
                          </m:e>
                          <m:sub>
                            <m:r>
                              <a:rPr lang="it-IT" b="0" i="1" dirty="0" smtClean="0">
                                <a:latin typeface="Cambria Math" panose="02040503050406030204" pitchFamily="18" charset="0"/>
                              </a:rPr>
                              <m:t>𝑘</m:t>
                            </m:r>
                          </m:sub>
                          <m:sup>
                            <m:r>
                              <a:rPr lang="it-IT" b="0" i="1" dirty="0" smtClean="0">
                                <a:latin typeface="Cambria Math" panose="02040503050406030204" pitchFamily="18" charset="0"/>
                              </a:rPr>
                              <m:t>2</m:t>
                            </m:r>
                            <m:d>
                              <m:dPr>
                                <m:ctrlPr>
                                  <a:rPr lang="it-IT" b="0" i="1" dirty="0" smtClean="0">
                                    <a:latin typeface="Cambria Math" panose="02040503050406030204" pitchFamily="18" charset="0"/>
                                  </a:rPr>
                                </m:ctrlPr>
                              </m:dPr>
                              <m:e>
                                <m:r>
                                  <a:rPr lang="it-IT" b="0" i="1" dirty="0" smtClean="0">
                                    <a:latin typeface="Cambria Math" panose="02040503050406030204" pitchFamily="18" charset="0"/>
                                  </a:rPr>
                                  <m:t>𝑡</m:t>
                                </m:r>
                              </m:e>
                            </m:d>
                          </m:sup>
                        </m:sSubSup>
                      </m:e>
                    </m:d>
                    <m:r>
                      <a:rPr lang="it-IT" b="0" i="1" dirty="0" smtClean="0">
                        <a:latin typeface="Cambria Math" panose="02040503050406030204" pitchFamily="18" charset="0"/>
                      </a:rPr>
                      <m:t>∼</m:t>
                    </m:r>
                    <m:r>
                      <a:rPr lang="it-IT" b="0" i="1" dirty="0" smtClean="0">
                        <a:latin typeface="Cambria Math" panose="02040503050406030204" pitchFamily="18" charset="0"/>
                      </a:rPr>
                      <m:t>𝑝</m:t>
                    </m:r>
                    <m:d>
                      <m:dPr>
                        <m:ctrlPr>
                          <a:rPr lang="it-IT" b="0" i="1" dirty="0" smtClean="0">
                            <a:latin typeface="Cambria Math" panose="02040503050406030204" pitchFamily="18" charset="0"/>
                          </a:rPr>
                        </m:ctrlPr>
                      </m:dPr>
                      <m:e>
                        <m:sSub>
                          <m:sSubPr>
                            <m:ctrlPr>
                              <a:rPr lang="it-IT" b="0" i="1" dirty="0" smtClean="0">
                                <a:latin typeface="Cambria Math" panose="02040503050406030204" pitchFamily="18" charset="0"/>
                              </a:rPr>
                            </m:ctrlPr>
                          </m:sSubPr>
                          <m:e>
                            <m:r>
                              <a:rPr lang="it-IT" b="0" i="1" dirty="0" smtClean="0">
                                <a:latin typeface="Cambria Math" panose="02040503050406030204" pitchFamily="18" charset="0"/>
                              </a:rPr>
                              <m:t>𝜇</m:t>
                            </m:r>
                          </m:e>
                          <m:sub>
                            <m:r>
                              <a:rPr lang="it-IT" b="0" i="1" dirty="0" smtClean="0">
                                <a:latin typeface="Cambria Math" panose="02040503050406030204" pitchFamily="18" charset="0"/>
                              </a:rPr>
                              <m:t>𝑘</m:t>
                            </m:r>
                          </m:sub>
                        </m:sSub>
                        <m:r>
                          <a:rPr lang="it-IT" b="0" i="1" dirty="0" smtClean="0">
                            <a:latin typeface="Cambria Math" panose="02040503050406030204" pitchFamily="18" charset="0"/>
                          </a:rPr>
                          <m:t>,</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e>
                      <m:e>
                        <m:sSub>
                          <m:sSubPr>
                            <m:ctrlPr>
                              <a:rPr lang="it-IT" b="0" i="1" dirty="0" smtClean="0">
                                <a:latin typeface="Cambria Math" panose="02040503050406030204" pitchFamily="18" charset="0"/>
                              </a:rPr>
                            </m:ctrlPr>
                          </m:sSubPr>
                          <m:e>
                            <m:r>
                              <a:rPr lang="it-IT" b="1" i="1" dirty="0" smtClean="0">
                                <a:latin typeface="Cambria Math" panose="02040503050406030204" pitchFamily="18" charset="0"/>
                              </a:rPr>
                              <m:t>𝒙</m:t>
                            </m:r>
                          </m:e>
                          <m:sub>
                            <m:r>
                              <a:rPr lang="it-IT" b="0" i="1" dirty="0" smtClean="0">
                                <a:latin typeface="Cambria Math" panose="02040503050406030204" pitchFamily="18" charset="0"/>
                              </a:rPr>
                              <m:t>𝑘</m:t>
                            </m:r>
                          </m:sub>
                        </m:sSub>
                      </m:e>
                    </m:d>
                    <m:r>
                      <a:rPr lang="it-IT" b="0" i="1" dirty="0" smtClean="0">
                        <a:latin typeface="Cambria Math" panose="02040503050406030204" pitchFamily="18" charset="0"/>
                      </a:rPr>
                      <m:t> </m:t>
                    </m:r>
                    <m:r>
                      <m:rPr>
                        <m:nor/>
                      </m:rPr>
                      <a:rPr lang="it-IT" b="0" i="0" dirty="0" smtClean="0">
                        <a:latin typeface="Cambria Math" panose="02040503050406030204" pitchFamily="18" charset="0"/>
                      </a:rPr>
                      <m:t>where</m:t>
                    </m:r>
                    <m:r>
                      <m:rPr>
                        <m:nor/>
                      </m:rPr>
                      <a:rPr lang="it-IT" b="0" i="0" dirty="0" smtClean="0">
                        <a:latin typeface="Cambria Math" panose="02040503050406030204" pitchFamily="18" charset="0"/>
                      </a:rPr>
                      <m:t>  </m:t>
                    </m:r>
                    <m:sSub>
                      <m:sSubPr>
                        <m:ctrlPr>
                          <a:rPr lang="it-IT" b="0" i="1" dirty="0" smtClean="0">
                            <a:latin typeface="Cambria Math" panose="02040503050406030204" pitchFamily="18" charset="0"/>
                          </a:rPr>
                        </m:ctrlPr>
                      </m:sSubPr>
                      <m:e>
                        <m:r>
                          <a:rPr lang="it-IT" b="1" i="1" dirty="0" smtClean="0">
                            <a:latin typeface="Cambria Math" panose="02040503050406030204" pitchFamily="18" charset="0"/>
                          </a:rPr>
                          <m:t>𝒙</m:t>
                        </m:r>
                      </m:e>
                      <m:sub>
                        <m:r>
                          <a:rPr lang="it-IT" b="0" i="1" dirty="0" smtClean="0">
                            <a:latin typeface="Cambria Math" panose="02040503050406030204" pitchFamily="18" charset="0"/>
                          </a:rPr>
                          <m:t>𝑘</m:t>
                        </m:r>
                      </m:sub>
                    </m:sSub>
                    <m:r>
                      <a:rPr lang="it-IT" b="0" i="1" dirty="0" smtClean="0">
                        <a:latin typeface="Cambria Math" panose="02040503050406030204" pitchFamily="18" charset="0"/>
                      </a:rPr>
                      <m:t>={</m:t>
                    </m:r>
                    <m:sSub>
                      <m:sSubPr>
                        <m:ctrlPr>
                          <a:rPr lang="it-IT" b="0" i="1" dirty="0" smtClean="0">
                            <a:latin typeface="Cambria Math" panose="02040503050406030204" pitchFamily="18" charset="0"/>
                          </a:rPr>
                        </m:ctrlPr>
                      </m:sSubPr>
                      <m:e>
                        <m:r>
                          <a:rPr lang="it-IT" b="0" i="1" dirty="0" smtClean="0">
                            <a:latin typeface="Cambria Math" panose="02040503050406030204" pitchFamily="18" charset="0"/>
                          </a:rPr>
                          <m:t>𝑥</m:t>
                        </m:r>
                      </m:e>
                      <m:sub>
                        <m:r>
                          <a:rPr lang="it-IT" b="0" i="1" dirty="0" smtClean="0">
                            <a:latin typeface="Cambria Math" panose="02040503050406030204" pitchFamily="18" charset="0"/>
                          </a:rPr>
                          <m:t>𝑖</m:t>
                        </m:r>
                      </m:sub>
                    </m:sSub>
                    <m:r>
                      <a:rPr lang="it-IT" b="0" i="1" dirty="0" smtClean="0">
                        <a:latin typeface="Cambria Math" panose="02040503050406030204" pitchFamily="18" charset="0"/>
                      </a:rPr>
                      <m:t>: </m:t>
                    </m:r>
                    <m:sSubSup>
                      <m:sSubSupPr>
                        <m:ctrlPr>
                          <a:rPr lang="it-IT" i="1">
                            <a:latin typeface="Cambria Math" panose="02040503050406030204" pitchFamily="18" charset="0"/>
                          </a:rPr>
                        </m:ctrlPr>
                      </m:sSubSupPr>
                      <m:e>
                        <m:r>
                          <a:rPr lang="it-IT">
                            <a:latin typeface="Cambria Math" panose="02040503050406030204" pitchFamily="18" charset="0"/>
                          </a:rPr>
                          <m:t>𝑧</m:t>
                        </m:r>
                      </m:e>
                      <m:sub>
                        <m:r>
                          <a:rPr lang="it-IT">
                            <a:latin typeface="Cambria Math" panose="02040503050406030204" pitchFamily="18" charset="0"/>
                          </a:rPr>
                          <m:t>𝑖</m:t>
                        </m:r>
                      </m:sub>
                      <m:sup>
                        <m:d>
                          <m:dPr>
                            <m:ctrlPr>
                              <a:rPr lang="it-IT" i="1">
                                <a:latin typeface="Cambria Math" panose="02040503050406030204" pitchFamily="18" charset="0"/>
                              </a:rPr>
                            </m:ctrlPr>
                          </m:dPr>
                          <m:e>
                            <m:r>
                              <a:rPr lang="it-IT">
                                <a:latin typeface="Cambria Math" panose="02040503050406030204" pitchFamily="18" charset="0"/>
                              </a:rPr>
                              <m:t>𝑡</m:t>
                            </m:r>
                          </m:e>
                        </m:d>
                      </m:sup>
                    </m:sSubSup>
                    <m:r>
                      <a:rPr lang="it-IT" b="0" i="1" smtClean="0">
                        <a:latin typeface="Cambria Math" panose="02040503050406030204" pitchFamily="18" charset="0"/>
                      </a:rPr>
                      <m:t>=</m:t>
                    </m:r>
                    <m:r>
                      <a:rPr lang="it-IT" b="0" i="1" dirty="0" smtClean="0">
                        <a:latin typeface="Cambria Math" panose="02040503050406030204" pitchFamily="18" charset="0"/>
                      </a:rPr>
                      <m:t>𝑘</m:t>
                    </m:r>
                    <m:r>
                      <a:rPr lang="it-IT" b="0" i="1" dirty="0" smtClean="0">
                        <a:latin typeface="Cambria Math" panose="02040503050406030204" pitchFamily="18" charset="0"/>
                      </a:rPr>
                      <m:t>}</m:t>
                    </m:r>
                  </m:oMath>
                </a14:m>
                <a:endParaRPr lang="it-IT" b="0" dirty="0"/>
              </a:p>
              <a:p>
                <a:pPr marL="457200" indent="-457200">
                  <a:buFont typeface="+mj-lt"/>
                  <a:buAutoNum type="arabicPeriod"/>
                </a:pPr>
                <a:r>
                  <a:rPr lang="it-IT" dirty="0"/>
                  <a:t>Remove burn-in and apply thinning.</a:t>
                </a:r>
              </a:p>
            </p:txBody>
          </p:sp>
        </mc:Choice>
        <mc:Fallback xmlns="">
          <p:sp>
            <p:nvSpPr>
              <p:cNvPr id="3" name="Content Placeholder 2">
                <a:extLst>
                  <a:ext uri="{FF2B5EF4-FFF2-40B4-BE49-F238E27FC236}">
                    <a16:creationId xmlns:a16="http://schemas.microsoft.com/office/drawing/2014/main" id="{8AE78A52-FAB1-0A19-A235-2CCFEBA44101}"/>
                  </a:ext>
                </a:extLst>
              </p:cNvPr>
              <p:cNvSpPr>
                <a:spLocks noGrp="1" noRot="1" noChangeAspect="1" noMove="1" noResize="1" noEditPoints="1" noAdjustHandles="1" noChangeArrowheads="1" noChangeShapeType="1" noTextEdit="1"/>
              </p:cNvSpPr>
              <p:nvPr>
                <p:ph idx="1"/>
              </p:nvPr>
            </p:nvSpPr>
            <p:spPr>
              <a:xfrm>
                <a:off x="700634" y="2053492"/>
                <a:ext cx="10691265" cy="2751015"/>
              </a:xfrm>
              <a:blipFill>
                <a:blip r:embed="rId3"/>
                <a:stretch>
                  <a:fillRect l="-570" t="-443" b="-2882"/>
                </a:stretch>
              </a:blipFill>
            </p:spPr>
            <p:txBody>
              <a:bodyPr/>
              <a:lstStyle/>
              <a:p>
                <a:r>
                  <a:rPr lang="it-IT">
                    <a:noFill/>
                  </a:rPr>
                  <a:t> </a:t>
                </a:r>
              </a:p>
            </p:txBody>
          </p:sp>
        </mc:Fallback>
      </mc:AlternateContent>
    </p:spTree>
    <p:extLst>
      <p:ext uri="{BB962C8B-B14F-4D97-AF65-F5344CB8AC3E}">
        <p14:creationId xmlns:p14="http://schemas.microsoft.com/office/powerpoint/2010/main" val="153097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A0AD7-8EBC-D503-3AE1-1BC6D13B2A08}"/>
              </a:ext>
            </a:extLst>
          </p:cNvPr>
          <p:cNvSpPr>
            <a:spLocks noGrp="1"/>
          </p:cNvSpPr>
          <p:nvPr>
            <p:ph type="title"/>
          </p:nvPr>
        </p:nvSpPr>
        <p:spPr/>
        <p:txBody>
          <a:bodyPr/>
          <a:lstStyle/>
          <a:p>
            <a:r>
              <a:rPr lang="it-IT" dirty="0">
                <a:solidFill>
                  <a:srgbClr val="FF0000"/>
                </a:solidFill>
              </a:rPr>
              <a:t>Conditional probabilities (1/2)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E3EEDD-671D-6229-9048-A6558CB383CF}"/>
                  </a:ext>
                </a:extLst>
              </p:cNvPr>
              <p:cNvSpPr>
                <a:spLocks noGrp="1"/>
              </p:cNvSpPr>
              <p:nvPr>
                <p:ph idx="1"/>
              </p:nvPr>
            </p:nvSpPr>
            <p:spPr>
              <a:xfrm>
                <a:off x="700634" y="1568196"/>
                <a:ext cx="10691265" cy="4887312"/>
              </a:xfrm>
            </p:spPr>
            <p:txBody>
              <a:bodyPr/>
              <a:lstStyle/>
              <a:p>
                <a:pPr marL="457200" indent="-457200">
                  <a:buFont typeface="+mj-lt"/>
                  <a:buAutoNum type="arabicPeriod"/>
                </a:pPr>
                <a:r>
                  <a:rPr lang="it-IT" dirty="0"/>
                  <a:t>For each k: </a:t>
                </a:r>
                <a14:m>
                  <m:oMath xmlns:m="http://schemas.openxmlformats.org/officeDocument/2006/math">
                    <m:r>
                      <a:rPr lang="it-IT" b="0" i="0" smtClean="0">
                        <a:latin typeface="Cambria Math" panose="02040503050406030204" pitchFamily="18" charset="0"/>
                      </a:rPr>
                      <m:t> </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b="0" i="1" smtClean="0">
                            <a:latin typeface="Cambria Math" panose="02040503050406030204" pitchFamily="18" charset="0"/>
                          </a:rPr>
                          <m:t>=</m:t>
                        </m:r>
                        <m:r>
                          <m:rPr>
                            <m:sty m:val="p"/>
                          </m:rPr>
                          <a:rPr lang="it-IT" b="0" i="1" smtClean="0">
                            <a:latin typeface="Cambria Math" panose="02040503050406030204" pitchFamily="18" charset="0"/>
                          </a:rPr>
                          <m:t>k</m:t>
                        </m:r>
                      </m:e>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𝒘</m:t>
                        </m:r>
                        <m:r>
                          <a:rPr lang="it-IT" i="1">
                            <a:latin typeface="Cambria Math" panose="02040503050406030204" pitchFamily="18" charset="0"/>
                          </a:rPr>
                          <m:t>,</m:t>
                        </m:r>
                        <m:r>
                          <a:rPr lang="it-IT" i="1">
                            <a:latin typeface="Cambria Math" panose="02040503050406030204" pitchFamily="18" charset="0"/>
                          </a:rPr>
                          <m:t>𝜽</m:t>
                        </m:r>
                      </m:e>
                    </m:d>
                    <m:r>
                      <a:rPr lang="it-IT" b="0" i="1"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𝑤</m:t>
                            </m:r>
                          </m:e>
                          <m:sub>
                            <m:r>
                              <m:rPr>
                                <m:sty m:val="p"/>
                              </m:rPr>
                              <a:rPr lang="it-IT" b="0" i="1" smtClean="0">
                                <a:latin typeface="Cambria Math" panose="02040503050406030204" pitchFamily="18" charset="0"/>
                              </a:rPr>
                              <m:t>k</m:t>
                            </m:r>
                          </m:sub>
                        </m:sSub>
                        <m:r>
                          <a:rPr lang="it-IT" i="1">
                            <a:latin typeface="Cambria Math" panose="02040503050406030204" pitchFamily="18" charset="0"/>
                          </a:rPr>
                          <m:t>𝒩</m:t>
                        </m:r>
                        <m:d>
                          <m:dPr>
                            <m:ctrlPr>
                              <a:rPr lang="it-IT" i="1">
                                <a:latin typeface="Cambria Math" panose="02040503050406030204" pitchFamily="18" charset="0"/>
                              </a:rPr>
                            </m:ctrlPr>
                          </m:dPr>
                          <m:e>
                            <m:sSub>
                              <m:sSubPr>
                                <m:ctrlPr>
                                  <a:rPr lang="it-IT" b="0" i="1" smtClean="0">
                                    <a:latin typeface="Cambria Math" panose="02040503050406030204" pitchFamily="18" charset="0"/>
                                  </a:rPr>
                                </m:ctrlPr>
                              </m:sSubPr>
                              <m:e>
                                <m:r>
                                  <a:rPr lang="it-IT" i="1">
                                    <a:latin typeface="Cambria Math" panose="02040503050406030204" pitchFamily="18" charset="0"/>
                                  </a:rPr>
                                  <m:t>𝑥</m:t>
                                </m:r>
                              </m:e>
                              <m:sub>
                                <m:r>
                                  <a:rPr lang="it-IT" b="0" i="1" smtClean="0">
                                    <a:latin typeface="Cambria Math" panose="02040503050406030204" pitchFamily="18" charset="0"/>
                                  </a:rPr>
                                  <m:t>𝑖</m:t>
                                </m:r>
                              </m:sub>
                            </m:sSub>
                          </m:e>
                          <m:e>
                            <m:sSub>
                              <m:sSubPr>
                                <m:ctrlPr>
                                  <a:rPr lang="it-IT" i="1">
                                    <a:latin typeface="Cambria Math" panose="02040503050406030204" pitchFamily="18" charset="0"/>
                                  </a:rPr>
                                </m:ctrlPr>
                              </m:sSubPr>
                              <m:e>
                                <m:r>
                                  <a:rPr lang="it-IT" i="1">
                                    <a:latin typeface="Cambria Math" panose="02040503050406030204" pitchFamily="18" charset="0"/>
                                  </a:rPr>
                                  <m:t>𝜇</m:t>
                                </m:r>
                              </m:e>
                              <m:sub>
                                <m:r>
                                  <m:rPr>
                                    <m:sty m:val="p"/>
                                  </m:rPr>
                                  <a:rPr lang="it-IT" b="0" i="1" smtClean="0">
                                    <a:latin typeface="Cambria Math" panose="02040503050406030204" pitchFamily="18" charset="0"/>
                                  </a:rPr>
                                  <m:t>k</m:t>
                                </m:r>
                              </m:sub>
                            </m:sSub>
                            <m:r>
                              <a:rPr lang="it-IT" i="1">
                                <a:latin typeface="Cambria Math" panose="02040503050406030204" pitchFamily="18" charset="0"/>
                              </a:rPr>
                              <m:t>,</m:t>
                            </m:r>
                            <m:sSubSup>
                              <m:sSubSupPr>
                                <m:ctrlPr>
                                  <a:rPr lang="it-IT" i="1">
                                    <a:latin typeface="Cambria Math" panose="02040503050406030204" pitchFamily="18" charset="0"/>
                                  </a:rPr>
                                </m:ctrlPr>
                              </m:sSubSupPr>
                              <m:e>
                                <m:r>
                                  <a:rPr lang="it-IT" i="1">
                                    <a:latin typeface="Cambria Math" panose="02040503050406030204" pitchFamily="18" charset="0"/>
                                  </a:rPr>
                                  <m:t>𝜎</m:t>
                                </m:r>
                              </m:e>
                              <m:sub>
                                <m:r>
                                  <m:rPr>
                                    <m:sty m:val="p"/>
                                  </m:rPr>
                                  <a:rPr lang="it-IT" b="0" i="1" smtClean="0">
                                    <a:latin typeface="Cambria Math" panose="02040503050406030204" pitchFamily="18" charset="0"/>
                                  </a:rPr>
                                  <m:t>k</m:t>
                                </m:r>
                              </m:sub>
                              <m:sup>
                                <m:r>
                                  <a:rPr lang="it-IT" i="1">
                                    <a:latin typeface="Cambria Math" panose="02040503050406030204" pitchFamily="18" charset="0"/>
                                  </a:rPr>
                                  <m:t>2</m:t>
                                </m:r>
                              </m:sup>
                            </m:sSubSup>
                          </m:e>
                        </m:d>
                      </m:num>
                      <m:den>
                        <m:nary>
                          <m:naryPr>
                            <m:chr m:val="∑"/>
                            <m:ctrlPr>
                              <a:rPr lang="it-IT" i="1">
                                <a:latin typeface="Cambria Math" panose="02040503050406030204" pitchFamily="18" charset="0"/>
                              </a:rPr>
                            </m:ctrlPr>
                          </m:naryPr>
                          <m:sub>
                            <m:r>
                              <a:rPr lang="it-IT" i="1">
                                <a:latin typeface="Cambria Math" panose="02040503050406030204" pitchFamily="18" charset="0"/>
                              </a:rPr>
                              <m:t>h</m:t>
                            </m:r>
                            <m:r>
                              <a:rPr lang="it-IT" i="1">
                                <a:latin typeface="Cambria Math" panose="02040503050406030204" pitchFamily="18" charset="0"/>
                              </a:rPr>
                              <m:t>=1</m:t>
                            </m:r>
                          </m:sub>
                          <m:sup>
                            <m:r>
                              <a:rPr lang="it-IT" i="1">
                                <a:latin typeface="Cambria Math" panose="02040503050406030204" pitchFamily="18" charset="0"/>
                              </a:rPr>
                              <m:t>𝐾</m:t>
                            </m:r>
                          </m:sup>
                          <m:e>
                            <m:sSub>
                              <m:sSubPr>
                                <m:ctrlPr>
                                  <a:rPr lang="it-IT" i="1">
                                    <a:latin typeface="Cambria Math" panose="02040503050406030204" pitchFamily="18" charset="0"/>
                                  </a:rPr>
                                </m:ctrlPr>
                              </m:sSubPr>
                              <m:e>
                                <m:r>
                                  <a:rPr lang="it-IT" i="1">
                                    <a:latin typeface="Cambria Math" panose="02040503050406030204" pitchFamily="18" charset="0"/>
                                  </a:rPr>
                                  <m:t>𝑤</m:t>
                                </m:r>
                              </m:e>
                              <m:sub>
                                <m:r>
                                  <a:rPr lang="it-IT" i="1">
                                    <a:latin typeface="Cambria Math" panose="02040503050406030204" pitchFamily="18" charset="0"/>
                                  </a:rPr>
                                  <m:t>h</m:t>
                                </m:r>
                              </m:sub>
                            </m:sSub>
                            <m:r>
                              <a:rPr lang="it-IT" i="1">
                                <a:latin typeface="Cambria Math" panose="02040503050406030204" pitchFamily="18" charset="0"/>
                              </a:rPr>
                              <m:t>𝒩</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e>
                              <m:e>
                                <m:sSub>
                                  <m:sSubPr>
                                    <m:ctrlPr>
                                      <a:rPr lang="it-IT" i="1">
                                        <a:latin typeface="Cambria Math" panose="02040503050406030204" pitchFamily="18" charset="0"/>
                                      </a:rPr>
                                    </m:ctrlPr>
                                  </m:sSubPr>
                                  <m:e>
                                    <m:r>
                                      <a:rPr lang="it-IT" i="1">
                                        <a:latin typeface="Cambria Math" panose="02040503050406030204" pitchFamily="18" charset="0"/>
                                      </a:rPr>
                                      <m:t>𝜇</m:t>
                                    </m:r>
                                  </m:e>
                                  <m:sub>
                                    <m:r>
                                      <m:rPr>
                                        <m:sty m:val="p"/>
                                      </m:rPr>
                                      <a:rPr lang="it-IT" i="1">
                                        <a:latin typeface="Cambria Math" panose="02040503050406030204" pitchFamily="18" charset="0"/>
                                      </a:rPr>
                                      <m:t>h</m:t>
                                    </m:r>
                                  </m:sub>
                                </m:sSub>
                                <m:r>
                                  <a:rPr lang="it-IT" i="1">
                                    <a:latin typeface="Cambria Math" panose="02040503050406030204" pitchFamily="18" charset="0"/>
                                  </a:rPr>
                                  <m:t>,</m:t>
                                </m:r>
                                <m:sSubSup>
                                  <m:sSubSupPr>
                                    <m:ctrlPr>
                                      <a:rPr lang="it-IT" i="1">
                                        <a:latin typeface="Cambria Math" panose="02040503050406030204" pitchFamily="18" charset="0"/>
                                      </a:rPr>
                                    </m:ctrlPr>
                                  </m:sSubSupPr>
                                  <m:e>
                                    <m:r>
                                      <a:rPr lang="it-IT" i="1">
                                        <a:latin typeface="Cambria Math" panose="02040503050406030204" pitchFamily="18" charset="0"/>
                                      </a:rPr>
                                      <m:t>𝜎</m:t>
                                    </m:r>
                                  </m:e>
                                  <m:sub>
                                    <m:r>
                                      <m:rPr>
                                        <m:sty m:val="p"/>
                                      </m:rPr>
                                      <a:rPr lang="it-IT" i="1">
                                        <a:latin typeface="Cambria Math" panose="02040503050406030204" pitchFamily="18" charset="0"/>
                                      </a:rPr>
                                      <m:t>h</m:t>
                                    </m:r>
                                  </m:sub>
                                  <m:sup>
                                    <m:r>
                                      <a:rPr lang="it-IT" i="1">
                                        <a:latin typeface="Cambria Math" panose="02040503050406030204" pitchFamily="18" charset="0"/>
                                      </a:rPr>
                                      <m:t>2</m:t>
                                    </m:r>
                                  </m:sup>
                                </m:sSubSup>
                              </m:e>
                            </m:d>
                          </m:e>
                        </m:nary>
                      </m:den>
                    </m:f>
                  </m:oMath>
                </a14:m>
                <a:endParaRPr lang="it-IT" dirty="0"/>
              </a:p>
              <a:p>
                <a:pPr lvl="1"/>
                <a:r>
                  <a:rPr lang="it-IT" dirty="0"/>
                  <a:t>Draw one component with </a:t>
                </a:r>
                <a:r>
                  <a:rPr lang="it-IT" dirty="0">
                    <a:latin typeface="Consolas" panose="020B0609020204030204" pitchFamily="49" charset="0"/>
                  </a:rPr>
                  <a:t>numpy.random.choice </a:t>
                </a:r>
                <a:r>
                  <a:rPr lang="it-IT" dirty="0"/>
                  <a:t>using probabilities </a:t>
                </a:r>
                <a14:m>
                  <m:oMath xmlns:m="http://schemas.openxmlformats.org/officeDocument/2006/math">
                    <m:r>
                      <a:rPr lang="it-IT" i="1">
                        <a:latin typeface="Cambria Math" panose="02040503050406030204" pitchFamily="18" charset="0"/>
                      </a:rPr>
                      <m:t>𝑝</m:t>
                    </m:r>
                    <m:r>
                      <a:rPr lang="it-IT" i="1" smtClean="0">
                        <a:latin typeface="Cambria Math" panose="02040503050406030204" pitchFamily="18" charset="0"/>
                      </a:rPr>
                      <m:t>=</m:t>
                    </m:r>
                    <m:r>
                      <a:rPr lang="it-IT" b="0" i="1" smtClean="0">
                        <a:latin typeface="Cambria Math" panose="02040503050406030204" pitchFamily="18" charset="0"/>
                      </a:rPr>
                      <m:t>{</m:t>
                    </m:r>
                    <m:r>
                      <a:rPr lang="it-IT" i="1" smtClean="0">
                        <a:latin typeface="Cambria Math" panose="02040503050406030204" pitchFamily="18" charset="0"/>
                      </a:rPr>
                      <m:t>𝑝</m:t>
                    </m:r>
                    <m:sSubSup>
                      <m:sSubSupPr>
                        <m:ctrlPr>
                          <a:rPr lang="it-IT" b="0" i="1" smtClean="0">
                            <a:latin typeface="Cambria Math" panose="02040503050406030204" pitchFamily="18" charset="0"/>
                          </a:rPr>
                        </m:ctrlPr>
                      </m:sSubSupPr>
                      <m:e>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m:rPr>
                                <m:sty m:val="p"/>
                              </m:rPr>
                              <a:rPr lang="it-IT" i="1">
                                <a:latin typeface="Cambria Math" panose="02040503050406030204" pitchFamily="18" charset="0"/>
                              </a:rPr>
                              <m:t>k</m:t>
                            </m:r>
                          </m:e>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𝒘</m:t>
                            </m:r>
                            <m:r>
                              <a:rPr lang="it-IT" i="1">
                                <a:latin typeface="Cambria Math" panose="02040503050406030204" pitchFamily="18" charset="0"/>
                              </a:rPr>
                              <m:t>,</m:t>
                            </m:r>
                            <m:r>
                              <a:rPr lang="it-IT" i="1">
                                <a:latin typeface="Cambria Math" panose="02040503050406030204" pitchFamily="18" charset="0"/>
                              </a:rPr>
                              <m:t>𝜽</m:t>
                            </m:r>
                          </m:e>
                        </m:d>
                        <m:r>
                          <a:rPr lang="it-IT" b="0" i="1" smtClean="0">
                            <a:latin typeface="Cambria Math" panose="02040503050406030204" pitchFamily="18" charset="0"/>
                          </a:rPr>
                          <m:t>}</m:t>
                        </m:r>
                      </m:e>
                      <m:sub>
                        <m:r>
                          <a:rPr lang="it-IT" b="0" i="1" smtClean="0">
                            <a:latin typeface="Cambria Math" panose="02040503050406030204" pitchFamily="18" charset="0"/>
                          </a:rPr>
                          <m:t>𝑘</m:t>
                        </m:r>
                        <m:r>
                          <a:rPr lang="it-IT" b="0" i="1" smtClean="0">
                            <a:latin typeface="Cambria Math" panose="02040503050406030204" pitchFamily="18" charset="0"/>
                          </a:rPr>
                          <m:t>=1</m:t>
                        </m:r>
                      </m:sub>
                      <m:sup>
                        <m:r>
                          <a:rPr lang="it-IT" b="0" i="1" smtClean="0">
                            <a:latin typeface="Cambria Math" panose="02040503050406030204" pitchFamily="18" charset="0"/>
                          </a:rPr>
                          <m:t>𝐾</m:t>
                        </m:r>
                      </m:sup>
                    </m:sSubSup>
                  </m:oMath>
                </a14:m>
                <a:r>
                  <a:rPr lang="it-IT" dirty="0"/>
                  <a:t>.</a:t>
                </a:r>
              </a:p>
              <a:p>
                <a:pPr marL="457200" indent="-457200">
                  <a:lnSpc>
                    <a:spcPct val="100000"/>
                  </a:lnSpc>
                  <a:buFont typeface="+mj-lt"/>
                  <a:buAutoNum type="arabicPeriod"/>
                </a:pPr>
                <a14:m>
                  <m:oMath xmlns:m="http://schemas.openxmlformats.org/officeDocument/2006/math">
                    <m:r>
                      <a:rPr lang="it-IT" i="1">
                        <a:latin typeface="Cambria Math" panose="02040503050406030204" pitchFamily="18" charset="0"/>
                      </a:rPr>
                      <m:t>𝑝</m:t>
                    </m:r>
                    <m:d>
                      <m:dPr>
                        <m:ctrlPr>
                          <a:rPr lang="it-IT" i="1">
                            <a:latin typeface="Cambria Math" panose="02040503050406030204" pitchFamily="18" charset="0"/>
                          </a:rPr>
                        </m:ctrlPr>
                      </m:dPr>
                      <m:e>
                        <m:r>
                          <a:rPr lang="it-IT" i="1">
                            <a:latin typeface="Cambria Math" panose="02040503050406030204" pitchFamily="18" charset="0"/>
                          </a:rPr>
                          <m:t>𝒘</m:t>
                        </m:r>
                      </m:e>
                      <m:e>
                        <m:r>
                          <a:rPr lang="it-IT" i="1">
                            <a:latin typeface="Cambria Math" panose="02040503050406030204" pitchFamily="18" charset="0"/>
                          </a:rPr>
                          <m:t>𝒛</m:t>
                        </m:r>
                      </m:e>
                    </m:d>
                    <m:r>
                      <a:rPr lang="it-IT" b="0" i="1" smtClean="0">
                        <a:latin typeface="Cambria Math" panose="02040503050406030204" pitchFamily="18" charset="0"/>
                      </a:rPr>
                      <m:t>∝</m:t>
                    </m:r>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𝒛</m:t>
                        </m:r>
                      </m:e>
                      <m:e>
                        <m:r>
                          <a:rPr lang="it-IT" b="0" i="1" smtClean="0">
                            <a:latin typeface="Cambria Math" panose="02040503050406030204" pitchFamily="18" charset="0"/>
                          </a:rPr>
                          <m:t>𝒘</m:t>
                        </m:r>
                      </m:e>
                    </m:d>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𝒘</m:t>
                        </m:r>
                      </m:e>
                    </m:d>
                    <m:r>
                      <a:rPr lang="it-IT" b="0" i="1" smtClean="0">
                        <a:latin typeface="Cambria Math" panose="02040503050406030204" pitchFamily="18" charset="0"/>
                      </a:rPr>
                      <m:t> =</m:t>
                    </m:r>
                    <m:d>
                      <m:dPr>
                        <m:ctrlPr>
                          <a:rPr lang="it-IT" i="1" dirty="0">
                            <a:latin typeface="Cambria Math" panose="02040503050406030204" pitchFamily="18" charset="0"/>
                          </a:rPr>
                        </m:ctrlPr>
                      </m:dPr>
                      <m:e>
                        <m:nary>
                          <m:naryPr>
                            <m:chr m:val="∏"/>
                            <m:ctrlPr>
                              <a:rPr lang="it-IT" i="1" dirty="0">
                                <a:latin typeface="Cambria Math" panose="02040503050406030204" pitchFamily="18" charset="0"/>
                              </a:rPr>
                            </m:ctrlPr>
                          </m:naryPr>
                          <m:sub>
                            <m:r>
                              <a:rPr lang="it-IT" i="1" dirty="0">
                                <a:latin typeface="Cambria Math" panose="02040503050406030204" pitchFamily="18" charset="0"/>
                              </a:rPr>
                              <m:t>𝑖</m:t>
                            </m:r>
                            <m:r>
                              <a:rPr lang="it-IT" i="1" dirty="0">
                                <a:latin typeface="Cambria Math" panose="02040503050406030204" pitchFamily="18" charset="0"/>
                              </a:rPr>
                              <m:t>=1</m:t>
                            </m:r>
                          </m:sub>
                          <m:sup>
                            <m:r>
                              <a:rPr lang="it-IT" i="1" dirty="0">
                                <a:latin typeface="Cambria Math" panose="02040503050406030204" pitchFamily="18" charset="0"/>
                              </a:rPr>
                              <m:t>𝑁</m:t>
                            </m:r>
                          </m:sup>
                          <m:e>
                            <m:sSub>
                              <m:sSubPr>
                                <m:ctrlPr>
                                  <a:rPr lang="it-IT" i="1" dirty="0">
                                    <a:latin typeface="Cambria Math" panose="02040503050406030204" pitchFamily="18" charset="0"/>
                                  </a:rPr>
                                </m:ctrlPr>
                              </m:sSubPr>
                              <m:e>
                                <m:r>
                                  <a:rPr lang="it-IT" i="1" dirty="0">
                                    <a:latin typeface="Cambria Math" panose="02040503050406030204" pitchFamily="18" charset="0"/>
                                  </a:rPr>
                                  <m:t>𝑤</m:t>
                                </m:r>
                              </m:e>
                              <m:sub>
                                <m:sSub>
                                  <m:sSubPr>
                                    <m:ctrlPr>
                                      <a:rPr lang="it-IT" i="1" dirty="0">
                                        <a:latin typeface="Cambria Math" panose="02040503050406030204" pitchFamily="18" charset="0"/>
                                      </a:rPr>
                                    </m:ctrlPr>
                                  </m:sSubPr>
                                  <m:e>
                                    <m:r>
                                      <a:rPr lang="it-IT" i="1" dirty="0">
                                        <a:latin typeface="Cambria Math" panose="02040503050406030204" pitchFamily="18" charset="0"/>
                                      </a:rPr>
                                      <m:t>𝑧</m:t>
                                    </m:r>
                                  </m:e>
                                  <m:sub>
                                    <m:r>
                                      <a:rPr lang="it-IT" i="1" dirty="0">
                                        <a:latin typeface="Cambria Math" panose="02040503050406030204" pitchFamily="18" charset="0"/>
                                      </a:rPr>
                                      <m:t>𝑖</m:t>
                                    </m:r>
                                  </m:sub>
                                </m:sSub>
                              </m:sub>
                            </m:sSub>
                          </m:e>
                        </m:nary>
                      </m:e>
                    </m:d>
                    <m:r>
                      <a:rPr lang="it-IT" b="0" i="1" dirty="0" smtClean="0">
                        <a:latin typeface="Cambria Math" panose="02040503050406030204" pitchFamily="18" charset="0"/>
                      </a:rPr>
                      <m:t>𝐷𝑖𝑟</m:t>
                    </m:r>
                    <m:d>
                      <m:dPr>
                        <m:ctrlPr>
                          <a:rPr lang="it-IT" b="0" i="1" dirty="0" smtClean="0">
                            <a:latin typeface="Cambria Math" panose="02040503050406030204" pitchFamily="18" charset="0"/>
                          </a:rPr>
                        </m:ctrlPr>
                      </m:dPr>
                      <m:e>
                        <m:r>
                          <a:rPr lang="it-IT" b="0" i="1" dirty="0" smtClean="0">
                            <a:latin typeface="Cambria Math" panose="02040503050406030204" pitchFamily="18" charset="0"/>
                          </a:rPr>
                          <m:t>𝒘</m:t>
                        </m:r>
                      </m:e>
                      <m:e>
                        <m:r>
                          <a:rPr lang="it-IT" b="0" i="1" dirty="0" smtClean="0">
                            <a:latin typeface="Cambria Math" panose="02040503050406030204" pitchFamily="18" charset="0"/>
                          </a:rPr>
                          <m:t>𝛼</m:t>
                        </m:r>
                        <m:r>
                          <m:rPr>
                            <m:lit/>
                          </m:rPr>
                          <a:rPr lang="it-IT" b="0" i="1" dirty="0" smtClean="0">
                            <a:latin typeface="Cambria Math" panose="02040503050406030204" pitchFamily="18" charset="0"/>
                          </a:rPr>
                          <m:t>/</m:t>
                        </m:r>
                        <m:r>
                          <a:rPr lang="it-IT" b="0" i="1" dirty="0" smtClean="0">
                            <a:latin typeface="Cambria Math" panose="02040503050406030204" pitchFamily="18" charset="0"/>
                          </a:rPr>
                          <m:t>𝐾</m:t>
                        </m:r>
                      </m:e>
                    </m:d>
                  </m:oMath>
                </a14:m>
                <a:r>
                  <a:rPr lang="it-IT" dirty="0"/>
                  <a:t> </a:t>
                </a:r>
                <a14:m>
                  <m:oMath xmlns:m="http://schemas.openxmlformats.org/officeDocument/2006/math">
                    <m:r>
                      <a:rPr lang="it-IT" i="1" dirty="0">
                        <a:latin typeface="Cambria Math" panose="02040503050406030204" pitchFamily="18" charset="0"/>
                      </a:rPr>
                      <m:t>∝</m:t>
                    </m:r>
                  </m:oMath>
                </a14:m>
                <a:r>
                  <a:rPr lang="it-IT" dirty="0"/>
                  <a:t> </a:t>
                </a:r>
                <a14:m>
                  <m:oMath xmlns:m="http://schemas.openxmlformats.org/officeDocument/2006/math">
                    <m:d>
                      <m:dPr>
                        <m:ctrlPr>
                          <a:rPr lang="it-IT" i="1" dirty="0">
                            <a:latin typeface="Cambria Math" panose="02040503050406030204" pitchFamily="18" charset="0"/>
                          </a:rPr>
                        </m:ctrlPr>
                      </m:dPr>
                      <m:e>
                        <m:nary>
                          <m:naryPr>
                            <m:chr m:val="∏"/>
                            <m:ctrlPr>
                              <a:rPr lang="it-IT" i="1" dirty="0">
                                <a:latin typeface="Cambria Math" panose="02040503050406030204" pitchFamily="18" charset="0"/>
                              </a:rPr>
                            </m:ctrlPr>
                          </m:naryPr>
                          <m:sub>
                            <m:r>
                              <m:rPr>
                                <m:sty m:val="p"/>
                              </m:rPr>
                              <a:rPr lang="it-IT" b="0" i="1" dirty="0" smtClean="0">
                                <a:latin typeface="Cambria Math" panose="02040503050406030204" pitchFamily="18" charset="0"/>
                              </a:rPr>
                              <m:t>k</m:t>
                            </m:r>
                            <m:r>
                              <a:rPr lang="it-IT" i="1" dirty="0">
                                <a:latin typeface="Cambria Math" panose="02040503050406030204" pitchFamily="18" charset="0"/>
                              </a:rPr>
                              <m:t>=1</m:t>
                            </m:r>
                          </m:sub>
                          <m:sup>
                            <m:r>
                              <m:rPr>
                                <m:sty m:val="p"/>
                              </m:rPr>
                              <a:rPr lang="it-IT" b="0" i="1" dirty="0" smtClean="0">
                                <a:latin typeface="Cambria Math" panose="02040503050406030204" pitchFamily="18" charset="0"/>
                              </a:rPr>
                              <m:t>K</m:t>
                            </m:r>
                          </m:sup>
                          <m:e>
                            <m:sSubSup>
                              <m:sSubSupPr>
                                <m:ctrlPr>
                                  <a:rPr lang="it-IT" b="0" i="1" dirty="0" smtClean="0">
                                    <a:latin typeface="Cambria Math" panose="02040503050406030204" pitchFamily="18" charset="0"/>
                                  </a:rPr>
                                </m:ctrlPr>
                              </m:sSubSupPr>
                              <m:e>
                                <m:r>
                                  <a:rPr lang="it-IT" b="0" i="1" dirty="0" smtClean="0">
                                    <a:latin typeface="Cambria Math" panose="02040503050406030204" pitchFamily="18" charset="0"/>
                                  </a:rPr>
                                  <m:t>𝑤</m:t>
                                </m:r>
                              </m:e>
                              <m:sub>
                                <m:r>
                                  <a:rPr lang="it-IT" b="0" i="1" dirty="0" smtClean="0">
                                    <a:latin typeface="Cambria Math" panose="02040503050406030204" pitchFamily="18" charset="0"/>
                                  </a:rPr>
                                  <m:t>𝑘</m:t>
                                </m:r>
                              </m:sub>
                              <m:sup>
                                <m:sSub>
                                  <m:sSubPr>
                                    <m:ctrlPr>
                                      <a:rPr lang="it-IT" b="0" i="1" dirty="0" smtClean="0">
                                        <a:latin typeface="Cambria Math" panose="02040503050406030204" pitchFamily="18" charset="0"/>
                                      </a:rPr>
                                    </m:ctrlPr>
                                  </m:sSubPr>
                                  <m:e>
                                    <m:r>
                                      <a:rPr lang="it-IT" b="0" i="1" dirty="0" smtClean="0">
                                        <a:latin typeface="Cambria Math" panose="02040503050406030204" pitchFamily="18" charset="0"/>
                                      </a:rPr>
                                      <m:t>𝑛</m:t>
                                    </m:r>
                                  </m:e>
                                  <m:sub>
                                    <m:r>
                                      <a:rPr lang="it-IT" b="0" i="1" dirty="0" smtClean="0">
                                        <a:latin typeface="Cambria Math" panose="02040503050406030204" pitchFamily="18" charset="0"/>
                                      </a:rPr>
                                      <m:t>𝑘</m:t>
                                    </m:r>
                                  </m:sub>
                                </m:sSub>
                              </m:sup>
                            </m:sSubSup>
                          </m:e>
                        </m:nary>
                        <m:sSubSup>
                          <m:sSubSupPr>
                            <m:ctrlPr>
                              <a:rPr lang="it-IT" i="1" dirty="0">
                                <a:latin typeface="Cambria Math" panose="02040503050406030204" pitchFamily="18" charset="0"/>
                              </a:rPr>
                            </m:ctrlPr>
                          </m:sSubSupPr>
                          <m:e>
                            <m:r>
                              <a:rPr lang="it-IT" i="1" dirty="0">
                                <a:latin typeface="Cambria Math" panose="02040503050406030204" pitchFamily="18" charset="0"/>
                              </a:rPr>
                              <m:t>𝑤</m:t>
                            </m:r>
                          </m:e>
                          <m:sub>
                            <m:r>
                              <a:rPr lang="it-IT" i="1" dirty="0">
                                <a:latin typeface="Cambria Math" panose="02040503050406030204" pitchFamily="18" charset="0"/>
                              </a:rPr>
                              <m:t>𝑘</m:t>
                            </m:r>
                          </m:sub>
                          <m:sup>
                            <m:r>
                              <m:rPr>
                                <m:sty m:val="p"/>
                              </m:rPr>
                              <a:rPr lang="it-IT" i="1" dirty="0">
                                <a:latin typeface="Cambria Math" panose="02040503050406030204" pitchFamily="18" charset="0"/>
                              </a:rPr>
                              <m:t>α</m:t>
                            </m:r>
                            <m:r>
                              <a:rPr lang="it-IT" i="1" dirty="0">
                                <a:latin typeface="Cambria Math" panose="02040503050406030204" pitchFamily="18" charset="0"/>
                              </a:rPr>
                              <m:t>/</m:t>
                            </m:r>
                            <m:r>
                              <m:rPr>
                                <m:sty m:val="p"/>
                              </m:rPr>
                              <a:rPr lang="it-IT" i="1" dirty="0">
                                <a:latin typeface="Cambria Math" panose="02040503050406030204" pitchFamily="18" charset="0"/>
                              </a:rPr>
                              <m:t>K</m:t>
                            </m:r>
                            <m:r>
                              <a:rPr lang="it-IT" i="1" dirty="0">
                                <a:latin typeface="Cambria Math" panose="02040503050406030204" pitchFamily="18" charset="0"/>
                              </a:rPr>
                              <m:t> − 1</m:t>
                            </m:r>
                          </m:sup>
                        </m:sSubSup>
                      </m:e>
                    </m:d>
                  </m:oMath>
                </a14:m>
                <a:r>
                  <a:rPr lang="it-IT" dirty="0"/>
                  <a:t> </a:t>
                </a:r>
                <a14:m>
                  <m:oMath xmlns:m="http://schemas.openxmlformats.org/officeDocument/2006/math">
                    <m:r>
                      <a:rPr lang="it-IT" i="1" dirty="0">
                        <a:latin typeface="Cambria Math" panose="02040503050406030204" pitchFamily="18" charset="0"/>
                      </a:rPr>
                      <m:t>∝</m:t>
                    </m:r>
                  </m:oMath>
                </a14:m>
                <a:r>
                  <a:rPr lang="it-IT" dirty="0"/>
                  <a:t> </a:t>
                </a:r>
                <a14:m>
                  <m:oMath xmlns:m="http://schemas.openxmlformats.org/officeDocument/2006/math">
                    <m:r>
                      <a:rPr lang="it-IT" i="1" dirty="0">
                        <a:latin typeface="Cambria Math" panose="02040503050406030204" pitchFamily="18" charset="0"/>
                      </a:rPr>
                      <m:t>𝐷𝑖𝑟</m:t>
                    </m:r>
                    <m:d>
                      <m:dPr>
                        <m:ctrlPr>
                          <a:rPr lang="it-IT" i="1" dirty="0">
                            <a:latin typeface="Cambria Math" panose="02040503050406030204" pitchFamily="18" charset="0"/>
                          </a:rPr>
                        </m:ctrlPr>
                      </m:dPr>
                      <m:e>
                        <m:r>
                          <a:rPr lang="it-IT" i="1" dirty="0">
                            <a:latin typeface="Cambria Math" panose="02040503050406030204" pitchFamily="18" charset="0"/>
                          </a:rPr>
                          <m:t>𝒘</m:t>
                        </m:r>
                      </m:e>
                      <m:e>
                        <m:r>
                          <a:rPr lang="it-IT" i="1" dirty="0">
                            <a:latin typeface="Cambria Math" panose="02040503050406030204" pitchFamily="18" charset="0"/>
                          </a:rPr>
                          <m:t>𝛼</m:t>
                        </m:r>
                        <m:r>
                          <m:rPr>
                            <m:lit/>
                          </m:rPr>
                          <a:rPr lang="it-IT" i="1" dirty="0">
                            <a:latin typeface="Cambria Math" panose="02040503050406030204" pitchFamily="18" charset="0"/>
                          </a:rPr>
                          <m:t>/</m:t>
                        </m:r>
                        <m:r>
                          <a:rPr lang="it-IT" i="1" dirty="0">
                            <a:latin typeface="Cambria Math" panose="02040503050406030204" pitchFamily="18" charset="0"/>
                          </a:rPr>
                          <m:t>𝐾</m:t>
                        </m:r>
                        <m:r>
                          <a:rPr lang="it-IT" b="0" i="1" dirty="0" smtClean="0">
                            <a:latin typeface="Cambria Math" panose="02040503050406030204" pitchFamily="18" charset="0"/>
                          </a:rPr>
                          <m:t>+</m:t>
                        </m:r>
                        <m:sSub>
                          <m:sSubPr>
                            <m:ctrlPr>
                              <a:rPr lang="it-IT" b="0" i="1" dirty="0" smtClean="0">
                                <a:latin typeface="Cambria Math" panose="02040503050406030204" pitchFamily="18" charset="0"/>
                              </a:rPr>
                            </m:ctrlPr>
                          </m:sSubPr>
                          <m:e>
                            <m:r>
                              <a:rPr lang="it-IT" b="0" i="1" dirty="0" smtClean="0">
                                <a:latin typeface="Cambria Math" panose="02040503050406030204" pitchFamily="18" charset="0"/>
                              </a:rPr>
                              <m:t>𝑛</m:t>
                            </m:r>
                          </m:e>
                          <m:sub>
                            <m:r>
                              <a:rPr lang="it-IT" b="0" i="1" dirty="0" smtClean="0">
                                <a:latin typeface="Cambria Math" panose="02040503050406030204" pitchFamily="18" charset="0"/>
                              </a:rPr>
                              <m:t>𝑘</m:t>
                            </m:r>
                          </m:sub>
                        </m:sSub>
                      </m:e>
                    </m:d>
                  </m:oMath>
                </a14:m>
                <a:r>
                  <a:rPr lang="it-IT" dirty="0"/>
                  <a:t> </a:t>
                </a:r>
              </a:p>
              <a:p>
                <a:pPr lvl="1"/>
                <a14:m>
                  <m:oMath xmlns:m="http://schemas.openxmlformats.org/officeDocument/2006/math">
                    <m:sSub>
                      <m:sSubPr>
                        <m:ctrlPr>
                          <a:rPr lang="it-IT" i="1" dirty="0">
                            <a:latin typeface="Cambria Math" panose="02040503050406030204" pitchFamily="18" charset="0"/>
                          </a:rPr>
                        </m:ctrlPr>
                      </m:sSubPr>
                      <m:e>
                        <m:r>
                          <a:rPr lang="it-IT" i="1" dirty="0">
                            <a:latin typeface="Cambria Math" panose="02040503050406030204" pitchFamily="18" charset="0"/>
                          </a:rPr>
                          <m:t>𝑛</m:t>
                        </m:r>
                      </m:e>
                      <m:sub>
                        <m:r>
                          <a:rPr lang="it-IT" i="1" dirty="0">
                            <a:latin typeface="Cambria Math" panose="02040503050406030204" pitchFamily="18" charset="0"/>
                          </a:rPr>
                          <m:t>𝑘</m:t>
                        </m:r>
                      </m:sub>
                    </m:sSub>
                  </m:oMath>
                </a14:m>
                <a:r>
                  <a:rPr lang="it-IT" dirty="0"/>
                  <a:t> is the number of points assigned to component </a:t>
                </a:r>
                <a14:m>
                  <m:oMath xmlns:m="http://schemas.openxmlformats.org/officeDocument/2006/math">
                    <m:r>
                      <m:rPr>
                        <m:sty m:val="p"/>
                      </m:rPr>
                      <a:rPr lang="it-IT" i="1">
                        <a:latin typeface="Cambria Math" panose="02040503050406030204" pitchFamily="18" charset="0"/>
                      </a:rPr>
                      <m:t>k</m:t>
                    </m:r>
                  </m:oMath>
                </a14:m>
                <a:r>
                  <a:rPr lang="it-IT" dirty="0"/>
                  <a:t>.</a:t>
                </a:r>
              </a:p>
              <a:p>
                <a:pPr lvl="1"/>
                <a:r>
                  <a:rPr lang="it-IT" dirty="0"/>
                  <a:t>The prior is a </a:t>
                </a:r>
                <a:r>
                  <a:rPr lang="it-IT" b="1" dirty="0"/>
                  <a:t>Dirichlet distribution </a:t>
                </a:r>
                <a:r>
                  <a:rPr lang="it-IT" dirty="0"/>
                  <a:t>with hyperparameter </a:t>
                </a:r>
                <a14:m>
                  <m:oMath xmlns:m="http://schemas.openxmlformats.org/officeDocument/2006/math">
                    <m:r>
                      <a:rPr lang="it-IT" i="1" dirty="0">
                        <a:latin typeface="Cambria Math" panose="02040503050406030204" pitchFamily="18" charset="0"/>
                      </a:rPr>
                      <m:t>𝛼</m:t>
                    </m:r>
                    <m:r>
                      <m:rPr>
                        <m:lit/>
                      </m:rPr>
                      <a:rPr lang="it-IT" i="1" dirty="0">
                        <a:latin typeface="Cambria Math" panose="02040503050406030204" pitchFamily="18" charset="0"/>
                      </a:rPr>
                      <m:t>/</m:t>
                    </m:r>
                    <m:r>
                      <a:rPr lang="it-IT" i="1" dirty="0">
                        <a:latin typeface="Cambria Math" panose="02040503050406030204" pitchFamily="18" charset="0"/>
                      </a:rPr>
                      <m:t>𝐾</m:t>
                    </m:r>
                  </m:oMath>
                </a14:m>
                <a:r>
                  <a:rPr lang="it-IT" dirty="0"/>
                  <a:t> for all components: </a:t>
                </a:r>
                <a14:m>
                  <m:oMath xmlns:m="http://schemas.openxmlformats.org/officeDocument/2006/math">
                    <m:r>
                      <a:rPr lang="it-IT" i="1">
                        <a:latin typeface="Cambria Math" panose="02040503050406030204" pitchFamily="18" charset="0"/>
                      </a:rPr>
                      <m:t>𝑝</m:t>
                    </m:r>
                    <m:d>
                      <m:dPr>
                        <m:ctrlPr>
                          <a:rPr lang="it-IT" i="1">
                            <a:latin typeface="Cambria Math" panose="02040503050406030204" pitchFamily="18" charset="0"/>
                          </a:rPr>
                        </m:ctrlPr>
                      </m:dPr>
                      <m:e>
                        <m:r>
                          <a:rPr lang="it-IT" i="1">
                            <a:latin typeface="Cambria Math" panose="02040503050406030204" pitchFamily="18" charset="0"/>
                          </a:rPr>
                          <m:t>𝒘</m:t>
                        </m:r>
                      </m:e>
                    </m:d>
                    <m:r>
                      <a:rPr lang="it-IT" b="0" i="1" smtClean="0">
                        <a:latin typeface="Cambria Math" panose="02040503050406030204" pitchFamily="18" charset="0"/>
                      </a:rPr>
                      <m:t>→</m:t>
                    </m:r>
                    <m:r>
                      <a:rPr lang="it-IT" i="1">
                        <a:latin typeface="Cambria Math" panose="02040503050406030204" pitchFamily="18" charset="0"/>
                      </a:rPr>
                      <m:t>𝑝</m:t>
                    </m:r>
                    <m:d>
                      <m:dPr>
                        <m:ctrlPr>
                          <a:rPr lang="it-IT" i="1">
                            <a:latin typeface="Cambria Math" panose="02040503050406030204" pitchFamily="18" charset="0"/>
                          </a:rPr>
                        </m:ctrlPr>
                      </m:dPr>
                      <m:e>
                        <m:r>
                          <a:rPr lang="it-IT" i="1">
                            <a:latin typeface="Cambria Math" panose="02040503050406030204" pitchFamily="18" charset="0"/>
                          </a:rPr>
                          <m:t>𝒘</m:t>
                        </m:r>
                        <m:r>
                          <a:rPr lang="it-IT" b="0" i="1" smtClean="0">
                            <a:latin typeface="Cambria Math" panose="02040503050406030204" pitchFamily="18" charset="0"/>
                          </a:rPr>
                          <m:t>|</m:t>
                        </m:r>
                        <m:r>
                          <m:rPr>
                            <m:sty m:val="p"/>
                          </m:rPr>
                          <a:rPr lang="it-IT" b="0" i="1" smtClean="0">
                            <a:latin typeface="Cambria Math" panose="02040503050406030204" pitchFamily="18" charset="0"/>
                          </a:rPr>
                          <m:t>α</m:t>
                        </m:r>
                      </m:e>
                    </m:d>
                  </m:oMath>
                </a14:m>
                <a:r>
                  <a:rPr lang="it-IT" dirty="0"/>
                  <a:t>.</a:t>
                </a:r>
              </a:p>
              <a:p>
                <a:pPr marL="457200" indent="-457200">
                  <a:buFont typeface="+mj-lt"/>
                  <a:buAutoNum type="arabicPeriod" startAt="3"/>
                </a:pPr>
                <a14:m>
                  <m:oMath xmlns:m="http://schemas.openxmlformats.org/officeDocument/2006/math">
                    <m:r>
                      <m:rPr>
                        <m:sty m:val="p"/>
                      </m:rPr>
                      <a:rPr lang="it-IT" b="0" i="1" smtClean="0">
                        <a:latin typeface="Cambria Math" panose="02040503050406030204" pitchFamily="18" charset="0"/>
                      </a:rPr>
                      <m:t>Prior</m:t>
                    </m:r>
                    <m:r>
                      <a:rPr lang="it-IT" b="0" i="1" smtClean="0">
                        <a:latin typeface="Cambria Math" panose="02040503050406030204" pitchFamily="18" charset="0"/>
                      </a:rPr>
                      <m:t>: </m:t>
                    </m:r>
                    <m:r>
                      <m:rPr>
                        <m:sty m:val="p"/>
                      </m:rPr>
                      <a:rPr lang="it-IT" i="1" smtClean="0">
                        <a:latin typeface="Cambria Math" panose="02040503050406030204" pitchFamily="18" charset="0"/>
                      </a:rPr>
                      <m:t>p</m:t>
                    </m:r>
                    <m:r>
                      <a:rPr lang="it-IT"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𝜃</m:t>
                        </m:r>
                      </m:e>
                      <m:sub>
                        <m:r>
                          <a:rPr lang="it-IT" i="1">
                            <a:latin typeface="Cambria Math" panose="02040503050406030204" pitchFamily="18" charset="0"/>
                          </a:rPr>
                          <m:t>𝑘</m:t>
                        </m:r>
                      </m:sub>
                    </m:sSub>
                    <m:r>
                      <a:rPr lang="it-IT" i="1">
                        <a:latin typeface="Cambria Math" panose="02040503050406030204" pitchFamily="18" charset="0"/>
                      </a:rPr>
                      <m:t>)=</m:t>
                    </m:r>
                    <m:r>
                      <a:rPr lang="it-IT" i="1">
                        <a:latin typeface="Cambria Math" panose="02040503050406030204" pitchFamily="18" charset="0"/>
                      </a:rPr>
                      <m:t>𝑝</m:t>
                    </m:r>
                    <m:r>
                      <a:rPr lang="it-IT" i="1">
                        <a:latin typeface="Cambria Math" panose="02040503050406030204" pitchFamily="18" charset="0"/>
                      </a:rPr>
                      <m:t>(</m:t>
                    </m:r>
                    <m:sSub>
                      <m:sSubPr>
                        <m:ctrlPr>
                          <a:rPr lang="it-IT" i="1" dirty="0">
                            <a:latin typeface="Cambria Math" panose="02040503050406030204" pitchFamily="18" charset="0"/>
                          </a:rPr>
                        </m:ctrlPr>
                      </m:sSubPr>
                      <m:e>
                        <m:r>
                          <a:rPr lang="it-IT" i="1" dirty="0">
                            <a:latin typeface="Cambria Math" panose="02040503050406030204" pitchFamily="18" charset="0"/>
                          </a:rPr>
                          <m:t>𝜇</m:t>
                        </m:r>
                      </m:e>
                      <m:sub>
                        <m:r>
                          <a:rPr lang="it-IT" i="1" dirty="0">
                            <a:latin typeface="Cambria Math" panose="02040503050406030204" pitchFamily="18" charset="0"/>
                          </a:rPr>
                          <m:t>𝑘</m:t>
                        </m:r>
                      </m:sub>
                    </m:sSub>
                    <m:r>
                      <m:rPr>
                        <m:nor/>
                      </m:rPr>
                      <a:rPr lang="it-IT" dirty="0"/>
                      <m:t>)</m:t>
                    </m:r>
                    <m:r>
                      <m:rPr>
                        <m:nor/>
                      </m:rPr>
                      <a:rPr lang="it-IT" dirty="0"/>
                      <m:t>p</m:t>
                    </m:r>
                    <m:r>
                      <m:rPr>
                        <m:nor/>
                      </m:rPr>
                      <a:rPr lang="it-IT" dirty="0"/>
                      <m:t>(</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r>
                      <m:rPr>
                        <m:nor/>
                      </m:rPr>
                      <a:rPr lang="it-IT" dirty="0"/>
                      <m:t>) </m:t>
                    </m:r>
                    <m:r>
                      <a:rPr lang="it-IT" i="1" dirty="0">
                        <a:latin typeface="Cambria Math" panose="02040503050406030204" pitchFamily="18" charset="0"/>
                      </a:rPr>
                      <m:t>∝1</m:t>
                    </m:r>
                    <m:r>
                      <m:rPr>
                        <m:lit/>
                      </m:rPr>
                      <a:rPr lang="it-IT" i="1" dirty="0">
                        <a:latin typeface="Cambria Math" panose="02040503050406030204" pitchFamily="18" charset="0"/>
                      </a:rPr>
                      <m:t>/</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r>
                      <a:rPr lang="it-IT" i="1" dirty="0">
                        <a:latin typeface="Cambria Math" panose="02040503050406030204" pitchFamily="18" charset="0"/>
                      </a:rPr>
                      <m:t> </m:t>
                    </m:r>
                    <m:r>
                      <m:rPr>
                        <m:nor/>
                      </m:rPr>
                      <a:rPr lang="it-IT" dirty="0">
                        <a:latin typeface="Cambria Math" panose="02040503050406030204" pitchFamily="18" charset="0"/>
                      </a:rPr>
                      <m:t>where</m:t>
                    </m:r>
                    <m:r>
                      <a:rPr lang="it-IT" i="1" dirty="0">
                        <a:latin typeface="Cambria Math" panose="02040503050406030204" pitchFamily="18" charset="0"/>
                      </a:rPr>
                      <m:t>  </m:t>
                    </m:r>
                    <m:r>
                      <a:rPr lang="it-IT" i="1" dirty="0">
                        <a:latin typeface="Cambria Math" panose="02040503050406030204" pitchFamily="18" charset="0"/>
                      </a:rPr>
                      <m:t>𝑝</m:t>
                    </m:r>
                    <m:d>
                      <m:dPr>
                        <m:ctrlPr>
                          <a:rPr lang="it-IT" i="1" dirty="0">
                            <a:latin typeface="Cambria Math" panose="02040503050406030204" pitchFamily="18" charset="0"/>
                          </a:rPr>
                        </m:ctrlPr>
                      </m:dPr>
                      <m:e>
                        <m:sSub>
                          <m:sSubPr>
                            <m:ctrlPr>
                              <a:rPr lang="it-IT" i="1" dirty="0">
                                <a:latin typeface="Cambria Math" panose="02040503050406030204" pitchFamily="18" charset="0"/>
                              </a:rPr>
                            </m:ctrlPr>
                          </m:sSubPr>
                          <m:e>
                            <m:r>
                              <a:rPr lang="it-IT" i="1" dirty="0">
                                <a:latin typeface="Cambria Math" panose="02040503050406030204" pitchFamily="18" charset="0"/>
                              </a:rPr>
                              <m:t>𝜇</m:t>
                            </m:r>
                          </m:e>
                          <m:sub>
                            <m:r>
                              <a:rPr lang="it-IT" i="1" dirty="0">
                                <a:latin typeface="Cambria Math" panose="02040503050406030204" pitchFamily="18" charset="0"/>
                              </a:rPr>
                              <m:t>𝑘</m:t>
                            </m:r>
                          </m:sub>
                        </m:sSub>
                      </m:e>
                    </m:d>
                    <m:r>
                      <a:rPr lang="it-IT" i="1" dirty="0">
                        <a:latin typeface="Cambria Math" panose="02040503050406030204" pitchFamily="18" charset="0"/>
                      </a:rPr>
                      <m:t>∝</m:t>
                    </m:r>
                    <m:r>
                      <a:rPr lang="it-IT" b="0" i="1" dirty="0" smtClean="0">
                        <a:latin typeface="Cambria Math" panose="02040503050406030204" pitchFamily="18" charset="0"/>
                      </a:rPr>
                      <m:t>1</m:t>
                    </m:r>
                    <m:r>
                      <a:rPr lang="it-IT" i="1" dirty="0">
                        <a:latin typeface="Cambria Math" panose="02040503050406030204" pitchFamily="18" charset="0"/>
                      </a:rPr>
                      <m:t>,</m:t>
                    </m:r>
                    <m:r>
                      <a:rPr lang="it-IT" b="0" i="1" dirty="0" smtClean="0">
                        <a:latin typeface="Cambria Math" panose="02040503050406030204" pitchFamily="18" charset="0"/>
                      </a:rPr>
                      <m:t>  </m:t>
                    </m:r>
                    <m:r>
                      <a:rPr lang="it-IT" i="1" dirty="0">
                        <a:latin typeface="Cambria Math" panose="02040503050406030204" pitchFamily="18" charset="0"/>
                      </a:rPr>
                      <m:t>𝑝</m:t>
                    </m:r>
                    <m:d>
                      <m:dPr>
                        <m:ctrlPr>
                          <a:rPr lang="it-IT" i="1" dirty="0" smtClean="0">
                            <a:latin typeface="Cambria Math" panose="02040503050406030204" pitchFamily="18" charset="0"/>
                          </a:rPr>
                        </m:ctrlPr>
                      </m:dPr>
                      <m:e>
                        <m:r>
                          <a:rPr lang="it-IT" i="1" dirty="0">
                            <a:latin typeface="Cambria Math" panose="02040503050406030204" pitchFamily="18" charset="0"/>
                          </a:rPr>
                          <m:t>𝑙𝑜𝑔</m:t>
                        </m:r>
                        <m:sSubSup>
                          <m:sSubSupPr>
                            <m:ctrlPr>
                              <a:rPr lang="it-IT" i="1" dirty="0">
                                <a:latin typeface="Cambria Math" panose="02040503050406030204" pitchFamily="18" charset="0"/>
                              </a:rPr>
                            </m:ctrlPr>
                          </m:sSubSupPr>
                          <m:e>
                            <m:r>
                              <a:rPr lang="it-IT" i="1" dirty="0">
                                <a:latin typeface="Cambria Math" panose="02040503050406030204" pitchFamily="18" charset="0"/>
                              </a:rPr>
                              <m:t>(</m:t>
                            </m:r>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r>
                          <a:rPr lang="it-IT" i="1" dirty="0">
                            <a:latin typeface="Cambria Math" panose="02040503050406030204" pitchFamily="18" charset="0"/>
                          </a:rPr>
                          <m:t>)</m:t>
                        </m:r>
                      </m:e>
                    </m:d>
                    <m:r>
                      <a:rPr lang="it-IT" i="1" dirty="0">
                        <a:latin typeface="Cambria Math" panose="02040503050406030204" pitchFamily="18" charset="0"/>
                      </a:rPr>
                      <m:t>∝ </m:t>
                    </m:r>
                    <m:r>
                      <a:rPr lang="it-IT" b="0" i="1" dirty="0" smtClean="0">
                        <a:latin typeface="Cambria Math" panose="02040503050406030204" pitchFamily="18" charset="0"/>
                      </a:rPr>
                      <m:t>1 ⇒ </m:t>
                    </m:r>
                  </m:oMath>
                </a14:m>
                <a:r>
                  <a:rPr lang="it-IT" dirty="0"/>
                  <a:t> </a:t>
                </a:r>
                <a14:m>
                  <m:oMath xmlns:m="http://schemas.openxmlformats.org/officeDocument/2006/math">
                    <m:r>
                      <m:rPr>
                        <m:nor/>
                      </m:rPr>
                      <a:rPr lang="it-IT" dirty="0"/>
                      <m:t>p</m:t>
                    </m:r>
                    <m:r>
                      <m:rPr>
                        <m:nor/>
                      </m:rPr>
                      <a:rPr lang="it-IT" dirty="0"/>
                      <m:t>(</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r>
                      <m:rPr>
                        <m:nor/>
                      </m:rPr>
                      <a:rPr lang="it-IT" dirty="0"/>
                      <m:t>) </m:t>
                    </m:r>
                    <m:r>
                      <a:rPr lang="it-IT" i="1" dirty="0">
                        <a:latin typeface="Cambria Math" panose="02040503050406030204" pitchFamily="18" charset="0"/>
                      </a:rPr>
                      <m:t>∝1</m:t>
                    </m:r>
                    <m:r>
                      <m:rPr>
                        <m:lit/>
                      </m:rPr>
                      <a:rPr lang="it-IT" i="1" dirty="0">
                        <a:latin typeface="Cambria Math" panose="02040503050406030204" pitchFamily="18" charset="0"/>
                      </a:rPr>
                      <m:t>/</m:t>
                    </m:r>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oMath>
                </a14:m>
                <a:endParaRPr lang="it-IT" dirty="0"/>
              </a:p>
              <a:p>
                <a:pPr>
                  <a:lnSpc>
                    <a:spcPct val="100000"/>
                  </a:lnSpc>
                </a:pPr>
                <a14:m>
                  <m:oMath xmlns:m="http://schemas.openxmlformats.org/officeDocument/2006/math">
                    <m:r>
                      <a:rPr lang="it-IT" sz="1800" i="1" dirty="0">
                        <a:latin typeface="Cambria Math" panose="02040503050406030204" pitchFamily="18" charset="0"/>
                      </a:rPr>
                      <m:t>𝑝</m:t>
                    </m:r>
                    <m:d>
                      <m:dPr>
                        <m:ctrlPr>
                          <a:rPr lang="it-IT" sz="1800" i="1" dirty="0">
                            <a:latin typeface="Cambria Math" panose="02040503050406030204" pitchFamily="18" charset="0"/>
                          </a:rPr>
                        </m:ctrlPr>
                      </m:dPr>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r>
                          <a:rPr lang="it-IT" sz="1800" i="1" dirty="0">
                            <a:latin typeface="Cambria Math" panose="02040503050406030204" pitchFamily="18" charset="0"/>
                          </a:rPr>
                          <m:t>,</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e>
                        <m:sSub>
                          <m:sSubPr>
                            <m:ctrlPr>
                              <a:rPr lang="it-IT" sz="1800" i="1" dirty="0">
                                <a:latin typeface="Cambria Math" panose="02040503050406030204" pitchFamily="18" charset="0"/>
                              </a:rPr>
                            </m:ctrlPr>
                          </m:sSubPr>
                          <m:e>
                            <m:r>
                              <a:rPr lang="it-IT" sz="1800" b="1" i="1" dirty="0">
                                <a:latin typeface="Cambria Math" panose="02040503050406030204" pitchFamily="18" charset="0"/>
                              </a:rPr>
                              <m:t>𝒙</m:t>
                            </m:r>
                          </m:e>
                          <m:sub>
                            <m:r>
                              <a:rPr lang="it-IT" sz="1800" i="1" dirty="0">
                                <a:latin typeface="Cambria Math" panose="02040503050406030204" pitchFamily="18" charset="0"/>
                              </a:rPr>
                              <m:t>𝑘</m:t>
                            </m:r>
                          </m:sub>
                        </m:sSub>
                      </m:e>
                    </m:d>
                    <m:r>
                      <a:rPr lang="it-IT" sz="1800" i="1" dirty="0">
                        <a:latin typeface="Cambria Math" panose="02040503050406030204" pitchFamily="18" charset="0"/>
                      </a:rPr>
                      <m:t>∝</m:t>
                    </m:r>
                    <m:r>
                      <a:rPr lang="it-IT" sz="1800" i="1" dirty="0">
                        <a:latin typeface="Cambria Math" panose="02040503050406030204" pitchFamily="18" charset="0"/>
                      </a:rPr>
                      <m:t>𝑝</m:t>
                    </m:r>
                    <m:d>
                      <m:dPr>
                        <m:ctrlPr>
                          <a:rPr lang="it-IT" sz="1800" i="1" dirty="0">
                            <a:latin typeface="Cambria Math" panose="02040503050406030204" pitchFamily="18" charset="0"/>
                          </a:rPr>
                        </m:ctrlPr>
                      </m:dPr>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e>
                    </m:d>
                    <m:r>
                      <a:rPr lang="it-IT" sz="1800" i="1" dirty="0">
                        <a:latin typeface="Cambria Math" panose="02040503050406030204" pitchFamily="18" charset="0"/>
                      </a:rPr>
                      <m:t>𝑝</m:t>
                    </m:r>
                    <m:d>
                      <m:dPr>
                        <m:ctrlPr>
                          <a:rPr lang="it-IT" sz="1800" i="1" dirty="0">
                            <a:latin typeface="Cambria Math" panose="02040503050406030204" pitchFamily="18" charset="0"/>
                          </a:rPr>
                        </m:ctrlPr>
                      </m:dPr>
                      <m:e>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d>
                    <m:r>
                      <a:rPr lang="it-IT" sz="1800" i="1" dirty="0">
                        <a:latin typeface="Cambria Math" panose="02040503050406030204" pitchFamily="18" charset="0"/>
                      </a:rPr>
                      <m:t>𝑝</m:t>
                    </m:r>
                    <m:d>
                      <m:dPr>
                        <m:ctrlPr>
                          <a:rPr lang="it-IT" sz="1800" i="1" dirty="0">
                            <a:latin typeface="Cambria Math" panose="02040503050406030204" pitchFamily="18" charset="0"/>
                          </a:rPr>
                        </m:ctrlPr>
                      </m:dPr>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𝒙</m:t>
                            </m:r>
                          </m:e>
                          <m:sub>
                            <m:r>
                              <a:rPr lang="it-IT" sz="1800" b="0" i="1" dirty="0">
                                <a:latin typeface="Cambria Math" panose="02040503050406030204" pitchFamily="18" charset="0"/>
                              </a:rPr>
                              <m:t>𝑘</m:t>
                            </m:r>
                          </m:sub>
                        </m:sSub>
                      </m:e>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r>
                          <a:rPr lang="it-IT" sz="1800" i="1" dirty="0">
                            <a:latin typeface="Cambria Math" panose="02040503050406030204" pitchFamily="18" charset="0"/>
                          </a:rPr>
                          <m:t>,</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d>
                    <m:r>
                      <a:rPr lang="it-IT" sz="1800" i="1" dirty="0">
                        <a:latin typeface="Cambria Math" panose="02040503050406030204" pitchFamily="18" charset="0"/>
                      </a:rPr>
                      <m:t>=</m:t>
                    </m:r>
                  </m:oMath>
                </a14:m>
                <a:endParaRPr lang="it-IT" sz="180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it-IT" sz="1800" i="1" dirty="0">
                          <a:latin typeface="Cambria Math" panose="02040503050406030204" pitchFamily="18" charset="0"/>
                        </a:rPr>
                        <m:t>=</m:t>
                      </m:r>
                      <m:f>
                        <m:fPr>
                          <m:ctrlPr>
                            <a:rPr lang="it-IT" sz="1800" i="1" dirty="0">
                              <a:latin typeface="Cambria Math" panose="02040503050406030204" pitchFamily="18" charset="0"/>
                            </a:rPr>
                          </m:ctrlPr>
                        </m:fPr>
                        <m:num>
                          <m:r>
                            <a:rPr lang="it-IT" sz="1800" i="1" dirty="0">
                              <a:latin typeface="Cambria Math" panose="02040503050406030204" pitchFamily="18" charset="0"/>
                            </a:rPr>
                            <m:t>1</m:t>
                          </m:r>
                        </m:num>
                        <m:den>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den>
                      </m:f>
                      <m:nary>
                        <m:naryPr>
                          <m:chr m:val="∏"/>
                          <m:ctrlPr>
                            <a:rPr lang="it-IT" sz="1800" i="1" dirty="0">
                              <a:latin typeface="Cambria Math" panose="02040503050406030204" pitchFamily="18" charset="0"/>
                            </a:rPr>
                          </m:ctrlPr>
                        </m:naryPr>
                        <m:sub>
                          <m:r>
                            <a:rPr lang="it-IT" sz="1800" i="1" dirty="0">
                              <a:latin typeface="Cambria Math" panose="02040503050406030204" pitchFamily="18" charset="0"/>
                            </a:rPr>
                            <m:t>𝑖</m:t>
                          </m:r>
                          <m:r>
                            <a:rPr lang="it-IT" sz="1800" i="1" dirty="0">
                              <a:latin typeface="Cambria Math" panose="02040503050406030204" pitchFamily="18" charset="0"/>
                            </a:rPr>
                            <m:t>=1</m:t>
                          </m:r>
                        </m:sub>
                        <m:sup>
                          <m:sSub>
                            <m:sSubPr>
                              <m:ctrlPr>
                                <a:rPr lang="it-IT" sz="1800" i="1" dirty="0">
                                  <a:latin typeface="Cambria Math" panose="02040503050406030204" pitchFamily="18" charset="0"/>
                                </a:rPr>
                              </m:ctrlPr>
                            </m:sSubPr>
                            <m:e>
                              <m:r>
                                <a:rPr lang="it-IT" sz="1800" i="1" dirty="0">
                                  <a:latin typeface="Cambria Math" panose="02040503050406030204" pitchFamily="18" charset="0"/>
                                </a:rPr>
                                <m:t>𝑛</m:t>
                              </m:r>
                            </m:e>
                            <m:sub>
                              <m:r>
                                <a:rPr lang="it-IT" sz="1800" i="1" dirty="0">
                                  <a:latin typeface="Cambria Math" panose="02040503050406030204" pitchFamily="18" charset="0"/>
                                </a:rPr>
                                <m:t>𝑘</m:t>
                              </m:r>
                            </m:sub>
                          </m:sSub>
                        </m:sup>
                        <m:e>
                          <m:f>
                            <m:fPr>
                              <m:ctrlPr>
                                <a:rPr lang="it-IT" sz="1800" i="1" dirty="0">
                                  <a:latin typeface="Cambria Math" panose="02040503050406030204" pitchFamily="18" charset="0"/>
                                </a:rPr>
                              </m:ctrlPr>
                            </m:fPr>
                            <m:num>
                              <m:r>
                                <a:rPr lang="it-IT" sz="1800" i="1" dirty="0">
                                  <a:latin typeface="Cambria Math" panose="02040503050406030204" pitchFamily="18" charset="0"/>
                                </a:rPr>
                                <m:t>1</m:t>
                              </m:r>
                            </m:num>
                            <m:den>
                              <m:rad>
                                <m:radPr>
                                  <m:degHide m:val="on"/>
                                  <m:ctrlPr>
                                    <a:rPr lang="it-IT" sz="1800" i="1" dirty="0">
                                      <a:latin typeface="Cambria Math" panose="02040503050406030204" pitchFamily="18" charset="0"/>
                                    </a:rPr>
                                  </m:ctrlPr>
                                </m:radPr>
                                <m:deg/>
                                <m:e>
                                  <m:r>
                                    <a:rPr lang="it-IT" sz="1800" i="1" dirty="0">
                                      <a:latin typeface="Cambria Math" panose="02040503050406030204" pitchFamily="18" charset="0"/>
                                    </a:rPr>
                                    <m:t>2</m:t>
                                  </m:r>
                                  <m:r>
                                    <a:rPr lang="it-IT" sz="1800" i="1" dirty="0">
                                      <a:latin typeface="Cambria Math" panose="02040503050406030204" pitchFamily="18" charset="0"/>
                                    </a:rPr>
                                    <m:t>𝜋</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rad>
                            </m:den>
                          </m:f>
                          <m:r>
                            <a:rPr lang="it-IT" sz="1800" i="1" dirty="0">
                              <a:latin typeface="Cambria Math" panose="02040503050406030204" pitchFamily="18" charset="0"/>
                            </a:rPr>
                            <m:t>𝑒𝑥𝑝</m:t>
                          </m:r>
                          <m:d>
                            <m:dPr>
                              <m:ctrlPr>
                                <a:rPr lang="it-IT" sz="1800" i="1" dirty="0">
                                  <a:latin typeface="Cambria Math" panose="02040503050406030204" pitchFamily="18" charset="0"/>
                                </a:rPr>
                              </m:ctrlPr>
                            </m:dPr>
                            <m:e>
                              <m:r>
                                <a:rPr lang="it-IT" sz="1800" i="1" dirty="0">
                                  <a:latin typeface="Cambria Math" panose="02040503050406030204" pitchFamily="18" charset="0"/>
                                </a:rPr>
                                <m:t>−</m:t>
                              </m:r>
                              <m:f>
                                <m:fPr>
                                  <m:ctrlPr>
                                    <a:rPr lang="it-IT" sz="1800" i="1" dirty="0">
                                      <a:latin typeface="Cambria Math" panose="02040503050406030204" pitchFamily="18" charset="0"/>
                                    </a:rPr>
                                  </m:ctrlPr>
                                </m:fPr>
                                <m:num>
                                  <m:r>
                                    <a:rPr lang="it-IT" sz="1800" i="1" dirty="0">
                                      <a:latin typeface="Cambria Math" panose="02040503050406030204" pitchFamily="18" charset="0"/>
                                    </a:rPr>
                                    <m:t>1</m:t>
                                  </m:r>
                                </m:num>
                                <m:den>
                                  <m:r>
                                    <a:rPr lang="it-IT" sz="1800" i="1" dirty="0">
                                      <a:latin typeface="Cambria Math" panose="02040503050406030204" pitchFamily="18" charset="0"/>
                                    </a:rPr>
                                    <m:t>2</m:t>
                                  </m:r>
                                </m:den>
                              </m:f>
                              <m:f>
                                <m:fPr>
                                  <m:ctrlPr>
                                    <a:rPr lang="it-IT" sz="1800" i="1" dirty="0">
                                      <a:latin typeface="Cambria Math" panose="02040503050406030204" pitchFamily="18" charset="0"/>
                                    </a:rPr>
                                  </m:ctrlPr>
                                </m:fPr>
                                <m:num>
                                  <m:sSup>
                                    <m:sSupPr>
                                      <m:ctrlPr>
                                        <a:rPr lang="it-IT" sz="1800" i="1" dirty="0">
                                          <a:latin typeface="Cambria Math" panose="02040503050406030204" pitchFamily="18" charset="0"/>
                                        </a:rPr>
                                      </m:ctrlPr>
                                    </m:sSupPr>
                                    <m:e>
                                      <m:d>
                                        <m:dPr>
                                          <m:ctrlPr>
                                            <a:rPr lang="it-IT" sz="1800" i="1" dirty="0">
                                              <a:latin typeface="Cambria Math" panose="02040503050406030204" pitchFamily="18" charset="0"/>
                                            </a:rPr>
                                          </m:ctrlPr>
                                        </m:dPr>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𝑥</m:t>
                                              </m:r>
                                            </m:e>
                                            <m:sub>
                                              <m:r>
                                                <a:rPr lang="it-IT" sz="1800" i="1" dirty="0">
                                                  <a:latin typeface="Cambria Math" panose="02040503050406030204" pitchFamily="18" charset="0"/>
                                                </a:rPr>
                                                <m:t>𝑘</m:t>
                                              </m:r>
                                              <m:r>
                                                <a:rPr lang="it-IT" sz="1800" i="1" dirty="0">
                                                  <a:latin typeface="Cambria Math" panose="02040503050406030204" pitchFamily="18" charset="0"/>
                                                </a:rPr>
                                                <m:t>,</m:t>
                                              </m:r>
                                              <m:r>
                                                <a:rPr lang="it-IT" sz="1800" i="1" dirty="0">
                                                  <a:latin typeface="Cambria Math" panose="02040503050406030204" pitchFamily="18" charset="0"/>
                                                </a:rPr>
                                                <m:t>𝑖</m:t>
                                              </m:r>
                                            </m:sub>
                                          </m:sSub>
                                          <m:r>
                                            <a:rPr lang="it-IT" sz="1800" i="1" dirty="0">
                                              <a:latin typeface="Cambria Math" panose="02040503050406030204" pitchFamily="18" charset="0"/>
                                            </a:rPr>
                                            <m:t>−</m:t>
                                          </m:r>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e>
                                      </m:d>
                                    </m:e>
                                    <m:sup>
                                      <m:r>
                                        <a:rPr lang="it-IT" sz="1800" i="1" dirty="0">
                                          <a:latin typeface="Cambria Math" panose="02040503050406030204" pitchFamily="18" charset="0"/>
                                        </a:rPr>
                                        <m:t>2</m:t>
                                      </m:r>
                                    </m:sup>
                                  </m:sSup>
                                </m:num>
                                <m:den>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den>
                              </m:f>
                            </m:e>
                          </m:d>
                        </m:e>
                      </m:nary>
                      <m:r>
                        <a:rPr lang="it-IT" sz="1800" i="1" dirty="0">
                          <a:latin typeface="Cambria Math" panose="02040503050406030204" pitchFamily="18" charset="0"/>
                        </a:rPr>
                        <m:t>∝</m:t>
                      </m:r>
                      <m:sSup>
                        <m:sSupPr>
                          <m:ctrlPr>
                            <a:rPr lang="it-IT" sz="1800" i="1" dirty="0">
                              <a:latin typeface="Cambria Math" panose="02040503050406030204" pitchFamily="18" charset="0"/>
                            </a:rPr>
                          </m:ctrlPr>
                        </m:sSupPr>
                        <m:e>
                          <m:d>
                            <m:dPr>
                              <m:ctrlPr>
                                <a:rPr lang="it-IT" sz="1800" i="1" dirty="0">
                                  <a:latin typeface="Cambria Math" panose="02040503050406030204" pitchFamily="18" charset="0"/>
                                </a:rPr>
                              </m:ctrlPr>
                            </m:dPr>
                            <m:e>
                              <m:sSup>
                                <m:sSupPr>
                                  <m:ctrlPr>
                                    <a:rPr lang="it-IT" sz="1800" i="1" dirty="0">
                                      <a:latin typeface="Cambria Math" panose="02040503050406030204" pitchFamily="18" charset="0"/>
                                    </a:rPr>
                                  </m:ctrlPr>
                                </m:sSupPr>
                                <m:e>
                                  <m:r>
                                    <a:rPr lang="it-IT" sz="1800" i="1" dirty="0">
                                      <a:latin typeface="Cambria Math" panose="02040503050406030204" pitchFamily="18" charset="0"/>
                                    </a:rPr>
                                    <m:t>𝜎</m:t>
                                  </m:r>
                                </m:e>
                                <m:sup>
                                  <m:r>
                                    <a:rPr lang="it-IT" sz="1800" i="1" dirty="0">
                                      <a:latin typeface="Cambria Math" panose="02040503050406030204" pitchFamily="18" charset="0"/>
                                    </a:rPr>
                                    <m:t>2</m:t>
                                  </m:r>
                                </m:sup>
                              </m:sSup>
                            </m:e>
                          </m:d>
                        </m:e>
                        <m:sup>
                          <m:r>
                            <a:rPr lang="it-IT" sz="1800" i="1" dirty="0">
                              <a:latin typeface="Cambria Math" panose="02040503050406030204" pitchFamily="18" charset="0"/>
                            </a:rPr>
                            <m:t>−</m:t>
                          </m:r>
                          <m:d>
                            <m:dPr>
                              <m:ctrlPr>
                                <a:rPr lang="it-IT" sz="1800" i="1" dirty="0">
                                  <a:latin typeface="Cambria Math" panose="02040503050406030204" pitchFamily="18" charset="0"/>
                                </a:rPr>
                              </m:ctrlPr>
                            </m:dPr>
                            <m:e>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i="1" dirty="0">
                                          <a:latin typeface="Cambria Math" panose="02040503050406030204" pitchFamily="18" charset="0"/>
                                        </a:rPr>
                                        <m:t>𝑛</m:t>
                                      </m:r>
                                    </m:e>
                                    <m:sub>
                                      <m:r>
                                        <a:rPr lang="it-IT" sz="1800" i="1" dirty="0">
                                          <a:latin typeface="Cambria Math" panose="02040503050406030204" pitchFamily="18" charset="0"/>
                                        </a:rPr>
                                        <m:t>𝑘</m:t>
                                      </m:r>
                                    </m:sub>
                                  </m:sSub>
                                </m:num>
                                <m:den>
                                  <m:r>
                                    <a:rPr lang="it-IT" sz="1800" i="1" dirty="0">
                                      <a:latin typeface="Cambria Math" panose="02040503050406030204" pitchFamily="18" charset="0"/>
                                    </a:rPr>
                                    <m:t>2</m:t>
                                  </m:r>
                                </m:den>
                              </m:f>
                              <m:r>
                                <a:rPr lang="it-IT" sz="1800" i="1" dirty="0">
                                  <a:latin typeface="Cambria Math" panose="02040503050406030204" pitchFamily="18" charset="0"/>
                                </a:rPr>
                                <m:t>+1</m:t>
                              </m:r>
                            </m:e>
                          </m:d>
                        </m:sup>
                      </m:sSup>
                      <m:r>
                        <a:rPr lang="it-IT" sz="1800" i="1" dirty="0">
                          <a:latin typeface="Cambria Math" panose="02040503050406030204" pitchFamily="18" charset="0"/>
                        </a:rPr>
                        <m:t>𝑒𝑥𝑝</m:t>
                      </m:r>
                      <m:d>
                        <m:dPr>
                          <m:ctrlPr>
                            <a:rPr lang="it-IT" sz="1800" i="1" dirty="0">
                              <a:latin typeface="Cambria Math" panose="02040503050406030204" pitchFamily="18" charset="0"/>
                            </a:rPr>
                          </m:ctrlPr>
                        </m:dPr>
                        <m:e>
                          <m:r>
                            <a:rPr lang="it-IT" sz="1800" i="1" dirty="0">
                              <a:latin typeface="Cambria Math" panose="02040503050406030204" pitchFamily="18" charset="0"/>
                            </a:rPr>
                            <m:t>−</m:t>
                          </m:r>
                          <m:f>
                            <m:fPr>
                              <m:ctrlPr>
                                <a:rPr lang="it-IT" sz="1800" i="1" dirty="0">
                                  <a:latin typeface="Cambria Math" panose="02040503050406030204" pitchFamily="18" charset="0"/>
                                </a:rPr>
                              </m:ctrlPr>
                            </m:fPr>
                            <m:num>
                              <m:r>
                                <a:rPr lang="it-IT" sz="1800" i="1" dirty="0">
                                  <a:latin typeface="Cambria Math" panose="02040503050406030204" pitchFamily="18" charset="0"/>
                                </a:rPr>
                                <m:t>1</m:t>
                              </m:r>
                            </m:num>
                            <m:den>
                              <m:r>
                                <a:rPr lang="it-IT" sz="1800" i="1" dirty="0">
                                  <a:latin typeface="Cambria Math" panose="02040503050406030204" pitchFamily="18" charset="0"/>
                                </a:rPr>
                                <m:t>2</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den>
                          </m:f>
                          <m:nary>
                            <m:naryPr>
                              <m:chr m:val="∑"/>
                              <m:ctrlPr>
                                <a:rPr lang="it-IT" sz="1800" i="1" dirty="0">
                                  <a:latin typeface="Cambria Math" panose="02040503050406030204" pitchFamily="18" charset="0"/>
                                </a:rPr>
                              </m:ctrlPr>
                            </m:naryPr>
                            <m:sub>
                              <m:r>
                                <a:rPr lang="it-IT" sz="1800" i="1" dirty="0">
                                  <a:latin typeface="Cambria Math" panose="02040503050406030204" pitchFamily="18" charset="0"/>
                                </a:rPr>
                                <m:t>𝑖</m:t>
                              </m:r>
                              <m:r>
                                <a:rPr lang="it-IT" sz="1800" i="1" dirty="0">
                                  <a:latin typeface="Cambria Math" panose="02040503050406030204" pitchFamily="18" charset="0"/>
                                </a:rPr>
                                <m:t>=1</m:t>
                              </m:r>
                            </m:sub>
                            <m:sup>
                              <m:sSub>
                                <m:sSubPr>
                                  <m:ctrlPr>
                                    <a:rPr lang="it-IT" sz="1800" i="1" dirty="0">
                                      <a:latin typeface="Cambria Math" panose="02040503050406030204" pitchFamily="18" charset="0"/>
                                    </a:rPr>
                                  </m:ctrlPr>
                                </m:sSubPr>
                                <m:e>
                                  <m:r>
                                    <a:rPr lang="it-IT" sz="1800" i="1" dirty="0">
                                      <a:latin typeface="Cambria Math" panose="02040503050406030204" pitchFamily="18" charset="0"/>
                                    </a:rPr>
                                    <m:t>𝑛</m:t>
                                  </m:r>
                                </m:e>
                                <m:sub>
                                  <m:r>
                                    <a:rPr lang="it-IT" sz="1800" i="1" dirty="0">
                                      <a:latin typeface="Cambria Math" panose="02040503050406030204" pitchFamily="18" charset="0"/>
                                    </a:rPr>
                                    <m:t>𝑘</m:t>
                                  </m:r>
                                </m:sub>
                              </m:sSub>
                            </m:sup>
                            <m:e>
                              <m:sSup>
                                <m:sSupPr>
                                  <m:ctrlPr>
                                    <a:rPr lang="it-IT" sz="1800" i="1" dirty="0">
                                      <a:latin typeface="Cambria Math" panose="02040503050406030204" pitchFamily="18" charset="0"/>
                                    </a:rPr>
                                  </m:ctrlPr>
                                </m:sSupPr>
                                <m:e>
                                  <m:d>
                                    <m:dPr>
                                      <m:ctrlPr>
                                        <a:rPr lang="it-IT" sz="1800" i="1" dirty="0">
                                          <a:latin typeface="Cambria Math" panose="02040503050406030204" pitchFamily="18" charset="0"/>
                                        </a:rPr>
                                      </m:ctrlPr>
                                    </m:dPr>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𝑥</m:t>
                                          </m:r>
                                        </m:e>
                                        <m:sub>
                                          <m:r>
                                            <a:rPr lang="it-IT" sz="1800" i="1" dirty="0">
                                              <a:latin typeface="Cambria Math" panose="02040503050406030204" pitchFamily="18" charset="0"/>
                                            </a:rPr>
                                            <m:t>𝑘</m:t>
                                          </m:r>
                                          <m:r>
                                            <a:rPr lang="it-IT" sz="1800" i="1" dirty="0">
                                              <a:latin typeface="Cambria Math" panose="02040503050406030204" pitchFamily="18" charset="0"/>
                                            </a:rPr>
                                            <m:t>,</m:t>
                                          </m:r>
                                          <m:r>
                                            <a:rPr lang="it-IT" sz="1800" i="1" dirty="0">
                                              <a:latin typeface="Cambria Math" panose="02040503050406030204" pitchFamily="18" charset="0"/>
                                            </a:rPr>
                                            <m:t>𝑖</m:t>
                                          </m:r>
                                        </m:sub>
                                      </m:sSub>
                                      <m:r>
                                        <a:rPr lang="it-IT" sz="1800" i="1" dirty="0">
                                          <a:latin typeface="Cambria Math" panose="02040503050406030204" pitchFamily="18" charset="0"/>
                                        </a:rPr>
                                        <m:t>−</m:t>
                                      </m:r>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e>
                                  </m:d>
                                </m:e>
                                <m:sup>
                                  <m:r>
                                    <a:rPr lang="it-IT" sz="1800" i="1" dirty="0">
                                      <a:latin typeface="Cambria Math" panose="02040503050406030204" pitchFamily="18" charset="0"/>
                                    </a:rPr>
                                    <m:t>2</m:t>
                                  </m:r>
                                </m:sup>
                              </m:sSup>
                            </m:e>
                          </m:nary>
                        </m:e>
                      </m:d>
                    </m:oMath>
                  </m:oMathPara>
                </a14:m>
                <a:endParaRPr lang="it-IT" sz="1800" dirty="0"/>
              </a:p>
              <a:p>
                <a:pPr marL="457200" indent="-457200">
                  <a:buFont typeface="+mj-lt"/>
                  <a:buAutoNum type="arabicPeriod"/>
                </a:pPr>
                <a:endParaRPr lang="it-IT" dirty="0"/>
              </a:p>
              <a:p>
                <a:pPr lvl="1"/>
                <a:endParaRPr lang="it-IT" dirty="0"/>
              </a:p>
            </p:txBody>
          </p:sp>
        </mc:Choice>
        <mc:Fallback xmlns="">
          <p:sp>
            <p:nvSpPr>
              <p:cNvPr id="3" name="Content Placeholder 2">
                <a:extLst>
                  <a:ext uri="{FF2B5EF4-FFF2-40B4-BE49-F238E27FC236}">
                    <a16:creationId xmlns:a16="http://schemas.microsoft.com/office/drawing/2014/main" id="{AFE3EEDD-671D-6229-9048-A6558CB383CF}"/>
                  </a:ext>
                </a:extLst>
              </p:cNvPr>
              <p:cNvSpPr>
                <a:spLocks noGrp="1" noRot="1" noChangeAspect="1" noMove="1" noResize="1" noEditPoints="1" noAdjustHandles="1" noChangeArrowheads="1" noChangeShapeType="1" noTextEdit="1"/>
              </p:cNvSpPr>
              <p:nvPr>
                <p:ph idx="1"/>
              </p:nvPr>
            </p:nvSpPr>
            <p:spPr>
              <a:xfrm>
                <a:off x="700634" y="1568196"/>
                <a:ext cx="10691265" cy="4887312"/>
              </a:xfrm>
              <a:blipFill>
                <a:blip r:embed="rId3"/>
                <a:stretch>
                  <a:fillRect l="-570"/>
                </a:stretch>
              </a:blipFill>
            </p:spPr>
            <p:txBody>
              <a:bodyPr/>
              <a:lstStyle/>
              <a:p>
                <a:r>
                  <a:rPr lang="it-IT">
                    <a:noFill/>
                  </a:rPr>
                  <a:t> </a:t>
                </a:r>
              </a:p>
            </p:txBody>
          </p:sp>
        </mc:Fallback>
      </mc:AlternateContent>
    </p:spTree>
    <p:extLst>
      <p:ext uri="{BB962C8B-B14F-4D97-AF65-F5344CB8AC3E}">
        <p14:creationId xmlns:p14="http://schemas.microsoft.com/office/powerpoint/2010/main" val="845998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2CE94-372F-AB4E-4E8B-AD223C6A5061}"/>
              </a:ext>
            </a:extLst>
          </p:cNvPr>
          <p:cNvSpPr>
            <a:spLocks noGrp="1"/>
          </p:cNvSpPr>
          <p:nvPr>
            <p:ph type="title"/>
          </p:nvPr>
        </p:nvSpPr>
        <p:spPr/>
        <p:txBody>
          <a:bodyPr/>
          <a:lstStyle/>
          <a:p>
            <a:r>
              <a:rPr lang="it-IT" dirty="0">
                <a:solidFill>
                  <a:srgbClr val="FF0000"/>
                </a:solidFill>
              </a:rPr>
              <a:t>Conditional probabilities (2/2)</a:t>
            </a:r>
            <a:endParaRPr lang="it-I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77A1DA-F677-3232-1704-F4F0AF64FEB0}"/>
                  </a:ext>
                </a:extLst>
              </p:cNvPr>
              <p:cNvSpPr>
                <a:spLocks noGrp="1"/>
              </p:cNvSpPr>
              <p:nvPr>
                <p:ph idx="1"/>
              </p:nvPr>
            </p:nvSpPr>
            <p:spPr>
              <a:xfrm>
                <a:off x="700635" y="1563077"/>
                <a:ext cx="10691265" cy="4642338"/>
              </a:xfrm>
            </p:spPr>
            <p:txBody>
              <a:bodyPr>
                <a:normAutofit/>
              </a:bodyPr>
              <a:lstStyle/>
              <a:p>
                <a:pPr>
                  <a:lnSpc>
                    <a:spcPct val="100000"/>
                  </a:lnSpc>
                </a:pPr>
                <a:r>
                  <a:rPr lang="it-IT" dirty="0">
                    <a:latin typeface="Cambria Math" panose="02040503050406030204" pitchFamily="18" charset="0"/>
                  </a:rPr>
                  <a:t>Marginalize over </a:t>
                </a:r>
                <a14:m>
                  <m:oMath xmlns:m="http://schemas.openxmlformats.org/officeDocument/2006/math">
                    <m:sSub>
                      <m:sSubPr>
                        <m:ctrlPr>
                          <a:rPr lang="it-IT" i="1" dirty="0">
                            <a:latin typeface="Cambria Math" panose="02040503050406030204" pitchFamily="18" charset="0"/>
                          </a:rPr>
                        </m:ctrlPr>
                      </m:sSubPr>
                      <m:e>
                        <m:r>
                          <a:rPr lang="it-IT" i="1" dirty="0">
                            <a:latin typeface="Cambria Math" panose="02040503050406030204" pitchFamily="18" charset="0"/>
                          </a:rPr>
                          <m:t>𝜇</m:t>
                        </m:r>
                      </m:e>
                      <m:sub>
                        <m:r>
                          <a:rPr lang="it-IT" i="1" dirty="0">
                            <a:latin typeface="Cambria Math" panose="02040503050406030204" pitchFamily="18" charset="0"/>
                          </a:rPr>
                          <m:t>𝑘</m:t>
                        </m:r>
                      </m:sub>
                    </m:sSub>
                  </m:oMath>
                </a14:m>
                <a:r>
                  <a:rPr lang="it-IT" dirty="0">
                    <a:latin typeface="Cambria Math" panose="02040503050406030204" pitchFamily="18" charset="0"/>
                  </a:rPr>
                  <a:t> </a:t>
                </a:r>
                <a:r>
                  <a:rPr lang="en-US" dirty="0"/>
                  <a:t>to obtain a distribution only in </a:t>
                </a:r>
                <a14:m>
                  <m:oMath xmlns:m="http://schemas.openxmlformats.org/officeDocument/2006/math">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oMath>
                </a14:m>
                <a:r>
                  <a:rPr lang="it-IT" dirty="0">
                    <a:latin typeface="Cambria Math" panose="02040503050406030204" pitchFamily="18" charset="0"/>
                  </a:rPr>
                  <a:t>.</a:t>
                </a:r>
              </a:p>
              <a:p>
                <a:pPr>
                  <a:lnSpc>
                    <a:spcPct val="100000"/>
                  </a:lnSpc>
                </a:pPr>
                <a14:m>
                  <m:oMath xmlns:m="http://schemas.openxmlformats.org/officeDocument/2006/math">
                    <m:m>
                      <m:mPr>
                        <m:plcHide m:val="on"/>
                        <m:mcs>
                          <m:mc>
                            <m:mcPr>
                              <m:count m:val="3"/>
                              <m:mcJc m:val="center"/>
                            </m:mcPr>
                          </m:mc>
                        </m:mcs>
                        <m:ctrlPr>
                          <a:rPr lang="it-IT" sz="1800" i="1" dirty="0" smtClean="0">
                            <a:latin typeface="Cambria Math" panose="02040503050406030204" pitchFamily="18" charset="0"/>
                          </a:rPr>
                        </m:ctrlPr>
                      </m:mPr>
                      <m:mr>
                        <m:e>
                          <m:r>
                            <a:rPr lang="it-IT" sz="1800" i="1" dirty="0">
                              <a:latin typeface="Cambria Math" panose="02040503050406030204" pitchFamily="18" charset="0"/>
                            </a:rPr>
                            <m:t>𝑝</m:t>
                          </m:r>
                          <m:d>
                            <m:dPr>
                              <m:ctrlPr>
                                <a:rPr lang="it-IT" sz="1800" i="1" dirty="0">
                                  <a:latin typeface="Cambria Math" panose="02040503050406030204" pitchFamily="18" charset="0"/>
                                </a:rPr>
                              </m:ctrlPr>
                            </m:dPr>
                            <m:e>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𝒙</m:t>
                                  </m:r>
                                </m:e>
                                <m:sub>
                                  <m:r>
                                    <a:rPr lang="it-IT" sz="1800" i="1" dirty="0">
                                      <a:latin typeface="Cambria Math" panose="02040503050406030204" pitchFamily="18" charset="0"/>
                                    </a:rPr>
                                    <m:t>𝒌</m:t>
                                  </m:r>
                                </m:sub>
                              </m:sSub>
                            </m:e>
                          </m:d>
                        </m:e>
                        <m:e>
                          <m:r>
                            <a:rPr lang="it-IT" sz="1800" b="0" i="1" dirty="0" smtClean="0">
                              <a:latin typeface="Cambria Math" panose="02040503050406030204" pitchFamily="18" charset="0"/>
                            </a:rPr>
                            <m:t>=</m:t>
                          </m:r>
                        </m:e>
                        <m:e>
                          <m:nary>
                            <m:naryPr>
                              <m:ctrlPr>
                                <a:rPr lang="it-IT" sz="1800" i="1" dirty="0">
                                  <a:latin typeface="Cambria Math" panose="02040503050406030204" pitchFamily="18" charset="0"/>
                                </a:rPr>
                              </m:ctrlPr>
                            </m:naryPr>
                            <m:sub>
                              <m:r>
                                <a:rPr lang="it-IT" sz="1800" i="1" dirty="0">
                                  <a:latin typeface="Cambria Math" panose="02040503050406030204" pitchFamily="18" charset="0"/>
                                </a:rPr>
                                <m:t>−∞</m:t>
                              </m:r>
                            </m:sub>
                            <m:sup>
                              <m:r>
                                <a:rPr lang="it-IT" sz="1800" i="1" dirty="0">
                                  <a:latin typeface="Cambria Math" panose="02040503050406030204" pitchFamily="18" charset="0"/>
                                </a:rPr>
                                <m:t>+∞</m:t>
                              </m:r>
                            </m:sup>
                            <m:e>
                              <m:r>
                                <a:rPr lang="it-IT" sz="1800" i="1" dirty="0">
                                  <a:latin typeface="Cambria Math" panose="02040503050406030204" pitchFamily="18" charset="0"/>
                                </a:rPr>
                                <m:t>𝑝</m:t>
                              </m:r>
                              <m:d>
                                <m:dPr>
                                  <m:ctrlPr>
                                    <a:rPr lang="it-IT" sz="1800" i="1" dirty="0">
                                      <a:latin typeface="Cambria Math" panose="02040503050406030204" pitchFamily="18" charset="0"/>
                                    </a:rPr>
                                  </m:ctrlPr>
                                </m:dPr>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r>
                                    <a:rPr lang="it-IT" sz="1800" i="1" dirty="0">
                                      <a:latin typeface="Cambria Math" panose="02040503050406030204" pitchFamily="18" charset="0"/>
                                    </a:rPr>
                                    <m:t>,</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𝒙</m:t>
                                      </m:r>
                                    </m:e>
                                    <m:sub>
                                      <m:r>
                                        <a:rPr lang="it-IT" sz="1800" b="0" i="1" dirty="0">
                                          <a:latin typeface="Cambria Math" panose="02040503050406030204" pitchFamily="18" charset="0"/>
                                        </a:rPr>
                                        <m:t>𝑘</m:t>
                                      </m:r>
                                    </m:sub>
                                  </m:sSub>
                                </m:e>
                              </m:d>
                              <m:r>
                                <a:rPr lang="it-IT" sz="1800" i="1" dirty="0">
                                  <a:latin typeface="Cambria Math" panose="02040503050406030204" pitchFamily="18" charset="0"/>
                                </a:rPr>
                                <m:t>𝑑</m:t>
                              </m:r>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e>
                          </m:nary>
                          <m:r>
                            <a:rPr lang="it-IT" sz="1800" i="1" dirty="0">
                              <a:latin typeface="Cambria Math" panose="02040503050406030204" pitchFamily="18" charset="0"/>
                            </a:rPr>
                            <m:t>∝</m:t>
                          </m:r>
                          <m:sSup>
                            <m:sSupPr>
                              <m:ctrlPr>
                                <a:rPr lang="it-IT" sz="1800" i="1" dirty="0">
                                  <a:latin typeface="Cambria Math" panose="02040503050406030204" pitchFamily="18" charset="0"/>
                                </a:rPr>
                              </m:ctrlPr>
                            </m:sSupPr>
                            <m:e>
                              <m:d>
                                <m:dPr>
                                  <m:ctrlPr>
                                    <a:rPr lang="it-IT" sz="1800" i="1" dirty="0">
                                      <a:latin typeface="Cambria Math" panose="02040503050406030204" pitchFamily="18" charset="0"/>
                                    </a:rPr>
                                  </m:ctrlPr>
                                </m:dPr>
                                <m:e>
                                  <m:sSup>
                                    <m:sSupPr>
                                      <m:ctrlPr>
                                        <a:rPr lang="it-IT" sz="1800" i="1" dirty="0">
                                          <a:latin typeface="Cambria Math" panose="02040503050406030204" pitchFamily="18" charset="0"/>
                                        </a:rPr>
                                      </m:ctrlPr>
                                    </m:sSupPr>
                                    <m:e>
                                      <m:r>
                                        <a:rPr lang="it-IT" sz="1800" i="1" dirty="0">
                                          <a:latin typeface="Cambria Math" panose="02040503050406030204" pitchFamily="18" charset="0"/>
                                        </a:rPr>
                                        <m:t>𝜎</m:t>
                                      </m:r>
                                    </m:e>
                                    <m:sup>
                                      <m:r>
                                        <a:rPr lang="it-IT" sz="1800" i="1" dirty="0">
                                          <a:latin typeface="Cambria Math" panose="02040503050406030204" pitchFamily="18" charset="0"/>
                                        </a:rPr>
                                        <m:t>2</m:t>
                                      </m:r>
                                    </m:sup>
                                  </m:sSup>
                                </m:e>
                              </m:d>
                            </m:e>
                            <m:sup>
                              <m:r>
                                <a:rPr lang="it-IT" sz="1800" i="1" dirty="0">
                                  <a:latin typeface="Cambria Math" panose="02040503050406030204" pitchFamily="18" charset="0"/>
                                </a:rPr>
                                <m:t>−</m:t>
                              </m:r>
                              <m:d>
                                <m:dPr>
                                  <m:ctrlPr>
                                    <a:rPr lang="it-IT" sz="1800" i="1" dirty="0">
                                      <a:latin typeface="Cambria Math" panose="02040503050406030204" pitchFamily="18" charset="0"/>
                                    </a:rPr>
                                  </m:ctrlPr>
                                </m:dPr>
                                <m:e>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i="1" dirty="0">
                                              <a:latin typeface="Cambria Math" panose="02040503050406030204" pitchFamily="18" charset="0"/>
                                            </a:rPr>
                                            <m:t>𝑛</m:t>
                                          </m:r>
                                        </m:e>
                                        <m:sub>
                                          <m:r>
                                            <a:rPr lang="it-IT" sz="1800" i="1" dirty="0">
                                              <a:latin typeface="Cambria Math" panose="02040503050406030204" pitchFamily="18" charset="0"/>
                                            </a:rPr>
                                            <m:t>𝑘</m:t>
                                          </m:r>
                                        </m:sub>
                                      </m:sSub>
                                    </m:num>
                                    <m:den>
                                      <m:r>
                                        <a:rPr lang="it-IT" sz="1800" i="1" dirty="0">
                                          <a:latin typeface="Cambria Math" panose="02040503050406030204" pitchFamily="18" charset="0"/>
                                        </a:rPr>
                                        <m:t>2</m:t>
                                      </m:r>
                                    </m:den>
                                  </m:f>
                                  <m:r>
                                    <a:rPr lang="it-IT" sz="1800" i="1" dirty="0">
                                      <a:latin typeface="Cambria Math" panose="02040503050406030204" pitchFamily="18" charset="0"/>
                                    </a:rPr>
                                    <m:t>+1</m:t>
                                  </m:r>
                                </m:e>
                              </m:d>
                            </m:sup>
                          </m:sSup>
                          <m:sSup>
                            <m:sSupPr>
                              <m:ctrlPr>
                                <a:rPr lang="it-IT" sz="1800" i="1" dirty="0">
                                  <a:latin typeface="Cambria Math" panose="02040503050406030204" pitchFamily="18" charset="0"/>
                                </a:rPr>
                              </m:ctrlPr>
                            </m:sSupPr>
                            <m:e>
                              <m:r>
                                <a:rPr lang="it-IT" sz="1800" i="1" dirty="0">
                                  <a:latin typeface="Cambria Math" panose="02040503050406030204" pitchFamily="18" charset="0"/>
                                </a:rPr>
                                <m:t>𝑒</m:t>
                              </m:r>
                            </m:e>
                            <m:sup>
                              <m:r>
                                <a:rPr lang="it-IT" sz="1800" i="1" dirty="0">
                                  <a:latin typeface="Cambria Math" panose="02040503050406030204" pitchFamily="18" charset="0"/>
                                </a:rPr>
                                <m:t>−</m:t>
                              </m:r>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i="1" dirty="0">
                                          <a:latin typeface="Cambria Math" panose="02040503050406030204" pitchFamily="18" charset="0"/>
                                        </a:rPr>
                                        <m:t>𝑆</m:t>
                                      </m:r>
                                    </m:e>
                                    <m:sub>
                                      <m:r>
                                        <a:rPr lang="it-IT" sz="1800" i="1" dirty="0">
                                          <a:latin typeface="Cambria Math" panose="02040503050406030204" pitchFamily="18" charset="0"/>
                                        </a:rPr>
                                        <m:t>𝑘</m:t>
                                      </m:r>
                                    </m:sub>
                                  </m:sSub>
                                </m:num>
                                <m:den>
                                  <m:r>
                                    <a:rPr lang="it-IT" sz="1800" i="1" dirty="0">
                                      <a:latin typeface="Cambria Math" panose="02040503050406030204" pitchFamily="18" charset="0"/>
                                    </a:rPr>
                                    <m:t>2</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den>
                              </m:f>
                              <m:r>
                                <a:rPr lang="it-IT" sz="1800" b="0" i="1" dirty="0" smtClean="0">
                                  <a:latin typeface="Cambria Math" panose="02040503050406030204" pitchFamily="18" charset="0"/>
                                </a:rPr>
                                <m:t> </m:t>
                              </m:r>
                            </m:sup>
                          </m:sSup>
                          <m:r>
                            <a:rPr lang="it-IT" sz="1800" b="0" i="1" dirty="0" smtClean="0">
                              <a:latin typeface="Cambria Math" panose="02040503050406030204" pitchFamily="18" charset="0"/>
                            </a:rPr>
                            <m:t> </m:t>
                          </m:r>
                          <m:nary>
                            <m:naryPr>
                              <m:ctrlPr>
                                <a:rPr lang="it-IT" sz="1800" i="1" dirty="0" smtClean="0">
                                  <a:latin typeface="Cambria Math" panose="02040503050406030204" pitchFamily="18" charset="0"/>
                                </a:rPr>
                              </m:ctrlPr>
                            </m:naryPr>
                            <m:sub>
                              <m:r>
                                <a:rPr lang="it-IT" sz="1800" i="1" dirty="0">
                                  <a:latin typeface="Cambria Math" panose="02040503050406030204" pitchFamily="18" charset="0"/>
                                </a:rPr>
                                <m:t>−∞</m:t>
                              </m:r>
                            </m:sub>
                            <m:sup>
                              <m:r>
                                <a:rPr lang="it-IT" sz="1800" i="1" dirty="0">
                                  <a:latin typeface="Cambria Math" panose="02040503050406030204" pitchFamily="18" charset="0"/>
                                </a:rPr>
                                <m:t>+∞</m:t>
                              </m:r>
                            </m:sup>
                            <m:e>
                              <m:r>
                                <a:rPr lang="it-IT" sz="1800" i="1" dirty="0">
                                  <a:latin typeface="Cambria Math" panose="02040503050406030204" pitchFamily="18" charset="0"/>
                                </a:rPr>
                                <m:t>𝑒𝑥𝑝</m:t>
                              </m:r>
                              <m:d>
                                <m:dPr>
                                  <m:ctrlPr>
                                    <a:rPr lang="it-IT" sz="1800" i="1" dirty="0">
                                      <a:latin typeface="Cambria Math" panose="02040503050406030204" pitchFamily="18" charset="0"/>
                                    </a:rPr>
                                  </m:ctrlPr>
                                </m:dPr>
                                <m:e>
                                  <m:r>
                                    <a:rPr lang="it-IT" sz="1800" b="0" i="1" dirty="0" smtClean="0">
                                      <a:latin typeface="Cambria Math" panose="02040503050406030204" pitchFamily="18" charset="0"/>
                                    </a:rPr>
                                    <m:t>−</m:t>
                                  </m:r>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i="1" dirty="0">
                                              <a:latin typeface="Cambria Math" panose="02040503050406030204" pitchFamily="18" charset="0"/>
                                            </a:rPr>
                                            <m:t>𝑛</m:t>
                                          </m:r>
                                        </m:e>
                                        <m:sub>
                                          <m:r>
                                            <a:rPr lang="it-IT" sz="1800" i="1" dirty="0">
                                              <a:latin typeface="Cambria Math" panose="02040503050406030204" pitchFamily="18" charset="0"/>
                                            </a:rPr>
                                            <m:t>𝑘</m:t>
                                          </m:r>
                                        </m:sub>
                                      </m:sSub>
                                    </m:num>
                                    <m:den>
                                      <m:r>
                                        <a:rPr lang="it-IT" sz="1800" i="1" dirty="0">
                                          <a:latin typeface="Cambria Math" panose="02040503050406030204" pitchFamily="18" charset="0"/>
                                        </a:rPr>
                                        <m:t>2</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den>
                                  </m:f>
                                  <m:sSup>
                                    <m:sSupPr>
                                      <m:ctrlPr>
                                        <a:rPr lang="it-IT" sz="1800" i="1" dirty="0">
                                          <a:latin typeface="Cambria Math" panose="02040503050406030204" pitchFamily="18" charset="0"/>
                                        </a:rPr>
                                      </m:ctrlPr>
                                    </m:sSupPr>
                                    <m:e>
                                      <m:d>
                                        <m:dPr>
                                          <m:ctrlPr>
                                            <a:rPr lang="it-IT" sz="1800" i="1" dirty="0">
                                              <a:latin typeface="Cambria Math" panose="02040503050406030204" pitchFamily="18" charset="0"/>
                                            </a:rPr>
                                          </m:ctrlPr>
                                        </m:dPr>
                                        <m:e>
                                          <m:sSub>
                                            <m:sSubPr>
                                              <m:ctrlPr>
                                                <a:rPr lang="it-IT" sz="1800" i="1" dirty="0">
                                                  <a:latin typeface="Cambria Math" panose="02040503050406030204" pitchFamily="18" charset="0"/>
                                                </a:rPr>
                                              </m:ctrlPr>
                                            </m:sSubPr>
                                            <m:e>
                                              <m:bar>
                                                <m:barPr>
                                                  <m:pos m:val="top"/>
                                                  <m:ctrlPr>
                                                    <a:rPr lang="it-IT" sz="1800" i="1" dirty="0">
                                                      <a:latin typeface="Cambria Math" panose="02040503050406030204" pitchFamily="18" charset="0"/>
                                                    </a:rPr>
                                                  </m:ctrlPr>
                                                </m:barPr>
                                                <m:e>
                                                  <m:r>
                                                    <a:rPr lang="it-IT" sz="1800" i="1" dirty="0">
                                                      <a:latin typeface="Cambria Math" panose="02040503050406030204" pitchFamily="18" charset="0"/>
                                                    </a:rPr>
                                                    <m:t>𝑥</m:t>
                                                  </m:r>
                                                </m:e>
                                              </m:bar>
                                            </m:e>
                                            <m:sub>
                                              <m:r>
                                                <a:rPr lang="it-IT" sz="1800" i="1" dirty="0">
                                                  <a:latin typeface="Cambria Math" panose="02040503050406030204" pitchFamily="18" charset="0"/>
                                                </a:rPr>
                                                <m:t>𝑘</m:t>
                                              </m:r>
                                            </m:sub>
                                          </m:sSub>
                                          <m:r>
                                            <a:rPr lang="it-IT" sz="1800" i="1" dirty="0">
                                              <a:latin typeface="Cambria Math" panose="02040503050406030204" pitchFamily="18" charset="0"/>
                                            </a:rPr>
                                            <m:t>−</m:t>
                                          </m:r>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e>
                                      </m:d>
                                    </m:e>
                                    <m:sup>
                                      <m:r>
                                        <a:rPr lang="it-IT" sz="1800" i="1" dirty="0">
                                          <a:latin typeface="Cambria Math" panose="02040503050406030204" pitchFamily="18" charset="0"/>
                                        </a:rPr>
                                        <m:t>2</m:t>
                                      </m:r>
                                    </m:sup>
                                  </m:sSup>
                                </m:e>
                              </m:d>
                              <m:r>
                                <a:rPr lang="it-IT" sz="1800" i="1" dirty="0">
                                  <a:latin typeface="Cambria Math" panose="02040503050406030204" pitchFamily="18" charset="0"/>
                                </a:rPr>
                                <m:t>𝑑</m:t>
                              </m:r>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e>
                          </m:nary>
                          <m:r>
                            <a:rPr lang="it-IT" sz="1800" i="1" dirty="0">
                              <a:latin typeface="Cambria Math" panose="02040503050406030204" pitchFamily="18" charset="0"/>
                            </a:rPr>
                            <m:t>∝</m:t>
                          </m:r>
                        </m:e>
                      </m:mr>
                      <m:mr>
                        <m:e/>
                        <m:e>
                          <m:r>
                            <a:rPr lang="it-IT" sz="1800" i="1" dirty="0">
                              <a:latin typeface="Cambria Math" panose="02040503050406030204" pitchFamily="18" charset="0"/>
                            </a:rPr>
                            <m:t>∝</m:t>
                          </m:r>
                        </m:e>
                        <m:e>
                          <m:sSup>
                            <m:sSupPr>
                              <m:ctrlPr>
                                <a:rPr lang="it-IT" sz="1800" i="1" dirty="0" smtClean="0">
                                  <a:latin typeface="Cambria Math" panose="02040503050406030204" pitchFamily="18" charset="0"/>
                                </a:rPr>
                              </m:ctrlPr>
                            </m:sSupPr>
                            <m:e>
                              <m:d>
                                <m:dPr>
                                  <m:ctrlPr>
                                    <a:rPr lang="it-IT" sz="1800" i="1" dirty="0">
                                      <a:latin typeface="Cambria Math" panose="02040503050406030204" pitchFamily="18" charset="0"/>
                                    </a:rPr>
                                  </m:ctrlPr>
                                </m:dPr>
                                <m:e>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d>
                            </m:e>
                            <m:sup>
                              <m:r>
                                <a:rPr lang="it-IT" sz="1800" i="1" dirty="0">
                                  <a:latin typeface="Cambria Math" panose="02040503050406030204" pitchFamily="18" charset="0"/>
                                </a:rPr>
                                <m:t>−</m:t>
                              </m:r>
                              <m:d>
                                <m:dPr>
                                  <m:ctrlPr>
                                    <a:rPr lang="it-IT" sz="1800" i="1" dirty="0">
                                      <a:latin typeface="Cambria Math" panose="02040503050406030204" pitchFamily="18" charset="0"/>
                                    </a:rPr>
                                  </m:ctrlPr>
                                </m:dPr>
                                <m:e>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i="1" dirty="0">
                                              <a:latin typeface="Cambria Math" panose="02040503050406030204" pitchFamily="18" charset="0"/>
                                            </a:rPr>
                                            <m:t>𝑛</m:t>
                                          </m:r>
                                        </m:e>
                                        <m:sub>
                                          <m:r>
                                            <a:rPr lang="it-IT" sz="1800" i="1" dirty="0">
                                              <a:latin typeface="Cambria Math" panose="02040503050406030204" pitchFamily="18" charset="0"/>
                                            </a:rPr>
                                            <m:t>𝑘</m:t>
                                          </m:r>
                                        </m:sub>
                                      </m:sSub>
                                    </m:num>
                                    <m:den>
                                      <m:r>
                                        <a:rPr lang="it-IT" sz="1800" i="1" dirty="0">
                                          <a:latin typeface="Cambria Math" panose="02040503050406030204" pitchFamily="18" charset="0"/>
                                        </a:rPr>
                                        <m:t>2</m:t>
                                      </m:r>
                                    </m:den>
                                  </m:f>
                                  <m:r>
                                    <a:rPr lang="it-IT" sz="1800" i="1" dirty="0">
                                      <a:latin typeface="Cambria Math" panose="02040503050406030204" pitchFamily="18" charset="0"/>
                                    </a:rPr>
                                    <m:t>+1</m:t>
                                  </m:r>
                                </m:e>
                              </m:d>
                            </m:sup>
                          </m:sSup>
                          <m:sSup>
                            <m:sSupPr>
                              <m:ctrlPr>
                                <a:rPr lang="it-IT" sz="1800" i="1" dirty="0">
                                  <a:latin typeface="Cambria Math" panose="02040503050406030204" pitchFamily="18" charset="0"/>
                                </a:rPr>
                              </m:ctrlPr>
                            </m:sSupPr>
                            <m:e>
                              <m:r>
                                <a:rPr lang="it-IT" sz="1800" i="1" dirty="0">
                                  <a:latin typeface="Cambria Math" panose="02040503050406030204" pitchFamily="18" charset="0"/>
                                </a:rPr>
                                <m:t>𝑒</m:t>
                              </m:r>
                            </m:e>
                            <m:sup>
                              <m:r>
                                <a:rPr lang="it-IT" sz="1800" i="1" dirty="0">
                                  <a:latin typeface="Cambria Math" panose="02040503050406030204" pitchFamily="18" charset="0"/>
                                </a:rPr>
                                <m:t>−</m:t>
                              </m:r>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i="1" dirty="0">
                                          <a:latin typeface="Cambria Math" panose="02040503050406030204" pitchFamily="18" charset="0"/>
                                        </a:rPr>
                                        <m:t>𝑆</m:t>
                                      </m:r>
                                    </m:e>
                                    <m:sub>
                                      <m:r>
                                        <a:rPr lang="it-IT" sz="1800" i="1" dirty="0">
                                          <a:latin typeface="Cambria Math" panose="02040503050406030204" pitchFamily="18" charset="0"/>
                                        </a:rPr>
                                        <m:t>𝑘</m:t>
                                      </m:r>
                                    </m:sub>
                                  </m:sSub>
                                </m:num>
                                <m:den>
                                  <m:r>
                                    <a:rPr lang="it-IT" sz="1800" i="1" dirty="0">
                                      <a:latin typeface="Cambria Math" panose="02040503050406030204" pitchFamily="18" charset="0"/>
                                    </a:rPr>
                                    <m:t>2</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den>
                              </m:f>
                            </m:sup>
                          </m:sSup>
                          <m:sSup>
                            <m:sSupPr>
                              <m:ctrlPr>
                                <a:rPr lang="it-IT" sz="1800" i="1" dirty="0">
                                  <a:latin typeface="Cambria Math" panose="02040503050406030204" pitchFamily="18" charset="0"/>
                                </a:rPr>
                              </m:ctrlPr>
                            </m:sSupPr>
                            <m:e>
                              <m:d>
                                <m:dPr>
                                  <m:ctrlPr>
                                    <a:rPr lang="it-IT" sz="1800" i="1" dirty="0">
                                      <a:latin typeface="Cambria Math" panose="02040503050406030204" pitchFamily="18" charset="0"/>
                                    </a:rPr>
                                  </m:ctrlPr>
                                </m:dPr>
                                <m:e>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d>
                            </m:e>
                            <m:sup>
                              <m:f>
                                <m:fPr>
                                  <m:ctrlPr>
                                    <a:rPr lang="it-IT" sz="1800" i="1" dirty="0">
                                      <a:latin typeface="Cambria Math" panose="02040503050406030204" pitchFamily="18" charset="0"/>
                                    </a:rPr>
                                  </m:ctrlPr>
                                </m:fPr>
                                <m:num>
                                  <m:r>
                                    <a:rPr lang="it-IT" sz="1800" i="1" dirty="0">
                                      <a:latin typeface="Cambria Math" panose="02040503050406030204" pitchFamily="18" charset="0"/>
                                    </a:rPr>
                                    <m:t>1</m:t>
                                  </m:r>
                                </m:num>
                                <m:den>
                                  <m:r>
                                    <a:rPr lang="it-IT" sz="1800" i="1" dirty="0">
                                      <a:latin typeface="Cambria Math" panose="02040503050406030204" pitchFamily="18" charset="0"/>
                                    </a:rPr>
                                    <m:t>2</m:t>
                                  </m:r>
                                </m:den>
                              </m:f>
                            </m:sup>
                          </m:sSup>
                          <m:r>
                            <a:rPr lang="it-IT" sz="1800" i="1" dirty="0">
                              <a:latin typeface="Cambria Math" panose="02040503050406030204" pitchFamily="18" charset="0"/>
                            </a:rPr>
                            <m:t>=</m:t>
                          </m:r>
                          <m:sSup>
                            <m:sSupPr>
                              <m:ctrlPr>
                                <a:rPr lang="it-IT" sz="1800" i="1" dirty="0">
                                  <a:latin typeface="Cambria Math" panose="02040503050406030204" pitchFamily="18" charset="0"/>
                                </a:rPr>
                              </m:ctrlPr>
                            </m:sSupPr>
                            <m:e>
                              <m:d>
                                <m:dPr>
                                  <m:ctrlPr>
                                    <a:rPr lang="it-IT" sz="1800" i="1" dirty="0">
                                      <a:latin typeface="Cambria Math" panose="02040503050406030204" pitchFamily="18" charset="0"/>
                                    </a:rPr>
                                  </m:ctrlPr>
                                </m:dPr>
                                <m:e>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d>
                            </m:e>
                            <m:sup>
                              <m:r>
                                <a:rPr lang="it-IT" sz="1800" i="1" dirty="0">
                                  <a:latin typeface="Cambria Math" panose="02040503050406030204" pitchFamily="18" charset="0"/>
                                </a:rPr>
                                <m:t>−</m:t>
                              </m:r>
                              <m:d>
                                <m:dPr>
                                  <m:ctrlPr>
                                    <a:rPr lang="it-IT" sz="1800" i="1" dirty="0">
                                      <a:latin typeface="Cambria Math" panose="02040503050406030204" pitchFamily="18" charset="0"/>
                                    </a:rPr>
                                  </m:ctrlPr>
                                </m:dPr>
                                <m:e>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i="1" dirty="0">
                                              <a:latin typeface="Cambria Math" panose="02040503050406030204" pitchFamily="18" charset="0"/>
                                            </a:rPr>
                                            <m:t>𝑛</m:t>
                                          </m:r>
                                        </m:e>
                                        <m:sub>
                                          <m:r>
                                            <a:rPr lang="it-IT" sz="1800" i="1" dirty="0">
                                              <a:latin typeface="Cambria Math" panose="02040503050406030204" pitchFamily="18" charset="0"/>
                                            </a:rPr>
                                            <m:t>𝑘</m:t>
                                          </m:r>
                                        </m:sub>
                                      </m:sSub>
                                      <m:r>
                                        <a:rPr lang="it-IT" sz="1800" i="1" dirty="0">
                                          <a:latin typeface="Cambria Math" panose="02040503050406030204" pitchFamily="18" charset="0"/>
                                        </a:rPr>
                                        <m:t>−1</m:t>
                                      </m:r>
                                    </m:num>
                                    <m:den>
                                      <m:r>
                                        <a:rPr lang="it-IT" sz="1800" i="1" dirty="0">
                                          <a:latin typeface="Cambria Math" panose="02040503050406030204" pitchFamily="18" charset="0"/>
                                        </a:rPr>
                                        <m:t>2</m:t>
                                      </m:r>
                                    </m:den>
                                  </m:f>
                                  <m:r>
                                    <a:rPr lang="it-IT" sz="1800" i="1" dirty="0">
                                      <a:latin typeface="Cambria Math" panose="02040503050406030204" pitchFamily="18" charset="0"/>
                                    </a:rPr>
                                    <m:t>+1</m:t>
                                  </m:r>
                                </m:e>
                              </m:d>
                            </m:sup>
                          </m:sSup>
                          <m:sSup>
                            <m:sSupPr>
                              <m:ctrlPr>
                                <a:rPr lang="it-IT" sz="1800" i="1" dirty="0" smtClean="0">
                                  <a:latin typeface="Cambria Math" panose="02040503050406030204" pitchFamily="18" charset="0"/>
                                </a:rPr>
                              </m:ctrlPr>
                            </m:sSupPr>
                            <m:e>
                              <m:r>
                                <a:rPr lang="it-IT" sz="1800" i="1" dirty="0">
                                  <a:latin typeface="Cambria Math" panose="02040503050406030204" pitchFamily="18" charset="0"/>
                                </a:rPr>
                                <m:t>𝑒</m:t>
                              </m:r>
                            </m:e>
                            <m:sup>
                              <m:r>
                                <a:rPr lang="it-IT" sz="1800" i="1" dirty="0">
                                  <a:latin typeface="Cambria Math" panose="02040503050406030204" pitchFamily="18" charset="0"/>
                                </a:rPr>
                                <m:t>−</m:t>
                              </m:r>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i="1" dirty="0">
                                          <a:latin typeface="Cambria Math" panose="02040503050406030204" pitchFamily="18" charset="0"/>
                                        </a:rPr>
                                        <m:t>𝑆</m:t>
                                      </m:r>
                                    </m:e>
                                    <m:sub>
                                      <m:r>
                                        <a:rPr lang="it-IT" sz="1800" i="1" dirty="0">
                                          <a:latin typeface="Cambria Math" panose="02040503050406030204" pitchFamily="18" charset="0"/>
                                        </a:rPr>
                                        <m:t>𝑘</m:t>
                                      </m:r>
                                    </m:sub>
                                  </m:sSub>
                                </m:num>
                                <m:den>
                                  <m:r>
                                    <a:rPr lang="it-IT" sz="1800" i="1" dirty="0">
                                      <a:latin typeface="Cambria Math" panose="02040503050406030204" pitchFamily="18" charset="0"/>
                                    </a:rPr>
                                    <m:t>2</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den>
                              </m:f>
                            </m:sup>
                          </m:sSup>
                          <m:r>
                            <a:rPr lang="it-IT" sz="1800" i="1" dirty="0" smtClean="0">
                              <a:latin typeface="Cambria Math" panose="02040503050406030204" pitchFamily="18" charset="0"/>
                            </a:rPr>
                            <m:t>∝</m:t>
                          </m:r>
                          <m:r>
                            <m:rPr>
                              <m:sty m:val="p"/>
                            </m:rPr>
                            <a:rPr lang="it-IT" sz="1800" b="1" i="1" dirty="0" smtClean="0">
                              <a:latin typeface="Cambria Math" panose="02040503050406030204" pitchFamily="18" charset="0"/>
                            </a:rPr>
                            <m:t>Inv</m:t>
                          </m:r>
                          <m:r>
                            <a:rPr lang="it-IT" sz="1800" b="1" i="1" dirty="0" smtClean="0">
                              <a:latin typeface="Cambria Math" panose="02040503050406030204" pitchFamily="18" charset="0"/>
                            </a:rPr>
                            <m:t>−</m:t>
                          </m:r>
                          <m:r>
                            <m:rPr>
                              <m:sty m:val="p"/>
                            </m:rPr>
                            <a:rPr lang="it-IT" sz="1800" b="1" i="1" dirty="0" smtClean="0">
                              <a:latin typeface="Cambria Math" panose="02040503050406030204" pitchFamily="18" charset="0"/>
                            </a:rPr>
                            <m:t>Gamma</m:t>
                          </m:r>
                          <m:r>
                            <a:rPr lang="it-IT" sz="1800" b="0" i="1" dirty="0" smtClean="0">
                              <a:latin typeface="Cambria Math" panose="02040503050406030204" pitchFamily="18" charset="0"/>
                            </a:rPr>
                            <m:t>(</m:t>
                          </m:r>
                          <m:sSubSup>
                            <m:sSubSupPr>
                              <m:ctrlPr>
                                <a:rPr lang="it-IT" sz="1800" b="0" i="1" dirty="0" smtClean="0">
                                  <a:latin typeface="Cambria Math" panose="02040503050406030204" pitchFamily="18" charset="0"/>
                                </a:rPr>
                              </m:ctrlPr>
                            </m:sSubSupPr>
                            <m:e>
                              <m:r>
                                <a:rPr lang="it-IT" sz="1800" b="0" i="1" dirty="0" smtClean="0">
                                  <a:latin typeface="Cambria Math" panose="02040503050406030204" pitchFamily="18" charset="0"/>
                                </a:rPr>
                                <m:t>𝜎</m:t>
                              </m:r>
                            </m:e>
                            <m:sub>
                              <m:r>
                                <a:rPr lang="it-IT" sz="1800" b="0" i="1" dirty="0" smtClean="0">
                                  <a:latin typeface="Cambria Math" panose="02040503050406030204" pitchFamily="18" charset="0"/>
                                </a:rPr>
                                <m:t>𝑘</m:t>
                              </m:r>
                            </m:sub>
                            <m:sup>
                              <m:r>
                                <a:rPr lang="it-IT" sz="1800" b="0" i="1" dirty="0" smtClean="0">
                                  <a:latin typeface="Cambria Math" panose="02040503050406030204" pitchFamily="18" charset="0"/>
                                </a:rPr>
                                <m:t>2</m:t>
                              </m:r>
                            </m:sup>
                          </m:sSubSup>
                          <m:r>
                            <a:rPr lang="it-IT" sz="1800" b="0" i="1" dirty="0" smtClean="0">
                              <a:latin typeface="Cambria Math" panose="02040503050406030204" pitchFamily="18" charset="0"/>
                            </a:rPr>
                            <m:t>|</m:t>
                          </m:r>
                          <m:sSub>
                            <m:sSubPr>
                              <m:ctrlPr>
                                <a:rPr lang="it-IT" sz="1800" b="0" i="1" dirty="0" smtClean="0">
                                  <a:latin typeface="Cambria Math" panose="02040503050406030204" pitchFamily="18" charset="0"/>
                                </a:rPr>
                              </m:ctrlPr>
                            </m:sSubPr>
                            <m:e>
                              <m:r>
                                <a:rPr lang="it-IT" sz="1800" b="0" i="1" dirty="0" smtClean="0">
                                  <a:latin typeface="Cambria Math" panose="02040503050406030204" pitchFamily="18" charset="0"/>
                                </a:rPr>
                                <m:t>𝛼</m:t>
                              </m:r>
                            </m:e>
                            <m:sub>
                              <m:r>
                                <a:rPr lang="it-IT" sz="1800" b="0" i="1" dirty="0" smtClean="0">
                                  <a:latin typeface="Cambria Math" panose="02040503050406030204" pitchFamily="18" charset="0"/>
                                </a:rPr>
                                <m:t>𝑘</m:t>
                              </m:r>
                            </m:sub>
                          </m:sSub>
                          <m:r>
                            <a:rPr lang="it-IT" sz="1800" b="0" i="1" dirty="0" smtClean="0">
                              <a:latin typeface="Cambria Math" panose="02040503050406030204" pitchFamily="18" charset="0"/>
                            </a:rPr>
                            <m:t>=</m:t>
                          </m:r>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b="0" i="1" dirty="0">
                                      <a:latin typeface="Cambria Math" panose="02040503050406030204" pitchFamily="18" charset="0"/>
                                    </a:rPr>
                                    <m:t>𝑛</m:t>
                                  </m:r>
                                </m:e>
                                <m:sub>
                                  <m:r>
                                    <a:rPr lang="it-IT" sz="1800" b="0" i="1" dirty="0">
                                      <a:latin typeface="Cambria Math" panose="02040503050406030204" pitchFamily="18" charset="0"/>
                                    </a:rPr>
                                    <m:t>𝑘</m:t>
                                  </m:r>
                                </m:sub>
                              </m:sSub>
                              <m:r>
                                <a:rPr lang="it-IT" sz="1800" b="0" i="1" dirty="0">
                                  <a:latin typeface="Cambria Math" panose="02040503050406030204" pitchFamily="18" charset="0"/>
                                </a:rPr>
                                <m:t>−1</m:t>
                              </m:r>
                            </m:num>
                            <m:den>
                              <m:r>
                                <a:rPr lang="it-IT" sz="1800" b="0" i="1" dirty="0">
                                  <a:latin typeface="Cambria Math" panose="02040503050406030204" pitchFamily="18" charset="0"/>
                                </a:rPr>
                                <m:t>2</m:t>
                              </m:r>
                            </m:den>
                          </m:f>
                          <m:r>
                            <a:rPr lang="it-IT" sz="1800" b="0" i="1" dirty="0" smtClean="0">
                              <a:latin typeface="Cambria Math" panose="02040503050406030204" pitchFamily="18" charset="0"/>
                            </a:rPr>
                            <m:t>, </m:t>
                          </m:r>
                          <m:sSub>
                            <m:sSubPr>
                              <m:ctrlPr>
                                <a:rPr lang="it-IT" sz="1800" b="0" i="1" dirty="0" smtClean="0">
                                  <a:latin typeface="Cambria Math" panose="02040503050406030204" pitchFamily="18" charset="0"/>
                                </a:rPr>
                              </m:ctrlPr>
                            </m:sSubPr>
                            <m:e>
                              <m:r>
                                <a:rPr lang="it-IT" sz="1800" b="0" i="1" dirty="0" smtClean="0">
                                  <a:latin typeface="Cambria Math" panose="02040503050406030204" pitchFamily="18" charset="0"/>
                                </a:rPr>
                                <m:t>𝛽</m:t>
                              </m:r>
                            </m:e>
                            <m:sub>
                              <m:r>
                                <a:rPr lang="it-IT" sz="1800" b="0" i="1" dirty="0" smtClean="0">
                                  <a:latin typeface="Cambria Math" panose="02040503050406030204" pitchFamily="18" charset="0"/>
                                </a:rPr>
                                <m:t>𝑘</m:t>
                              </m:r>
                            </m:sub>
                          </m:sSub>
                          <m:r>
                            <a:rPr lang="it-IT" sz="1800" b="0" i="1" dirty="0" smtClean="0">
                              <a:latin typeface="Cambria Math" panose="02040503050406030204" pitchFamily="18" charset="0"/>
                            </a:rPr>
                            <m:t>=</m:t>
                          </m:r>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b="0" i="1" dirty="0">
                                      <a:latin typeface="Cambria Math" panose="02040503050406030204" pitchFamily="18" charset="0"/>
                                    </a:rPr>
                                    <m:t>𝑆</m:t>
                                  </m:r>
                                </m:e>
                                <m:sub>
                                  <m:r>
                                    <a:rPr lang="it-IT" sz="1800" b="0" i="1" dirty="0">
                                      <a:latin typeface="Cambria Math" panose="02040503050406030204" pitchFamily="18" charset="0"/>
                                    </a:rPr>
                                    <m:t>𝑘</m:t>
                                  </m:r>
                                </m:sub>
                              </m:sSub>
                            </m:num>
                            <m:den>
                              <m:r>
                                <a:rPr lang="it-IT" sz="1800" b="0" i="1" dirty="0">
                                  <a:latin typeface="Cambria Math" panose="02040503050406030204" pitchFamily="18" charset="0"/>
                                </a:rPr>
                                <m:t>2</m:t>
                              </m:r>
                            </m:den>
                          </m:f>
                          <m:r>
                            <a:rPr lang="it-IT" sz="1800" b="0" i="1" dirty="0" smtClean="0">
                              <a:latin typeface="Cambria Math" panose="02040503050406030204" pitchFamily="18" charset="0"/>
                            </a:rPr>
                            <m:t>).</m:t>
                          </m:r>
                        </m:e>
                      </m:mr>
                    </m:m>
                  </m:oMath>
                </a14:m>
                <a:endParaRPr lang="it-IT" sz="1800" i="1" dirty="0">
                  <a:latin typeface="Cambria Math" panose="02040503050406030204" pitchFamily="18" charset="0"/>
                </a:endParaRPr>
              </a:p>
              <a:p>
                <a:pPr lvl="1">
                  <a:lnSpc>
                    <a:spcPct val="100000"/>
                  </a:lnSpc>
                </a:pPr>
                <a:r>
                  <a:rPr lang="it-IT" sz="1600" dirty="0">
                    <a:latin typeface="Cambria Math" panose="02040503050406030204" pitchFamily="18" charset="0"/>
                  </a:rPr>
                  <a:t>The relation used is </a:t>
                </a:r>
                <a14:m>
                  <m:oMath xmlns:m="http://schemas.openxmlformats.org/officeDocument/2006/math">
                    <m:nary>
                      <m:naryPr>
                        <m:chr m:val="∑"/>
                        <m:supHide m:val="on"/>
                        <m:ctrlPr>
                          <a:rPr lang="it-IT" sz="1600" b="0" i="1" smtClean="0">
                            <a:latin typeface="Cambria Math" panose="02040503050406030204" pitchFamily="18" charset="0"/>
                          </a:rPr>
                        </m:ctrlPr>
                      </m:naryPr>
                      <m:sub>
                        <m:r>
                          <a:rPr lang="it-IT" sz="1600" b="0" i="1" smtClean="0">
                            <a:latin typeface="Cambria Math" panose="02040503050406030204" pitchFamily="18" charset="0"/>
                          </a:rPr>
                          <m:t>𝑖</m:t>
                        </m:r>
                      </m:sub>
                      <m:sup/>
                      <m:e>
                        <m:sSup>
                          <m:sSupPr>
                            <m:ctrlPr>
                              <a:rPr lang="it-IT" sz="1600" b="0" i="1" smtClean="0">
                                <a:latin typeface="Cambria Math" panose="02040503050406030204" pitchFamily="18" charset="0"/>
                              </a:rPr>
                            </m:ctrlPr>
                          </m:sSupPr>
                          <m:e>
                            <m:d>
                              <m:dPr>
                                <m:ctrlPr>
                                  <a:rPr lang="it-IT" sz="1600" b="0" i="1" smtClean="0">
                                    <a:latin typeface="Cambria Math" panose="02040503050406030204" pitchFamily="18" charset="0"/>
                                  </a:rPr>
                                </m:ctrlPr>
                              </m:dPr>
                              <m:e>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𝑥</m:t>
                                    </m:r>
                                  </m:e>
                                  <m:sub>
                                    <m:r>
                                      <a:rPr lang="it-IT" sz="1600" b="0" i="1" smtClean="0">
                                        <a:latin typeface="Cambria Math" panose="02040503050406030204" pitchFamily="18" charset="0"/>
                                      </a:rPr>
                                      <m:t>𝑘</m:t>
                                    </m:r>
                                    <m:r>
                                      <a:rPr lang="it-IT" sz="1600" b="0" i="1" smtClean="0">
                                        <a:latin typeface="Cambria Math" panose="02040503050406030204" pitchFamily="18" charset="0"/>
                                      </a:rPr>
                                      <m:t>,</m:t>
                                    </m:r>
                                    <m:r>
                                      <a:rPr lang="it-IT" sz="1600" b="0" i="1" smtClean="0">
                                        <a:latin typeface="Cambria Math" panose="02040503050406030204" pitchFamily="18" charset="0"/>
                                      </a:rPr>
                                      <m:t>𝑖</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𝜇</m:t>
                                    </m:r>
                                  </m:e>
                                  <m:sub>
                                    <m:r>
                                      <a:rPr lang="it-IT" sz="1600" b="0" i="1" smtClean="0">
                                        <a:latin typeface="Cambria Math" panose="02040503050406030204" pitchFamily="18" charset="0"/>
                                      </a:rPr>
                                      <m:t>𝑘</m:t>
                                    </m:r>
                                  </m:sub>
                                </m:sSub>
                              </m:e>
                            </m:d>
                          </m:e>
                          <m:sup>
                            <m:r>
                              <a:rPr lang="it-IT" sz="1600" b="0" i="1" smtClean="0">
                                <a:latin typeface="Cambria Math" panose="02040503050406030204" pitchFamily="18" charset="0"/>
                              </a:rPr>
                              <m:t>2</m:t>
                            </m:r>
                          </m:sup>
                        </m:sSup>
                      </m:e>
                    </m:nary>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𝑆</m:t>
                        </m:r>
                      </m:e>
                      <m:sub>
                        <m:r>
                          <a:rPr lang="it-IT" sz="1600" b="0" i="1" smtClean="0">
                            <a:latin typeface="Cambria Math" panose="02040503050406030204" pitchFamily="18" charset="0"/>
                          </a:rPr>
                          <m:t>𝑘</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𝑛</m:t>
                        </m:r>
                      </m:e>
                      <m:sub>
                        <m:r>
                          <a:rPr lang="it-IT" sz="1600" b="0" i="1" smtClean="0">
                            <a:latin typeface="Cambria Math" panose="02040503050406030204" pitchFamily="18" charset="0"/>
                          </a:rPr>
                          <m:t>𝑘</m:t>
                        </m:r>
                      </m:sub>
                    </m:sSub>
                    <m:sSup>
                      <m:sSupPr>
                        <m:ctrlPr>
                          <a:rPr lang="it-IT" sz="1600" b="0" i="1" dirty="0" smtClean="0">
                            <a:latin typeface="Cambria Math" panose="02040503050406030204" pitchFamily="18" charset="0"/>
                          </a:rPr>
                        </m:ctrlPr>
                      </m:sSupPr>
                      <m:e>
                        <m:d>
                          <m:dPr>
                            <m:ctrlPr>
                              <a:rPr lang="it-IT" sz="1600" b="0" i="1" smtClean="0">
                                <a:latin typeface="Cambria Math" panose="02040503050406030204" pitchFamily="18" charset="0"/>
                              </a:rPr>
                            </m:ctrlPr>
                          </m:dPr>
                          <m:e>
                            <m:sSub>
                              <m:sSubPr>
                                <m:ctrlPr>
                                  <a:rPr lang="it-IT" sz="1600" i="1" dirty="0">
                                    <a:latin typeface="Cambria Math" panose="02040503050406030204" pitchFamily="18" charset="0"/>
                                  </a:rPr>
                                </m:ctrlPr>
                              </m:sSubPr>
                              <m:e>
                                <m:bar>
                                  <m:barPr>
                                    <m:pos m:val="top"/>
                                    <m:ctrlPr>
                                      <a:rPr lang="it-IT" sz="1600" i="1" dirty="0">
                                        <a:latin typeface="Cambria Math" panose="02040503050406030204" pitchFamily="18" charset="0"/>
                                      </a:rPr>
                                    </m:ctrlPr>
                                  </m:barPr>
                                  <m:e>
                                    <m:r>
                                      <a:rPr lang="it-IT" sz="1600" i="1" dirty="0">
                                        <a:latin typeface="Cambria Math" panose="02040503050406030204" pitchFamily="18" charset="0"/>
                                      </a:rPr>
                                      <m:t>𝑥</m:t>
                                    </m:r>
                                  </m:e>
                                </m:bar>
                              </m:e>
                              <m:sub>
                                <m:r>
                                  <a:rPr lang="it-IT" sz="1600" i="1" dirty="0">
                                    <a:latin typeface="Cambria Math" panose="02040503050406030204" pitchFamily="18" charset="0"/>
                                  </a:rPr>
                                  <m:t>𝑘</m:t>
                                </m:r>
                              </m:sub>
                            </m:sSub>
                            <m:r>
                              <a:rPr lang="it-IT" sz="1600" b="0" i="1" dirty="0" smtClean="0">
                                <a:latin typeface="Cambria Math" panose="02040503050406030204" pitchFamily="18" charset="0"/>
                              </a:rPr>
                              <m:t>−</m:t>
                            </m:r>
                            <m:sSub>
                              <m:sSubPr>
                                <m:ctrlPr>
                                  <a:rPr lang="it-IT" sz="1600" b="0" i="1" dirty="0" smtClean="0">
                                    <a:latin typeface="Cambria Math" panose="02040503050406030204" pitchFamily="18" charset="0"/>
                                  </a:rPr>
                                </m:ctrlPr>
                              </m:sSubPr>
                              <m:e>
                                <m:r>
                                  <a:rPr lang="it-IT" sz="1600" b="0" i="1" dirty="0" smtClean="0">
                                    <a:latin typeface="Cambria Math" panose="02040503050406030204" pitchFamily="18" charset="0"/>
                                  </a:rPr>
                                  <m:t>𝜇</m:t>
                                </m:r>
                              </m:e>
                              <m:sub>
                                <m:r>
                                  <a:rPr lang="it-IT" sz="1600" b="0" i="1" dirty="0" smtClean="0">
                                    <a:latin typeface="Cambria Math" panose="02040503050406030204" pitchFamily="18" charset="0"/>
                                  </a:rPr>
                                  <m:t>𝑘</m:t>
                                </m:r>
                              </m:sub>
                            </m:sSub>
                          </m:e>
                        </m:d>
                      </m:e>
                      <m:sup>
                        <m:r>
                          <a:rPr lang="it-IT" sz="1600" b="0" i="1" dirty="0" smtClean="0">
                            <a:latin typeface="Cambria Math" panose="02040503050406030204" pitchFamily="18" charset="0"/>
                          </a:rPr>
                          <m:t>2</m:t>
                        </m:r>
                      </m:sup>
                    </m:sSup>
                  </m:oMath>
                </a14:m>
                <a:r>
                  <a:rPr lang="it-IT" sz="1600" dirty="0">
                    <a:latin typeface="Cambria Math" panose="02040503050406030204" pitchFamily="18" charset="0"/>
                  </a:rPr>
                  <a:t>,  where  </a:t>
                </a:r>
                <a14:m>
                  <m:oMath xmlns:m="http://schemas.openxmlformats.org/officeDocument/2006/math">
                    <m:sSub>
                      <m:sSubPr>
                        <m:ctrlPr>
                          <a:rPr lang="it-IT" sz="1600" i="1" dirty="0">
                            <a:latin typeface="Cambria Math" panose="02040503050406030204" pitchFamily="18" charset="0"/>
                          </a:rPr>
                        </m:ctrlPr>
                      </m:sSubPr>
                      <m:e>
                        <m:bar>
                          <m:barPr>
                            <m:pos m:val="top"/>
                            <m:ctrlPr>
                              <a:rPr lang="it-IT" sz="1600" i="1" dirty="0">
                                <a:latin typeface="Cambria Math" panose="02040503050406030204" pitchFamily="18" charset="0"/>
                              </a:rPr>
                            </m:ctrlPr>
                          </m:barPr>
                          <m:e>
                            <m:r>
                              <a:rPr lang="it-IT" sz="1600" i="1" dirty="0">
                                <a:latin typeface="Cambria Math" panose="02040503050406030204" pitchFamily="18" charset="0"/>
                              </a:rPr>
                              <m:t>𝑥</m:t>
                            </m:r>
                          </m:e>
                        </m:bar>
                      </m:e>
                      <m:sub>
                        <m:r>
                          <a:rPr lang="it-IT" sz="1600" i="1" dirty="0">
                            <a:latin typeface="Cambria Math" panose="02040503050406030204" pitchFamily="18" charset="0"/>
                          </a:rPr>
                          <m:t>𝑘</m:t>
                        </m:r>
                      </m:sub>
                    </m:sSub>
                    <m:r>
                      <a:rPr lang="it-IT" sz="1600" b="0" i="1" dirty="0" smtClean="0">
                        <a:latin typeface="Cambria Math" panose="02040503050406030204" pitchFamily="18" charset="0"/>
                      </a:rPr>
                      <m:t>=</m:t>
                    </m:r>
                    <m:d>
                      <m:dPr>
                        <m:ctrlPr>
                          <a:rPr lang="it-IT" sz="1600" b="0" i="1" dirty="0" smtClean="0">
                            <a:latin typeface="Cambria Math" panose="02040503050406030204" pitchFamily="18" charset="0"/>
                          </a:rPr>
                        </m:ctrlPr>
                      </m:dPr>
                      <m:e>
                        <m:nary>
                          <m:naryPr>
                            <m:chr m:val="∑"/>
                            <m:supHide m:val="on"/>
                            <m:ctrlPr>
                              <a:rPr lang="it-IT" sz="1600" b="0" i="1" dirty="0" smtClean="0">
                                <a:latin typeface="Cambria Math" panose="02040503050406030204" pitchFamily="18" charset="0"/>
                              </a:rPr>
                            </m:ctrlPr>
                          </m:naryPr>
                          <m:sub>
                            <m:r>
                              <a:rPr lang="it-IT" sz="1600" b="0" i="1" dirty="0" smtClean="0">
                                <a:latin typeface="Cambria Math" panose="02040503050406030204" pitchFamily="18" charset="0"/>
                              </a:rPr>
                              <m:t>𝑖</m:t>
                            </m:r>
                          </m:sub>
                          <m:sup/>
                          <m:e>
                            <m:sSub>
                              <m:sSubPr>
                                <m:ctrlPr>
                                  <a:rPr lang="it-IT" sz="1600" b="0" i="1" dirty="0" smtClean="0">
                                    <a:latin typeface="Cambria Math" panose="02040503050406030204" pitchFamily="18" charset="0"/>
                                  </a:rPr>
                                </m:ctrlPr>
                              </m:sSubPr>
                              <m:e>
                                <m:r>
                                  <a:rPr lang="it-IT" sz="1600" b="0" i="1" dirty="0" smtClean="0">
                                    <a:latin typeface="Cambria Math" panose="02040503050406030204" pitchFamily="18" charset="0"/>
                                  </a:rPr>
                                  <m:t>𝑥</m:t>
                                </m:r>
                              </m:e>
                              <m:sub>
                                <m:r>
                                  <a:rPr lang="it-IT" sz="1600" b="0" i="1" dirty="0" smtClean="0">
                                    <a:latin typeface="Cambria Math" panose="02040503050406030204" pitchFamily="18" charset="0"/>
                                  </a:rPr>
                                  <m:t>𝑘</m:t>
                                </m:r>
                                <m:r>
                                  <a:rPr lang="it-IT" sz="1600" b="0" i="1" dirty="0" smtClean="0">
                                    <a:latin typeface="Cambria Math" panose="02040503050406030204" pitchFamily="18" charset="0"/>
                                  </a:rPr>
                                  <m:t>,</m:t>
                                </m:r>
                                <m:r>
                                  <a:rPr lang="it-IT" sz="1600" b="0" i="1" dirty="0" smtClean="0">
                                    <a:latin typeface="Cambria Math" panose="02040503050406030204" pitchFamily="18" charset="0"/>
                                  </a:rPr>
                                  <m:t>𝑖</m:t>
                                </m:r>
                              </m:sub>
                            </m:sSub>
                          </m:e>
                        </m:nary>
                      </m:e>
                    </m:d>
                    <m:r>
                      <m:rPr>
                        <m:lit/>
                      </m:rPr>
                      <a:rPr lang="it-IT" sz="1600" b="0" i="1" dirty="0" smtClean="0">
                        <a:latin typeface="Cambria Math" panose="02040503050406030204" pitchFamily="18" charset="0"/>
                      </a:rPr>
                      <m:t>/</m:t>
                    </m:r>
                    <m:sSub>
                      <m:sSubPr>
                        <m:ctrlPr>
                          <a:rPr lang="it-IT" sz="1600" b="0" i="1" dirty="0" smtClean="0">
                            <a:latin typeface="Cambria Math" panose="02040503050406030204" pitchFamily="18" charset="0"/>
                          </a:rPr>
                        </m:ctrlPr>
                      </m:sSubPr>
                      <m:e>
                        <m:r>
                          <a:rPr lang="it-IT" sz="1600" b="0" i="1" dirty="0" smtClean="0">
                            <a:latin typeface="Cambria Math" panose="02040503050406030204" pitchFamily="18" charset="0"/>
                          </a:rPr>
                          <m:t>𝑛</m:t>
                        </m:r>
                      </m:e>
                      <m:sub>
                        <m:r>
                          <a:rPr lang="it-IT" sz="1600" b="0" i="1" dirty="0" smtClean="0">
                            <a:latin typeface="Cambria Math" panose="02040503050406030204" pitchFamily="18" charset="0"/>
                          </a:rPr>
                          <m:t>𝑘</m:t>
                        </m:r>
                      </m:sub>
                    </m:sSub>
                  </m:oMath>
                </a14:m>
                <a:r>
                  <a:rPr lang="it-IT" sz="1600" dirty="0">
                    <a:latin typeface="Cambria Math" panose="02040503050406030204" pitchFamily="18" charset="0"/>
                  </a:rPr>
                  <a:t> and </a:t>
                </a:r>
                <a14:m>
                  <m:oMath xmlns:m="http://schemas.openxmlformats.org/officeDocument/2006/math">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𝑆</m:t>
                        </m:r>
                      </m:e>
                      <m:sub>
                        <m:r>
                          <a:rPr lang="it-IT" sz="1600" b="0" i="1" smtClean="0">
                            <a:latin typeface="Cambria Math" panose="02040503050406030204" pitchFamily="18" charset="0"/>
                          </a:rPr>
                          <m:t>𝑘</m:t>
                        </m:r>
                      </m:sub>
                    </m:sSub>
                    <m:r>
                      <a:rPr lang="it-IT" sz="1600" b="0" i="1" smtClean="0">
                        <a:latin typeface="Cambria Math" panose="02040503050406030204" pitchFamily="18" charset="0"/>
                      </a:rPr>
                      <m:t>=</m:t>
                    </m:r>
                    <m:nary>
                      <m:naryPr>
                        <m:chr m:val="∑"/>
                        <m:supHide m:val="on"/>
                        <m:ctrlPr>
                          <a:rPr lang="it-IT" sz="1600" i="1">
                            <a:latin typeface="Cambria Math" panose="02040503050406030204" pitchFamily="18" charset="0"/>
                          </a:rPr>
                        </m:ctrlPr>
                      </m:naryPr>
                      <m:sub>
                        <m:r>
                          <a:rPr lang="it-IT" sz="1600" i="1">
                            <a:latin typeface="Cambria Math" panose="02040503050406030204" pitchFamily="18" charset="0"/>
                          </a:rPr>
                          <m:t>𝑖</m:t>
                        </m:r>
                      </m:sub>
                      <m:sup/>
                      <m:e>
                        <m:sSup>
                          <m:sSupPr>
                            <m:ctrlPr>
                              <a:rPr lang="it-IT" sz="1600" i="1">
                                <a:latin typeface="Cambria Math" panose="02040503050406030204" pitchFamily="18" charset="0"/>
                              </a:rPr>
                            </m:ctrlPr>
                          </m:sSupPr>
                          <m:e>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i="1">
                                        <a:latin typeface="Cambria Math" panose="02040503050406030204" pitchFamily="18" charset="0"/>
                                      </a:rPr>
                                      <m:t>𝑥</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r>
                                  <a:rPr lang="it-IT" sz="1600" i="1">
                                    <a:latin typeface="Cambria Math" panose="02040503050406030204" pitchFamily="18" charset="0"/>
                                  </a:rPr>
                                  <m:t>−</m:t>
                                </m:r>
                                <m:sSub>
                                  <m:sSubPr>
                                    <m:ctrlPr>
                                      <a:rPr lang="it-IT" sz="1600" i="1" dirty="0">
                                        <a:latin typeface="Cambria Math" panose="02040503050406030204" pitchFamily="18" charset="0"/>
                                      </a:rPr>
                                    </m:ctrlPr>
                                  </m:sSubPr>
                                  <m:e>
                                    <m:bar>
                                      <m:barPr>
                                        <m:pos m:val="top"/>
                                        <m:ctrlPr>
                                          <a:rPr lang="it-IT" sz="1600" i="1" dirty="0">
                                            <a:latin typeface="Cambria Math" panose="02040503050406030204" pitchFamily="18" charset="0"/>
                                          </a:rPr>
                                        </m:ctrlPr>
                                      </m:barPr>
                                      <m:e>
                                        <m:r>
                                          <a:rPr lang="it-IT" sz="1600" i="1" dirty="0">
                                            <a:latin typeface="Cambria Math" panose="02040503050406030204" pitchFamily="18" charset="0"/>
                                          </a:rPr>
                                          <m:t>𝑥</m:t>
                                        </m:r>
                                      </m:e>
                                    </m:bar>
                                  </m:e>
                                  <m:sub>
                                    <m:r>
                                      <a:rPr lang="it-IT" sz="1600" i="1" dirty="0">
                                        <a:latin typeface="Cambria Math" panose="02040503050406030204" pitchFamily="18" charset="0"/>
                                      </a:rPr>
                                      <m:t>𝑘</m:t>
                                    </m:r>
                                  </m:sub>
                                </m:sSub>
                              </m:e>
                            </m:d>
                          </m:e>
                          <m:sup>
                            <m:r>
                              <a:rPr lang="it-IT" sz="1600" i="1">
                                <a:latin typeface="Cambria Math" panose="02040503050406030204" pitchFamily="18" charset="0"/>
                              </a:rPr>
                              <m:t>2</m:t>
                            </m:r>
                          </m:sup>
                        </m:sSup>
                      </m:e>
                    </m:nary>
                  </m:oMath>
                </a14:m>
                <a:r>
                  <a:rPr lang="it-IT" sz="1800" dirty="0"/>
                  <a:t>.</a:t>
                </a:r>
              </a:p>
              <a:p>
                <a:pPr>
                  <a:lnSpc>
                    <a:spcPct val="100000"/>
                  </a:lnSpc>
                </a:pPr>
                <a:r>
                  <a:rPr lang="it-IT" dirty="0"/>
                  <a:t>Once </a:t>
                </a:r>
                <a14:m>
                  <m:oMath xmlns:m="http://schemas.openxmlformats.org/officeDocument/2006/math">
                    <m:sSubSup>
                      <m:sSubSupPr>
                        <m:ctrlPr>
                          <a:rPr lang="it-IT" i="1" dirty="0">
                            <a:latin typeface="Cambria Math" panose="02040503050406030204" pitchFamily="18" charset="0"/>
                          </a:rPr>
                        </m:ctrlPr>
                      </m:sSubSupPr>
                      <m:e>
                        <m:r>
                          <a:rPr lang="it-IT" i="1" dirty="0">
                            <a:latin typeface="Cambria Math" panose="02040503050406030204" pitchFamily="18" charset="0"/>
                          </a:rPr>
                          <m:t>𝜎</m:t>
                        </m:r>
                      </m:e>
                      <m:sub>
                        <m:r>
                          <a:rPr lang="it-IT" i="1" dirty="0">
                            <a:latin typeface="Cambria Math" panose="02040503050406030204" pitchFamily="18" charset="0"/>
                          </a:rPr>
                          <m:t>𝑘</m:t>
                        </m:r>
                      </m:sub>
                      <m:sup>
                        <m:r>
                          <a:rPr lang="it-IT" i="1" dirty="0">
                            <a:latin typeface="Cambria Math" panose="02040503050406030204" pitchFamily="18" charset="0"/>
                          </a:rPr>
                          <m:t>2</m:t>
                        </m:r>
                      </m:sup>
                    </m:sSubSup>
                  </m:oMath>
                </a14:m>
                <a:r>
                  <a:rPr lang="it-IT" dirty="0"/>
                  <a:t> is sampled, sample </a:t>
                </a:r>
                <a14:m>
                  <m:oMath xmlns:m="http://schemas.openxmlformats.org/officeDocument/2006/math">
                    <m:sSub>
                      <m:sSubPr>
                        <m:ctrlPr>
                          <a:rPr lang="it-IT" i="1" dirty="0">
                            <a:latin typeface="Cambria Math" panose="02040503050406030204" pitchFamily="18" charset="0"/>
                          </a:rPr>
                        </m:ctrlPr>
                      </m:sSubPr>
                      <m:e>
                        <m:r>
                          <a:rPr lang="it-IT" i="1" dirty="0">
                            <a:latin typeface="Cambria Math" panose="02040503050406030204" pitchFamily="18" charset="0"/>
                          </a:rPr>
                          <m:t>𝜇</m:t>
                        </m:r>
                      </m:e>
                      <m:sub>
                        <m:r>
                          <a:rPr lang="it-IT" i="1" dirty="0">
                            <a:latin typeface="Cambria Math" panose="02040503050406030204" pitchFamily="18" charset="0"/>
                          </a:rPr>
                          <m:t>𝑘</m:t>
                        </m:r>
                      </m:sub>
                    </m:sSub>
                  </m:oMath>
                </a14:m>
                <a:r>
                  <a:rPr lang="it-IT" dirty="0"/>
                  <a:t> from its conditional distribution:</a:t>
                </a:r>
              </a:p>
              <a:p>
                <a:pPr lvl="1">
                  <a:lnSpc>
                    <a:spcPct val="100000"/>
                  </a:lnSpc>
                </a:pPr>
                <a14:m>
                  <m:oMath xmlns:m="http://schemas.openxmlformats.org/officeDocument/2006/math">
                    <m:r>
                      <a:rPr lang="it-IT" i="1" smtClean="0">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𝑘</m:t>
                            </m:r>
                          </m:sub>
                        </m:sSub>
                      </m:e>
                      <m:e>
                        <m:sSubSup>
                          <m:sSubSupPr>
                            <m:ctrlPr>
                              <a:rPr lang="it-IT" i="1">
                                <a:latin typeface="Cambria Math" panose="02040503050406030204" pitchFamily="18" charset="0"/>
                              </a:rPr>
                            </m:ctrlPr>
                          </m:sSubSupPr>
                          <m:e>
                            <m:r>
                              <a:rPr lang="it-IT" i="1">
                                <a:latin typeface="Cambria Math" panose="02040503050406030204" pitchFamily="18" charset="0"/>
                              </a:rPr>
                              <m:t>𝜎</m:t>
                            </m:r>
                          </m:e>
                          <m:sub>
                            <m:r>
                              <a:rPr lang="it-IT" i="1">
                                <a:latin typeface="Cambria Math" panose="02040503050406030204" pitchFamily="18" charset="0"/>
                              </a:rPr>
                              <m:t>𝑘</m:t>
                            </m:r>
                          </m:sub>
                          <m:sup>
                            <m:r>
                              <a:rPr lang="it-IT" i="1">
                                <a:latin typeface="Cambria Math" panose="02040503050406030204" pitchFamily="18" charset="0"/>
                              </a:rPr>
                              <m:t>2</m:t>
                            </m:r>
                          </m:sup>
                        </m:sSubSup>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𝒙</m:t>
                            </m:r>
                          </m:e>
                          <m:sub>
                            <m:r>
                              <a:rPr lang="it-IT" b="0" i="1">
                                <a:latin typeface="Cambria Math" panose="02040503050406030204" pitchFamily="18" charset="0"/>
                              </a:rPr>
                              <m:t>𝑘</m:t>
                            </m:r>
                          </m:sub>
                        </m:sSub>
                      </m:e>
                    </m:d>
                    <m:r>
                      <a:rPr lang="it-IT" i="1">
                        <a:latin typeface="Cambria Math" panose="02040503050406030204" pitchFamily="18" charset="0"/>
                      </a:rPr>
                      <m:t>∝</m:t>
                    </m:r>
                    <m:r>
                      <a:rPr lang="it-IT" i="1">
                        <a:latin typeface="Cambria Math" panose="02040503050406030204" pitchFamily="18" charset="0"/>
                      </a:rPr>
                      <m:t>𝑒𝑥𝑝</m:t>
                    </m:r>
                    <m:d>
                      <m:dPr>
                        <m:ctrlPr>
                          <a:rPr lang="it-IT" i="1">
                            <a:latin typeface="Cambria Math" panose="02040503050406030204" pitchFamily="18" charset="0"/>
                          </a:rPr>
                        </m:ctrlPr>
                      </m:dPr>
                      <m:e>
                        <m:r>
                          <a:rPr lang="it-IT" b="0" i="1"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sub>
                            </m:sSub>
                          </m:num>
                          <m:den>
                            <m:r>
                              <a:rPr lang="it-IT" i="1">
                                <a:latin typeface="Cambria Math" panose="02040503050406030204" pitchFamily="18" charset="0"/>
                              </a:rPr>
                              <m:t>2</m:t>
                            </m:r>
                            <m:sSubSup>
                              <m:sSubSupPr>
                                <m:ctrlPr>
                                  <a:rPr lang="it-IT" i="1">
                                    <a:latin typeface="Cambria Math" panose="02040503050406030204" pitchFamily="18" charset="0"/>
                                  </a:rPr>
                                </m:ctrlPr>
                              </m:sSubSupPr>
                              <m:e>
                                <m:r>
                                  <a:rPr lang="it-IT" i="1">
                                    <a:latin typeface="Cambria Math" panose="02040503050406030204" pitchFamily="18" charset="0"/>
                                  </a:rPr>
                                  <m:t>𝜎</m:t>
                                </m:r>
                              </m:e>
                              <m:sub>
                                <m:r>
                                  <a:rPr lang="it-IT" i="1">
                                    <a:latin typeface="Cambria Math" panose="02040503050406030204" pitchFamily="18" charset="0"/>
                                  </a:rPr>
                                  <m:t>𝑘</m:t>
                                </m:r>
                              </m:sub>
                              <m:sup>
                                <m:r>
                                  <a:rPr lang="it-IT" i="1">
                                    <a:latin typeface="Cambria Math" panose="02040503050406030204" pitchFamily="18" charset="0"/>
                                  </a:rPr>
                                  <m:t>2</m:t>
                                </m:r>
                              </m:sup>
                            </m:sSubSup>
                          </m:den>
                        </m:f>
                        <m:sSup>
                          <m:sSupPr>
                            <m:ctrlPr>
                              <a:rPr lang="it-IT" i="1">
                                <a:latin typeface="Cambria Math" panose="02040503050406030204" pitchFamily="18" charset="0"/>
                              </a:rPr>
                            </m:ctrlPr>
                          </m:sSupPr>
                          <m:e>
                            <m:d>
                              <m:dPr>
                                <m:ctrlPr>
                                  <a:rPr lang="it-IT" i="1">
                                    <a:latin typeface="Cambria Math" panose="02040503050406030204" pitchFamily="18" charset="0"/>
                                  </a:rPr>
                                </m:ctrlPr>
                              </m:dPr>
                              <m:e>
                                <m:sSub>
                                  <m:sSubPr>
                                    <m:ctrlPr>
                                      <a:rPr lang="it-IT" i="1">
                                        <a:latin typeface="Cambria Math" panose="02040503050406030204" pitchFamily="18" charset="0"/>
                                      </a:rPr>
                                    </m:ctrlPr>
                                  </m:sSubPr>
                                  <m:e>
                                    <m:bar>
                                      <m:barPr>
                                        <m:pos m:val="top"/>
                                        <m:ctrlPr>
                                          <a:rPr lang="it-IT" i="1">
                                            <a:latin typeface="Cambria Math" panose="02040503050406030204" pitchFamily="18" charset="0"/>
                                          </a:rPr>
                                        </m:ctrlPr>
                                      </m:barPr>
                                      <m:e>
                                        <m:r>
                                          <a:rPr lang="it-IT" i="1">
                                            <a:latin typeface="Cambria Math" panose="02040503050406030204" pitchFamily="18" charset="0"/>
                                          </a:rPr>
                                          <m:t>𝑥</m:t>
                                        </m:r>
                                      </m:e>
                                    </m:bar>
                                  </m:e>
                                  <m:sub>
                                    <m:r>
                                      <a:rPr lang="it-IT" i="1">
                                        <a:latin typeface="Cambria Math" panose="02040503050406030204" pitchFamily="18" charset="0"/>
                                      </a:rPr>
                                      <m:t>𝑘</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𝑘</m:t>
                                    </m:r>
                                  </m:sub>
                                </m:sSub>
                              </m:e>
                            </m:d>
                          </m:e>
                          <m:sup>
                            <m:r>
                              <a:rPr lang="it-IT" i="1">
                                <a:latin typeface="Cambria Math" panose="02040503050406030204" pitchFamily="18" charset="0"/>
                              </a:rPr>
                              <m:t>2</m:t>
                            </m:r>
                          </m:sup>
                        </m:sSup>
                      </m:e>
                    </m:d>
                    <m:r>
                      <a:rPr lang="it-IT" i="1">
                        <a:latin typeface="Cambria Math" panose="02040503050406030204" pitchFamily="18" charset="0"/>
                      </a:rPr>
                      <m:t>∝</m:t>
                    </m:r>
                    <m:r>
                      <a:rPr lang="it-IT" i="1">
                        <a:latin typeface="Cambria Math" panose="02040503050406030204" pitchFamily="18" charset="0"/>
                      </a:rPr>
                      <m:t>𝒩</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𝑘</m:t>
                            </m:r>
                          </m:sub>
                        </m:sSub>
                      </m:e>
                      <m:e>
                        <m:sSub>
                          <m:sSubPr>
                            <m:ctrlPr>
                              <a:rPr lang="it-IT" i="1">
                                <a:latin typeface="Cambria Math" panose="02040503050406030204" pitchFamily="18" charset="0"/>
                              </a:rPr>
                            </m:ctrlPr>
                          </m:sSubPr>
                          <m:e>
                            <m:bar>
                              <m:barPr>
                                <m:pos m:val="top"/>
                                <m:ctrlPr>
                                  <a:rPr lang="it-IT" i="1">
                                    <a:latin typeface="Cambria Math" panose="02040503050406030204" pitchFamily="18" charset="0"/>
                                  </a:rPr>
                                </m:ctrlPr>
                              </m:barPr>
                              <m:e>
                                <m:r>
                                  <a:rPr lang="it-IT" i="1">
                                    <a:latin typeface="Cambria Math" panose="02040503050406030204" pitchFamily="18" charset="0"/>
                                  </a:rPr>
                                  <m:t>𝑥</m:t>
                                </m:r>
                              </m:e>
                            </m:bar>
                          </m:e>
                          <m:sub>
                            <m:r>
                              <a:rPr lang="it-IT" i="1">
                                <a:latin typeface="Cambria Math" panose="02040503050406030204" pitchFamily="18" charset="0"/>
                              </a:rPr>
                              <m:t>𝑘</m:t>
                            </m:r>
                          </m:sub>
                        </m:sSub>
                        <m:r>
                          <a:rPr lang="it-IT" i="1">
                            <a:latin typeface="Cambria Math" panose="02040503050406030204" pitchFamily="18" charset="0"/>
                          </a:rPr>
                          <m:t>,</m:t>
                        </m:r>
                        <m:sSubSup>
                          <m:sSubSupPr>
                            <m:ctrlPr>
                              <a:rPr lang="it-IT" i="1">
                                <a:latin typeface="Cambria Math" panose="02040503050406030204" pitchFamily="18" charset="0"/>
                              </a:rPr>
                            </m:ctrlPr>
                          </m:sSubSupPr>
                          <m:e>
                            <m:r>
                              <a:rPr lang="it-IT" i="1">
                                <a:latin typeface="Cambria Math" panose="02040503050406030204" pitchFamily="18" charset="0"/>
                              </a:rPr>
                              <m:t>𝜎</m:t>
                            </m:r>
                          </m:e>
                          <m:sub>
                            <m:r>
                              <a:rPr lang="it-IT" i="1">
                                <a:latin typeface="Cambria Math" panose="02040503050406030204" pitchFamily="18" charset="0"/>
                              </a:rPr>
                              <m:t>𝑘</m:t>
                            </m:r>
                          </m:sub>
                          <m:sup>
                            <m:r>
                              <a:rPr lang="it-IT" i="1">
                                <a:latin typeface="Cambria Math" panose="02040503050406030204" pitchFamily="18" charset="0"/>
                              </a:rPr>
                              <m:t>2</m:t>
                            </m:r>
                          </m:sup>
                        </m:sSubSup>
                        <m:r>
                          <m:rPr>
                            <m:lit/>
                          </m:rP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sub>
                        </m:sSub>
                      </m:e>
                    </m:d>
                  </m:oMath>
                </a14:m>
                <a:endParaRPr lang="it-IT" dirty="0"/>
              </a:p>
              <a:p>
                <a:pPr marL="0" indent="0">
                  <a:lnSpc>
                    <a:spcPct val="150000"/>
                  </a:lnSpc>
                  <a:buNone/>
                </a:pPr>
                <a14:m>
                  <m:oMathPara xmlns:m="http://schemas.openxmlformats.org/officeDocument/2006/math">
                    <m:oMathParaPr>
                      <m:jc m:val="left"/>
                    </m:oMathParaPr>
                    <m:oMath xmlns:m="http://schemas.openxmlformats.org/officeDocument/2006/math">
                      <m:r>
                        <a:rPr lang="it-IT" sz="1800" b="0" i="1" dirty="0" smtClean="0">
                          <a:latin typeface="Cambria Math" panose="02040503050406030204" pitchFamily="18" charset="0"/>
                        </a:rPr>
                        <m:t>⇒</m:t>
                      </m:r>
                      <m:r>
                        <a:rPr lang="it-IT" sz="1800" i="1" dirty="0">
                          <a:latin typeface="Cambria Math" panose="02040503050406030204" pitchFamily="18" charset="0"/>
                        </a:rPr>
                        <m:t>𝑝</m:t>
                      </m:r>
                      <m:d>
                        <m:dPr>
                          <m:ctrlPr>
                            <a:rPr lang="it-IT" sz="1800" i="1" dirty="0">
                              <a:latin typeface="Cambria Math" panose="02040503050406030204" pitchFamily="18" charset="0"/>
                            </a:rPr>
                          </m:ctrlPr>
                        </m:dPr>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𝜇</m:t>
                              </m:r>
                            </m:e>
                            <m:sub>
                              <m:r>
                                <a:rPr lang="it-IT" sz="1800" i="1" dirty="0">
                                  <a:latin typeface="Cambria Math" panose="02040503050406030204" pitchFamily="18" charset="0"/>
                                </a:rPr>
                                <m:t>𝑘</m:t>
                              </m:r>
                            </m:sub>
                          </m:sSub>
                          <m:r>
                            <a:rPr lang="it-IT" sz="1800" i="1" dirty="0">
                              <a:latin typeface="Cambria Math" panose="02040503050406030204" pitchFamily="18" charset="0"/>
                            </a:rPr>
                            <m:t>,</m:t>
                          </m:r>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e>
                          <m:sSub>
                            <m:sSubPr>
                              <m:ctrlPr>
                                <a:rPr lang="it-IT" sz="1800" i="1" dirty="0">
                                  <a:latin typeface="Cambria Math" panose="02040503050406030204" pitchFamily="18" charset="0"/>
                                </a:rPr>
                              </m:ctrlPr>
                            </m:sSubPr>
                            <m:e>
                              <m:r>
                                <a:rPr lang="it-IT" sz="1800" b="1" i="1" dirty="0">
                                  <a:latin typeface="Cambria Math" panose="02040503050406030204" pitchFamily="18" charset="0"/>
                                </a:rPr>
                                <m:t>𝒙</m:t>
                              </m:r>
                            </m:e>
                            <m:sub>
                              <m:r>
                                <a:rPr lang="it-IT" sz="1800" i="1" dirty="0">
                                  <a:latin typeface="Cambria Math" panose="02040503050406030204" pitchFamily="18" charset="0"/>
                                </a:rPr>
                                <m:t>𝑘</m:t>
                              </m:r>
                            </m:sub>
                          </m:sSub>
                        </m:e>
                      </m:d>
                      <m:r>
                        <a:rPr lang="it-IT" sz="1800" b="0" i="1" dirty="0" smtClean="0">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b="0" i="1">
                                  <a:latin typeface="Cambria Math" panose="02040503050406030204" pitchFamily="18" charset="0"/>
                                </a:rPr>
                                <m:t>𝑘</m:t>
                              </m:r>
                            </m:sub>
                          </m:sSub>
                        </m:e>
                      </m:d>
                      <m:r>
                        <a:rPr lang="it-IT" sz="1800" i="1" dirty="0">
                          <a:latin typeface="Cambria Math" panose="02040503050406030204" pitchFamily="18" charset="0"/>
                        </a:rPr>
                        <m:t>𝑝</m:t>
                      </m:r>
                      <m:d>
                        <m:dPr>
                          <m:ctrlPr>
                            <a:rPr lang="it-IT" sz="1800" i="1" dirty="0">
                              <a:latin typeface="Cambria Math" panose="02040503050406030204" pitchFamily="18" charset="0"/>
                            </a:rPr>
                          </m:ctrlPr>
                        </m:dPr>
                        <m:e>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e>
                          <m:sSub>
                            <m:sSubPr>
                              <m:ctrlPr>
                                <a:rPr lang="it-IT" sz="1800" i="1" dirty="0">
                                  <a:latin typeface="Cambria Math" panose="02040503050406030204" pitchFamily="18" charset="0"/>
                                </a:rPr>
                              </m:ctrlPr>
                            </m:sSubPr>
                            <m:e>
                              <m:r>
                                <a:rPr lang="it-IT" sz="1800" i="1" dirty="0">
                                  <a:latin typeface="Cambria Math" panose="02040503050406030204" pitchFamily="18" charset="0"/>
                                </a:rPr>
                                <m:t>𝒙</m:t>
                              </m:r>
                            </m:e>
                            <m:sub>
                              <m:r>
                                <a:rPr lang="it-IT" sz="1800" b="0" i="1" dirty="0">
                                  <a:latin typeface="Cambria Math" panose="02040503050406030204" pitchFamily="18" charset="0"/>
                                </a:rPr>
                                <m:t>𝑘</m:t>
                              </m:r>
                            </m:sub>
                          </m:sSub>
                        </m:e>
                      </m:d>
                      <m:r>
                        <a:rPr lang="it-IT" sz="1800" b="0" i="1" dirty="0" smtClean="0">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bar>
                                <m:barPr>
                                  <m:pos m:val="top"/>
                                  <m:ctrlPr>
                                    <a:rPr lang="it-IT" sz="1800" i="1">
                                      <a:latin typeface="Cambria Math" panose="02040503050406030204" pitchFamily="18" charset="0"/>
                                    </a:rPr>
                                  </m:ctrlPr>
                                </m:barPr>
                                <m:e>
                                  <m:r>
                                    <a:rPr lang="it-IT" sz="1800" i="1">
                                      <a:latin typeface="Cambria Math" panose="02040503050406030204" pitchFamily="18" charset="0"/>
                                    </a:rPr>
                                    <m:t>𝑥</m:t>
                                  </m:r>
                                </m:e>
                              </m:ba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sub>
                          </m:sSub>
                        </m:e>
                      </m:d>
                      <m:r>
                        <a:rPr lang="it-IT" sz="1800" b="0" i="1" smtClean="0">
                          <a:latin typeface="Cambria Math" panose="02040503050406030204" pitchFamily="18" charset="0"/>
                        </a:rPr>
                        <m:t>×</m:t>
                      </m:r>
                      <m:r>
                        <m:rPr>
                          <m:sty m:val="p"/>
                        </m:rPr>
                        <a:rPr lang="it-IT" sz="1800" b="1" i="1" dirty="0">
                          <a:latin typeface="Cambria Math" panose="02040503050406030204" pitchFamily="18" charset="0"/>
                        </a:rPr>
                        <m:t>Inv</m:t>
                      </m:r>
                      <m:r>
                        <a:rPr lang="it-IT" sz="1800" b="1" i="1" dirty="0" smtClean="0">
                          <a:latin typeface="Cambria Math" panose="02040503050406030204" pitchFamily="18" charset="0"/>
                        </a:rPr>
                        <m:t>−</m:t>
                      </m:r>
                      <m:r>
                        <m:rPr>
                          <m:sty m:val="p"/>
                        </m:rPr>
                        <a:rPr lang="it-IT" sz="1800" b="1" i="1" dirty="0">
                          <a:latin typeface="Cambria Math" panose="02040503050406030204" pitchFamily="18" charset="0"/>
                        </a:rPr>
                        <m:t>Gamma</m:t>
                      </m:r>
                      <m:d>
                        <m:dPr>
                          <m:ctrlPr>
                            <a:rPr lang="it-IT" sz="1800" b="0" i="1" dirty="0" smtClean="0">
                              <a:latin typeface="Cambria Math" panose="02040503050406030204" pitchFamily="18" charset="0"/>
                            </a:rPr>
                          </m:ctrlPr>
                        </m:dPr>
                        <m:e>
                          <m:sSubSup>
                            <m:sSubSupPr>
                              <m:ctrlPr>
                                <a:rPr lang="it-IT" sz="1800" i="1" dirty="0">
                                  <a:latin typeface="Cambria Math" panose="02040503050406030204" pitchFamily="18" charset="0"/>
                                </a:rPr>
                              </m:ctrlPr>
                            </m:sSubSupPr>
                            <m:e>
                              <m:r>
                                <a:rPr lang="it-IT" sz="1800" i="1" dirty="0">
                                  <a:latin typeface="Cambria Math" panose="02040503050406030204" pitchFamily="18" charset="0"/>
                                </a:rPr>
                                <m:t>𝜎</m:t>
                              </m:r>
                            </m:e>
                            <m:sub>
                              <m:r>
                                <a:rPr lang="it-IT" sz="1800" i="1" dirty="0">
                                  <a:latin typeface="Cambria Math" panose="02040503050406030204" pitchFamily="18" charset="0"/>
                                </a:rPr>
                                <m:t>𝑘</m:t>
                              </m:r>
                            </m:sub>
                            <m:sup>
                              <m:r>
                                <a:rPr lang="it-IT" sz="1800" i="1" dirty="0">
                                  <a:latin typeface="Cambria Math" panose="02040503050406030204" pitchFamily="18" charset="0"/>
                                </a:rPr>
                                <m:t>2</m:t>
                              </m:r>
                            </m:sup>
                          </m:sSubSup>
                        </m:e>
                        <m:e>
                          <m:sSub>
                            <m:sSubPr>
                              <m:ctrlPr>
                                <a:rPr lang="it-IT" sz="1800" b="0" i="1" dirty="0" smtClean="0">
                                  <a:latin typeface="Cambria Math" panose="02040503050406030204" pitchFamily="18" charset="0"/>
                                </a:rPr>
                              </m:ctrlPr>
                            </m:sSubPr>
                            <m:e>
                              <m:r>
                                <a:rPr lang="it-IT" sz="1800" b="0" i="1" dirty="0">
                                  <a:latin typeface="Cambria Math" panose="02040503050406030204" pitchFamily="18" charset="0"/>
                                </a:rPr>
                                <m:t>𝛼</m:t>
                              </m:r>
                            </m:e>
                            <m:sub>
                              <m:r>
                                <a:rPr lang="it-IT" sz="1800" b="0" i="1" dirty="0" smtClean="0">
                                  <a:latin typeface="Cambria Math" panose="02040503050406030204" pitchFamily="18" charset="0"/>
                                </a:rPr>
                                <m:t>𝑘</m:t>
                              </m:r>
                            </m:sub>
                          </m:sSub>
                          <m:r>
                            <a:rPr lang="it-IT" sz="1800" b="0" i="1" dirty="0">
                              <a:latin typeface="Cambria Math" panose="02040503050406030204" pitchFamily="18" charset="0"/>
                            </a:rPr>
                            <m:t>=</m:t>
                          </m:r>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b="0" i="1" dirty="0">
                                      <a:latin typeface="Cambria Math" panose="02040503050406030204" pitchFamily="18" charset="0"/>
                                    </a:rPr>
                                    <m:t>𝑛</m:t>
                                  </m:r>
                                </m:e>
                                <m:sub>
                                  <m:r>
                                    <a:rPr lang="it-IT" sz="1800" b="0" i="1" dirty="0">
                                      <a:latin typeface="Cambria Math" panose="02040503050406030204" pitchFamily="18" charset="0"/>
                                    </a:rPr>
                                    <m:t>𝑘</m:t>
                                  </m:r>
                                </m:sub>
                              </m:sSub>
                              <m:r>
                                <a:rPr lang="it-IT" sz="1800" b="0" i="1" dirty="0">
                                  <a:latin typeface="Cambria Math" panose="02040503050406030204" pitchFamily="18" charset="0"/>
                                </a:rPr>
                                <m:t>−1</m:t>
                              </m:r>
                            </m:num>
                            <m:den>
                              <m:r>
                                <a:rPr lang="it-IT" sz="1800" b="0" i="1" dirty="0">
                                  <a:latin typeface="Cambria Math" panose="02040503050406030204" pitchFamily="18" charset="0"/>
                                </a:rPr>
                                <m:t>2</m:t>
                              </m:r>
                            </m:den>
                          </m:f>
                          <m:r>
                            <a:rPr lang="it-IT" sz="1800" b="0" i="1" dirty="0">
                              <a:latin typeface="Cambria Math" panose="02040503050406030204" pitchFamily="18" charset="0"/>
                            </a:rPr>
                            <m:t>,</m:t>
                          </m:r>
                          <m:sSub>
                            <m:sSubPr>
                              <m:ctrlPr>
                                <a:rPr lang="it-IT" sz="1800" b="0" i="1" dirty="0" smtClean="0">
                                  <a:latin typeface="Cambria Math" panose="02040503050406030204" pitchFamily="18" charset="0"/>
                                </a:rPr>
                              </m:ctrlPr>
                            </m:sSubPr>
                            <m:e>
                              <m:r>
                                <a:rPr lang="it-IT" sz="1800" b="0" i="1" dirty="0">
                                  <a:latin typeface="Cambria Math" panose="02040503050406030204" pitchFamily="18" charset="0"/>
                                </a:rPr>
                                <m:t>𝛽</m:t>
                              </m:r>
                            </m:e>
                            <m:sub>
                              <m:r>
                                <a:rPr lang="it-IT" sz="1800" b="0" i="1" dirty="0" smtClean="0">
                                  <a:latin typeface="Cambria Math" panose="02040503050406030204" pitchFamily="18" charset="0"/>
                                </a:rPr>
                                <m:t>𝑘</m:t>
                              </m:r>
                            </m:sub>
                          </m:sSub>
                          <m:r>
                            <a:rPr lang="it-IT" sz="1800" b="0" i="1" dirty="0">
                              <a:latin typeface="Cambria Math" panose="02040503050406030204" pitchFamily="18" charset="0"/>
                            </a:rPr>
                            <m:t>=</m:t>
                          </m:r>
                          <m:f>
                            <m:fPr>
                              <m:ctrlPr>
                                <a:rPr lang="it-IT" sz="1800" i="1" dirty="0">
                                  <a:latin typeface="Cambria Math" panose="02040503050406030204" pitchFamily="18" charset="0"/>
                                </a:rPr>
                              </m:ctrlPr>
                            </m:fPr>
                            <m:num>
                              <m:sSub>
                                <m:sSubPr>
                                  <m:ctrlPr>
                                    <a:rPr lang="it-IT" sz="1800" i="1" dirty="0">
                                      <a:latin typeface="Cambria Math" panose="02040503050406030204" pitchFamily="18" charset="0"/>
                                    </a:rPr>
                                  </m:ctrlPr>
                                </m:sSubPr>
                                <m:e>
                                  <m:r>
                                    <a:rPr lang="it-IT" sz="1800" b="0" i="1" dirty="0">
                                      <a:latin typeface="Cambria Math" panose="02040503050406030204" pitchFamily="18" charset="0"/>
                                    </a:rPr>
                                    <m:t>𝑆</m:t>
                                  </m:r>
                                </m:e>
                                <m:sub>
                                  <m:r>
                                    <a:rPr lang="it-IT" sz="1800" b="0" i="1" dirty="0">
                                      <a:latin typeface="Cambria Math" panose="02040503050406030204" pitchFamily="18" charset="0"/>
                                    </a:rPr>
                                    <m:t>𝑘</m:t>
                                  </m:r>
                                </m:sub>
                              </m:sSub>
                            </m:num>
                            <m:den>
                              <m:r>
                                <a:rPr lang="it-IT" sz="1800" b="0" i="1" dirty="0">
                                  <a:latin typeface="Cambria Math" panose="02040503050406030204" pitchFamily="18" charset="0"/>
                                </a:rPr>
                                <m:t>2</m:t>
                              </m:r>
                            </m:den>
                          </m:f>
                        </m:e>
                      </m:d>
                      <m:r>
                        <a:rPr lang="it-IT" sz="1800" b="0" i="1" dirty="0">
                          <a:latin typeface="Cambria Math" panose="02040503050406030204" pitchFamily="18" charset="0"/>
                        </a:rPr>
                        <m:t>.</m:t>
                      </m:r>
                    </m:oMath>
                  </m:oMathPara>
                </a14:m>
                <a:endParaRPr lang="it-IT" sz="1800" b="0" dirty="0"/>
              </a:p>
              <a:p>
                <a:pPr>
                  <a:lnSpc>
                    <a:spcPct val="150000"/>
                  </a:lnSpc>
                </a:pPr>
                <a:r>
                  <a:rPr lang="it-IT" sz="1800" dirty="0"/>
                  <a:t>This result requires </a:t>
                </a:r>
                <a14:m>
                  <m:oMath xmlns:m="http://schemas.openxmlformats.org/officeDocument/2006/math">
                    <m:r>
                      <a:rPr lang="it-IT" sz="1800" b="0" i="1" smtClean="0">
                        <a:latin typeface="Cambria Math" panose="02040503050406030204" pitchFamily="18" charset="0"/>
                      </a:rPr>
                      <m:t>𝛼</m:t>
                    </m:r>
                    <m:r>
                      <a:rPr lang="it-IT" sz="1800" b="0" i="1" smtClean="0">
                        <a:latin typeface="Cambria Math" panose="02040503050406030204" pitchFamily="18" charset="0"/>
                      </a:rPr>
                      <m:t>&gt;0 ⇒</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𝑛</m:t>
                        </m:r>
                      </m:e>
                      <m:sub>
                        <m:r>
                          <a:rPr lang="it-IT" sz="1800" b="0" i="1" smtClean="0">
                            <a:latin typeface="Cambria Math" panose="02040503050406030204" pitchFamily="18" charset="0"/>
                          </a:rPr>
                          <m:t>𝑘</m:t>
                        </m:r>
                      </m:sub>
                    </m:sSub>
                    <m:r>
                      <a:rPr lang="it-IT" sz="1800" b="0" i="1" smtClean="0">
                        <a:latin typeface="Cambria Math" panose="02040503050406030204" pitchFamily="18" charset="0"/>
                      </a:rPr>
                      <m:t>&gt;1</m:t>
                    </m:r>
                  </m:oMath>
                </a14:m>
                <a:r>
                  <a:rPr lang="it-IT" sz="1800" b="0" dirty="0"/>
                  <a:t>, otherwise Inv-Gamma normalization diverges.</a:t>
                </a:r>
                <a:endParaRPr lang="it-IT" sz="1600" b="0" dirty="0"/>
              </a:p>
              <a:p>
                <a:pPr marL="0" indent="0">
                  <a:lnSpc>
                    <a:spcPct val="100000"/>
                  </a:lnSpc>
                  <a:buNone/>
                </a:pPr>
                <a:endParaRPr lang="it-IT" sz="1800" dirty="0"/>
              </a:p>
              <a:p>
                <a:pPr lvl="1">
                  <a:lnSpc>
                    <a:spcPct val="100000"/>
                  </a:lnSpc>
                </a:pPr>
                <a:endParaRPr lang="it-IT" dirty="0"/>
              </a:p>
            </p:txBody>
          </p:sp>
        </mc:Choice>
        <mc:Fallback xmlns="">
          <p:sp>
            <p:nvSpPr>
              <p:cNvPr id="3" name="Content Placeholder 2">
                <a:extLst>
                  <a:ext uri="{FF2B5EF4-FFF2-40B4-BE49-F238E27FC236}">
                    <a16:creationId xmlns:a16="http://schemas.microsoft.com/office/drawing/2014/main" id="{C977A1DA-F677-3232-1704-F4F0AF64FEB0}"/>
                  </a:ext>
                </a:extLst>
              </p:cNvPr>
              <p:cNvSpPr>
                <a:spLocks noGrp="1" noRot="1" noChangeAspect="1" noMove="1" noResize="1" noEditPoints="1" noAdjustHandles="1" noChangeArrowheads="1" noChangeShapeType="1" noTextEdit="1"/>
              </p:cNvSpPr>
              <p:nvPr>
                <p:ph idx="1"/>
              </p:nvPr>
            </p:nvSpPr>
            <p:spPr>
              <a:xfrm>
                <a:off x="700635" y="1563077"/>
                <a:ext cx="10691265" cy="4642338"/>
              </a:xfrm>
              <a:blipFill>
                <a:blip r:embed="rId3"/>
                <a:stretch>
                  <a:fillRect l="-513" t="-525"/>
                </a:stretch>
              </a:blipFill>
            </p:spPr>
            <p:txBody>
              <a:bodyPr/>
              <a:lstStyle/>
              <a:p>
                <a:r>
                  <a:rPr lang="it-IT">
                    <a:noFill/>
                  </a:rPr>
                  <a:t> </a:t>
                </a:r>
              </a:p>
            </p:txBody>
          </p:sp>
        </mc:Fallback>
      </mc:AlternateContent>
    </p:spTree>
    <p:extLst>
      <p:ext uri="{BB962C8B-B14F-4D97-AF65-F5344CB8AC3E}">
        <p14:creationId xmlns:p14="http://schemas.microsoft.com/office/powerpoint/2010/main" val="32354223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F5434-F3D8-B19C-4D0A-2CC2DF9A0993}"/>
              </a:ext>
            </a:extLst>
          </p:cNvPr>
          <p:cNvSpPr>
            <a:spLocks noGrp="1"/>
          </p:cNvSpPr>
          <p:nvPr>
            <p:ph type="title"/>
          </p:nvPr>
        </p:nvSpPr>
        <p:spPr/>
        <p:txBody>
          <a:bodyPr/>
          <a:lstStyle/>
          <a:p>
            <a:r>
              <a:rPr lang="it-IT" dirty="0">
                <a:solidFill>
                  <a:srgbClr val="FF0000"/>
                </a:solidFill>
              </a:rPr>
              <a:t>Results</a:t>
            </a:r>
          </a:p>
        </p:txBody>
      </p:sp>
      <p:pic>
        <p:nvPicPr>
          <p:cNvPr id="5" name="Picture 4" descr="A group of graphs showing the results of a sampling procedure&#10;&#10;AI-generated content may be incorrect.">
            <a:extLst>
              <a:ext uri="{FF2B5EF4-FFF2-40B4-BE49-F238E27FC236}">
                <a16:creationId xmlns:a16="http://schemas.microsoft.com/office/drawing/2014/main" id="{4D3C9523-CA81-0336-5C06-FDE9EFD9D7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8546" y="1463057"/>
            <a:ext cx="8695442" cy="4561024"/>
          </a:xfrm>
          <a:prstGeom prst="rect">
            <a:avLst/>
          </a:prstGeom>
        </p:spPr>
      </p:pic>
      <p:sp>
        <p:nvSpPr>
          <p:cNvPr id="6" name="TextBox 5">
            <a:extLst>
              <a:ext uri="{FF2B5EF4-FFF2-40B4-BE49-F238E27FC236}">
                <a16:creationId xmlns:a16="http://schemas.microsoft.com/office/drawing/2014/main" id="{868270C4-E10D-899E-942D-E72560A37172}"/>
              </a:ext>
            </a:extLst>
          </p:cNvPr>
          <p:cNvSpPr txBox="1"/>
          <p:nvPr/>
        </p:nvSpPr>
        <p:spPr>
          <a:xfrm>
            <a:off x="7257012" y="1198864"/>
            <a:ext cx="3635932" cy="369332"/>
          </a:xfrm>
          <a:prstGeom prst="rect">
            <a:avLst/>
          </a:prstGeom>
          <a:noFill/>
        </p:spPr>
        <p:txBody>
          <a:bodyPr wrap="none" rtlCol="0">
            <a:spAutoFit/>
          </a:bodyPr>
          <a:lstStyle/>
          <a:p>
            <a:r>
              <a:rPr lang="it-IT" dirty="0"/>
              <a:t>(Metropolis posterior means in red)</a:t>
            </a:r>
          </a:p>
        </p:txBody>
      </p:sp>
    </p:spTree>
    <p:extLst>
      <p:ext uri="{BB962C8B-B14F-4D97-AF65-F5344CB8AC3E}">
        <p14:creationId xmlns:p14="http://schemas.microsoft.com/office/powerpoint/2010/main" val="38638666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0D437-DBA7-46F5-44C0-24ED8C316B2B}"/>
              </a:ext>
            </a:extLst>
          </p:cNvPr>
          <p:cNvSpPr>
            <a:spLocks noGrp="1"/>
          </p:cNvSpPr>
          <p:nvPr>
            <p:ph type="title"/>
          </p:nvPr>
        </p:nvSpPr>
        <p:spPr>
          <a:xfrm>
            <a:off x="700635" y="914400"/>
            <a:ext cx="10691265" cy="1307592"/>
          </a:xfrm>
        </p:spPr>
        <p:txBody>
          <a:bodyPr/>
          <a:lstStyle/>
          <a:p>
            <a:r>
              <a:rPr lang="it-IT" dirty="0">
                <a:solidFill>
                  <a:srgbClr val="FF0000"/>
                </a:solidFill>
              </a:rPr>
              <a:t>Collapsed gibbs sampling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2D35EC-78B7-A2C5-74B2-F3ECC49E4D8D}"/>
                  </a:ext>
                </a:extLst>
              </p:cNvPr>
              <p:cNvSpPr>
                <a:spLocks noGrp="1"/>
              </p:cNvSpPr>
              <p:nvPr>
                <p:ph idx="1"/>
              </p:nvPr>
            </p:nvSpPr>
            <p:spPr>
              <a:xfrm>
                <a:off x="700635" y="1570891"/>
                <a:ext cx="10691265" cy="4634523"/>
              </a:xfrm>
            </p:spPr>
            <p:txBody>
              <a:bodyPr>
                <a:normAutofit/>
              </a:bodyPr>
              <a:lstStyle/>
              <a:p>
                <a:r>
                  <a:rPr lang="it-IT" sz="1800" dirty="0"/>
                  <a:t>If we are interested only in the assignment (clustering) of the data, </a:t>
                </a:r>
                <a:r>
                  <a:rPr lang="en-US" sz="1800" dirty="0"/>
                  <a:t>we can marginalize out all model parameters and compute the conditional distribution of </a:t>
                </a:r>
                <a14:m>
                  <m:oMath xmlns:m="http://schemas.openxmlformats.org/officeDocument/2006/math">
                    <m:r>
                      <a:rPr lang="en-US" i="1">
                        <a:latin typeface="Cambria Math" panose="02040503050406030204" pitchFamily="18" charset="0"/>
                      </a:rPr>
                      <m:t>𝑧</m:t>
                    </m:r>
                    <m:r>
                      <a:rPr lang="it-IT" b="0" i="1" smtClean="0">
                        <a:latin typeface="Cambria Math" panose="02040503050406030204" pitchFamily="18" charset="0"/>
                      </a:rPr>
                      <m:t> </m:t>
                    </m:r>
                  </m:oMath>
                </a14:m>
                <a:r>
                  <a:rPr lang="en-US" sz="1800" dirty="0"/>
                  <a:t>given the data.</a:t>
                </a:r>
                <a:endParaRPr lang="it-IT" sz="1800" dirty="0"/>
              </a:p>
              <a:p>
                <a14:m>
                  <m:oMath xmlns:m="http://schemas.openxmlformats.org/officeDocument/2006/math">
                    <m:m>
                      <m:mPr>
                        <m:plcHide m:val="on"/>
                        <m:mcs>
                          <m:mc>
                            <m:mcPr>
                              <m:count m:val="3"/>
                              <m:mcJc m:val="center"/>
                            </m:mcPr>
                          </m:mc>
                        </m:mcs>
                        <m:ctrlPr>
                          <a:rPr lang="it-IT" sz="1800" i="1" smtClean="0">
                            <a:latin typeface="Cambria Math" panose="02040503050406030204" pitchFamily="18" charset="0"/>
                          </a:rPr>
                        </m:ctrlPr>
                      </m:mPr>
                      <m:mr>
                        <m:e>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𝒙</m:t>
                              </m:r>
                              <m:r>
                                <a:rPr lang="it-IT" sz="1800" i="1">
                                  <a:latin typeface="Cambria Math" panose="02040503050406030204" pitchFamily="18" charset="0"/>
                                </a:rPr>
                                <m:t>,</m:t>
                              </m:r>
                              <m:r>
                                <a:rPr lang="it-IT" sz="1800" i="1">
                                  <a:latin typeface="Cambria Math" panose="02040503050406030204" pitchFamily="18" charset="0"/>
                                </a:rPr>
                                <m:t>𝛼</m:t>
                              </m:r>
                            </m:e>
                          </m:d>
                        </m:e>
                        <m:e>
                          <m:r>
                            <a:rPr lang="it-IT" sz="1800" b="0" i="1" smtClean="0">
                              <a:latin typeface="Cambria Math" panose="02040503050406030204" pitchFamily="18" charset="0"/>
                            </a:rPr>
                            <m:t>=</m:t>
                          </m:r>
                        </m:e>
                        <m:e>
                          <m:f>
                            <m:fPr>
                              <m:ctrlPr>
                                <a:rPr lang="it-IT" sz="1800" i="1">
                                  <a:latin typeface="Cambria Math" panose="02040503050406030204" pitchFamily="18" charset="0"/>
                                </a:rPr>
                              </m:ctrlPr>
                            </m:fPr>
                            <m:num>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e>
                              </m:d>
                            </m:num>
                            <m:den>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e>
                              </m:d>
                            </m:den>
                          </m:f>
                          <m:r>
                            <a:rPr lang="it-IT" sz="1800" i="1">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e>
                          </m:d>
                          <m:r>
                            <a:rPr lang="it-IT" sz="1800" b="0" i="1" smtClean="0">
                              <a:latin typeface="Cambria Math" panose="02040503050406030204" pitchFamily="18" charset="0"/>
                            </a:rPr>
                            <m:t>=</m:t>
                          </m:r>
                        </m:e>
                      </m:mr>
                      <m:mr>
                        <m:e/>
                        <m:e>
                          <m:r>
                            <a:rPr lang="it-IT" sz="1800" b="0" i="1" smtClean="0">
                              <a:latin typeface="Cambria Math" panose="02040503050406030204" pitchFamily="18" charset="0"/>
                            </a:rPr>
                            <m:t>=</m:t>
                          </m:r>
                        </m:e>
                        <m:e>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e>
                          </m:d>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e>
                          </m:d>
                        </m:e>
                      </m:mr>
                    </m:m>
                  </m:oMath>
                </a14:m>
                <a:endParaRPr lang="it-IT" sz="1800" dirty="0"/>
              </a:p>
              <a:p>
                <a:pPr lvl="1">
                  <a:lnSpc>
                    <a:spcPct val="150000"/>
                  </a:lnSpc>
                </a:pPr>
                <a14:m>
                  <m:oMath xmlns:m="http://schemas.openxmlformats.org/officeDocument/2006/math">
                    <m:r>
                      <a:rPr lang="it-IT" sz="1600" i="1" dirty="0" smtClean="0">
                        <a:latin typeface="Cambria Math" panose="02040503050406030204" pitchFamily="18" charset="0"/>
                      </a:rPr>
                      <m:t>𝑝</m:t>
                    </m:r>
                    <m:d>
                      <m:dPr>
                        <m:ctrlPr>
                          <a:rPr lang="it-IT" sz="1600" i="1" dirty="0" smtClean="0">
                            <a:latin typeface="Cambria Math" panose="02040503050406030204" pitchFamily="18" charset="0"/>
                          </a:rPr>
                        </m:ctrlPr>
                      </m:d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𝑧</m:t>
                            </m:r>
                          </m:e>
                          <m:sub>
                            <m:r>
                              <a:rPr lang="it-IT" sz="1600" i="1" dirty="0" smtClean="0">
                                <a:latin typeface="Cambria Math" panose="02040503050406030204" pitchFamily="18" charset="0"/>
                              </a:rPr>
                              <m:t>𝑖</m:t>
                            </m:r>
                          </m:sub>
                        </m:sSub>
                        <m:r>
                          <a:rPr lang="it-IT" sz="1600" i="1" dirty="0" smtClean="0">
                            <a:latin typeface="Cambria Math" panose="02040503050406030204" pitchFamily="18" charset="0"/>
                          </a:rPr>
                          <m:t>=</m:t>
                        </m:r>
                        <m:r>
                          <a:rPr lang="it-IT" sz="1600" i="1" dirty="0" smtClean="0">
                            <a:latin typeface="Cambria Math" panose="02040503050406030204" pitchFamily="18" charset="0"/>
                          </a:rPr>
                          <m:t>𝑘</m:t>
                        </m:r>
                      </m:e>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𝑧</m:t>
                            </m:r>
                          </m:e>
                          <m:sub>
                            <m:r>
                              <a:rPr lang="it-IT" sz="1600" i="1" dirty="0" smtClean="0">
                                <a:latin typeface="Cambria Math" panose="02040503050406030204" pitchFamily="18" charset="0"/>
                              </a:rPr>
                              <m:t>¬</m:t>
                            </m:r>
                            <m:r>
                              <a:rPr lang="it-IT" sz="1600" i="1" dirty="0" smtClean="0">
                                <a:latin typeface="Cambria Math" panose="02040503050406030204" pitchFamily="18" charset="0"/>
                              </a:rPr>
                              <m:t>𝑖</m:t>
                            </m:r>
                          </m:sub>
                        </m:sSub>
                        <m:r>
                          <a:rPr lang="it-IT" sz="1600" i="1" dirty="0" smtClean="0">
                            <a:latin typeface="Cambria Math" panose="02040503050406030204" pitchFamily="18" charset="0"/>
                          </a:rPr>
                          <m:t>,</m:t>
                        </m:r>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𝒙</m:t>
                            </m:r>
                          </m:e>
                          <m:sub>
                            <m:r>
                              <a:rPr lang="it-IT" sz="1600" i="1" dirty="0" smtClean="0">
                                <a:latin typeface="Cambria Math" panose="02040503050406030204" pitchFamily="18" charset="0"/>
                              </a:rPr>
                              <m:t>¬</m:t>
                            </m:r>
                            <m:r>
                              <a:rPr lang="it-IT" sz="1600" i="1" dirty="0" smtClean="0">
                                <a:latin typeface="Cambria Math" panose="02040503050406030204" pitchFamily="18" charset="0"/>
                              </a:rPr>
                              <m:t>𝒊</m:t>
                            </m:r>
                          </m:sub>
                        </m:sSub>
                        <m:r>
                          <a:rPr lang="it-IT" sz="1600" i="1" dirty="0" smtClean="0">
                            <a:latin typeface="Cambria Math" panose="02040503050406030204" pitchFamily="18" charset="0"/>
                          </a:rPr>
                          <m:t>,</m:t>
                        </m:r>
                        <m:r>
                          <a:rPr lang="it-IT" sz="1600" i="1" dirty="0" smtClean="0">
                            <a:latin typeface="Cambria Math" panose="02040503050406030204" pitchFamily="18" charset="0"/>
                          </a:rPr>
                          <m:t>𝛼</m:t>
                        </m:r>
                      </m:e>
                    </m:d>
                    <m:r>
                      <a:rPr lang="it-IT" sz="1600" i="1" dirty="0" smtClean="0">
                        <a:latin typeface="Cambria Math" panose="02040503050406030204" pitchFamily="18" charset="0"/>
                      </a:rPr>
                      <m:t>=</m:t>
                    </m:r>
                    <m:nary>
                      <m:naryPr>
                        <m:subHide m:val="on"/>
                        <m:supHide m:val="on"/>
                        <m:ctrlPr>
                          <a:rPr lang="it-IT" sz="1600" i="1" dirty="0" smtClean="0">
                            <a:latin typeface="Cambria Math" panose="02040503050406030204" pitchFamily="18" charset="0"/>
                          </a:rPr>
                        </m:ctrlPr>
                      </m:naryPr>
                      <m:sub/>
                      <m:sup/>
                      <m:e>
                        <m:r>
                          <a:rPr lang="it-IT" sz="1600" i="1" dirty="0" smtClean="0">
                            <a:latin typeface="Cambria Math" panose="02040503050406030204" pitchFamily="18" charset="0"/>
                          </a:rPr>
                          <m:t>𝑝</m:t>
                        </m:r>
                        <m:d>
                          <m:dPr>
                            <m:ctrlPr>
                              <a:rPr lang="it-IT" sz="1600" i="1" dirty="0" smtClean="0">
                                <a:latin typeface="Cambria Math" panose="02040503050406030204" pitchFamily="18" charset="0"/>
                              </a:rPr>
                            </m:ctrlPr>
                          </m:d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𝑧</m:t>
                                </m:r>
                              </m:e>
                              <m:sub>
                                <m:r>
                                  <a:rPr lang="it-IT" sz="1600" i="1" dirty="0" smtClean="0">
                                    <a:latin typeface="Cambria Math" panose="02040503050406030204" pitchFamily="18" charset="0"/>
                                  </a:rPr>
                                  <m:t>𝑖</m:t>
                                </m:r>
                              </m:sub>
                            </m:sSub>
                            <m:r>
                              <a:rPr lang="it-IT" sz="1600" i="1" dirty="0" smtClean="0">
                                <a:latin typeface="Cambria Math" panose="02040503050406030204" pitchFamily="18" charset="0"/>
                              </a:rPr>
                              <m:t>=</m:t>
                            </m:r>
                            <m:r>
                              <a:rPr lang="it-IT" sz="1600" i="1" dirty="0" smtClean="0">
                                <a:latin typeface="Cambria Math" panose="02040503050406030204" pitchFamily="18" charset="0"/>
                              </a:rPr>
                              <m:t>𝑘</m:t>
                            </m:r>
                          </m:e>
                          <m:e>
                            <m:r>
                              <a:rPr lang="it-IT" sz="1600" i="1" dirty="0" smtClean="0">
                                <a:latin typeface="Cambria Math" panose="02040503050406030204" pitchFamily="18" charset="0"/>
                              </a:rPr>
                              <m:t>𝒘</m:t>
                            </m:r>
                            <m:r>
                              <a:rPr lang="it-IT" sz="1600" i="1" dirty="0" smtClean="0">
                                <a:latin typeface="Cambria Math" panose="02040503050406030204" pitchFamily="18" charset="0"/>
                              </a:rPr>
                              <m:t>,</m:t>
                            </m:r>
                            <m:borderBox>
                              <m:borderBoxPr>
                                <m:hideTop m:val="on"/>
                                <m:hideBot m:val="on"/>
                                <m:hideLeft m:val="on"/>
                                <m:hideRight m:val="on"/>
                                <m:strikeBLTR m:val="on"/>
                                <m:ctrlPr>
                                  <a:rPr lang="it-IT" sz="1600" i="1" dirty="0" smtClean="0">
                                    <a:latin typeface="Cambria Math" panose="02040503050406030204" pitchFamily="18" charset="0"/>
                                  </a:rPr>
                                </m:ctrlPr>
                              </m:borderBox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𝑧</m:t>
                                    </m:r>
                                  </m:e>
                                  <m:sub>
                                    <m:r>
                                      <a:rPr lang="it-IT" sz="1600" i="1" dirty="0" smtClean="0">
                                        <a:latin typeface="Cambria Math" panose="02040503050406030204" pitchFamily="18" charset="0"/>
                                      </a:rPr>
                                      <m:t>¬</m:t>
                                    </m:r>
                                    <m:r>
                                      <a:rPr lang="it-IT" sz="1600" i="1" dirty="0" smtClean="0">
                                        <a:latin typeface="Cambria Math" panose="02040503050406030204" pitchFamily="18" charset="0"/>
                                      </a:rPr>
                                      <m:t>𝑖</m:t>
                                    </m:r>
                                  </m:sub>
                                </m:sSub>
                              </m:e>
                            </m:borderBox>
                            <m:r>
                              <a:rPr lang="it-IT" sz="1600" i="1" dirty="0" smtClean="0">
                                <a:latin typeface="Cambria Math" panose="02040503050406030204" pitchFamily="18" charset="0"/>
                              </a:rPr>
                              <m:t>,</m:t>
                            </m:r>
                            <m:borderBox>
                              <m:borderBoxPr>
                                <m:hideTop m:val="on"/>
                                <m:hideBot m:val="on"/>
                                <m:hideLeft m:val="on"/>
                                <m:hideRight m:val="on"/>
                                <m:strikeBLTR m:val="on"/>
                                <m:ctrlPr>
                                  <a:rPr lang="it-IT" sz="1600" i="1" dirty="0" smtClean="0">
                                    <a:latin typeface="Cambria Math" panose="02040503050406030204" pitchFamily="18" charset="0"/>
                                  </a:rPr>
                                </m:ctrlPr>
                              </m:borderBox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𝒙</m:t>
                                    </m:r>
                                  </m:e>
                                  <m:sub>
                                    <m:r>
                                      <a:rPr lang="it-IT" sz="1600" b="0" i="1" dirty="0" smtClean="0">
                                        <a:latin typeface="Cambria Math" panose="02040503050406030204" pitchFamily="18" charset="0"/>
                                      </a:rPr>
                                      <m:t>¬</m:t>
                                    </m:r>
                                    <m:r>
                                      <a:rPr lang="it-IT" sz="1600" b="0" i="1" dirty="0" smtClean="0">
                                        <a:latin typeface="Cambria Math" panose="02040503050406030204" pitchFamily="18" charset="0"/>
                                      </a:rPr>
                                      <m:t>𝑖</m:t>
                                    </m:r>
                                  </m:sub>
                                </m:sSub>
                              </m:e>
                            </m:borderBox>
                            <m:r>
                              <a:rPr lang="it-IT" sz="1600" i="1" dirty="0" smtClean="0">
                                <a:latin typeface="Cambria Math" panose="02040503050406030204" pitchFamily="18" charset="0"/>
                              </a:rPr>
                              <m:t>,</m:t>
                            </m:r>
                            <m:borderBox>
                              <m:borderBoxPr>
                                <m:hideTop m:val="on"/>
                                <m:hideBot m:val="on"/>
                                <m:hideLeft m:val="on"/>
                                <m:hideRight m:val="on"/>
                                <m:strikeBLTR m:val="on"/>
                                <m:ctrlPr>
                                  <a:rPr lang="it-IT" sz="1600" i="1" dirty="0" smtClean="0">
                                    <a:latin typeface="Cambria Math" panose="02040503050406030204" pitchFamily="18" charset="0"/>
                                  </a:rPr>
                                </m:ctrlPr>
                              </m:borderBoxPr>
                              <m:e>
                                <m:r>
                                  <a:rPr lang="it-IT" sz="1600" i="1" dirty="0" smtClean="0">
                                    <a:latin typeface="Cambria Math" panose="02040503050406030204" pitchFamily="18" charset="0"/>
                                  </a:rPr>
                                  <m:t>𝛼</m:t>
                                </m:r>
                              </m:e>
                            </m:borderBox>
                          </m:e>
                        </m:d>
                        <m:r>
                          <a:rPr lang="it-IT" sz="1600" i="1" dirty="0" smtClean="0">
                            <a:latin typeface="Cambria Math" panose="02040503050406030204" pitchFamily="18" charset="0"/>
                          </a:rPr>
                          <m:t>𝑝</m:t>
                        </m:r>
                        <m:d>
                          <m:dPr>
                            <m:ctrlPr>
                              <a:rPr lang="it-IT" sz="1600" i="1" dirty="0" smtClean="0">
                                <a:latin typeface="Cambria Math" panose="02040503050406030204" pitchFamily="18" charset="0"/>
                              </a:rPr>
                            </m:ctrlPr>
                          </m:dPr>
                          <m:e>
                            <m:r>
                              <a:rPr lang="it-IT" sz="1600" i="1" dirty="0" smtClean="0">
                                <a:latin typeface="Cambria Math" panose="02040503050406030204" pitchFamily="18" charset="0"/>
                              </a:rPr>
                              <m:t>𝒘</m:t>
                            </m:r>
                          </m:e>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𝑧</m:t>
                                </m:r>
                              </m:e>
                              <m:sub>
                                <m:r>
                                  <a:rPr lang="it-IT" sz="1600" i="1" dirty="0" smtClean="0">
                                    <a:latin typeface="Cambria Math" panose="02040503050406030204" pitchFamily="18" charset="0"/>
                                  </a:rPr>
                                  <m:t>¬</m:t>
                                </m:r>
                                <m:r>
                                  <a:rPr lang="it-IT" sz="1600" i="1" dirty="0" smtClean="0">
                                    <a:latin typeface="Cambria Math" panose="02040503050406030204" pitchFamily="18" charset="0"/>
                                  </a:rPr>
                                  <m:t>𝑖</m:t>
                                </m:r>
                              </m:sub>
                            </m:sSub>
                            <m:r>
                              <a:rPr lang="it-IT" sz="1600" i="1" dirty="0" smtClean="0">
                                <a:latin typeface="Cambria Math" panose="02040503050406030204" pitchFamily="18" charset="0"/>
                              </a:rPr>
                              <m:t>,</m:t>
                            </m:r>
                            <m:borderBox>
                              <m:borderBoxPr>
                                <m:hideTop m:val="on"/>
                                <m:hideBot m:val="on"/>
                                <m:hideLeft m:val="on"/>
                                <m:hideRight m:val="on"/>
                                <m:strikeBLTR m:val="on"/>
                                <m:ctrlPr>
                                  <a:rPr lang="it-IT" sz="1600" i="1" dirty="0" smtClean="0">
                                    <a:latin typeface="Cambria Math" panose="02040503050406030204" pitchFamily="18" charset="0"/>
                                  </a:rPr>
                                </m:ctrlPr>
                              </m:borderBox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𝒙</m:t>
                                    </m:r>
                                  </m:e>
                                  <m:sub>
                                    <m:r>
                                      <a:rPr lang="it-IT" sz="1600" b="0" i="1" dirty="0" smtClean="0">
                                        <a:latin typeface="Cambria Math" panose="02040503050406030204" pitchFamily="18" charset="0"/>
                                      </a:rPr>
                                      <m:t>¬</m:t>
                                    </m:r>
                                    <m:r>
                                      <a:rPr lang="it-IT" sz="1600" b="0" i="1" dirty="0" smtClean="0">
                                        <a:latin typeface="Cambria Math" panose="02040503050406030204" pitchFamily="18" charset="0"/>
                                      </a:rPr>
                                      <m:t>𝑖</m:t>
                                    </m:r>
                                  </m:sub>
                                </m:sSub>
                              </m:e>
                            </m:borderBox>
                            <m:r>
                              <a:rPr lang="it-IT" sz="1600" i="1" dirty="0" smtClean="0">
                                <a:latin typeface="Cambria Math" panose="02040503050406030204" pitchFamily="18" charset="0"/>
                              </a:rPr>
                              <m:t>,</m:t>
                            </m:r>
                            <m:r>
                              <a:rPr lang="it-IT" sz="1600" i="1" dirty="0" smtClean="0">
                                <a:latin typeface="Cambria Math" panose="02040503050406030204" pitchFamily="18" charset="0"/>
                              </a:rPr>
                              <m:t>𝛼</m:t>
                            </m:r>
                          </m:e>
                        </m:d>
                        <m:r>
                          <a:rPr lang="it-IT" sz="1600" i="1" dirty="0" smtClean="0">
                            <a:latin typeface="Cambria Math" panose="02040503050406030204" pitchFamily="18" charset="0"/>
                          </a:rPr>
                          <m:t>𝑑</m:t>
                        </m:r>
                        <m:r>
                          <a:rPr lang="it-IT" sz="1600" i="1" dirty="0" smtClean="0">
                            <a:latin typeface="Cambria Math" panose="02040503050406030204" pitchFamily="18" charset="0"/>
                          </a:rPr>
                          <m:t>𝒘</m:t>
                        </m:r>
                      </m:e>
                    </m:nary>
                    <m:r>
                      <a:rPr lang="it-IT" sz="1600" i="1" dirty="0" smtClean="0">
                        <a:latin typeface="Cambria Math" panose="02040503050406030204" pitchFamily="18" charset="0"/>
                      </a:rPr>
                      <m:t>=</m:t>
                    </m:r>
                    <m:r>
                      <a:rPr lang="it-IT" sz="1600" i="1" dirty="0" smtClean="0">
                        <a:latin typeface="Cambria Math" panose="02040503050406030204" pitchFamily="18" charset="0"/>
                      </a:rPr>
                      <m:t>𝑝</m:t>
                    </m:r>
                    <m:d>
                      <m:dPr>
                        <m:ctrlPr>
                          <a:rPr lang="it-IT" sz="1600" i="1" dirty="0" smtClean="0">
                            <a:latin typeface="Cambria Math" panose="02040503050406030204" pitchFamily="18" charset="0"/>
                          </a:rPr>
                        </m:ctrlPr>
                      </m:dPr>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𝑧</m:t>
                            </m:r>
                          </m:e>
                          <m:sub>
                            <m:r>
                              <a:rPr lang="it-IT" sz="1600" i="1" dirty="0" smtClean="0">
                                <a:latin typeface="Cambria Math" panose="02040503050406030204" pitchFamily="18" charset="0"/>
                              </a:rPr>
                              <m:t>𝑖</m:t>
                            </m:r>
                          </m:sub>
                        </m:sSub>
                        <m:r>
                          <a:rPr lang="it-IT" sz="1600" i="1" dirty="0" smtClean="0">
                            <a:latin typeface="Cambria Math" panose="02040503050406030204" pitchFamily="18" charset="0"/>
                          </a:rPr>
                          <m:t>=</m:t>
                        </m:r>
                        <m:r>
                          <a:rPr lang="it-IT" sz="1600" i="1" dirty="0" smtClean="0">
                            <a:latin typeface="Cambria Math" panose="02040503050406030204" pitchFamily="18" charset="0"/>
                          </a:rPr>
                          <m:t>𝑘</m:t>
                        </m:r>
                      </m:e>
                      <m:e>
                        <m:sSub>
                          <m:sSubPr>
                            <m:ctrlPr>
                              <a:rPr lang="it-IT" sz="1600" i="1" dirty="0" smtClean="0">
                                <a:latin typeface="Cambria Math" panose="02040503050406030204" pitchFamily="18" charset="0"/>
                              </a:rPr>
                            </m:ctrlPr>
                          </m:sSubPr>
                          <m:e>
                            <m:r>
                              <a:rPr lang="it-IT" sz="1600" i="1" dirty="0" smtClean="0">
                                <a:latin typeface="Cambria Math" panose="02040503050406030204" pitchFamily="18" charset="0"/>
                              </a:rPr>
                              <m:t>𝑧</m:t>
                            </m:r>
                          </m:e>
                          <m:sub>
                            <m:r>
                              <a:rPr lang="it-IT" sz="1600" i="1" dirty="0" smtClean="0">
                                <a:latin typeface="Cambria Math" panose="02040503050406030204" pitchFamily="18" charset="0"/>
                              </a:rPr>
                              <m:t>¬</m:t>
                            </m:r>
                            <m:r>
                              <a:rPr lang="it-IT" sz="1600" i="1" dirty="0" smtClean="0">
                                <a:latin typeface="Cambria Math" panose="02040503050406030204" pitchFamily="18" charset="0"/>
                              </a:rPr>
                              <m:t>𝑖</m:t>
                            </m:r>
                          </m:sub>
                        </m:sSub>
                        <m:r>
                          <a:rPr lang="it-IT" sz="1600" i="1" dirty="0" smtClean="0">
                            <a:latin typeface="Cambria Math" panose="02040503050406030204" pitchFamily="18" charset="0"/>
                          </a:rPr>
                          <m:t>,</m:t>
                        </m:r>
                        <m:r>
                          <a:rPr lang="it-IT" sz="1600" i="1" dirty="0" smtClean="0">
                            <a:latin typeface="Cambria Math" panose="02040503050406030204" pitchFamily="18" charset="0"/>
                          </a:rPr>
                          <m:t>𝛼</m:t>
                        </m:r>
                      </m:e>
                    </m:d>
                  </m:oMath>
                </a14:m>
                <a:endParaRPr lang="it-IT" sz="1600" i="1" dirty="0">
                  <a:latin typeface="Cambria Math" panose="02040503050406030204" pitchFamily="18" charset="0"/>
                </a:endParaRPr>
              </a:p>
              <a:p>
                <a:pPr lvl="1">
                  <a:lnSpc>
                    <a:spcPct val="150000"/>
                  </a:lnSpc>
                </a:pPr>
                <a14:m>
                  <m:oMath xmlns:m="http://schemas.openxmlformats.org/officeDocument/2006/math">
                    <m:m>
                      <m:mPr>
                        <m:plcHide m:val="on"/>
                        <m:mcs>
                          <m:mc>
                            <m:mcPr>
                              <m:count m:val="3"/>
                              <m:mcJc m:val="center"/>
                            </m:mcPr>
                          </m:mc>
                        </m:mcs>
                        <m:ctrlPr>
                          <a:rPr lang="it-IT" sz="1600" i="1" dirty="0" smtClean="0">
                            <a:latin typeface="Cambria Math" panose="02040503050406030204" pitchFamily="18" charset="0"/>
                          </a:rPr>
                        </m:ctrlPr>
                      </m:mPr>
                      <m:mr>
                        <m:e>
                          <m:r>
                            <a:rPr lang="it-IT" sz="1600" i="1" dirty="0">
                              <a:latin typeface="Cambria Math" panose="02040503050406030204" pitchFamily="18" charset="0"/>
                            </a:rPr>
                            <m:t>𝑝</m:t>
                          </m:r>
                          <m:d>
                            <m:dPr>
                              <m:ctrlPr>
                                <a:rPr lang="it-IT" sz="1600" i="1" dirty="0">
                                  <a:latin typeface="Cambria Math" panose="02040503050406030204" pitchFamily="18" charset="0"/>
                                </a:rPr>
                              </m:ctrlPr>
                            </m:d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𝑥</m:t>
                                  </m:r>
                                </m:e>
                                <m:sub>
                                  <m:r>
                                    <a:rPr lang="it-IT" sz="1600" i="1" dirty="0">
                                      <a:latin typeface="Cambria Math" panose="02040503050406030204" pitchFamily="18" charset="0"/>
                                    </a:rPr>
                                    <m:t>𝑖</m:t>
                                  </m:r>
                                </m:sub>
                              </m:sSub>
                            </m:e>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𝑧</m:t>
                                  </m:r>
                                </m:e>
                                <m:sub>
                                  <m:r>
                                    <a:rPr lang="it-IT" sz="1600" i="1" dirty="0">
                                      <a:latin typeface="Cambria Math" panose="02040503050406030204" pitchFamily="18" charset="0"/>
                                    </a:rPr>
                                    <m:t>𝑖</m:t>
                                  </m:r>
                                </m:sub>
                              </m:sSub>
                              <m:r>
                                <a:rPr lang="it-IT" sz="1600" i="1" dirty="0">
                                  <a:latin typeface="Cambria Math" panose="02040503050406030204" pitchFamily="18" charset="0"/>
                                </a:rPr>
                                <m:t>=</m:t>
                              </m:r>
                              <m:r>
                                <a:rPr lang="it-IT" sz="1600" i="1" dirty="0">
                                  <a:latin typeface="Cambria Math" panose="02040503050406030204" pitchFamily="18" charset="0"/>
                                </a:rPr>
                                <m:t>𝑘</m:t>
                              </m:r>
                              <m:r>
                                <a:rPr lang="it-IT" sz="1600" i="1" dirty="0">
                                  <a:latin typeface="Cambria Math" panose="02040503050406030204" pitchFamily="18" charset="0"/>
                                </a:rPr>
                                <m:t>,</m:t>
                              </m:r>
                              <m:sSub>
                                <m:sSubPr>
                                  <m:ctrlPr>
                                    <a:rPr lang="it-IT" sz="1600" i="1" dirty="0">
                                      <a:latin typeface="Cambria Math" panose="02040503050406030204" pitchFamily="18" charset="0"/>
                                    </a:rPr>
                                  </m:ctrlPr>
                                </m:sSubPr>
                                <m:e>
                                  <m:r>
                                    <a:rPr lang="it-IT" sz="1600" i="1" dirty="0">
                                      <a:latin typeface="Cambria Math" panose="02040503050406030204" pitchFamily="18" charset="0"/>
                                    </a:rPr>
                                    <m:t>𝑧</m:t>
                                  </m:r>
                                </m:e>
                                <m:sub>
                                  <m:r>
                                    <a:rPr lang="it-IT" sz="1600" i="1" dirty="0">
                                      <a:latin typeface="Cambria Math" panose="02040503050406030204" pitchFamily="18" charset="0"/>
                                    </a:rPr>
                                    <m:t>¬</m:t>
                                  </m:r>
                                  <m:r>
                                    <a:rPr lang="it-IT" sz="1600" i="1" dirty="0">
                                      <a:latin typeface="Cambria Math" panose="02040503050406030204" pitchFamily="18" charset="0"/>
                                    </a:rPr>
                                    <m:t>𝑖</m:t>
                                  </m:r>
                                </m:sub>
                              </m:sSub>
                              <m:r>
                                <a:rPr lang="it-IT" sz="1600" i="1" dirty="0">
                                  <a:latin typeface="Cambria Math" panose="02040503050406030204" pitchFamily="18" charset="0"/>
                                </a:rPr>
                                <m:t>,</m:t>
                              </m:r>
                              <m:sSub>
                                <m:sSubPr>
                                  <m:ctrlPr>
                                    <a:rPr lang="it-IT" sz="1600" i="1" dirty="0">
                                      <a:latin typeface="Cambria Math" panose="02040503050406030204" pitchFamily="18" charset="0"/>
                                    </a:rPr>
                                  </m:ctrlPr>
                                </m:sSubPr>
                                <m:e>
                                  <m:r>
                                    <a:rPr lang="it-IT" sz="1600" i="1" dirty="0">
                                      <a:latin typeface="Cambria Math" panose="02040503050406030204" pitchFamily="18" charset="0"/>
                                    </a:rPr>
                                    <m:t>𝒙</m:t>
                                  </m:r>
                                </m:e>
                                <m:sub>
                                  <m:r>
                                    <a:rPr lang="it-IT" sz="1600" i="1" dirty="0">
                                      <a:latin typeface="Cambria Math" panose="02040503050406030204" pitchFamily="18" charset="0"/>
                                    </a:rPr>
                                    <m:t>¬</m:t>
                                  </m:r>
                                  <m:r>
                                    <a:rPr lang="it-IT" sz="1600" i="1" dirty="0">
                                      <a:latin typeface="Cambria Math" panose="02040503050406030204" pitchFamily="18" charset="0"/>
                                    </a:rPr>
                                    <m:t>𝑖</m:t>
                                  </m:r>
                                </m:sub>
                              </m:sSub>
                              <m:r>
                                <a:rPr lang="it-IT" sz="1600" i="1" dirty="0">
                                  <a:latin typeface="Cambria Math" panose="02040503050406030204" pitchFamily="18" charset="0"/>
                                </a:rPr>
                                <m:t>,</m:t>
                              </m:r>
                              <m:r>
                                <a:rPr lang="it-IT" sz="1600" i="1" dirty="0">
                                  <a:latin typeface="Cambria Math" panose="02040503050406030204" pitchFamily="18" charset="0"/>
                                </a:rPr>
                                <m:t>𝛼</m:t>
                              </m:r>
                            </m:e>
                          </m:d>
                        </m:e>
                        <m:e>
                          <m:r>
                            <a:rPr lang="it-IT" sz="1600" b="0" i="1" dirty="0" smtClean="0">
                              <a:latin typeface="Cambria Math" panose="02040503050406030204" pitchFamily="18" charset="0"/>
                            </a:rPr>
                            <m:t>=</m:t>
                          </m:r>
                        </m:e>
                        <m:e>
                          <m:nary>
                            <m:naryPr>
                              <m:chr m:val="∬"/>
                              <m:limLoc m:val="undOvr"/>
                              <m:subHide m:val="on"/>
                              <m:supHide m:val="on"/>
                              <m:ctrlPr>
                                <a:rPr lang="it-IT" sz="1600" b="0" i="1" dirty="0" smtClean="0">
                                  <a:latin typeface="Cambria Math" panose="02040503050406030204" pitchFamily="18" charset="0"/>
                                </a:rPr>
                              </m:ctrlPr>
                            </m:naryPr>
                            <m:sub/>
                            <m:sup/>
                            <m:e>
                              <m:r>
                                <a:rPr lang="it-IT" sz="1600" i="1" dirty="0">
                                  <a:latin typeface="Cambria Math" panose="02040503050406030204" pitchFamily="18" charset="0"/>
                                </a:rPr>
                                <m:t>𝑝</m:t>
                              </m:r>
                              <m:d>
                                <m:dPr>
                                  <m:ctrlPr>
                                    <a:rPr lang="it-IT" sz="1600" i="1" dirty="0">
                                      <a:latin typeface="Cambria Math" panose="02040503050406030204" pitchFamily="18" charset="0"/>
                                    </a:rPr>
                                  </m:ctrlPr>
                                </m:d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𝑥</m:t>
                                      </m:r>
                                    </m:e>
                                    <m:sub>
                                      <m:r>
                                        <a:rPr lang="it-IT" sz="1600" i="1" dirty="0">
                                          <a:latin typeface="Cambria Math" panose="02040503050406030204" pitchFamily="18" charset="0"/>
                                        </a:rPr>
                                        <m:t>𝑖</m:t>
                                      </m:r>
                                    </m:sub>
                                  </m:sSub>
                                </m:e>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𝜇</m:t>
                                      </m:r>
                                    </m:e>
                                    <m:sub>
                                      <m:r>
                                        <a:rPr lang="it-IT" sz="1600" i="1" dirty="0">
                                          <a:latin typeface="Cambria Math" panose="02040503050406030204" pitchFamily="18" charset="0"/>
                                        </a:rPr>
                                        <m:t>𝑘</m:t>
                                      </m:r>
                                    </m:sub>
                                  </m:sSub>
                                  <m:r>
                                    <a:rPr lang="it-IT" sz="1600" i="1" dirty="0">
                                      <a:latin typeface="Cambria Math" panose="02040503050406030204" pitchFamily="18" charset="0"/>
                                    </a:rPr>
                                    <m:t>,</m:t>
                                  </m:r>
                                  <m:sSubSup>
                                    <m:sSubSupPr>
                                      <m:ctrlPr>
                                        <a:rPr lang="it-IT" sz="1600" i="1" dirty="0">
                                          <a:latin typeface="Cambria Math" panose="02040503050406030204" pitchFamily="18" charset="0"/>
                                        </a:rPr>
                                      </m:ctrlPr>
                                    </m:sSubSupPr>
                                    <m:e>
                                      <m:r>
                                        <a:rPr lang="it-IT" sz="1600" i="1" dirty="0">
                                          <a:latin typeface="Cambria Math" panose="02040503050406030204" pitchFamily="18" charset="0"/>
                                        </a:rPr>
                                        <m:t>𝜎</m:t>
                                      </m:r>
                                    </m:e>
                                    <m:sub>
                                      <m:r>
                                        <a:rPr lang="it-IT" sz="1600" i="1" dirty="0">
                                          <a:latin typeface="Cambria Math" panose="02040503050406030204" pitchFamily="18" charset="0"/>
                                        </a:rPr>
                                        <m:t>𝑘</m:t>
                                      </m:r>
                                    </m:sub>
                                    <m:sup>
                                      <m:r>
                                        <a:rPr lang="it-IT" sz="1600" i="1" dirty="0">
                                          <a:latin typeface="Cambria Math" panose="02040503050406030204" pitchFamily="18" charset="0"/>
                                        </a:rPr>
                                        <m:t>2</m:t>
                                      </m:r>
                                    </m:sup>
                                  </m:sSubSup>
                                  <m:r>
                                    <a:rPr lang="it-IT" sz="1600" i="1" dirty="0">
                                      <a:latin typeface="Cambria Math" panose="02040503050406030204" pitchFamily="18" charset="0"/>
                                    </a:rPr>
                                    <m:t>,</m:t>
                                  </m:r>
                                  <m:sSub>
                                    <m:sSubPr>
                                      <m:ctrlPr>
                                        <a:rPr lang="it-IT" sz="1600" i="1" dirty="0">
                                          <a:latin typeface="Cambria Math" panose="02040503050406030204" pitchFamily="18" charset="0"/>
                                        </a:rPr>
                                      </m:ctrlPr>
                                    </m:sSubPr>
                                    <m:e>
                                      <m:r>
                                        <a:rPr lang="it-IT" sz="1600" i="1" dirty="0">
                                          <a:latin typeface="Cambria Math" panose="02040503050406030204" pitchFamily="18" charset="0"/>
                                        </a:rPr>
                                        <m:t>𝑧</m:t>
                                      </m:r>
                                    </m:e>
                                    <m:sub>
                                      <m:r>
                                        <a:rPr lang="it-IT" sz="1600" i="1" dirty="0">
                                          <a:latin typeface="Cambria Math" panose="02040503050406030204" pitchFamily="18" charset="0"/>
                                        </a:rPr>
                                        <m:t>𝑖</m:t>
                                      </m:r>
                                    </m:sub>
                                  </m:sSub>
                                  <m:r>
                                    <a:rPr lang="it-IT" sz="1600" i="1" dirty="0">
                                      <a:latin typeface="Cambria Math" panose="02040503050406030204" pitchFamily="18" charset="0"/>
                                    </a:rPr>
                                    <m:t>=</m:t>
                                  </m:r>
                                  <m:r>
                                    <a:rPr lang="it-IT" sz="1600" i="1" dirty="0">
                                      <a:latin typeface="Cambria Math" panose="02040503050406030204" pitchFamily="18" charset="0"/>
                                    </a:rPr>
                                    <m:t>𝑘</m:t>
                                  </m:r>
                                  <m:r>
                                    <a:rPr lang="it-IT" sz="1600" i="1" dirty="0">
                                      <a:latin typeface="Cambria Math" panose="02040503050406030204" pitchFamily="18" charset="0"/>
                                    </a:rPr>
                                    <m:t>,</m:t>
                                  </m:r>
                                  <m:borderBox>
                                    <m:borderBoxPr>
                                      <m:hideTop m:val="on"/>
                                      <m:hideBot m:val="on"/>
                                      <m:hideLeft m:val="on"/>
                                      <m:hideRight m:val="on"/>
                                      <m:strikeBLTR m:val="on"/>
                                      <m:ctrlPr>
                                        <a:rPr lang="it-IT" sz="1600" i="1" dirty="0">
                                          <a:latin typeface="Cambria Math" panose="02040503050406030204" pitchFamily="18" charset="0"/>
                                        </a:rPr>
                                      </m:ctrlPr>
                                    </m:borderBox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𝑧</m:t>
                                          </m:r>
                                        </m:e>
                                        <m:sub>
                                          <m:r>
                                            <a:rPr lang="it-IT" sz="1600" i="1" dirty="0">
                                              <a:latin typeface="Cambria Math" panose="02040503050406030204" pitchFamily="18" charset="0"/>
                                            </a:rPr>
                                            <m:t>¬</m:t>
                                          </m:r>
                                          <m:r>
                                            <a:rPr lang="it-IT" sz="1600" i="1" dirty="0">
                                              <a:latin typeface="Cambria Math" panose="02040503050406030204" pitchFamily="18" charset="0"/>
                                            </a:rPr>
                                            <m:t>𝑖</m:t>
                                          </m:r>
                                        </m:sub>
                                      </m:sSub>
                                    </m:e>
                                  </m:borderBox>
                                  <m:r>
                                    <a:rPr lang="it-IT" sz="1600" i="1" dirty="0">
                                      <a:latin typeface="Cambria Math" panose="02040503050406030204" pitchFamily="18" charset="0"/>
                                    </a:rPr>
                                    <m:t>,</m:t>
                                  </m:r>
                                  <m:borderBox>
                                    <m:borderBoxPr>
                                      <m:hideTop m:val="on"/>
                                      <m:hideBot m:val="on"/>
                                      <m:hideLeft m:val="on"/>
                                      <m:hideRight m:val="on"/>
                                      <m:strikeBLTR m:val="on"/>
                                      <m:ctrlPr>
                                        <a:rPr lang="it-IT" sz="1600" i="1" dirty="0">
                                          <a:latin typeface="Cambria Math" panose="02040503050406030204" pitchFamily="18" charset="0"/>
                                        </a:rPr>
                                      </m:ctrlPr>
                                    </m:borderBox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𝒙</m:t>
                                          </m:r>
                                        </m:e>
                                        <m:sub>
                                          <m:r>
                                            <a:rPr lang="it-IT" sz="1600" i="1" dirty="0">
                                              <a:latin typeface="Cambria Math" panose="02040503050406030204" pitchFamily="18" charset="0"/>
                                            </a:rPr>
                                            <m:t>¬</m:t>
                                          </m:r>
                                          <m:r>
                                            <a:rPr lang="it-IT" sz="1600" i="1" dirty="0">
                                              <a:latin typeface="Cambria Math" panose="02040503050406030204" pitchFamily="18" charset="0"/>
                                            </a:rPr>
                                            <m:t>𝑖</m:t>
                                          </m:r>
                                        </m:sub>
                                      </m:sSub>
                                    </m:e>
                                  </m:borderBox>
                                  <m:r>
                                    <a:rPr lang="it-IT" sz="1600" i="1" dirty="0">
                                      <a:latin typeface="Cambria Math" panose="02040503050406030204" pitchFamily="18" charset="0"/>
                                    </a:rPr>
                                    <m:t>,</m:t>
                                  </m:r>
                                  <m:borderBox>
                                    <m:borderBoxPr>
                                      <m:hideTop m:val="on"/>
                                      <m:hideBot m:val="on"/>
                                      <m:hideLeft m:val="on"/>
                                      <m:hideRight m:val="on"/>
                                      <m:strikeBLTR m:val="on"/>
                                      <m:ctrlPr>
                                        <a:rPr lang="it-IT" sz="1600" i="1" dirty="0">
                                          <a:latin typeface="Cambria Math" panose="02040503050406030204" pitchFamily="18" charset="0"/>
                                        </a:rPr>
                                      </m:ctrlPr>
                                    </m:borderBoxPr>
                                    <m:e>
                                      <m:r>
                                        <a:rPr lang="it-IT" sz="1600" i="1" dirty="0">
                                          <a:latin typeface="Cambria Math" panose="02040503050406030204" pitchFamily="18" charset="0"/>
                                        </a:rPr>
                                        <m:t>𝛼</m:t>
                                      </m:r>
                                    </m:e>
                                  </m:borderBox>
                                </m:e>
                              </m:d>
                              <m:r>
                                <a:rPr lang="it-IT" sz="1600" i="1" dirty="0">
                                  <a:latin typeface="Cambria Math" panose="02040503050406030204" pitchFamily="18" charset="0"/>
                                </a:rPr>
                                <m:t>𝑝</m:t>
                              </m:r>
                              <m:d>
                                <m:dPr>
                                  <m:ctrlPr>
                                    <a:rPr lang="it-IT" sz="1600" i="1" dirty="0">
                                      <a:latin typeface="Cambria Math" panose="02040503050406030204" pitchFamily="18" charset="0"/>
                                    </a:rPr>
                                  </m:ctrlPr>
                                </m:d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𝜇</m:t>
                                      </m:r>
                                    </m:e>
                                    <m:sub>
                                      <m:r>
                                        <a:rPr lang="it-IT" sz="1600" i="1" dirty="0">
                                          <a:latin typeface="Cambria Math" panose="02040503050406030204" pitchFamily="18" charset="0"/>
                                        </a:rPr>
                                        <m:t>𝑘</m:t>
                                      </m:r>
                                    </m:sub>
                                  </m:sSub>
                                  <m:r>
                                    <a:rPr lang="it-IT" sz="1600" i="1" dirty="0">
                                      <a:latin typeface="Cambria Math" panose="02040503050406030204" pitchFamily="18" charset="0"/>
                                    </a:rPr>
                                    <m:t>,</m:t>
                                  </m:r>
                                  <m:sSubSup>
                                    <m:sSubSupPr>
                                      <m:ctrlPr>
                                        <a:rPr lang="it-IT" sz="1600" i="1" dirty="0">
                                          <a:latin typeface="Cambria Math" panose="02040503050406030204" pitchFamily="18" charset="0"/>
                                        </a:rPr>
                                      </m:ctrlPr>
                                    </m:sSubSupPr>
                                    <m:e>
                                      <m:r>
                                        <a:rPr lang="it-IT" sz="1600" i="1" dirty="0">
                                          <a:latin typeface="Cambria Math" panose="02040503050406030204" pitchFamily="18" charset="0"/>
                                        </a:rPr>
                                        <m:t>𝜎</m:t>
                                      </m:r>
                                    </m:e>
                                    <m:sub>
                                      <m:r>
                                        <a:rPr lang="it-IT" sz="1600" i="1" dirty="0">
                                          <a:latin typeface="Cambria Math" panose="02040503050406030204" pitchFamily="18" charset="0"/>
                                        </a:rPr>
                                        <m:t>𝑘</m:t>
                                      </m:r>
                                    </m:sub>
                                    <m:sup>
                                      <m:r>
                                        <a:rPr lang="it-IT" sz="1600" i="1" dirty="0">
                                          <a:latin typeface="Cambria Math" panose="02040503050406030204" pitchFamily="18" charset="0"/>
                                        </a:rPr>
                                        <m:t>2</m:t>
                                      </m:r>
                                    </m:sup>
                                  </m:sSubSup>
                                </m:e>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𝑧</m:t>
                                      </m:r>
                                    </m:e>
                                    <m:sub>
                                      <m:r>
                                        <a:rPr lang="it-IT" sz="1600" i="1" dirty="0">
                                          <a:latin typeface="Cambria Math" panose="02040503050406030204" pitchFamily="18" charset="0"/>
                                        </a:rPr>
                                        <m:t>𝑖</m:t>
                                      </m:r>
                                    </m:sub>
                                  </m:sSub>
                                  <m:r>
                                    <a:rPr lang="it-IT" sz="1600" i="1" dirty="0">
                                      <a:latin typeface="Cambria Math" panose="02040503050406030204" pitchFamily="18" charset="0"/>
                                    </a:rPr>
                                    <m:t>=</m:t>
                                  </m:r>
                                  <m:r>
                                    <a:rPr lang="it-IT" sz="1600" i="1" dirty="0">
                                      <a:latin typeface="Cambria Math" panose="02040503050406030204" pitchFamily="18" charset="0"/>
                                    </a:rPr>
                                    <m:t>𝑘</m:t>
                                  </m:r>
                                  <m:r>
                                    <a:rPr lang="it-IT" sz="1600" i="1" dirty="0">
                                      <a:latin typeface="Cambria Math" panose="02040503050406030204" pitchFamily="18" charset="0"/>
                                    </a:rPr>
                                    <m:t>,</m:t>
                                  </m:r>
                                  <m:borderBox>
                                    <m:borderBoxPr>
                                      <m:hideTop m:val="on"/>
                                      <m:hideBot m:val="on"/>
                                      <m:hideLeft m:val="on"/>
                                      <m:hideRight m:val="on"/>
                                      <m:strikeBLTR m:val="on"/>
                                      <m:ctrlPr>
                                        <a:rPr lang="it-IT" sz="1600" i="1" dirty="0">
                                          <a:latin typeface="Cambria Math" panose="02040503050406030204" pitchFamily="18" charset="0"/>
                                        </a:rPr>
                                      </m:ctrlPr>
                                    </m:borderBox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𝑧</m:t>
                                          </m:r>
                                        </m:e>
                                        <m:sub>
                                          <m:r>
                                            <a:rPr lang="it-IT" sz="1600" i="1" dirty="0">
                                              <a:latin typeface="Cambria Math" panose="02040503050406030204" pitchFamily="18" charset="0"/>
                                            </a:rPr>
                                            <m:t>¬</m:t>
                                          </m:r>
                                          <m:r>
                                            <a:rPr lang="it-IT" sz="1600" i="1" dirty="0">
                                              <a:latin typeface="Cambria Math" panose="02040503050406030204" pitchFamily="18" charset="0"/>
                                            </a:rPr>
                                            <m:t>𝑖</m:t>
                                          </m:r>
                                        </m:sub>
                                      </m:sSub>
                                    </m:e>
                                  </m:borderBox>
                                  <m:r>
                                    <a:rPr lang="it-IT" sz="1600" i="1" dirty="0">
                                      <a:latin typeface="Cambria Math" panose="02040503050406030204" pitchFamily="18" charset="0"/>
                                    </a:rPr>
                                    <m:t>,</m:t>
                                  </m:r>
                                  <m:sSub>
                                    <m:sSubPr>
                                      <m:ctrlPr>
                                        <a:rPr lang="it-IT" sz="1600" i="1" dirty="0">
                                          <a:latin typeface="Cambria Math" panose="02040503050406030204" pitchFamily="18" charset="0"/>
                                        </a:rPr>
                                      </m:ctrlPr>
                                    </m:sSubPr>
                                    <m:e>
                                      <m:r>
                                        <a:rPr lang="it-IT" sz="1600" i="1" dirty="0">
                                          <a:latin typeface="Cambria Math" panose="02040503050406030204" pitchFamily="18" charset="0"/>
                                        </a:rPr>
                                        <m:t>𝒙</m:t>
                                      </m:r>
                                    </m:e>
                                    <m:sub>
                                      <m:r>
                                        <a:rPr lang="it-IT" sz="1600" i="1" dirty="0">
                                          <a:latin typeface="Cambria Math" panose="02040503050406030204" pitchFamily="18" charset="0"/>
                                        </a:rPr>
                                        <m:t>¬</m:t>
                                      </m:r>
                                      <m:r>
                                        <a:rPr lang="it-IT" sz="1600" i="1" dirty="0">
                                          <a:latin typeface="Cambria Math" panose="02040503050406030204" pitchFamily="18" charset="0"/>
                                        </a:rPr>
                                        <m:t>𝑖</m:t>
                                      </m:r>
                                    </m:sub>
                                  </m:sSub>
                                  <m:r>
                                    <a:rPr lang="it-IT" sz="1600" i="1" dirty="0">
                                      <a:latin typeface="Cambria Math" panose="02040503050406030204" pitchFamily="18" charset="0"/>
                                    </a:rPr>
                                    <m:t>,</m:t>
                                  </m:r>
                                  <m:borderBox>
                                    <m:borderBoxPr>
                                      <m:hideTop m:val="on"/>
                                      <m:hideBot m:val="on"/>
                                      <m:hideLeft m:val="on"/>
                                      <m:hideRight m:val="on"/>
                                      <m:strikeBLTR m:val="on"/>
                                      <m:ctrlPr>
                                        <a:rPr lang="it-IT" sz="1600" i="1" dirty="0">
                                          <a:latin typeface="Cambria Math" panose="02040503050406030204" pitchFamily="18" charset="0"/>
                                        </a:rPr>
                                      </m:ctrlPr>
                                    </m:borderBoxPr>
                                    <m:e>
                                      <m:r>
                                        <a:rPr lang="it-IT" sz="1600" i="1" dirty="0">
                                          <a:latin typeface="Cambria Math" panose="02040503050406030204" pitchFamily="18" charset="0"/>
                                        </a:rPr>
                                        <m:t>𝛼</m:t>
                                      </m:r>
                                    </m:e>
                                  </m:borderBox>
                                </m:e>
                              </m:d>
                              <m:r>
                                <a:rPr lang="it-IT" sz="1600" i="1" dirty="0">
                                  <a:latin typeface="Cambria Math" panose="02040503050406030204" pitchFamily="18" charset="0"/>
                                </a:rPr>
                                <m:t>𝑑</m:t>
                              </m:r>
                              <m:sSub>
                                <m:sSubPr>
                                  <m:ctrlPr>
                                    <a:rPr lang="it-IT" sz="1600" i="1" dirty="0">
                                      <a:latin typeface="Cambria Math" panose="02040503050406030204" pitchFamily="18" charset="0"/>
                                    </a:rPr>
                                  </m:ctrlPr>
                                </m:sSubPr>
                                <m:e>
                                  <m:r>
                                    <a:rPr lang="it-IT" sz="1600" i="1" dirty="0">
                                      <a:latin typeface="Cambria Math" panose="02040503050406030204" pitchFamily="18" charset="0"/>
                                    </a:rPr>
                                    <m:t>𝜇</m:t>
                                  </m:r>
                                </m:e>
                                <m:sub>
                                  <m:r>
                                    <a:rPr lang="it-IT" sz="1600" i="1" dirty="0">
                                      <a:latin typeface="Cambria Math" panose="02040503050406030204" pitchFamily="18" charset="0"/>
                                    </a:rPr>
                                    <m:t>𝑘</m:t>
                                  </m:r>
                                </m:sub>
                              </m:sSub>
                              <m:r>
                                <a:rPr lang="it-IT" sz="1600" i="1" dirty="0">
                                  <a:latin typeface="Cambria Math" panose="02040503050406030204" pitchFamily="18" charset="0"/>
                                </a:rPr>
                                <m:t>𝑑</m:t>
                              </m:r>
                              <m:sSubSup>
                                <m:sSubSupPr>
                                  <m:ctrlPr>
                                    <a:rPr lang="it-IT" sz="1600" i="1" dirty="0">
                                      <a:latin typeface="Cambria Math" panose="02040503050406030204" pitchFamily="18" charset="0"/>
                                    </a:rPr>
                                  </m:ctrlPr>
                                </m:sSubSupPr>
                                <m:e>
                                  <m:r>
                                    <a:rPr lang="it-IT" sz="1600" i="1" dirty="0">
                                      <a:latin typeface="Cambria Math" panose="02040503050406030204" pitchFamily="18" charset="0"/>
                                    </a:rPr>
                                    <m:t>𝜎</m:t>
                                  </m:r>
                                </m:e>
                                <m:sub>
                                  <m:r>
                                    <a:rPr lang="it-IT" sz="1600" i="1" dirty="0">
                                      <a:latin typeface="Cambria Math" panose="02040503050406030204" pitchFamily="18" charset="0"/>
                                    </a:rPr>
                                    <m:t>𝑘</m:t>
                                  </m:r>
                                </m:sub>
                                <m:sup>
                                  <m:r>
                                    <a:rPr lang="it-IT" sz="1600" i="1" dirty="0">
                                      <a:latin typeface="Cambria Math" panose="02040503050406030204" pitchFamily="18" charset="0"/>
                                    </a:rPr>
                                    <m:t>2</m:t>
                                  </m:r>
                                </m:sup>
                              </m:sSubSup>
                            </m:e>
                          </m:nary>
                          <m:r>
                            <m:rPr>
                              <m:nor/>
                            </m:rPr>
                            <a:rPr lang="it-IT" sz="1600" b="0" i="1" dirty="0" smtClean="0">
                              <a:latin typeface="Cambria Math" panose="02040503050406030204" pitchFamily="18" charset="0"/>
                            </a:rPr>
                            <m:t>=</m:t>
                          </m:r>
                        </m:e>
                      </m:mr>
                      <m:mr>
                        <m:e/>
                        <m:e>
                          <m:r>
                            <a:rPr lang="it-IT" sz="1600" b="0" i="1" dirty="0" smtClean="0">
                              <a:latin typeface="Cambria Math" panose="02040503050406030204" pitchFamily="18" charset="0"/>
                            </a:rPr>
                            <m:t>=</m:t>
                          </m:r>
                        </m:e>
                        <m:e>
                          <m:r>
                            <a:rPr lang="it-IT" sz="1600" i="1" dirty="0">
                              <a:latin typeface="Cambria Math" panose="02040503050406030204" pitchFamily="18" charset="0"/>
                            </a:rPr>
                            <m:t>𝑝</m:t>
                          </m:r>
                          <m:d>
                            <m:dPr>
                              <m:ctrlPr>
                                <a:rPr lang="it-IT" sz="1600" i="1" dirty="0">
                                  <a:latin typeface="Cambria Math" panose="02040503050406030204" pitchFamily="18" charset="0"/>
                                </a:rPr>
                              </m:ctrlPr>
                            </m:d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𝑥</m:t>
                                  </m:r>
                                </m:e>
                                <m:sub>
                                  <m:r>
                                    <a:rPr lang="it-IT" sz="1600" i="1" dirty="0">
                                      <a:latin typeface="Cambria Math" panose="02040503050406030204" pitchFamily="18" charset="0"/>
                                    </a:rPr>
                                    <m:t>𝑖</m:t>
                                  </m:r>
                                </m:sub>
                              </m:sSub>
                            </m:e>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𝑧</m:t>
                                  </m:r>
                                </m:e>
                                <m:sub>
                                  <m:r>
                                    <a:rPr lang="it-IT" sz="1600" i="1" dirty="0">
                                      <a:latin typeface="Cambria Math" panose="02040503050406030204" pitchFamily="18" charset="0"/>
                                    </a:rPr>
                                    <m:t>𝑖</m:t>
                                  </m:r>
                                </m:sub>
                              </m:sSub>
                              <m:r>
                                <a:rPr lang="it-IT" sz="1600" i="1" dirty="0">
                                  <a:latin typeface="Cambria Math" panose="02040503050406030204" pitchFamily="18" charset="0"/>
                                </a:rPr>
                                <m:t>=</m:t>
                              </m:r>
                              <m:r>
                                <a:rPr lang="it-IT" sz="1600" i="1" dirty="0">
                                  <a:latin typeface="Cambria Math" panose="02040503050406030204" pitchFamily="18" charset="0"/>
                                </a:rPr>
                                <m:t>𝑘</m:t>
                              </m:r>
                              <m:r>
                                <a:rPr lang="it-IT" sz="1600" i="1" dirty="0">
                                  <a:latin typeface="Cambria Math" panose="02040503050406030204" pitchFamily="18" charset="0"/>
                                </a:rPr>
                                <m:t>,</m:t>
                              </m:r>
                              <m:sSub>
                                <m:sSubPr>
                                  <m:ctrlPr>
                                    <a:rPr lang="it-IT" sz="1600" i="1" dirty="0">
                                      <a:latin typeface="Cambria Math" panose="02040503050406030204" pitchFamily="18" charset="0"/>
                                    </a:rPr>
                                  </m:ctrlPr>
                                </m:sSubPr>
                                <m:e>
                                  <m:r>
                                    <a:rPr lang="it-IT" sz="1600" i="1" dirty="0">
                                      <a:latin typeface="Cambria Math" panose="02040503050406030204" pitchFamily="18" charset="0"/>
                                    </a:rPr>
                                    <m:t>𝒙</m:t>
                                  </m:r>
                                </m:e>
                                <m:sub>
                                  <m:r>
                                    <a:rPr lang="it-IT" sz="1600" i="1" dirty="0">
                                      <a:latin typeface="Cambria Math" panose="02040503050406030204" pitchFamily="18" charset="0"/>
                                    </a:rPr>
                                    <m:t>¬</m:t>
                                  </m:r>
                                  <m:r>
                                    <a:rPr lang="it-IT" sz="1600" i="1" dirty="0">
                                      <a:latin typeface="Cambria Math" panose="02040503050406030204" pitchFamily="18" charset="0"/>
                                    </a:rPr>
                                    <m:t>𝑖</m:t>
                                  </m:r>
                                </m:sub>
                              </m:sSub>
                            </m:e>
                          </m:d>
                          <m:r>
                            <a:rPr lang="it-IT" sz="1600" i="1" dirty="0">
                              <a:latin typeface="Cambria Math" panose="02040503050406030204" pitchFamily="18" charset="0"/>
                            </a:rPr>
                            <m:t>=</m:t>
                          </m:r>
                          <m:r>
                            <a:rPr lang="it-IT" sz="1600" i="1" dirty="0">
                              <a:latin typeface="Cambria Math" panose="02040503050406030204" pitchFamily="18" charset="0"/>
                            </a:rPr>
                            <m:t>𝑝</m:t>
                          </m:r>
                          <m:d>
                            <m:dPr>
                              <m:ctrlPr>
                                <a:rPr lang="it-IT" sz="1600" i="1" dirty="0">
                                  <a:latin typeface="Cambria Math" panose="02040503050406030204" pitchFamily="18" charset="0"/>
                                </a:rPr>
                              </m:ctrlPr>
                            </m:d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𝑥</m:t>
                                  </m:r>
                                </m:e>
                                <m:sub>
                                  <m:r>
                                    <a:rPr lang="it-IT" sz="1600" i="1" dirty="0">
                                      <a:latin typeface="Cambria Math" panose="02040503050406030204" pitchFamily="18" charset="0"/>
                                    </a:rPr>
                                    <m:t>𝑖</m:t>
                                  </m:r>
                                </m:sub>
                              </m:sSub>
                            </m:e>
                            <m:e>
                              <m:r>
                                <m:rPr>
                                  <m:lit/>
                                </m:rPr>
                                <a:rPr lang="it-IT" sz="1600" i="1" dirty="0">
                                  <a:latin typeface="Cambria Math" panose="02040503050406030204" pitchFamily="18" charset="0"/>
                                </a:rPr>
                                <m:t>{</m:t>
                              </m:r>
                              <m:sSub>
                                <m:sSubPr>
                                  <m:ctrlPr>
                                    <a:rPr lang="it-IT" sz="1600" i="1" dirty="0">
                                      <a:latin typeface="Cambria Math" panose="02040503050406030204" pitchFamily="18" charset="0"/>
                                    </a:rPr>
                                  </m:ctrlPr>
                                </m:sSubPr>
                                <m:e>
                                  <m:r>
                                    <a:rPr lang="it-IT" sz="1600" i="1" dirty="0">
                                      <a:latin typeface="Cambria Math" panose="02040503050406030204" pitchFamily="18" charset="0"/>
                                    </a:rPr>
                                    <m:t>𝑥</m:t>
                                  </m:r>
                                </m:e>
                                <m:sub>
                                  <m:r>
                                    <a:rPr lang="it-IT" sz="1600" i="1" dirty="0">
                                      <a:latin typeface="Cambria Math" panose="02040503050406030204" pitchFamily="18" charset="0"/>
                                    </a:rPr>
                                    <m:t>𝑗</m:t>
                                  </m:r>
                                </m:sub>
                              </m:sSub>
                              <m:r>
                                <a:rPr lang="it-IT" sz="1600" i="1" dirty="0">
                                  <a:latin typeface="Cambria Math" panose="02040503050406030204" pitchFamily="18" charset="0"/>
                                </a:rPr>
                                <m:t>:</m:t>
                              </m:r>
                              <m:r>
                                <m:rPr>
                                  <m:lit/>
                                </m:rPr>
                                <a:rPr lang="it-IT" sz="1600" i="1" dirty="0">
                                  <a:latin typeface="Cambria Math" panose="02040503050406030204" pitchFamily="18" charset="0"/>
                                </a:rPr>
                                <m:t>;</m:t>
                              </m:r>
                              <m:sSub>
                                <m:sSubPr>
                                  <m:ctrlPr>
                                    <a:rPr lang="it-IT" sz="1600" i="1" dirty="0">
                                      <a:latin typeface="Cambria Math" panose="02040503050406030204" pitchFamily="18" charset="0"/>
                                    </a:rPr>
                                  </m:ctrlPr>
                                </m:sSubPr>
                                <m:e>
                                  <m:r>
                                    <a:rPr lang="it-IT" sz="1600" i="1" dirty="0">
                                      <a:latin typeface="Cambria Math" panose="02040503050406030204" pitchFamily="18" charset="0"/>
                                    </a:rPr>
                                    <m:t>𝑧</m:t>
                                  </m:r>
                                </m:e>
                                <m:sub>
                                  <m:r>
                                    <a:rPr lang="it-IT" sz="1600" i="1" dirty="0">
                                      <a:latin typeface="Cambria Math" panose="02040503050406030204" pitchFamily="18" charset="0"/>
                                    </a:rPr>
                                    <m:t>𝑗</m:t>
                                  </m:r>
                                </m:sub>
                              </m:sSub>
                              <m:r>
                                <a:rPr lang="it-IT" sz="1600" i="1" dirty="0">
                                  <a:latin typeface="Cambria Math" panose="02040503050406030204" pitchFamily="18" charset="0"/>
                                </a:rPr>
                                <m:t>=</m:t>
                              </m:r>
                              <m:r>
                                <a:rPr lang="it-IT" sz="1600" i="1" dirty="0">
                                  <a:latin typeface="Cambria Math" panose="02040503050406030204" pitchFamily="18" charset="0"/>
                                </a:rPr>
                                <m:t>𝑘</m:t>
                              </m:r>
                              <m:r>
                                <a:rPr lang="it-IT" sz="1600" i="1" dirty="0">
                                  <a:latin typeface="Cambria Math" panose="02040503050406030204" pitchFamily="18" charset="0"/>
                                </a:rPr>
                                <m:t>,</m:t>
                              </m:r>
                              <m:r>
                                <a:rPr lang="it-IT" sz="1600" i="1" dirty="0">
                                  <a:latin typeface="Cambria Math" panose="02040503050406030204" pitchFamily="18" charset="0"/>
                                </a:rPr>
                                <m:t>𝑗</m:t>
                              </m:r>
                              <m:r>
                                <a:rPr lang="it-IT" sz="1600" i="1" dirty="0">
                                  <a:latin typeface="Cambria Math" panose="02040503050406030204" pitchFamily="18" charset="0"/>
                                </a:rPr>
                                <m:t>≠</m:t>
                              </m:r>
                              <m:r>
                                <a:rPr lang="it-IT" sz="1600" i="1" dirty="0">
                                  <a:latin typeface="Cambria Math" panose="02040503050406030204" pitchFamily="18" charset="0"/>
                                </a:rPr>
                                <m:t>𝑖</m:t>
                              </m:r>
                              <m:r>
                                <m:rPr>
                                  <m:lit/>
                                </m:rPr>
                                <a:rPr lang="it-IT" sz="1600" i="1" dirty="0">
                                  <a:latin typeface="Cambria Math" panose="02040503050406030204" pitchFamily="18" charset="0"/>
                                </a:rPr>
                                <m:t>}</m:t>
                              </m:r>
                            </m:e>
                          </m:d>
                        </m:e>
                      </m:mr>
                    </m:m>
                  </m:oMath>
                </a14:m>
                <a:endParaRPr lang="it-IT" sz="1600" i="1" dirty="0">
                  <a:latin typeface="Cambria Math" panose="02040503050406030204" pitchFamily="18" charset="0"/>
                </a:endParaRPr>
              </a:p>
              <a:p>
                <a:endParaRPr lang="it-IT" sz="1600" dirty="0"/>
              </a:p>
              <a:p>
                <a:pPr marL="0" indent="0">
                  <a:buNone/>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m:t>
                      </m:r>
                      <m:r>
                        <a:rPr lang="it-IT" i="1" smtClean="0">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𝑘</m:t>
                          </m:r>
                        </m:e>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𝒙</m:t>
                          </m:r>
                          <m:r>
                            <a:rPr lang="it-IT" i="1">
                              <a:latin typeface="Cambria Math" panose="02040503050406030204" pitchFamily="18" charset="0"/>
                            </a:rPr>
                            <m:t>,</m:t>
                          </m:r>
                          <m:r>
                            <a:rPr lang="it-IT" i="1">
                              <a:latin typeface="Cambria Math" panose="02040503050406030204" pitchFamily="18" charset="0"/>
                            </a:rPr>
                            <m:t>𝛼</m:t>
                          </m:r>
                        </m:e>
                      </m:d>
                      <m:r>
                        <a:rPr lang="it-IT" i="1">
                          <a:latin typeface="Cambria Math" panose="02040503050406030204" pitchFamily="18" charset="0"/>
                        </a:rPr>
                        <m:t>∝</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𝑘</m:t>
                          </m:r>
                        </m:e>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𝛼</m:t>
                          </m:r>
                        </m:e>
                      </m:d>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e>
                        <m:e>
                          <m:r>
                            <m:rPr>
                              <m:lit/>
                            </m:rP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𝑗</m:t>
                              </m:r>
                            </m:sub>
                          </m:sSub>
                          <m:r>
                            <a:rPr lang="it-IT" i="1">
                              <a:latin typeface="Cambria Math" panose="02040503050406030204" pitchFamily="18" charset="0"/>
                            </a:rPr>
                            <m:t>: </m:t>
                          </m:r>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𝑗</m:t>
                              </m:r>
                            </m:sub>
                          </m:sSub>
                          <m:r>
                            <a:rPr lang="it-IT" i="1">
                              <a:latin typeface="Cambria Math" panose="02040503050406030204" pitchFamily="18" charset="0"/>
                            </a:rPr>
                            <m:t>=</m:t>
                          </m:r>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rPr>
                            <m:t>≠</m:t>
                          </m:r>
                          <m:r>
                            <a:rPr lang="it-IT" i="1">
                              <a:latin typeface="Cambria Math" panose="02040503050406030204" pitchFamily="18" charset="0"/>
                            </a:rPr>
                            <m:t>𝑖</m:t>
                          </m:r>
                          <m:r>
                            <m:rPr>
                              <m:lit/>
                            </m:rPr>
                            <a:rPr lang="it-IT" i="1">
                              <a:latin typeface="Cambria Math" panose="02040503050406030204" pitchFamily="18" charset="0"/>
                            </a:rPr>
                            <m:t>}</m:t>
                          </m:r>
                        </m:e>
                      </m:d>
                    </m:oMath>
                  </m:oMathPara>
                </a14:m>
                <a:endParaRPr lang="it-IT" dirty="0"/>
              </a:p>
            </p:txBody>
          </p:sp>
        </mc:Choice>
        <mc:Fallback xmlns="">
          <p:sp>
            <p:nvSpPr>
              <p:cNvPr id="3" name="Content Placeholder 2">
                <a:extLst>
                  <a:ext uri="{FF2B5EF4-FFF2-40B4-BE49-F238E27FC236}">
                    <a16:creationId xmlns:a16="http://schemas.microsoft.com/office/drawing/2014/main" id="{6C2D35EC-78B7-A2C5-74B2-F3ECC49E4D8D}"/>
                  </a:ext>
                </a:extLst>
              </p:cNvPr>
              <p:cNvSpPr>
                <a:spLocks noGrp="1" noRot="1" noChangeAspect="1" noMove="1" noResize="1" noEditPoints="1" noAdjustHandles="1" noChangeArrowheads="1" noChangeShapeType="1" noTextEdit="1"/>
              </p:cNvSpPr>
              <p:nvPr>
                <p:ph idx="1"/>
              </p:nvPr>
            </p:nvSpPr>
            <p:spPr>
              <a:xfrm>
                <a:off x="700635" y="1570891"/>
                <a:ext cx="10691265" cy="4634523"/>
              </a:xfrm>
              <a:blipFill>
                <a:blip r:embed="rId3"/>
                <a:stretch>
                  <a:fillRect l="-399" t="-658"/>
                </a:stretch>
              </a:blipFill>
            </p:spPr>
            <p:txBody>
              <a:bodyPr/>
              <a:lstStyle/>
              <a:p>
                <a:r>
                  <a:rPr lang="it-IT">
                    <a:noFill/>
                  </a:rPr>
                  <a:t> </a:t>
                </a:r>
              </a:p>
            </p:txBody>
          </p:sp>
        </mc:Fallback>
      </mc:AlternateContent>
    </p:spTree>
    <p:extLst>
      <p:ext uri="{BB962C8B-B14F-4D97-AF65-F5344CB8AC3E}">
        <p14:creationId xmlns:p14="http://schemas.microsoft.com/office/powerpoint/2010/main" val="37023655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4DE45-0499-785F-802F-05DF7D0E8B5A}"/>
              </a:ext>
            </a:extLst>
          </p:cNvPr>
          <p:cNvSpPr>
            <a:spLocks noGrp="1"/>
          </p:cNvSpPr>
          <p:nvPr>
            <p:ph type="title"/>
          </p:nvPr>
        </p:nvSpPr>
        <p:spPr/>
        <p:txBody>
          <a:bodyPr/>
          <a:lstStyle/>
          <a:p>
            <a:r>
              <a:rPr lang="it-IT" dirty="0">
                <a:solidFill>
                  <a:srgbClr val="FF0000"/>
                </a:solidFill>
              </a:rPr>
              <a:t>Marginalize over the weights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BD73F-45DB-E8D9-9600-5E5ADBEF8BD1}"/>
                  </a:ext>
                </a:extLst>
              </p:cNvPr>
              <p:cNvSpPr>
                <a:spLocks noGrp="1"/>
              </p:cNvSpPr>
              <p:nvPr>
                <p:ph idx="1"/>
              </p:nvPr>
            </p:nvSpPr>
            <p:spPr>
              <a:xfrm>
                <a:off x="700635" y="1570892"/>
                <a:ext cx="10691265" cy="4673600"/>
              </a:xfrm>
            </p:spPr>
            <p:txBody>
              <a:bodyPr>
                <a:normAutofit/>
              </a:bodyPr>
              <a:lstStyle/>
              <a:p>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smtClean="0">
                            <a:latin typeface="Cambria Math" panose="02040503050406030204" pitchFamily="18" charset="0"/>
                          </a:rPr>
                          <m:t> </m:t>
                        </m:r>
                        <m:r>
                          <a:rPr lang="it-IT" sz="1800" i="1">
                            <a:latin typeface="Cambria Math" panose="02040503050406030204" pitchFamily="18" charset="0"/>
                          </a:rPr>
                          <m:t>𝛼</m:t>
                        </m:r>
                      </m:e>
                    </m:d>
                    <m:r>
                      <a:rPr lang="it-IT" sz="1800" b="0" i="1" smtClean="0">
                        <a:latin typeface="Cambria Math" panose="02040503050406030204" pitchFamily="18" charset="0"/>
                      </a:rPr>
                      <m:t>→</m:t>
                    </m:r>
                  </m:oMath>
                </a14:m>
                <a:r>
                  <a:rPr lang="it-IT" sz="1800" dirty="0"/>
                  <a:t> </a:t>
                </a:r>
                <a:r>
                  <a:rPr lang="en-US" sz="1800" dirty="0"/>
                  <a:t>Probability that point </a:t>
                </a:r>
                <a:r>
                  <a:rPr lang="en-US" sz="1800" i="1" dirty="0"/>
                  <a:t>i</a:t>
                </a:r>
                <a:r>
                  <a:rPr lang="en-US" sz="1800" dirty="0"/>
                  <a:t> belongs to cluster </a:t>
                </a:r>
                <a14:m>
                  <m:oMath xmlns:m="http://schemas.openxmlformats.org/officeDocument/2006/math">
                    <m:r>
                      <a:rPr lang="it-IT" sz="1800" i="1">
                        <a:latin typeface="Cambria Math" panose="02040503050406030204" pitchFamily="18" charset="0"/>
                      </a:rPr>
                      <m:t>𝑘</m:t>
                    </m:r>
                  </m:oMath>
                </a14:m>
                <a:r>
                  <a:rPr lang="en-US" sz="1800" dirty="0"/>
                  <a:t> given the </a:t>
                </a:r>
                <a:r>
                  <a:rPr lang="it-IT" sz="1800" dirty="0"/>
                  <a:t>assignments</a:t>
                </a:r>
                <a:r>
                  <a:rPr lang="en-US" sz="1800" dirty="0"/>
                  <a:t> of all other points.</a:t>
                </a:r>
              </a:p>
              <a:p>
                <a:r>
                  <a:rPr lang="en-US" sz="1800" dirty="0"/>
                  <a:t>The Dirichlet normalizing constant is</a:t>
                </a:r>
                <a:r>
                  <a:rPr lang="it-IT" sz="1800" dirty="0"/>
                  <a:t>:</a:t>
                </a:r>
                <a:r>
                  <a:rPr lang="en-US" sz="1800" dirty="0"/>
                  <a:t> </a:t>
                </a:r>
                <a14:m>
                  <m:oMath xmlns:m="http://schemas.openxmlformats.org/officeDocument/2006/math">
                    <m:r>
                      <a:rPr lang="en-US" sz="1800" i="1" dirty="0" smtClean="0">
                        <a:latin typeface="Cambria Math" panose="02040503050406030204" pitchFamily="18" charset="0"/>
                      </a:rPr>
                      <m:t>𝐵</m:t>
                    </m:r>
                    <m:d>
                      <m:dPr>
                        <m:ctrlPr>
                          <a:rPr lang="en-US" sz="1800" i="1" dirty="0" smtClean="0">
                            <a:latin typeface="Cambria Math" panose="02040503050406030204" pitchFamily="18" charset="0"/>
                          </a:rPr>
                        </m:ctrlPr>
                      </m:dPr>
                      <m:e>
                        <m:r>
                          <a:rPr lang="en-US" sz="1800" i="1" dirty="0">
                            <a:latin typeface="Cambria Math" panose="02040503050406030204" pitchFamily="18" charset="0"/>
                          </a:rPr>
                          <m:t>𝜶</m:t>
                        </m:r>
                      </m:e>
                    </m:d>
                    <m:r>
                      <a:rPr lang="en-US" sz="1800" i="1" dirty="0">
                        <a:latin typeface="Cambria Math" panose="02040503050406030204" pitchFamily="18" charset="0"/>
                      </a:rPr>
                      <m:t>=</m:t>
                    </m:r>
                    <m:nary>
                      <m:naryPr>
                        <m:subHide m:val="on"/>
                        <m:supHide m:val="on"/>
                        <m:ctrlPr>
                          <a:rPr lang="en-US" sz="1800" i="1" dirty="0">
                            <a:latin typeface="Cambria Math" panose="02040503050406030204" pitchFamily="18" charset="0"/>
                          </a:rPr>
                        </m:ctrlPr>
                      </m:naryPr>
                      <m:sub/>
                      <m:sup/>
                      <m:e>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𝑗</m:t>
                            </m:r>
                            <m:r>
                              <a:rPr lang="en-US" sz="1800" i="1" dirty="0">
                                <a:latin typeface="Cambria Math" panose="02040503050406030204" pitchFamily="18" charset="0"/>
                              </a:rPr>
                              <m:t>=</m:t>
                            </m:r>
                            <m:r>
                              <a:rPr lang="en-US" sz="1800" i="1" dirty="0">
                                <a:latin typeface="Cambria Math" panose="02040503050406030204" pitchFamily="18" charset="0"/>
                              </a:rPr>
                              <m:t>1</m:t>
                            </m:r>
                          </m:sub>
                          <m:sup>
                            <m:r>
                              <a:rPr lang="en-US" sz="1800" i="1" dirty="0">
                                <a:latin typeface="Cambria Math" panose="02040503050406030204" pitchFamily="18" charset="0"/>
                              </a:rPr>
                              <m:t>𝐾</m:t>
                            </m:r>
                          </m:sup>
                          <m:e>
                            <m:sSubSup>
                              <m:sSubSupPr>
                                <m:ctrlPr>
                                  <a:rPr lang="en-US" sz="1800" i="1" dirty="0" err="1">
                                    <a:latin typeface="Cambria Math" panose="02040503050406030204" pitchFamily="18" charset="0"/>
                                  </a:rPr>
                                </m:ctrlPr>
                              </m:sSubSupPr>
                              <m:e>
                                <m:r>
                                  <a:rPr lang="en-US" sz="1800" i="1" dirty="0" err="1">
                                    <a:latin typeface="Cambria Math" panose="02040503050406030204" pitchFamily="18" charset="0"/>
                                  </a:rPr>
                                  <m:t>𝑤</m:t>
                                </m:r>
                              </m:e>
                              <m:sub>
                                <m:r>
                                  <a:rPr lang="en-US" sz="1800" i="1" dirty="0" err="1">
                                    <a:latin typeface="Cambria Math" panose="02040503050406030204" pitchFamily="18" charset="0"/>
                                  </a:rPr>
                                  <m:t>𝑗</m:t>
                                </m:r>
                              </m:sub>
                              <m:sup>
                                <m:sSub>
                                  <m:sSubPr>
                                    <m:ctrlPr>
                                      <a:rPr lang="en-US" sz="1800" i="1" dirty="0">
                                        <a:latin typeface="Cambria Math" panose="02040503050406030204" pitchFamily="18" charset="0"/>
                                      </a:rPr>
                                    </m:ctrlPr>
                                  </m:sSubPr>
                                  <m:e>
                                    <m:r>
                                      <a:rPr lang="en-US" sz="1800" i="1" dirty="0">
                                        <a:latin typeface="Cambria Math" panose="02040503050406030204" pitchFamily="18" charset="0"/>
                                      </a:rPr>
                                      <m:t>𝛼</m:t>
                                    </m:r>
                                  </m:e>
                                  <m:sub>
                                    <m:r>
                                      <a:rPr lang="en-US" sz="1800" i="1" dirty="0">
                                        <a:latin typeface="Cambria Math" panose="02040503050406030204" pitchFamily="18" charset="0"/>
                                      </a:rPr>
                                      <m:t>𝑗</m:t>
                                    </m:r>
                                  </m:sub>
                                </m:sSub>
                                <m:r>
                                  <a:rPr lang="en-US" sz="1800" i="1" dirty="0">
                                    <a:latin typeface="Cambria Math" panose="02040503050406030204" pitchFamily="18" charset="0"/>
                                  </a:rPr>
                                  <m:t>−</m:t>
                                </m:r>
                                <m:r>
                                  <a:rPr lang="en-US" sz="1800" i="1" dirty="0">
                                    <a:latin typeface="Cambria Math" panose="02040503050406030204" pitchFamily="18" charset="0"/>
                                  </a:rPr>
                                  <m:t>1</m:t>
                                </m:r>
                              </m:sup>
                            </m:sSubSup>
                          </m:e>
                        </m:nary>
                      </m:e>
                    </m:nary>
                    <m:r>
                      <a:rPr lang="en-US" sz="1800" i="1" dirty="0">
                        <a:latin typeface="Cambria Math" panose="02040503050406030204" pitchFamily="18" charset="0"/>
                      </a:rPr>
                      <m:t>𝑑</m:t>
                    </m:r>
                    <m:r>
                      <a:rPr lang="en-US" sz="1800" i="1" dirty="0">
                        <a:latin typeface="Cambria Math" panose="02040503050406030204" pitchFamily="18" charset="0"/>
                      </a:rPr>
                      <m:t>𝒘</m:t>
                    </m:r>
                    <m:r>
                      <a:rPr lang="en-US" sz="1800" i="1" dirty="0">
                        <a:latin typeface="Cambria Math" panose="02040503050406030204" pitchFamily="18" charset="0"/>
                      </a:rPr>
                      <m:t>=</m:t>
                    </m:r>
                    <m:f>
                      <m:fPr>
                        <m:ctrlPr>
                          <a:rPr lang="en-US" sz="1800" i="1" dirty="0">
                            <a:latin typeface="Cambria Math" panose="02040503050406030204" pitchFamily="18" charset="0"/>
                          </a:rPr>
                        </m:ctrlPr>
                      </m:fPr>
                      <m:num>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𝑗</m:t>
                            </m:r>
                            <m:r>
                              <a:rPr lang="en-US" sz="1800" i="1" dirty="0">
                                <a:latin typeface="Cambria Math" panose="02040503050406030204" pitchFamily="18" charset="0"/>
                              </a:rPr>
                              <m:t>=</m:t>
                            </m:r>
                            <m:r>
                              <a:rPr lang="en-US" sz="1800" i="1" dirty="0">
                                <a:latin typeface="Cambria Math" panose="02040503050406030204" pitchFamily="18" charset="0"/>
                              </a:rPr>
                              <m:t>1</m:t>
                            </m:r>
                          </m:sub>
                          <m:sup>
                            <m:r>
                              <a:rPr lang="en-US" sz="1800" i="1" dirty="0">
                                <a:latin typeface="Cambria Math" panose="02040503050406030204" pitchFamily="18" charset="0"/>
                              </a:rPr>
                              <m:t>𝐾</m:t>
                            </m:r>
                          </m:sup>
                          <m:e>
                            <m:r>
                              <m:rPr>
                                <m:sty m:val="p"/>
                              </m:rPr>
                              <a:rPr lang="en-US" sz="1800" i="0" dirty="0">
                                <a:latin typeface="Cambria Math" panose="02040503050406030204" pitchFamily="18" charset="0"/>
                              </a:rPr>
                              <m:t>Γ</m:t>
                            </m:r>
                            <m:d>
                              <m:dPr>
                                <m:ctrlPr>
                                  <a:rPr lang="en-US" sz="1800" i="1" dirty="0">
                                    <a:latin typeface="Cambria Math" panose="02040503050406030204" pitchFamily="18" charset="0"/>
                                  </a:rPr>
                                </m:ctrlPr>
                              </m:dPr>
                              <m:e>
                                <m:sSub>
                                  <m:sSubPr>
                                    <m:ctrlPr>
                                      <a:rPr lang="en-US" sz="1800" i="1" dirty="0" err="1">
                                        <a:latin typeface="Cambria Math" panose="02040503050406030204" pitchFamily="18" charset="0"/>
                                      </a:rPr>
                                    </m:ctrlPr>
                                  </m:sSubPr>
                                  <m:e>
                                    <m:r>
                                      <a:rPr lang="en-US" sz="1800" i="1" dirty="0">
                                        <a:latin typeface="Cambria Math" panose="02040503050406030204" pitchFamily="18" charset="0"/>
                                      </a:rPr>
                                      <m:t>𝛼</m:t>
                                    </m:r>
                                  </m:e>
                                  <m:sub>
                                    <m:r>
                                      <a:rPr lang="en-US" sz="1800" i="1" dirty="0" err="1">
                                        <a:latin typeface="Cambria Math" panose="02040503050406030204" pitchFamily="18" charset="0"/>
                                      </a:rPr>
                                      <m:t>𝑗</m:t>
                                    </m:r>
                                  </m:sub>
                                </m:sSub>
                              </m:e>
                            </m:d>
                          </m:e>
                        </m:nary>
                      </m:num>
                      <m:den>
                        <m:r>
                          <m:rPr>
                            <m:sty m:val="p"/>
                          </m:rPr>
                          <a:rPr lang="en-US" sz="1800" i="0" dirty="0">
                            <a:latin typeface="Cambria Math" panose="02040503050406030204" pitchFamily="18" charset="0"/>
                          </a:rPr>
                          <m:t>Γ</m:t>
                        </m:r>
                        <m:d>
                          <m:dPr>
                            <m:ctrlPr>
                              <a:rPr lang="en-US" sz="1800" i="1" dirty="0">
                                <a:latin typeface="Cambria Math" panose="02040503050406030204" pitchFamily="18" charset="0"/>
                              </a:rPr>
                            </m:ctrlPr>
                          </m:dPr>
                          <m:e>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𝑗</m:t>
                                </m:r>
                                <m:r>
                                  <a:rPr lang="en-US" sz="1800" i="1" dirty="0">
                                    <a:latin typeface="Cambria Math" panose="02040503050406030204" pitchFamily="18" charset="0"/>
                                  </a:rPr>
                                  <m:t>=</m:t>
                                </m:r>
                                <m:r>
                                  <a:rPr lang="en-US" sz="1800" i="1" dirty="0">
                                    <a:latin typeface="Cambria Math" panose="02040503050406030204" pitchFamily="18" charset="0"/>
                                  </a:rPr>
                                  <m:t>1</m:t>
                                </m:r>
                              </m:sub>
                              <m:sup>
                                <m:r>
                                  <a:rPr lang="en-US" sz="1800" i="1" dirty="0">
                                    <a:latin typeface="Cambria Math" panose="02040503050406030204" pitchFamily="18" charset="0"/>
                                  </a:rPr>
                                  <m:t>𝐾</m:t>
                                </m:r>
                              </m:sup>
                              <m:e>
                                <m:sSub>
                                  <m:sSubPr>
                                    <m:ctrlPr>
                                      <a:rPr lang="en-US" sz="1800" i="1" dirty="0" err="1">
                                        <a:latin typeface="Cambria Math" panose="02040503050406030204" pitchFamily="18" charset="0"/>
                                      </a:rPr>
                                    </m:ctrlPr>
                                  </m:sSubPr>
                                  <m:e>
                                    <m:r>
                                      <a:rPr lang="en-US" sz="1800" i="1" dirty="0">
                                        <a:latin typeface="Cambria Math" panose="02040503050406030204" pitchFamily="18" charset="0"/>
                                      </a:rPr>
                                      <m:t>𝛼</m:t>
                                    </m:r>
                                  </m:e>
                                  <m:sub>
                                    <m:r>
                                      <a:rPr lang="en-US" sz="1800" i="1" dirty="0" err="1">
                                        <a:latin typeface="Cambria Math" panose="02040503050406030204" pitchFamily="18" charset="0"/>
                                      </a:rPr>
                                      <m:t>𝑗</m:t>
                                    </m:r>
                                  </m:sub>
                                </m:sSub>
                              </m:e>
                            </m:nary>
                          </m:e>
                        </m:d>
                      </m:den>
                    </m:f>
                  </m:oMath>
                </a14:m>
                <a:endParaRPr lang="it-IT" sz="1800" dirty="0"/>
              </a:p>
              <a:p>
                <a14:m>
                  <m:oMath xmlns:m="http://schemas.openxmlformats.org/officeDocument/2006/math">
                    <m:r>
                      <a:rPr lang="it-IT" sz="1800" i="1" smtClean="0">
                        <a:latin typeface="Cambria Math" panose="02040503050406030204" pitchFamily="18" charset="0"/>
                      </a:rPr>
                      <m:t>𝑝</m:t>
                    </m:r>
                    <m:d>
                      <m:dPr>
                        <m:ctrlPr>
                          <a:rPr lang="it-IT" sz="1800" i="1">
                            <a:latin typeface="Cambria Math" panose="02040503050406030204" pitchFamily="18" charset="0"/>
                          </a:rPr>
                        </m:ctrlPr>
                      </m:dPr>
                      <m:e>
                        <m:r>
                          <a:rPr lang="it-IT" sz="1800" i="1">
                            <a:latin typeface="Cambria Math" panose="02040503050406030204" pitchFamily="18" charset="0"/>
                          </a:rPr>
                          <m:t>𝒛</m:t>
                        </m:r>
                      </m:e>
                      <m:e>
                        <m:r>
                          <a:rPr lang="it-IT" sz="1800" i="1">
                            <a:latin typeface="Cambria Math" panose="02040503050406030204" pitchFamily="18" charset="0"/>
                          </a:rPr>
                          <m:t>𝛼</m:t>
                        </m:r>
                      </m:e>
                    </m:d>
                    <m:r>
                      <a:rPr lang="it-IT" sz="1800" i="1">
                        <a:latin typeface="Cambria Math" panose="02040503050406030204" pitchFamily="18" charset="0"/>
                      </a:rPr>
                      <m:t>=</m:t>
                    </m:r>
                    <m:nary>
                      <m:naryPr>
                        <m:subHide m:val="on"/>
                        <m:supHide m:val="on"/>
                        <m:ctrlPr>
                          <a:rPr lang="it-IT" sz="1800" i="1">
                            <a:latin typeface="Cambria Math" panose="02040503050406030204" pitchFamily="18" charset="0"/>
                          </a:rPr>
                        </m:ctrlPr>
                      </m:naryPr>
                      <m:sub/>
                      <m:sup/>
                      <m:e>
                        <m:r>
                          <a:rPr lang="it-IT" sz="1800" i="1">
                            <a:latin typeface="Cambria Math" panose="02040503050406030204" pitchFamily="18" charset="0"/>
                          </a:rPr>
                          <m:t>𝑝</m:t>
                        </m:r>
                        <m:d>
                          <m:dPr>
                            <m:ctrlPr>
                              <a:rPr lang="it-IT" sz="1800" i="1">
                                <a:latin typeface="Cambria Math" panose="02040503050406030204" pitchFamily="18" charset="0"/>
                              </a:rPr>
                            </m:ctrlPr>
                          </m:dPr>
                          <m:e>
                            <m:r>
                              <a:rPr lang="it-IT" sz="1800" i="1">
                                <a:latin typeface="Cambria Math" panose="02040503050406030204" pitchFamily="18" charset="0"/>
                              </a:rPr>
                              <m:t>𝒛</m:t>
                            </m:r>
                          </m:e>
                          <m:e>
                            <m:r>
                              <a:rPr lang="it-IT" sz="1800" i="1">
                                <a:latin typeface="Cambria Math" panose="02040503050406030204" pitchFamily="18" charset="0"/>
                              </a:rPr>
                              <m:t>𝒘</m:t>
                            </m:r>
                          </m:e>
                        </m:d>
                        <m:r>
                          <a:rPr lang="it-IT" sz="1800" i="1">
                            <a:latin typeface="Cambria Math" panose="02040503050406030204" pitchFamily="18" charset="0"/>
                          </a:rPr>
                          <m:t>𝑝</m:t>
                        </m:r>
                        <m:d>
                          <m:dPr>
                            <m:ctrlPr>
                              <a:rPr lang="it-IT" sz="1800" i="1">
                                <a:latin typeface="Cambria Math" panose="02040503050406030204" pitchFamily="18" charset="0"/>
                              </a:rPr>
                            </m:ctrlPr>
                          </m:dPr>
                          <m:e>
                            <m:r>
                              <a:rPr lang="it-IT" sz="1800" i="1">
                                <a:latin typeface="Cambria Math" panose="02040503050406030204" pitchFamily="18" charset="0"/>
                              </a:rPr>
                              <m:t>𝒘</m:t>
                            </m:r>
                          </m:e>
                          <m:e>
                            <m:r>
                              <a:rPr lang="it-IT" sz="1800" i="1">
                                <a:latin typeface="Cambria Math" panose="02040503050406030204" pitchFamily="18" charset="0"/>
                              </a:rPr>
                              <m:t>𝛼</m:t>
                            </m:r>
                          </m:e>
                        </m:d>
                        <m:r>
                          <a:rPr lang="it-IT" sz="1800" i="1">
                            <a:latin typeface="Cambria Math" panose="02040503050406030204" pitchFamily="18" charset="0"/>
                          </a:rPr>
                          <m:t>𝑑</m:t>
                        </m:r>
                        <m:r>
                          <a:rPr lang="it-IT" sz="1800" i="1">
                            <a:latin typeface="Cambria Math" panose="02040503050406030204" pitchFamily="18" charset="0"/>
                          </a:rPr>
                          <m:t>𝒘</m:t>
                        </m:r>
                      </m:e>
                    </m:nary>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𝐵</m:t>
                        </m:r>
                        <m:d>
                          <m:dPr>
                            <m:ctrlPr>
                              <a:rPr lang="it-IT" sz="1800" i="1">
                                <a:latin typeface="Cambria Math" panose="02040503050406030204" pitchFamily="18" charset="0"/>
                              </a:rPr>
                            </m:ctrlPr>
                          </m:dPr>
                          <m:e>
                            <m:r>
                              <a:rPr lang="it-IT" sz="1800" i="1">
                                <a:latin typeface="Cambria Math" panose="02040503050406030204" pitchFamily="18" charset="0"/>
                              </a:rPr>
                              <m:t>𝛼</m:t>
                            </m:r>
                            <m:r>
                              <a:rPr lang="it-IT" sz="1800" b="0" i="1" smtClean="0">
                                <a:latin typeface="Cambria Math" panose="02040503050406030204" pitchFamily="18" charset="0"/>
                              </a:rPr>
                              <m:t>/</m:t>
                            </m:r>
                            <m:r>
                              <m:rPr>
                                <m:sty m:val="p"/>
                              </m:rPr>
                              <a:rPr lang="it-IT" sz="1800" b="0" i="1" smtClean="0">
                                <a:latin typeface="Cambria Math" panose="02040503050406030204" pitchFamily="18" charset="0"/>
                              </a:rPr>
                              <m:t>K</m:t>
                            </m:r>
                          </m:e>
                        </m:d>
                      </m:den>
                    </m:f>
                    <m:nary>
                      <m:naryPr>
                        <m:subHide m:val="on"/>
                        <m:supHide m:val="on"/>
                        <m:ctrlPr>
                          <a:rPr lang="it-IT" sz="1800" i="1">
                            <a:latin typeface="Cambria Math" panose="02040503050406030204" pitchFamily="18" charset="0"/>
                          </a:rPr>
                        </m:ctrlPr>
                      </m:naryPr>
                      <m:sub/>
                      <m:sup/>
                      <m:e>
                        <m:nary>
                          <m:naryPr>
                            <m:chr m:val="∏"/>
                            <m:ctrlPr>
                              <a:rPr lang="it-IT" sz="1800" i="1">
                                <a:latin typeface="Cambria Math" panose="02040503050406030204" pitchFamily="18" charset="0"/>
                              </a:rPr>
                            </m:ctrlPr>
                          </m:naryPr>
                          <m:sub>
                            <m:r>
                              <a:rPr lang="it-IT" sz="1800" i="1">
                                <a:latin typeface="Cambria Math" panose="02040503050406030204" pitchFamily="18" charset="0"/>
                              </a:rPr>
                              <m:t>𝑗</m:t>
                            </m:r>
                            <m:r>
                              <a:rPr lang="it-IT" sz="1800" i="1">
                                <a:latin typeface="Cambria Math" panose="02040503050406030204" pitchFamily="18" charset="0"/>
                              </a:rPr>
                              <m:t>=</m:t>
                            </m:r>
                            <m:r>
                              <a:rPr lang="it-IT" sz="1800" i="1">
                                <a:latin typeface="Cambria Math" panose="02040503050406030204" pitchFamily="18" charset="0"/>
                              </a:rPr>
                              <m:t>1</m:t>
                            </m:r>
                          </m:sub>
                          <m:sup>
                            <m:r>
                              <a:rPr lang="it-IT" sz="1800" i="1">
                                <a:latin typeface="Cambria Math" panose="02040503050406030204" pitchFamily="18" charset="0"/>
                              </a:rPr>
                              <m:t>𝐾</m:t>
                            </m:r>
                          </m:sup>
                          <m:e>
                            <m:sSubSup>
                              <m:sSubSupPr>
                                <m:ctrlPr>
                                  <a:rPr lang="it-IT" sz="1800" i="1">
                                    <a:latin typeface="Cambria Math" panose="02040503050406030204" pitchFamily="18" charset="0"/>
                                  </a:rPr>
                                </m:ctrlPr>
                              </m:sSubSupPr>
                              <m:e>
                                <m:r>
                                  <a:rPr lang="it-IT" sz="1800" i="1">
                                    <a:latin typeface="Cambria Math" panose="02040503050406030204" pitchFamily="18" charset="0"/>
                                  </a:rPr>
                                  <m:t>𝑤</m:t>
                                </m:r>
                              </m:e>
                              <m:sub>
                                <m:r>
                                  <a:rPr lang="it-IT" sz="1800" i="1">
                                    <a:latin typeface="Cambria Math" panose="02040503050406030204" pitchFamily="18" charset="0"/>
                                  </a:rPr>
                                  <m:t>𝑗</m:t>
                                </m:r>
                              </m:sub>
                              <m:sup>
                                <m:box>
                                  <m:boxPr>
                                    <m:ctrlPr>
                                      <a:rPr lang="it-IT" sz="1800" i="1" smtClean="0">
                                        <a:latin typeface="Cambria Math" panose="02040503050406030204" pitchFamily="18" charset="0"/>
                                      </a:rPr>
                                    </m:ctrlPr>
                                  </m:boxPr>
                                  <m:e>
                                    <m:argPr>
                                      <m:argSz m:val="-1"/>
                                    </m:argPr>
                                    <m:f>
                                      <m:fPr>
                                        <m:ctrlPr>
                                          <a:rPr lang="it-IT" sz="1800" i="1" smtClean="0">
                                            <a:latin typeface="Cambria Math" panose="02040503050406030204" pitchFamily="18" charset="0"/>
                                          </a:rPr>
                                        </m:ctrlPr>
                                      </m:fPr>
                                      <m:num>
                                        <m:r>
                                          <m:rPr>
                                            <m:sty m:val="p"/>
                                          </m:rPr>
                                          <a:rPr lang="it-IT" sz="1800" b="0" i="1" smtClean="0">
                                            <a:latin typeface="Cambria Math" panose="02040503050406030204" pitchFamily="18" charset="0"/>
                                          </a:rPr>
                                          <m:t>α</m:t>
                                        </m:r>
                                      </m:num>
                                      <m:den>
                                        <m:r>
                                          <m:rPr>
                                            <m:sty m:val="p"/>
                                          </m:rPr>
                                          <a:rPr lang="it-IT" sz="1800" b="0" i="1" smtClean="0">
                                            <a:latin typeface="Cambria Math" panose="02040503050406030204" pitchFamily="18" charset="0"/>
                                          </a:rPr>
                                          <m:t>K</m:t>
                                        </m:r>
                                      </m:den>
                                    </m:f>
                                  </m:e>
                                </m:box>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𝑗</m:t>
                                    </m:r>
                                  </m:sub>
                                </m:sSub>
                                <m:r>
                                  <a:rPr lang="it-IT" sz="1800" i="1">
                                    <a:latin typeface="Cambria Math" panose="02040503050406030204" pitchFamily="18" charset="0"/>
                                  </a:rPr>
                                  <m:t>−</m:t>
                                </m:r>
                                <m:r>
                                  <a:rPr lang="it-IT" sz="1800" i="1">
                                    <a:latin typeface="Cambria Math" panose="02040503050406030204" pitchFamily="18" charset="0"/>
                                  </a:rPr>
                                  <m:t>1</m:t>
                                </m:r>
                              </m:sup>
                            </m:sSubSup>
                          </m:e>
                        </m:nary>
                      </m:e>
                    </m:nary>
                    <m:r>
                      <a:rPr lang="it-IT" sz="1800" i="1">
                        <a:latin typeface="Cambria Math" panose="02040503050406030204" pitchFamily="18" charset="0"/>
                      </a:rPr>
                      <m:t>𝑑</m:t>
                    </m:r>
                    <m:r>
                      <a:rPr lang="it-IT" sz="1800" i="1">
                        <a:latin typeface="Cambria Math" panose="02040503050406030204" pitchFamily="18" charset="0"/>
                      </a:rPr>
                      <m:t>𝒘</m:t>
                    </m:r>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𝐵</m:t>
                        </m:r>
                        <m:d>
                          <m:dPr>
                            <m:ctrlPr>
                              <a:rPr lang="it-IT" sz="1800" i="1">
                                <a:latin typeface="Cambria Math" panose="02040503050406030204" pitchFamily="18" charset="0"/>
                              </a:rPr>
                            </m:ctrlPr>
                          </m:dPr>
                          <m:e>
                            <m:r>
                              <a:rPr lang="it-IT" sz="1800" i="1">
                                <a:latin typeface="Cambria Math" panose="02040503050406030204" pitchFamily="18" charset="0"/>
                              </a:rPr>
                              <m:t>𝛼</m:t>
                            </m:r>
                            <m:r>
                              <a:rPr lang="it-IT" sz="1800" b="0" i="1" smtClean="0">
                                <a:latin typeface="Cambria Math" panose="02040503050406030204" pitchFamily="18" charset="0"/>
                              </a:rPr>
                              <m:t>/</m:t>
                            </m:r>
                            <m:r>
                              <m:rPr>
                                <m:sty m:val="p"/>
                              </m:rPr>
                              <a:rPr lang="it-IT" sz="1800" b="0" i="1" smtClean="0">
                                <a:latin typeface="Cambria Math" panose="02040503050406030204" pitchFamily="18" charset="0"/>
                              </a:rPr>
                              <m:t>K</m:t>
                            </m:r>
                            <m:r>
                              <a:rPr lang="it-IT" sz="1800" i="1">
                                <a:latin typeface="Cambria Math" panose="02040503050406030204" pitchFamily="18" charset="0"/>
                              </a:rPr>
                              <m:t>+</m:t>
                            </m:r>
                            <m:r>
                              <a:rPr lang="it-IT" sz="1800" b="0" i="1" smtClean="0">
                                <a:latin typeface="Cambria Math" panose="02040503050406030204" pitchFamily="18" charset="0"/>
                              </a:rPr>
                              <m:t>𝒏</m:t>
                            </m:r>
                          </m:e>
                        </m:d>
                      </m:num>
                      <m:den>
                        <m:r>
                          <a:rPr lang="it-IT" sz="1800" i="1">
                            <a:latin typeface="Cambria Math" panose="02040503050406030204" pitchFamily="18" charset="0"/>
                          </a:rPr>
                          <m:t>𝐵</m:t>
                        </m:r>
                        <m:d>
                          <m:dPr>
                            <m:ctrlPr>
                              <a:rPr lang="it-IT" sz="1800" i="1">
                                <a:latin typeface="Cambria Math" panose="02040503050406030204" pitchFamily="18" charset="0"/>
                              </a:rPr>
                            </m:ctrlPr>
                          </m:dPr>
                          <m:e>
                            <m:r>
                              <a:rPr lang="it-IT" sz="1800" i="1">
                                <a:latin typeface="Cambria Math" panose="02040503050406030204" pitchFamily="18" charset="0"/>
                              </a:rPr>
                              <m:t>𝛼</m:t>
                            </m:r>
                            <m:r>
                              <a:rPr lang="it-IT" sz="1800" b="0" i="1" smtClean="0">
                                <a:latin typeface="Cambria Math" panose="02040503050406030204" pitchFamily="18" charset="0"/>
                              </a:rPr>
                              <m:t>/</m:t>
                            </m:r>
                            <m:r>
                              <m:rPr>
                                <m:sty m:val="p"/>
                              </m:rPr>
                              <a:rPr lang="it-IT" sz="1800" b="0" i="1" smtClean="0">
                                <a:latin typeface="Cambria Math" panose="02040503050406030204" pitchFamily="18" charset="0"/>
                              </a:rPr>
                              <m:t>K</m:t>
                            </m:r>
                          </m:e>
                        </m:d>
                      </m:den>
                    </m:f>
                  </m:oMath>
                </a14:m>
                <a:r>
                  <a:rPr lang="it-IT" sz="1800" dirty="0"/>
                  <a:t>,    where </a:t>
                </a:r>
                <a14:m>
                  <m:oMath xmlns:m="http://schemas.openxmlformats.org/officeDocument/2006/math">
                    <m:r>
                      <a:rPr lang="it-IT" sz="1800" i="1" smtClean="0">
                        <a:latin typeface="Cambria Math" panose="02040503050406030204" pitchFamily="18" charset="0"/>
                      </a:rPr>
                      <m:t>𝒏</m:t>
                    </m:r>
                    <m: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𝑛</m:t>
                            </m:r>
                          </m:e>
                          <m:sub>
                            <m:r>
                              <a:rPr lang="it-IT" sz="1800" b="0" i="1" smtClean="0">
                                <a:latin typeface="Cambria Math" panose="02040503050406030204" pitchFamily="18" charset="0"/>
                              </a:rPr>
                              <m:t>1</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𝑛</m:t>
                            </m:r>
                          </m:e>
                          <m:sub>
                            <m:r>
                              <a:rPr lang="it-IT" sz="1800" b="0" i="1" smtClean="0">
                                <a:latin typeface="Cambria Math" panose="02040503050406030204" pitchFamily="18" charset="0"/>
                              </a:rPr>
                              <m:t>𝐾</m:t>
                            </m:r>
                          </m:sub>
                        </m:sSub>
                      </m:e>
                    </m:d>
                  </m:oMath>
                </a14:m>
                <a:endParaRPr lang="it-IT" sz="1800" dirty="0"/>
              </a:p>
              <a:p>
                <a14:m>
                  <m:oMath xmlns:m="http://schemas.openxmlformats.org/officeDocument/2006/math">
                    <m: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e>
                    </m:d>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𝑝</m:t>
                        </m:r>
                        <m:d>
                          <m:dPr>
                            <m:ctrlPr>
                              <a:rPr lang="it-IT" sz="1800" i="1">
                                <a:latin typeface="Cambria Math" panose="02040503050406030204" pitchFamily="18" charset="0"/>
                              </a:rPr>
                            </m:ctrlPr>
                          </m:dPr>
                          <m:e>
                            <m:r>
                              <a:rPr lang="it-IT" sz="1800" i="1">
                                <a:latin typeface="Cambria Math" panose="02040503050406030204" pitchFamily="18" charset="0"/>
                              </a:rPr>
                              <m:t>𝒛</m:t>
                            </m:r>
                          </m:e>
                          <m:e>
                            <m:r>
                              <a:rPr lang="it-IT" sz="1800" i="1">
                                <a:latin typeface="Cambria Math" panose="02040503050406030204" pitchFamily="18" charset="0"/>
                              </a:rPr>
                              <m:t>𝛼</m:t>
                            </m:r>
                          </m:e>
                        </m:d>
                      </m:num>
                      <m:den>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e>
                          <m:e>
                            <m:r>
                              <a:rPr lang="it-IT" sz="1800" i="1">
                                <a:latin typeface="Cambria Math" panose="02040503050406030204" pitchFamily="18" charset="0"/>
                              </a:rPr>
                              <m:t>𝛼</m:t>
                            </m:r>
                          </m:e>
                        </m:d>
                      </m:den>
                    </m:f>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𝐵</m:t>
                        </m:r>
                        <m:d>
                          <m:dPr>
                            <m:ctrlPr>
                              <a:rPr lang="it-IT" sz="1800" i="1">
                                <a:latin typeface="Cambria Math" panose="02040503050406030204" pitchFamily="18" charset="0"/>
                              </a:rPr>
                            </m:ctrlPr>
                          </m:dPr>
                          <m:e>
                            <m:r>
                              <a:rPr lang="it-IT" sz="1800" i="1">
                                <a:latin typeface="Cambria Math" panose="02040503050406030204" pitchFamily="18" charset="0"/>
                              </a:rPr>
                              <m:t>𝛼</m:t>
                            </m:r>
                            <m:r>
                              <a:rPr lang="it-IT" sz="1800" b="0" i="1" smtClean="0">
                                <a:latin typeface="Cambria Math" panose="02040503050406030204" pitchFamily="18" charset="0"/>
                              </a:rPr>
                              <m:t>/</m:t>
                            </m:r>
                            <m:r>
                              <m:rPr>
                                <m:sty m:val="p"/>
                              </m:rPr>
                              <a:rPr lang="it-IT" sz="1800" b="0" i="1" smtClean="0">
                                <a:latin typeface="Cambria Math" panose="02040503050406030204" pitchFamily="18" charset="0"/>
                              </a:rPr>
                              <m:t>K</m:t>
                            </m:r>
                            <m:r>
                              <a:rPr lang="it-IT" sz="1800" i="1">
                                <a:latin typeface="Cambria Math" panose="02040503050406030204" pitchFamily="18" charset="0"/>
                              </a:rPr>
                              <m:t>+</m:t>
                            </m:r>
                            <m:r>
                              <a:rPr lang="it-IT" sz="1800" b="0" i="1" smtClean="0">
                                <a:latin typeface="Cambria Math" panose="02040503050406030204" pitchFamily="18" charset="0"/>
                              </a:rPr>
                              <m:t>𝒏</m:t>
                            </m:r>
                          </m:e>
                        </m:d>
                      </m:num>
                      <m:den>
                        <m:r>
                          <a:rPr lang="it-IT" sz="1800" i="1">
                            <a:latin typeface="Cambria Math" panose="02040503050406030204" pitchFamily="18" charset="0"/>
                          </a:rPr>
                          <m:t>𝐵</m:t>
                        </m:r>
                        <m:d>
                          <m:dPr>
                            <m:ctrlPr>
                              <a:rPr lang="it-IT" sz="1800" i="1">
                                <a:latin typeface="Cambria Math" panose="02040503050406030204" pitchFamily="18" charset="0"/>
                              </a:rPr>
                            </m:ctrlPr>
                          </m:dPr>
                          <m:e>
                            <m:r>
                              <a:rPr lang="it-IT" sz="1800" i="1">
                                <a:latin typeface="Cambria Math" panose="02040503050406030204" pitchFamily="18" charset="0"/>
                              </a:rPr>
                              <m:t>𝛼</m:t>
                            </m:r>
                            <m:r>
                              <a:rPr lang="it-IT" sz="1800" b="0" i="1" smtClean="0">
                                <a:latin typeface="Cambria Math" panose="02040503050406030204" pitchFamily="18" charset="0"/>
                              </a:rPr>
                              <m:t>/</m:t>
                            </m:r>
                            <m:r>
                              <m:rPr>
                                <m:sty m:val="p"/>
                              </m:rPr>
                              <a:rPr lang="it-IT" sz="1800" b="0" i="1" smtClean="0">
                                <a:latin typeface="Cambria Math" panose="02040503050406030204" pitchFamily="18" charset="0"/>
                              </a:rPr>
                              <m:t>K</m:t>
                            </m:r>
                            <m:r>
                              <a:rPr lang="it-IT" sz="1800" i="1">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𝒏</m:t>
                                </m:r>
                              </m:e>
                              <m:sub>
                                <m:r>
                                  <a:rPr lang="it-IT" sz="1800" b="0" i="1" smtClean="0">
                                    <a:latin typeface="Cambria Math" panose="02040503050406030204" pitchFamily="18" charset="0"/>
                                  </a:rPr>
                                  <m:t>¬</m:t>
                                </m:r>
                                <m:r>
                                  <a:rPr lang="it-IT" sz="1800" b="0" i="1" smtClean="0">
                                    <a:latin typeface="Cambria Math" panose="02040503050406030204" pitchFamily="18" charset="0"/>
                                  </a:rPr>
                                  <m:t>𝑖</m:t>
                                </m:r>
                              </m:sub>
                            </m:sSub>
                          </m:e>
                        </m:d>
                      </m:den>
                    </m:f>
                  </m:oMath>
                </a14:m>
                <a:endParaRPr lang="it-IT" sz="1800" dirty="0"/>
              </a:p>
              <a:p>
                <a:pPr lvl="1"/>
                <a:r>
                  <a:rPr lang="it-IT" sz="1600" dirty="0"/>
                  <a:t>where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𝑗</m:t>
                        </m:r>
                        <m:r>
                          <a:rPr lang="it-IT" sz="1600" i="1">
                            <a:latin typeface="Cambria Math" panose="02040503050406030204" pitchFamily="18" charset="0"/>
                          </a:rPr>
                          <m:t>¬</m:t>
                        </m:r>
                        <m:r>
                          <a:rPr lang="it-IT" sz="1600" i="1">
                            <a:latin typeface="Cambria Math" panose="02040503050406030204" pitchFamily="18" charset="0"/>
                          </a:rPr>
                          <m:t>𝑖</m:t>
                        </m:r>
                      </m:sub>
                    </m:sSub>
                  </m:oMath>
                </a14:m>
                <a:r>
                  <a:rPr lang="it-IT" sz="1600" dirty="0"/>
                  <a:t> is the number of points in component </a:t>
                </a:r>
                <a:r>
                  <a:rPr lang="it-IT" sz="1600" i="1" dirty="0"/>
                  <a:t>j</a:t>
                </a:r>
                <a:r>
                  <a:rPr lang="it-IT" sz="1600" dirty="0"/>
                  <a:t> excluding point </a:t>
                </a:r>
                <a:r>
                  <a:rPr lang="it-IT" sz="1600" i="1" dirty="0"/>
                  <a:t>i</a:t>
                </a:r>
                <a:r>
                  <a:rPr lang="it-IT" sz="1600" dirty="0"/>
                  <a:t> (if point </a:t>
                </a:r>
                <a:r>
                  <a:rPr lang="it-IT" sz="1600" i="1" dirty="0"/>
                  <a:t>i</a:t>
                </a:r>
                <a:r>
                  <a:rPr lang="it-IT" sz="1600" dirty="0"/>
                  <a:t> is not in component </a:t>
                </a:r>
                <a:r>
                  <a:rPr lang="it-IT" sz="1600" i="1" dirty="0"/>
                  <a:t>j</a:t>
                </a:r>
                <a:r>
                  <a:rPr lang="it-IT" sz="1600" dirty="0"/>
                  <a:t>: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𝑗</m:t>
                        </m:r>
                        <m:r>
                          <a:rPr lang="it-IT" sz="1600" i="1">
                            <a:latin typeface="Cambria Math" panose="02040503050406030204" pitchFamily="18" charset="0"/>
                          </a:rPr>
                          <m:t>¬</m:t>
                        </m:r>
                        <m:r>
                          <a:rPr lang="it-IT" sz="1600" i="1">
                            <a:latin typeface="Cambria Math" panose="02040503050406030204" pitchFamily="18" charset="0"/>
                          </a:rPr>
                          <m:t>𝑖</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𝑗</m:t>
                        </m:r>
                      </m:sub>
                    </m:sSub>
                  </m:oMath>
                </a14:m>
                <a:r>
                  <a:rPr lang="it-IT" sz="1600" dirty="0"/>
                  <a:t>)</a:t>
                </a:r>
              </a:p>
              <a:p>
                <a:pPr lvl="1"/>
                <a:endParaRPr lang="it-IT" sz="1600" dirty="0"/>
              </a:p>
              <a:p>
                <a:pPr marL="0" indent="0">
                  <a:buNone/>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m:t>
                      </m:r>
                      <m:r>
                        <a:rPr lang="it-IT" i="1" smtClean="0">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𝑘</m:t>
                          </m:r>
                        </m:e>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𝛼</m:t>
                          </m:r>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𝐵</m:t>
                          </m:r>
                          <m:d>
                            <m:dPr>
                              <m:ctrlPr>
                                <a:rPr lang="it-IT" i="1">
                                  <a:latin typeface="Cambria Math" panose="02040503050406030204" pitchFamily="18" charset="0"/>
                                </a:rPr>
                              </m:ctrlPr>
                            </m:dPr>
                            <m:e>
                              <m:r>
                                <a:rPr lang="it-IT" i="1">
                                  <a:latin typeface="Cambria Math" panose="02040503050406030204" pitchFamily="18" charset="0"/>
                                </a:rPr>
                                <m:t>𝛼</m:t>
                              </m:r>
                              <m:r>
                                <a:rPr lang="it-IT" i="1">
                                  <a:latin typeface="Cambria Math" panose="02040503050406030204" pitchFamily="18" charset="0"/>
                                </a:rPr>
                                <m:t>/</m:t>
                              </m:r>
                              <m:r>
                                <m:rPr>
                                  <m:sty m:val="p"/>
                                </m:rPr>
                                <a:rPr lang="it-IT" i="1">
                                  <a:latin typeface="Cambria Math" panose="02040503050406030204" pitchFamily="18" charset="0"/>
                                </a:rPr>
                                <m:t>K</m:t>
                              </m:r>
                              <m:r>
                                <a:rPr lang="it-IT" i="1">
                                  <a:latin typeface="Cambria Math" panose="02040503050406030204" pitchFamily="18" charset="0"/>
                                </a:rPr>
                                <m:t>+</m:t>
                              </m:r>
                              <m:r>
                                <a:rPr lang="it-IT" i="1">
                                  <a:latin typeface="Cambria Math" panose="02040503050406030204" pitchFamily="18" charset="0"/>
                                </a:rPr>
                                <m:t>𝒏</m:t>
                              </m:r>
                            </m:e>
                          </m:d>
                        </m:num>
                        <m:den>
                          <m:r>
                            <a:rPr lang="it-IT" i="1">
                              <a:latin typeface="Cambria Math" panose="02040503050406030204" pitchFamily="18" charset="0"/>
                            </a:rPr>
                            <m:t>𝐵</m:t>
                          </m:r>
                          <m:d>
                            <m:dPr>
                              <m:ctrlPr>
                                <a:rPr lang="it-IT" i="1">
                                  <a:latin typeface="Cambria Math" panose="02040503050406030204" pitchFamily="18" charset="0"/>
                                </a:rPr>
                              </m:ctrlPr>
                            </m:dPr>
                            <m:e>
                              <m:r>
                                <a:rPr lang="it-IT" i="1">
                                  <a:latin typeface="Cambria Math" panose="02040503050406030204" pitchFamily="18" charset="0"/>
                                </a:rPr>
                                <m:t>𝛼</m:t>
                              </m:r>
                              <m:r>
                                <a:rPr lang="it-IT" i="1">
                                  <a:latin typeface="Cambria Math" panose="02040503050406030204" pitchFamily="18" charset="0"/>
                                </a:rPr>
                                <m:t>/</m:t>
                              </m:r>
                              <m:r>
                                <m:rPr>
                                  <m:sty m:val="p"/>
                                </m:rPr>
                                <a:rPr lang="it-IT" i="1">
                                  <a:latin typeface="Cambria Math" panose="02040503050406030204" pitchFamily="18" charset="0"/>
                                </a:rPr>
                                <m:t>K</m:t>
                              </m:r>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𝒏</m:t>
                                  </m:r>
                                </m:e>
                                <m:sub>
                                  <m:r>
                                    <a:rPr lang="it-IT" i="1">
                                      <a:latin typeface="Cambria Math" panose="02040503050406030204" pitchFamily="18" charset="0"/>
                                    </a:rPr>
                                    <m:t>¬</m:t>
                                  </m:r>
                                  <m:r>
                                    <a:rPr lang="it-IT" i="1">
                                      <a:latin typeface="Cambria Math" panose="02040503050406030204" pitchFamily="18" charset="0"/>
                                    </a:rPr>
                                    <m:t>𝑖</m:t>
                                  </m:r>
                                </m:sub>
                              </m:sSub>
                            </m:e>
                          </m:d>
                        </m:den>
                      </m:f>
                      <m:r>
                        <a:rPr lang="it-IT" i="1">
                          <a:latin typeface="Cambria Math" panose="02040503050406030204" pitchFamily="18" charset="0"/>
                        </a:rPr>
                        <m:t>=</m:t>
                      </m:r>
                      <m:f>
                        <m:fPr>
                          <m:ctrlPr>
                            <a:rPr lang="it-IT" i="1">
                              <a:latin typeface="Cambria Math" panose="02040503050406030204" pitchFamily="18" charset="0"/>
                            </a:rPr>
                          </m:ctrlPr>
                        </m:fPr>
                        <m:num>
                          <m:r>
                            <m:rPr>
                              <m:sty m:val="p"/>
                            </m:rPr>
                            <a:rPr lang="it-IT" i="0">
                              <a:latin typeface="Cambria Math" panose="02040503050406030204" pitchFamily="18" charset="0"/>
                            </a:rPr>
                            <m:t>Γ</m:t>
                          </m:r>
                          <m:d>
                            <m:dPr>
                              <m:ctrlPr>
                                <a:rPr lang="it-IT" i="1">
                                  <a:latin typeface="Cambria Math" panose="02040503050406030204" pitchFamily="18" charset="0"/>
                                </a:rPr>
                              </m:ctrlPr>
                            </m:dPr>
                            <m:e>
                              <m:r>
                                <a:rPr lang="it-IT" i="1">
                                  <a:latin typeface="Cambria Math" panose="02040503050406030204" pitchFamily="18" charset="0"/>
                                </a:rPr>
                                <m:t>𝛼</m:t>
                              </m:r>
                              <m:r>
                                <m:rPr>
                                  <m:lit/>
                                </m:rPr>
                                <a:rPr lang="it-IT" i="1">
                                  <a:latin typeface="Cambria Math" panose="02040503050406030204" pitchFamily="18" charset="0"/>
                                </a:rPr>
                                <m:t>/</m:t>
                              </m:r>
                              <m:r>
                                <a:rPr lang="it-IT" i="1">
                                  <a:latin typeface="Cambria Math" panose="02040503050406030204" pitchFamily="18" charset="0"/>
                                </a:rPr>
                                <m:t>𝐾</m:t>
                              </m:r>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sub>
                              </m:sSub>
                            </m:e>
                          </m:d>
                        </m:num>
                        <m:den>
                          <m:r>
                            <m:rPr>
                              <m:sty m:val="p"/>
                            </m:rPr>
                            <a:rPr lang="it-IT" i="0">
                              <a:latin typeface="Cambria Math" panose="02040503050406030204" pitchFamily="18" charset="0"/>
                            </a:rPr>
                            <m:t>Γ</m:t>
                          </m:r>
                          <m:d>
                            <m:dPr>
                              <m:ctrlPr>
                                <a:rPr lang="it-IT" i="1">
                                  <a:latin typeface="Cambria Math" panose="02040503050406030204" pitchFamily="18" charset="0"/>
                                </a:rPr>
                              </m:ctrlPr>
                            </m:dPr>
                            <m:e>
                              <m:r>
                                <a:rPr lang="it-IT" i="1">
                                  <a:latin typeface="Cambria Math" panose="02040503050406030204" pitchFamily="18" charset="0"/>
                                </a:rPr>
                                <m:t>𝛼</m:t>
                              </m:r>
                              <m:r>
                                <m:rPr>
                                  <m:lit/>
                                </m:rPr>
                                <a:rPr lang="it-IT" i="1">
                                  <a:latin typeface="Cambria Math" panose="02040503050406030204" pitchFamily="18" charset="0"/>
                                </a:rPr>
                                <m:t>/</m:t>
                              </m:r>
                              <m:r>
                                <a:rPr lang="it-IT" i="1">
                                  <a:latin typeface="Cambria Math" panose="02040503050406030204" pitchFamily="18" charset="0"/>
                                </a:rPr>
                                <m:t>𝐾</m:t>
                              </m:r>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e>
                          </m:d>
                        </m:den>
                      </m:f>
                      <m:r>
                        <a:rPr lang="it-IT" i="1">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𝛼</m:t>
                          </m:r>
                          <m:r>
                            <m:rPr>
                              <m:lit/>
                            </m:rPr>
                            <a:rPr lang="it-IT" i="1">
                              <a:latin typeface="Cambria Math" panose="02040503050406030204" pitchFamily="18" charset="0"/>
                            </a:rPr>
                            <m:t>/</m:t>
                          </m:r>
                          <m:r>
                            <a:rPr lang="it-IT" i="1">
                              <a:latin typeface="Cambria Math" panose="02040503050406030204" pitchFamily="18" charset="0"/>
                            </a:rPr>
                            <m:t>𝐾</m:t>
                          </m:r>
                        </m:num>
                        <m:den>
                          <m:r>
                            <a:rPr lang="it-IT" i="1">
                              <a:latin typeface="Cambria Math" panose="02040503050406030204" pitchFamily="18" charset="0"/>
                            </a:rPr>
                            <m:t>𝑁</m:t>
                          </m:r>
                          <m:r>
                            <a:rPr lang="it-IT" i="1">
                              <a:latin typeface="Cambria Math" panose="02040503050406030204" pitchFamily="18" charset="0"/>
                            </a:rPr>
                            <m:t>−</m:t>
                          </m:r>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𝛼</m:t>
                          </m:r>
                        </m:den>
                      </m:f>
                    </m:oMath>
                  </m:oMathPara>
                </a14:m>
                <a:endParaRPr lang="it-IT" dirty="0"/>
              </a:p>
              <a:p>
                <a:r>
                  <a:rPr lang="it-IT" sz="1800" dirty="0"/>
                  <a:t>The probability that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oMath>
                </a14:m>
                <a:r>
                  <a:rPr lang="it-IT" sz="1800" dirty="0"/>
                  <a:t> is proportional to the number of points in components </a:t>
                </a:r>
                <a14:m>
                  <m:oMath xmlns:m="http://schemas.openxmlformats.org/officeDocument/2006/math">
                    <m:r>
                      <a:rPr lang="it-IT" sz="1800" i="1">
                        <a:latin typeface="Cambria Math" panose="02040503050406030204" pitchFamily="18" charset="0"/>
                      </a:rPr>
                      <m:t>𝑘</m:t>
                    </m:r>
                  </m:oMath>
                </a14:m>
                <a:r>
                  <a:rPr lang="it-IT" sz="1800" dirty="0"/>
                  <a:t>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oMath>
                </a14:m>
                <a:r>
                  <a:rPr lang="it-IT" sz="1800" dirty="0"/>
                  <a:t>).</a:t>
                </a:r>
              </a:p>
            </p:txBody>
          </p:sp>
        </mc:Choice>
        <mc:Fallback xmlns="">
          <p:sp>
            <p:nvSpPr>
              <p:cNvPr id="3" name="Content Placeholder 2">
                <a:extLst>
                  <a:ext uri="{FF2B5EF4-FFF2-40B4-BE49-F238E27FC236}">
                    <a16:creationId xmlns:a16="http://schemas.microsoft.com/office/drawing/2014/main" id="{4A1BD73F-45DB-E8D9-9600-5E5ADBEF8BD1}"/>
                  </a:ext>
                </a:extLst>
              </p:cNvPr>
              <p:cNvSpPr>
                <a:spLocks noGrp="1" noRot="1" noChangeAspect="1" noMove="1" noResize="1" noEditPoints="1" noAdjustHandles="1" noChangeArrowheads="1" noChangeShapeType="1" noTextEdit="1"/>
              </p:cNvSpPr>
              <p:nvPr>
                <p:ph idx="1"/>
              </p:nvPr>
            </p:nvSpPr>
            <p:spPr>
              <a:xfrm>
                <a:off x="700635" y="1570892"/>
                <a:ext cx="10691265" cy="4673600"/>
              </a:xfrm>
              <a:blipFill>
                <a:blip r:embed="rId3"/>
                <a:stretch>
                  <a:fillRect l="-399" t="-653"/>
                </a:stretch>
              </a:blipFill>
            </p:spPr>
            <p:txBody>
              <a:bodyPr/>
              <a:lstStyle/>
              <a:p>
                <a:r>
                  <a:rPr lang="it-IT">
                    <a:noFill/>
                  </a:rPr>
                  <a:t> </a:t>
                </a:r>
              </a:p>
            </p:txBody>
          </p:sp>
        </mc:Fallback>
      </mc:AlternateContent>
    </p:spTree>
    <p:extLst>
      <p:ext uri="{BB962C8B-B14F-4D97-AF65-F5344CB8AC3E}">
        <p14:creationId xmlns:p14="http://schemas.microsoft.com/office/powerpoint/2010/main" val="35202796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628F2DF-6C2E-B756-A372-0F5B4F8FA4C4}"/>
                  </a:ext>
                </a:extLst>
              </p:cNvPr>
              <p:cNvSpPr>
                <a:spLocks noGrp="1"/>
              </p:cNvSpPr>
              <p:nvPr>
                <p:ph type="title"/>
              </p:nvPr>
            </p:nvSpPr>
            <p:spPr/>
            <p:txBody>
              <a:bodyPr/>
              <a:lstStyle/>
              <a:p>
                <a:r>
                  <a:rPr lang="it-IT" dirty="0">
                    <a:solidFill>
                      <a:srgbClr val="FF0000"/>
                    </a:solidFill>
                  </a:rPr>
                  <a:t>Marginalize over </a:t>
                </a:r>
                <a14:m>
                  <m:oMath xmlns:m="http://schemas.openxmlformats.org/officeDocument/2006/math">
                    <m:sSub>
                      <m:sSubPr>
                        <m:ctrlPr>
                          <a:rPr lang="it-IT" i="1" dirty="0">
                            <a:solidFill>
                              <a:srgbClr val="FF0000"/>
                            </a:solidFill>
                            <a:latin typeface="Cambria Math" panose="02040503050406030204" pitchFamily="18" charset="0"/>
                          </a:rPr>
                        </m:ctrlPr>
                      </m:sSubPr>
                      <m:e>
                        <m:r>
                          <a:rPr lang="it-IT" i="1" dirty="0">
                            <a:solidFill>
                              <a:srgbClr val="FF0000"/>
                            </a:solidFill>
                            <a:latin typeface="Cambria Math" panose="02040503050406030204" pitchFamily="18" charset="0"/>
                          </a:rPr>
                          <m:t>𝜇</m:t>
                        </m:r>
                      </m:e>
                      <m:sub>
                        <m:r>
                          <a:rPr lang="it-IT" i="1" dirty="0">
                            <a:solidFill>
                              <a:srgbClr val="FF0000"/>
                            </a:solidFill>
                            <a:latin typeface="Cambria Math" panose="02040503050406030204" pitchFamily="18" charset="0"/>
                          </a:rPr>
                          <m:t>𝑘</m:t>
                        </m:r>
                      </m:sub>
                    </m:sSub>
                    <m:r>
                      <a:rPr lang="it-IT" b="0" i="1" dirty="0" smtClean="0">
                        <a:solidFill>
                          <a:srgbClr val="FF0000"/>
                        </a:solidFill>
                        <a:latin typeface="Cambria Math" panose="02040503050406030204" pitchFamily="18" charset="0"/>
                      </a:rPr>
                      <m:t> </m:t>
                    </m:r>
                    <m:r>
                      <m:rPr>
                        <m:sty m:val="p"/>
                      </m:rPr>
                      <a:rPr lang="it-IT" b="0" i="1" dirty="0" smtClean="0">
                        <a:solidFill>
                          <a:srgbClr val="FF0000"/>
                        </a:solidFill>
                        <a:latin typeface="Cambria Math" panose="02040503050406030204" pitchFamily="18" charset="0"/>
                      </a:rPr>
                      <m:t>and</m:t>
                    </m:r>
                    <m:r>
                      <a:rPr lang="it-IT" b="0" i="1" dirty="0" smtClean="0">
                        <a:solidFill>
                          <a:srgbClr val="FF0000"/>
                        </a:solidFill>
                        <a:latin typeface="Cambria Math" panose="02040503050406030204" pitchFamily="18" charset="0"/>
                      </a:rPr>
                      <m:t> </m:t>
                    </m:r>
                    <m:sSubSup>
                      <m:sSubSupPr>
                        <m:ctrlPr>
                          <a:rPr lang="it-IT" i="1" dirty="0">
                            <a:solidFill>
                              <a:srgbClr val="FF0000"/>
                            </a:solidFill>
                            <a:latin typeface="Cambria Math" panose="02040503050406030204" pitchFamily="18" charset="0"/>
                          </a:rPr>
                        </m:ctrlPr>
                      </m:sSubSupPr>
                      <m:e>
                        <m:r>
                          <a:rPr lang="it-IT" i="1" dirty="0">
                            <a:solidFill>
                              <a:srgbClr val="FF0000"/>
                            </a:solidFill>
                            <a:latin typeface="Cambria Math" panose="02040503050406030204" pitchFamily="18" charset="0"/>
                          </a:rPr>
                          <m:t>𝜎</m:t>
                        </m:r>
                      </m:e>
                      <m:sub>
                        <m:r>
                          <a:rPr lang="it-IT" i="1" dirty="0">
                            <a:solidFill>
                              <a:srgbClr val="FF0000"/>
                            </a:solidFill>
                            <a:latin typeface="Cambria Math" panose="02040503050406030204" pitchFamily="18" charset="0"/>
                          </a:rPr>
                          <m:t>𝑘</m:t>
                        </m:r>
                      </m:sub>
                      <m:sup>
                        <m:r>
                          <a:rPr lang="it-IT" i="1" dirty="0">
                            <a:solidFill>
                              <a:srgbClr val="FF0000"/>
                            </a:solidFill>
                            <a:latin typeface="Cambria Math" panose="02040503050406030204" pitchFamily="18" charset="0"/>
                          </a:rPr>
                          <m:t>2</m:t>
                        </m:r>
                      </m:sup>
                    </m:sSubSup>
                  </m:oMath>
                </a14:m>
                <a:r>
                  <a:rPr lang="it-IT" dirty="0"/>
                  <a:t> </a:t>
                </a:r>
                <a:r>
                  <a:rPr lang="it-IT" dirty="0">
                    <a:solidFill>
                      <a:srgbClr val="FF0000"/>
                    </a:solidFill>
                  </a:rPr>
                  <a:t>(1/3)</a:t>
                </a:r>
              </a:p>
            </p:txBody>
          </p:sp>
        </mc:Choice>
        <mc:Fallback xmlns="">
          <p:sp>
            <p:nvSpPr>
              <p:cNvPr id="2" name="Title 1">
                <a:extLst>
                  <a:ext uri="{FF2B5EF4-FFF2-40B4-BE49-F238E27FC236}">
                    <a16:creationId xmlns:a16="http://schemas.microsoft.com/office/drawing/2014/main" id="{9628F2DF-6C2E-B756-A372-0F5B4F8FA4C4}"/>
                  </a:ext>
                </a:extLst>
              </p:cNvPr>
              <p:cNvSpPr>
                <a:spLocks noGrp="1" noRot="1" noChangeAspect="1" noMove="1" noResize="1" noEditPoints="1" noAdjustHandles="1" noChangeArrowheads="1" noChangeShapeType="1" noTextEdit="1"/>
              </p:cNvSpPr>
              <p:nvPr>
                <p:ph type="title"/>
              </p:nvPr>
            </p:nvSpPr>
            <p:spPr>
              <a:blipFill>
                <a:blip r:embed="rId3"/>
                <a:stretch>
                  <a:fillRect l="-2052" t="-651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D3D563-8771-DE7D-0E5B-AD173AE6BB3C}"/>
                  </a:ext>
                </a:extLst>
              </p:cNvPr>
              <p:cNvSpPr>
                <a:spLocks noGrp="1"/>
              </p:cNvSpPr>
              <p:nvPr>
                <p:ph idx="1"/>
              </p:nvPr>
            </p:nvSpPr>
            <p:spPr>
              <a:xfrm>
                <a:off x="700635" y="1570892"/>
                <a:ext cx="10691265" cy="4673600"/>
              </a:xfrm>
            </p:spPr>
            <p:txBody>
              <a:bodyPr>
                <a:normAutofit/>
              </a:bodyPr>
              <a:lstStyle/>
              <a:p>
                <a14:m>
                  <m:oMath xmlns:m="http://schemas.openxmlformats.org/officeDocument/2006/math">
                    <m: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𝑗</m:t>
                            </m:r>
                          </m:sub>
                        </m:sSub>
                        <m:r>
                          <a:rPr lang="it-IT" sz="1800" i="1">
                            <a:latin typeface="Cambria Math" panose="02040503050406030204" pitchFamily="18" charset="0"/>
                          </a:rPr>
                          <m:t>: </m:t>
                        </m:r>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𝑗</m:t>
                            </m:r>
                          </m:sub>
                        </m:sSub>
                        <m:r>
                          <a:rPr lang="it-IT" sz="1800" i="1">
                            <a:latin typeface="Cambria Math" panose="02040503050406030204" pitchFamily="18" charset="0"/>
                          </a:rPr>
                          <m:t>=</m:t>
                        </m:r>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𝑗</m:t>
                        </m:r>
                        <m:r>
                          <a:rPr lang="it-IT" sz="1800" i="1">
                            <a:latin typeface="Cambria Math" panose="02040503050406030204" pitchFamily="18" charset="0"/>
                          </a:rPr>
                          <m:t>≠</m:t>
                        </m:r>
                        <m:r>
                          <a:rPr lang="it-IT" sz="1800" i="1">
                            <a:latin typeface="Cambria Math" panose="02040503050406030204" pitchFamily="18" charset="0"/>
                          </a:rPr>
                          <m:t>𝑖</m:t>
                        </m:r>
                        <m:r>
                          <m:rPr>
                            <m:lit/>
                          </m:rPr>
                          <a:rPr lang="it-IT" sz="1800" i="1">
                            <a:latin typeface="Cambria Math" panose="02040503050406030204" pitchFamily="18" charset="0"/>
                          </a:rPr>
                          <m:t>}</m:t>
                        </m:r>
                      </m:e>
                    </m:d>
                    <m:r>
                      <a:rPr lang="it-IT" sz="1800" i="1">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b="0" i="1">
                                <a:latin typeface="Cambria Math" panose="02040503050406030204" pitchFamily="18" charset="0"/>
                              </a:rPr>
                              <m:t>𝑘</m:t>
                            </m:r>
                            <m:r>
                              <a:rPr lang="it-IT" sz="1800" b="0" i="1">
                                <a:latin typeface="Cambria Math" panose="02040503050406030204" pitchFamily="18" charset="0"/>
                              </a:rPr>
                              <m:t>¬</m:t>
                            </m:r>
                            <m:r>
                              <a:rPr lang="it-IT" sz="1800" b="0" i="1">
                                <a:latin typeface="Cambria Math" panose="02040503050406030204" pitchFamily="18" charset="0"/>
                              </a:rPr>
                              <m:t>𝑖</m:t>
                            </m:r>
                          </m:sub>
                        </m:sSub>
                      </m:e>
                    </m:d>
                    <m:r>
                      <a:rPr lang="it-IT" sz="1800" i="1">
                        <a:latin typeface="Cambria Math" panose="02040503050406030204" pitchFamily="18" charset="0"/>
                      </a:rPr>
                      <m:t> </m:t>
                    </m:r>
                    <m:r>
                      <m:rPr>
                        <m:nor/>
                      </m:rPr>
                      <a:rPr lang="it-IT" sz="1800" i="0">
                        <a:latin typeface="Cambria Math" panose="02040503050406030204" pitchFamily="18" charset="0"/>
                      </a:rPr>
                      <m:t>where</m:t>
                    </m:r>
                    <m:r>
                      <a:rPr lang="it-IT" sz="1800" i="1">
                        <a:latin typeface="Cambria Math" panose="02040503050406030204" pitchFamily="18" charset="0"/>
                      </a:rPr>
                      <m:t>  </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b="0" i="1">
                            <a:latin typeface="Cambria Math" panose="02040503050406030204" pitchFamily="18" charset="0"/>
                          </a:rPr>
                          <m:t>𝑘</m:t>
                        </m:r>
                        <m:r>
                          <a:rPr lang="it-IT" sz="1800" b="0" i="1">
                            <a:latin typeface="Cambria Math" panose="02040503050406030204" pitchFamily="18" charset="0"/>
                          </a:rPr>
                          <m:t>¬</m:t>
                        </m:r>
                        <m:r>
                          <a:rPr lang="it-IT" sz="1800" b="0" i="1">
                            <a:latin typeface="Cambria Math" panose="02040503050406030204" pitchFamily="18" charset="0"/>
                          </a:rPr>
                          <m:t>𝑖</m:t>
                        </m:r>
                      </m:sub>
                    </m:sSub>
                    <m:r>
                      <a:rPr lang="it-IT" sz="1800" i="1" smtClean="0">
                        <a:latin typeface="Cambria Math" panose="02040503050406030204" pitchFamily="18" charset="0"/>
                      </a:rPr>
                      <m:t>≝</m:t>
                    </m:r>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𝑗</m:t>
                        </m:r>
                      </m:sub>
                    </m:sSub>
                    <m:r>
                      <a:rPr lang="it-IT" sz="1800" i="1">
                        <a:latin typeface="Cambria Math" panose="02040503050406030204" pitchFamily="18" charset="0"/>
                      </a:rPr>
                      <m:t>: </m:t>
                    </m:r>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𝑗</m:t>
                        </m:r>
                      </m:sub>
                    </m:sSub>
                    <m:r>
                      <a:rPr lang="it-IT" sz="1800" i="1">
                        <a:latin typeface="Cambria Math" panose="02040503050406030204" pitchFamily="18" charset="0"/>
                      </a:rPr>
                      <m:t>=</m:t>
                    </m:r>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𝑗</m:t>
                    </m:r>
                    <m:r>
                      <a:rPr lang="it-IT" sz="1800" i="1">
                        <a:latin typeface="Cambria Math" panose="02040503050406030204" pitchFamily="18" charset="0"/>
                      </a:rPr>
                      <m:t>≠</m:t>
                    </m:r>
                    <m:r>
                      <a:rPr lang="it-IT" sz="1800" i="1">
                        <a:latin typeface="Cambria Math" panose="02040503050406030204" pitchFamily="18" charset="0"/>
                      </a:rPr>
                      <m:t>𝑖</m:t>
                    </m:r>
                    <m:r>
                      <m:rPr>
                        <m:lit/>
                      </m:rPr>
                      <a:rPr lang="it-IT" sz="1800" i="1">
                        <a:latin typeface="Cambria Math" panose="02040503050406030204" pitchFamily="18" charset="0"/>
                      </a:rPr>
                      <m:t>}</m:t>
                    </m:r>
                  </m:oMath>
                </a14:m>
                <a:r>
                  <a:rPr lang="it-IT" sz="1800" dirty="0"/>
                  <a:t>.</a:t>
                </a:r>
              </a:p>
              <a:p>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b="0" i="1">
                                <a:latin typeface="Cambria Math" panose="02040503050406030204" pitchFamily="18" charset="0"/>
                              </a:rPr>
                              <m:t>𝑘</m:t>
                            </m:r>
                            <m:r>
                              <a:rPr lang="it-IT" sz="1800" b="0" i="1">
                                <a:latin typeface="Cambria Math" panose="02040503050406030204" pitchFamily="18" charset="0"/>
                              </a:rPr>
                              <m:t>¬</m:t>
                            </m:r>
                            <m:r>
                              <a:rPr lang="it-IT" sz="1800" b="0" i="1">
                                <a:latin typeface="Cambria Math" panose="02040503050406030204" pitchFamily="18" charset="0"/>
                              </a:rPr>
                              <m:t>𝑖</m:t>
                            </m:r>
                          </m:sub>
                        </m:sSub>
                      </m:e>
                    </m:d>
                    <m:r>
                      <a:rPr lang="it-IT" sz="1800" i="1">
                        <a:latin typeface="Cambria Math" panose="02040503050406030204" pitchFamily="18" charset="0"/>
                      </a:rPr>
                      <m:t>=</m:t>
                    </m:r>
                    <m:nary>
                      <m:naryPr>
                        <m:chr m:val="∬"/>
                        <m:subHide m:val="on"/>
                        <m:supHide m:val="on"/>
                        <m:ctrlPr>
                          <a:rPr lang="it-IT" sz="1800" i="1">
                            <a:latin typeface="Cambria Math" panose="02040503050406030204" pitchFamily="18" charset="0"/>
                          </a:rPr>
                        </m:ctrlPr>
                      </m:naryPr>
                      <m:sub/>
                      <m:sup/>
                      <m:e>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b="0" i="1">
                                    <a:latin typeface="Cambria Math" panose="02040503050406030204" pitchFamily="18" charset="0"/>
                                  </a:rPr>
                                  <m:t>𝑘</m:t>
                                </m:r>
                                <m:r>
                                  <a:rPr lang="it-IT" sz="1800" b="0" i="1">
                                    <a:latin typeface="Cambria Math" panose="02040503050406030204" pitchFamily="18" charset="0"/>
                                  </a:rPr>
                                  <m:t>¬</m:t>
                                </m:r>
                                <m:r>
                                  <a:rPr lang="it-IT" sz="1800" b="0" i="1">
                                    <a:latin typeface="Cambria Math" panose="02040503050406030204" pitchFamily="18" charset="0"/>
                                  </a:rPr>
                                  <m:t>𝑖</m:t>
                                </m:r>
                              </m:sub>
                            </m:sSub>
                          </m:e>
                        </m:d>
                        <m:r>
                          <a:rPr lang="it-IT" sz="1800" i="1">
                            <a:latin typeface="Cambria Math" panose="02040503050406030204" pitchFamily="18" charset="0"/>
                          </a:rPr>
                          <m:t>𝑑</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nary>
                    <m:r>
                      <a:rPr lang="it-IT" sz="1800" i="1">
                        <a:latin typeface="Cambria Math" panose="02040503050406030204" pitchFamily="18" charset="0"/>
                      </a:rPr>
                      <m:t>𝑑</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oMath>
                </a14:m>
                <a:endParaRPr lang="it-IT" sz="1800" dirty="0"/>
              </a:p>
              <a:p>
                <a:pPr marL="342900" indent="-342900">
                  <a:lnSpc>
                    <a:spcPct val="150000"/>
                  </a:lnSpc>
                  <a:buFont typeface="+mj-lt"/>
                  <a:buAutoNum type="arabicPeriod"/>
                </a:pPr>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b="0" i="1">
                                <a:latin typeface="Cambria Math" panose="02040503050406030204" pitchFamily="18" charset="0"/>
                              </a:rPr>
                              <m:t>𝑘</m:t>
                            </m:r>
                            <m:r>
                              <a:rPr lang="it-IT" sz="1800" b="0" i="1">
                                <a:latin typeface="Cambria Math" panose="02040503050406030204" pitchFamily="18" charset="0"/>
                              </a:rPr>
                              <m:t>¬</m:t>
                            </m:r>
                            <m:r>
                              <a:rPr lang="it-IT" sz="1800" b="0" i="1">
                                <a:latin typeface="Cambria Math" panose="02040503050406030204" pitchFamily="18" charset="0"/>
                              </a:rPr>
                              <m:t>𝑖</m:t>
                            </m:r>
                          </m:sub>
                        </m:sSub>
                      </m:e>
                    </m:d>
                    <m:r>
                      <a:rPr lang="it-IT" sz="1800" b="0" i="1" smtClean="0">
                        <a:latin typeface="Cambria Math" panose="02040503050406030204" pitchFamily="18" charset="0"/>
                      </a:rPr>
                      <m:t>∝</m:t>
                    </m:r>
                    <m:r>
                      <m:rPr>
                        <m:sty m:val="p"/>
                      </m:rPr>
                      <a:rPr lang="it-IT" sz="1800" b="0" i="1" smtClean="0">
                        <a:latin typeface="Cambria Math" panose="02040503050406030204" pitchFamily="18" charset="0"/>
                      </a:rPr>
                      <m:t>p</m:t>
                    </m:r>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b="0" i="1">
                            <a:latin typeface="Cambria Math" panose="02040503050406030204" pitchFamily="18" charset="0"/>
                          </a:rPr>
                          <m:t>𝑘</m:t>
                        </m:r>
                        <m:r>
                          <a:rPr lang="it-IT" sz="1800" b="0" i="1">
                            <a:latin typeface="Cambria Math" panose="02040503050406030204" pitchFamily="18" charset="0"/>
                          </a:rPr>
                          <m:t>¬</m:t>
                        </m:r>
                        <m:r>
                          <a:rPr lang="it-IT" sz="1800" b="0" i="1">
                            <a:latin typeface="Cambria Math" panose="02040503050406030204" pitchFamily="18" charset="0"/>
                          </a:rPr>
                          <m:t>𝑖</m:t>
                        </m:r>
                      </m:sub>
                    </m:sSub>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a:rPr lang="it-IT" sz="1800" b="0" i="1" smtClean="0">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r>
                      <a:rPr lang="it-IT" sz="1800" i="1">
                        <a:latin typeface="Cambria Math" panose="02040503050406030204" pitchFamily="18" charset="0"/>
                      </a:rPr>
                      <m:t> </m:t>
                    </m:r>
                    <m:r>
                      <m:rPr>
                        <m:nor/>
                      </m:rPr>
                      <a:rPr lang="it-IT" sz="1800">
                        <a:latin typeface="Cambria Math" panose="02040503050406030204" pitchFamily="18" charset="0"/>
                      </a:rPr>
                      <m:t>where</m:t>
                    </m:r>
                    <m:r>
                      <a:rPr lang="it-IT" sz="1800" i="1">
                        <a:latin typeface="Cambria Math" panose="02040503050406030204" pitchFamily="18" charset="0"/>
                      </a:rPr>
                      <m:t>  </m:t>
                    </m:r>
                    <m:r>
                      <m:rPr>
                        <m:sty m:val="p"/>
                      </m:rPr>
                      <a:rPr lang="it-IT" sz="1800" i="1">
                        <a:latin typeface="Cambria Math" panose="02040503050406030204" pitchFamily="18" charset="0"/>
                      </a:rPr>
                      <m:t>p</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a:rPr lang="it-IT" sz="1800" i="1">
                        <a:latin typeface="Cambria Math" panose="02040503050406030204" pitchFamily="18" charset="0"/>
                      </a:rPr>
                      <m:t>)</m:t>
                    </m:r>
                    <m:r>
                      <a:rPr lang="it-IT" sz="1800" b="0" i="1" smtClean="0">
                        <a:latin typeface="Cambria Math" panose="02040503050406030204" pitchFamily="18" charset="0"/>
                      </a:rPr>
                      <m:t>=</m:t>
                    </m:r>
                    <m:nary>
                      <m:naryPr>
                        <m:chr m:val="∏"/>
                        <m:ctrlPr>
                          <a:rPr lang="it-IT" sz="1800" i="1">
                            <a:latin typeface="Cambria Math" panose="02040503050406030204" pitchFamily="18" charset="0"/>
                          </a:rPr>
                        </m:ctrlPr>
                      </m:naryPr>
                      <m:sub>
                        <m:r>
                          <a:rPr lang="it-IT" sz="1800" i="1">
                            <a:latin typeface="Cambria Math" panose="02040503050406030204" pitchFamily="18" charset="0"/>
                          </a:rPr>
                          <m:t>𝑗</m:t>
                        </m:r>
                        <m:r>
                          <a:rPr lang="it-IT" sz="1800" i="1">
                            <a:latin typeface="Cambria Math" panose="02040503050406030204" pitchFamily="18" charset="0"/>
                          </a:rPr>
                          <m:t>=1</m:t>
                        </m:r>
                      </m:sub>
                      <m:sup>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sup>
                      <m:e>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b="0" i="1">
                                    <a:latin typeface="Cambria Math" panose="02040503050406030204" pitchFamily="18" charset="0"/>
                                  </a:rPr>
                                  <m:t>𝑥</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r>
                                  <a:rPr lang="it-IT" sz="1800" i="1">
                                    <a:latin typeface="Cambria Math" panose="02040503050406030204" pitchFamily="18" charset="0"/>
                                  </a:rPr>
                                  <m:t>,</m:t>
                                </m:r>
                                <m:r>
                                  <a:rPr lang="it-IT" sz="1800" i="1">
                                    <a:latin typeface="Cambria Math" panose="02040503050406030204" pitchFamily="18" charset="0"/>
                                  </a:rPr>
                                  <m:t>𝑗</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m:rPr>
                                    <m:sty m:val="p"/>
                                  </m:rPr>
                                  <a:rPr lang="it-IT" sz="1800" i="1">
                                    <a:latin typeface="Cambria Math" panose="02040503050406030204" pitchFamily="18" charset="0"/>
                                  </a:rPr>
                                  <m:t>k</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e>
                    </m:nary>
                  </m:oMath>
                </a14:m>
                <a:endParaRPr lang="it-IT" sz="1800" dirty="0"/>
              </a:p>
              <a:p>
                <a:r>
                  <a:rPr lang="it-IT" sz="1800" dirty="0"/>
                  <a:t>If we want to create new clusters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sub>
                    </m:sSub>
                    <m:r>
                      <a:rPr lang="it-IT" sz="1800" b="0" i="1" smtClean="0">
                        <a:latin typeface="Cambria Math" panose="02040503050406030204" pitchFamily="18" charset="0"/>
                      </a:rPr>
                      <m:t>=0</m:t>
                    </m:r>
                  </m:oMath>
                </a14:m>
                <a:r>
                  <a:rPr lang="it-IT" sz="1800" dirty="0"/>
                  <a:t>), we must change the prior on </a:t>
                </a:r>
                <a14:m>
                  <m:oMath xmlns:m="http://schemas.openxmlformats.org/officeDocument/2006/math">
                    <m:sSub>
                      <m:sSubPr>
                        <m:ctrlPr>
                          <a:rPr lang="it-IT" sz="1800" i="1" dirty="0" smtClean="0">
                            <a:solidFill>
                              <a:schemeClr val="tx1"/>
                            </a:solidFill>
                            <a:latin typeface="Cambria Math" panose="02040503050406030204" pitchFamily="18" charset="0"/>
                          </a:rPr>
                        </m:ctrlPr>
                      </m:sSubPr>
                      <m:e>
                        <m:r>
                          <a:rPr lang="it-IT" sz="1800" i="1" dirty="0">
                            <a:solidFill>
                              <a:schemeClr val="tx1"/>
                            </a:solidFill>
                            <a:latin typeface="Cambria Math" panose="02040503050406030204" pitchFamily="18" charset="0"/>
                          </a:rPr>
                          <m:t>𝜇</m:t>
                        </m:r>
                      </m:e>
                      <m:sub>
                        <m:r>
                          <a:rPr lang="it-IT" sz="1800" i="1" dirty="0">
                            <a:solidFill>
                              <a:schemeClr val="tx1"/>
                            </a:solidFill>
                            <a:latin typeface="Cambria Math" panose="02040503050406030204" pitchFamily="18" charset="0"/>
                          </a:rPr>
                          <m:t>𝑘</m:t>
                        </m:r>
                      </m:sub>
                    </m:sSub>
                    <m:r>
                      <a:rPr lang="it-IT" sz="1800" i="1" dirty="0">
                        <a:solidFill>
                          <a:schemeClr val="tx1"/>
                        </a:solidFill>
                        <a:latin typeface="Cambria Math" panose="02040503050406030204" pitchFamily="18" charset="0"/>
                      </a:rPr>
                      <m:t> </m:t>
                    </m:r>
                    <m:r>
                      <m:rPr>
                        <m:sty m:val="p"/>
                      </m:rPr>
                      <a:rPr lang="it-IT" sz="1800" i="1" dirty="0">
                        <a:solidFill>
                          <a:schemeClr val="tx1"/>
                        </a:solidFill>
                        <a:latin typeface="Cambria Math" panose="02040503050406030204" pitchFamily="18" charset="0"/>
                      </a:rPr>
                      <m:t>and</m:t>
                    </m:r>
                    <m:r>
                      <a:rPr lang="it-IT" sz="1800" i="1" dirty="0">
                        <a:solidFill>
                          <a:schemeClr val="tx1"/>
                        </a:solidFill>
                        <a:latin typeface="Cambria Math" panose="02040503050406030204" pitchFamily="18" charset="0"/>
                      </a:rPr>
                      <m:t> </m:t>
                    </m:r>
                    <m:sSubSup>
                      <m:sSubSupPr>
                        <m:ctrlPr>
                          <a:rPr lang="it-IT" sz="1800" i="1" dirty="0">
                            <a:solidFill>
                              <a:schemeClr val="tx1"/>
                            </a:solidFill>
                            <a:latin typeface="Cambria Math" panose="02040503050406030204" pitchFamily="18" charset="0"/>
                          </a:rPr>
                        </m:ctrlPr>
                      </m:sSubSupPr>
                      <m:e>
                        <m:r>
                          <a:rPr lang="it-IT" sz="1800" i="1" dirty="0">
                            <a:solidFill>
                              <a:schemeClr val="tx1"/>
                            </a:solidFill>
                            <a:latin typeface="Cambria Math" panose="02040503050406030204" pitchFamily="18" charset="0"/>
                          </a:rPr>
                          <m:t>𝜎</m:t>
                        </m:r>
                      </m:e>
                      <m:sub>
                        <m:r>
                          <a:rPr lang="it-IT" sz="1800" i="1" dirty="0">
                            <a:solidFill>
                              <a:schemeClr val="tx1"/>
                            </a:solidFill>
                            <a:latin typeface="Cambria Math" panose="02040503050406030204" pitchFamily="18" charset="0"/>
                          </a:rPr>
                          <m:t>𝑘</m:t>
                        </m:r>
                      </m:sub>
                      <m:sup>
                        <m:r>
                          <a:rPr lang="it-IT" sz="1800" i="1" dirty="0">
                            <a:solidFill>
                              <a:schemeClr val="tx1"/>
                            </a:solidFill>
                            <a:latin typeface="Cambria Math" panose="02040503050406030204" pitchFamily="18" charset="0"/>
                          </a:rPr>
                          <m:t>2</m:t>
                        </m:r>
                      </m:sup>
                    </m:sSubSup>
                  </m:oMath>
                </a14:m>
                <a:r>
                  <a:rPr lang="it-IT" sz="1800" dirty="0"/>
                  <a:t>.</a:t>
                </a:r>
              </a:p>
              <a:p>
                <a14:m>
                  <m:oMath xmlns:m="http://schemas.openxmlformats.org/officeDocument/2006/math">
                    <m: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r>
                      <a:rPr lang="it-IT" sz="1800" i="1">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𝜎</m:t>
                            </m:r>
                          </m:e>
                          <m:sub>
                            <m:r>
                              <a:rPr lang="it-IT" sz="1800" i="1">
                                <a:latin typeface="Cambria Math" panose="02040503050406030204" pitchFamily="18" charset="0"/>
                              </a:rPr>
                              <m:t>𝑘</m:t>
                            </m:r>
                          </m:sub>
                        </m:sSub>
                      </m:e>
                    </m:d>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𝜎</m:t>
                            </m:r>
                          </m:e>
                          <m:sub>
                            <m:r>
                              <a:rPr lang="it-IT" sz="1800" i="1">
                                <a:latin typeface="Cambria Math" panose="02040503050406030204" pitchFamily="18" charset="0"/>
                              </a:rPr>
                              <m:t>𝑘</m:t>
                            </m:r>
                          </m:sub>
                        </m:sSub>
                      </m:e>
                    </m:d>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0</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0</m:t>
                            </m:r>
                          </m:sub>
                        </m:sSub>
                      </m:e>
                    </m:d>
                    <m:r>
                      <a:rPr lang="it-IT" sz="1800" i="1">
                        <a:latin typeface="Cambria Math" panose="02040503050406030204" pitchFamily="18" charset="0"/>
                      </a:rPr>
                      <m:t>⋅</m:t>
                    </m:r>
                    <m:r>
                      <m:rPr>
                        <m:nor/>
                      </m:rPr>
                      <a:rPr lang="it-IT" sz="1800" i="0">
                        <a:latin typeface="Cambria Math" panose="02040503050406030204" pitchFamily="18" charset="0"/>
                      </a:rPr>
                      <m:t>Inv</m:t>
                    </m:r>
                    <m:r>
                      <m:rPr>
                        <m:nor/>
                      </m:rPr>
                      <a:rPr lang="it-IT" sz="1800" i="0">
                        <a:latin typeface="Cambria Math" panose="02040503050406030204" pitchFamily="18" charset="0"/>
                      </a:rPr>
                      <m:t>−</m:t>
                    </m:r>
                    <m:r>
                      <m:rPr>
                        <m:nor/>
                      </m:rPr>
                      <a:rPr lang="it-IT" sz="1800" i="0">
                        <a:latin typeface="Cambria Math" panose="02040503050406030204" pitchFamily="18" charset="0"/>
                      </a:rPr>
                      <m:t>Gamma</m:t>
                    </m:r>
                    <m:d>
                      <m:dPr>
                        <m:ctrlPr>
                          <a:rPr lang="it-IT" sz="1800" i="1">
                            <a:latin typeface="Cambria Math" panose="02040503050406030204" pitchFamily="18" charset="0"/>
                          </a:rPr>
                        </m:ctrlPr>
                      </m:dPr>
                      <m:e>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a:rPr lang="it-IT" sz="1800" i="1">
                                <a:latin typeface="Cambria Math" panose="02040503050406030204" pitchFamily="18" charset="0"/>
                              </a:rPr>
                              <m:t>0</m:t>
                            </m:r>
                          </m:sub>
                        </m:sSub>
                      </m:e>
                    </m:d>
                    <m:r>
                      <a:rPr lang="it-IT" sz="1800" i="1">
                        <a:latin typeface="Cambria Math" panose="02040503050406030204" pitchFamily="18" charset="0"/>
                      </a:rPr>
                      <m:t>≝</m:t>
                    </m:r>
                    <m:r>
                      <m:rPr>
                        <m:nor/>
                      </m:rPr>
                      <a:rPr lang="it-IT" sz="1800" i="0">
                        <a:latin typeface="Cambria Math" panose="02040503050406030204" pitchFamily="18" charset="0"/>
                      </a:rPr>
                      <m:t>NIG</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a:rPr lang="it-IT" sz="1800" i="1">
                                <a:latin typeface="Cambria Math" panose="02040503050406030204" pitchFamily="18" charset="0"/>
                              </a:rPr>
                              <m:t>0</m:t>
                            </m:r>
                          </m:sub>
                        </m:sSub>
                      </m:e>
                    </m:d>
                  </m:oMath>
                </a14:m>
                <a:endParaRPr lang="it-IT" sz="1800" dirty="0"/>
              </a:p>
              <a:p>
                <a:pPr lvl="1"/>
                <a14:m>
                  <m:oMath xmlns:m="http://schemas.openxmlformats.org/officeDocument/2006/math">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𝜇</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d>
                      <m:dPr>
                        <m:ctrlPr>
                          <a:rPr lang="it-IT" sz="1600" b="0" i="1" smtClean="0">
                            <a:latin typeface="Cambria Math" panose="02040503050406030204" pitchFamily="18" charset="0"/>
                          </a:rPr>
                        </m:ctrlPr>
                      </m:dPr>
                      <m:e>
                        <m:r>
                          <a:rPr lang="it-IT" sz="1600" b="0" i="1" smtClean="0">
                            <a:latin typeface="Cambria Math" panose="02040503050406030204" pitchFamily="18" charset="0"/>
                          </a:rPr>
                          <m:t>𝑚𝑎𝑥</m:t>
                        </m:r>
                        <m:d>
                          <m:dPr>
                            <m:ctrlPr>
                              <a:rPr lang="it-IT" sz="1600" b="0" i="1" smtClean="0">
                                <a:latin typeface="Cambria Math" panose="02040503050406030204" pitchFamily="18" charset="0"/>
                              </a:rPr>
                            </m:ctrlPr>
                          </m:dPr>
                          <m:e>
                            <m:r>
                              <a:rPr lang="it-IT" sz="1600" b="0" i="1" smtClean="0">
                                <a:latin typeface="Cambria Math" panose="02040503050406030204" pitchFamily="18" charset="0"/>
                              </a:rPr>
                              <m:t>𝒙</m:t>
                            </m:r>
                          </m:e>
                        </m:d>
                        <m:r>
                          <a:rPr lang="it-IT" sz="1600" b="0" i="1" smtClean="0">
                            <a:latin typeface="Cambria Math" panose="02040503050406030204" pitchFamily="18" charset="0"/>
                          </a:rPr>
                          <m:t>+</m:t>
                        </m:r>
                        <m:r>
                          <a:rPr lang="it-IT" sz="1600" b="0" i="1" smtClean="0">
                            <a:latin typeface="Cambria Math" panose="02040503050406030204" pitchFamily="18" charset="0"/>
                          </a:rPr>
                          <m:t>𝑚𝑖𝑛</m:t>
                        </m:r>
                        <m:d>
                          <m:dPr>
                            <m:ctrlPr>
                              <a:rPr lang="it-IT" sz="1600" b="0" i="1" smtClean="0">
                                <a:latin typeface="Cambria Math" panose="02040503050406030204" pitchFamily="18" charset="0"/>
                              </a:rPr>
                            </m:ctrlPr>
                          </m:dPr>
                          <m:e>
                            <m:r>
                              <a:rPr lang="it-IT" sz="1600" b="0" i="1" smtClean="0">
                                <a:latin typeface="Cambria Math" panose="02040503050406030204" pitchFamily="18" charset="0"/>
                              </a:rPr>
                              <m:t>𝒙</m:t>
                            </m:r>
                          </m:e>
                        </m:d>
                      </m:e>
                    </m:d>
                    <m:r>
                      <m:rPr>
                        <m:lit/>
                      </m:rPr>
                      <a:rPr lang="it-IT" sz="1600" b="0" i="1" smtClean="0">
                        <a:latin typeface="Cambria Math" panose="02040503050406030204" pitchFamily="18" charset="0"/>
                      </a:rPr>
                      <m:t>/</m:t>
                    </m:r>
                    <m:r>
                      <a:rPr lang="it-IT" sz="1600" b="0" i="1" smtClean="0">
                        <a:latin typeface="Cambria Math" panose="02040503050406030204" pitchFamily="18" charset="0"/>
                      </a:rPr>
                      <m:t>2→</m:t>
                    </m:r>
                  </m:oMath>
                </a14:m>
                <a:r>
                  <a:rPr lang="it-IT" sz="1600" dirty="0"/>
                  <a:t> middle range.</a:t>
                </a:r>
              </a:p>
              <a:p>
                <a:pPr lvl="1"/>
                <a14:m>
                  <m:oMath xmlns:m="http://schemas.openxmlformats.org/officeDocument/2006/math">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=0.01 →</m:t>
                    </m:r>
                  </m:oMath>
                </a14:m>
                <a:r>
                  <a:rPr lang="it-IT" sz="1600" dirty="0"/>
                  <a:t> small value to increase the prior variance (uninformative prior).</a:t>
                </a:r>
              </a:p>
              <a:p>
                <a:pPr lvl="1"/>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𝛼</m:t>
                        </m:r>
                      </m:e>
                      <m:sub>
                        <m:r>
                          <a:rPr lang="it-IT" sz="1600" i="1">
                            <a:latin typeface="Cambria Math" panose="02040503050406030204" pitchFamily="18" charset="0"/>
                          </a:rPr>
                          <m:t>0</m:t>
                        </m:r>
                      </m:sub>
                    </m:sSub>
                    <m:r>
                      <a:rPr lang="it-IT" sz="1600" b="0" i="1" smtClean="0">
                        <a:latin typeface="Cambria Math" panose="02040503050406030204" pitchFamily="18" charset="0"/>
                      </a:rPr>
                      <m:t>=2</m:t>
                    </m:r>
                    <m:r>
                      <a:rPr lang="it-IT" sz="1600" i="1">
                        <a:latin typeface="Cambria Math" panose="02040503050406030204" pitchFamily="18" charset="0"/>
                      </a:rPr>
                      <m:t>,</m:t>
                    </m:r>
                    <m:r>
                      <a:rPr lang="it-IT" sz="1600" b="0" i="1" smtClean="0">
                        <a:latin typeface="Cambria Math" panose="02040503050406030204" pitchFamily="18" charset="0"/>
                      </a:rPr>
                      <m:t>  </m:t>
                    </m:r>
                    <m:sSub>
                      <m:sSubPr>
                        <m:ctrlPr>
                          <a:rPr lang="it-IT" sz="1600" i="1">
                            <a:latin typeface="Cambria Math" panose="02040503050406030204" pitchFamily="18" charset="0"/>
                          </a:rPr>
                        </m:ctrlPr>
                      </m:sSubPr>
                      <m:e>
                        <m:r>
                          <a:rPr lang="it-IT" sz="1600" i="1">
                            <a:latin typeface="Cambria Math" panose="02040503050406030204" pitchFamily="18" charset="0"/>
                          </a:rPr>
                          <m:t>𝛽</m:t>
                        </m:r>
                      </m:e>
                      <m:sub>
                        <m:r>
                          <a:rPr lang="it-IT" sz="1600" i="1">
                            <a:latin typeface="Cambria Math" panose="02040503050406030204" pitchFamily="18" charset="0"/>
                          </a:rPr>
                          <m:t>0</m:t>
                        </m:r>
                      </m:sub>
                    </m:sSub>
                    <m:r>
                      <a:rPr lang="it-IT" sz="1600" b="0" i="1" smtClean="0">
                        <a:latin typeface="Cambria Math" panose="02040503050406030204" pitchFamily="18" charset="0"/>
                      </a:rPr>
                      <m:t>=4 →</m:t>
                    </m:r>
                  </m:oMath>
                </a14:m>
                <a:r>
                  <a:rPr lang="it-IT" sz="1600" dirty="0"/>
                  <a:t> to have good probability in </a:t>
                </a:r>
                <a14:m>
                  <m:oMath xmlns:m="http://schemas.openxmlformats.org/officeDocument/2006/math">
                    <m:sSubSup>
                      <m:sSubSupPr>
                        <m:ctrlPr>
                          <a:rPr lang="it-IT" sz="1600" i="1" smtClean="0">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𝑘</m:t>
                        </m:r>
                      </m:sub>
                      <m:sup>
                        <m:r>
                          <a:rPr lang="it-IT" sz="1600" i="1">
                            <a:latin typeface="Cambria Math" panose="02040503050406030204" pitchFamily="18" charset="0"/>
                          </a:rPr>
                          <m:t>2</m:t>
                        </m:r>
                      </m:sup>
                    </m:sSubSup>
                    <m:r>
                      <a:rPr lang="it-IT" sz="1600" b="0" i="1" smtClean="0">
                        <a:latin typeface="Cambria Math" panose="02040503050406030204" pitchFamily="18" charset="0"/>
                      </a:rPr>
                      <m:t>∈</m:t>
                    </m:r>
                    <m:d>
                      <m:dPr>
                        <m:begChr m:val="["/>
                        <m:endChr m:val="]"/>
                        <m:ctrlPr>
                          <a:rPr lang="it-IT" sz="1600" b="0" i="1" smtClean="0">
                            <a:latin typeface="Cambria Math" panose="02040503050406030204" pitchFamily="18" charset="0"/>
                          </a:rPr>
                        </m:ctrlPr>
                      </m:dPr>
                      <m:e>
                        <m:r>
                          <a:rPr lang="it-IT" sz="1600" b="0" i="1" smtClean="0">
                            <a:latin typeface="Cambria Math" panose="02040503050406030204" pitchFamily="18" charset="0"/>
                          </a:rPr>
                          <m:t>1,4</m:t>
                        </m:r>
                      </m:e>
                    </m:d>
                  </m:oMath>
                </a14:m>
                <a:r>
                  <a:rPr lang="it-IT" sz="1600" dirty="0"/>
                  <a:t>.</a:t>
                </a:r>
              </a:p>
            </p:txBody>
          </p:sp>
        </mc:Choice>
        <mc:Fallback xmlns="">
          <p:sp>
            <p:nvSpPr>
              <p:cNvPr id="3" name="Content Placeholder 2">
                <a:extLst>
                  <a:ext uri="{FF2B5EF4-FFF2-40B4-BE49-F238E27FC236}">
                    <a16:creationId xmlns:a16="http://schemas.microsoft.com/office/drawing/2014/main" id="{22D3D563-8771-DE7D-0E5B-AD173AE6BB3C}"/>
                  </a:ext>
                </a:extLst>
              </p:cNvPr>
              <p:cNvSpPr>
                <a:spLocks noGrp="1" noRot="1" noChangeAspect="1" noMove="1" noResize="1" noEditPoints="1" noAdjustHandles="1" noChangeArrowheads="1" noChangeShapeType="1" noTextEdit="1"/>
              </p:cNvSpPr>
              <p:nvPr>
                <p:ph idx="1"/>
              </p:nvPr>
            </p:nvSpPr>
            <p:spPr>
              <a:xfrm>
                <a:off x="700635" y="1570892"/>
                <a:ext cx="10691265" cy="4673600"/>
              </a:xfrm>
              <a:blipFill>
                <a:blip r:embed="rId4"/>
                <a:stretch>
                  <a:fillRect l="-456"/>
                </a:stretch>
              </a:blipFill>
            </p:spPr>
            <p:txBody>
              <a:bodyPr/>
              <a:lstStyle/>
              <a:p>
                <a:r>
                  <a:rPr lang="it-IT">
                    <a:noFill/>
                  </a:rPr>
                  <a:t> </a:t>
                </a:r>
              </a:p>
            </p:txBody>
          </p:sp>
        </mc:Fallback>
      </mc:AlternateContent>
      <p:pic>
        <p:nvPicPr>
          <p:cNvPr id="5" name="Picture 4" descr="A graph with a line&#10;&#10;AI-generated content may be incorrect.">
            <a:extLst>
              <a:ext uri="{FF2B5EF4-FFF2-40B4-BE49-F238E27FC236}">
                <a16:creationId xmlns:a16="http://schemas.microsoft.com/office/drawing/2014/main" id="{ACF1D869-D23A-4247-3C77-04AD18E86F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90523" y="4132611"/>
            <a:ext cx="3107592" cy="2183947"/>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322B66D-4A4B-89DC-E661-2009870FFA91}"/>
                  </a:ext>
                </a:extLst>
              </p:cNvPr>
              <p:cNvSpPr txBox="1"/>
              <p:nvPr/>
            </p:nvSpPr>
            <p:spPr>
              <a:xfrm>
                <a:off x="10385878" y="4331442"/>
                <a:ext cx="91223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𝛼</m:t>
                          </m:r>
                        </m:e>
                        <m:sub>
                          <m:r>
                            <a:rPr lang="it-IT" i="1">
                              <a:latin typeface="Cambria Math" panose="02040503050406030204" pitchFamily="18" charset="0"/>
                            </a:rPr>
                            <m:t>0</m:t>
                          </m:r>
                        </m:sub>
                      </m:sSub>
                      <m:r>
                        <a:rPr lang="it-IT" i="1">
                          <a:latin typeface="Cambria Math" panose="02040503050406030204" pitchFamily="18" charset="0"/>
                        </a:rPr>
                        <m:t>=2</m:t>
                      </m:r>
                    </m:oMath>
                  </m:oMathPara>
                </a14:m>
                <a:endParaRPr lang="it-IT"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𝛽</m:t>
                          </m:r>
                        </m:e>
                        <m:sub>
                          <m:r>
                            <a:rPr lang="it-IT" i="1">
                              <a:latin typeface="Cambria Math" panose="02040503050406030204" pitchFamily="18" charset="0"/>
                            </a:rPr>
                            <m:t>0</m:t>
                          </m:r>
                        </m:sub>
                      </m:sSub>
                      <m:r>
                        <a:rPr lang="it-IT" i="1">
                          <a:latin typeface="Cambria Math" panose="02040503050406030204" pitchFamily="18" charset="0"/>
                        </a:rPr>
                        <m:t>=4</m:t>
                      </m:r>
                    </m:oMath>
                  </m:oMathPara>
                </a14:m>
                <a:endParaRPr lang="it-IT" dirty="0"/>
              </a:p>
            </p:txBody>
          </p:sp>
        </mc:Choice>
        <mc:Fallback xmlns="">
          <p:sp>
            <p:nvSpPr>
              <p:cNvPr id="6" name="TextBox 5">
                <a:extLst>
                  <a:ext uri="{FF2B5EF4-FFF2-40B4-BE49-F238E27FC236}">
                    <a16:creationId xmlns:a16="http://schemas.microsoft.com/office/drawing/2014/main" id="{9322B66D-4A4B-89DC-E661-2009870FFA91}"/>
                  </a:ext>
                </a:extLst>
              </p:cNvPr>
              <p:cNvSpPr txBox="1">
                <a:spLocks noRot="1" noChangeAspect="1" noMove="1" noResize="1" noEditPoints="1" noAdjustHandles="1" noChangeArrowheads="1" noChangeShapeType="1" noTextEdit="1"/>
              </p:cNvSpPr>
              <p:nvPr/>
            </p:nvSpPr>
            <p:spPr>
              <a:xfrm>
                <a:off x="10385878" y="4331442"/>
                <a:ext cx="912237" cy="646331"/>
              </a:xfrm>
              <a:prstGeom prst="rect">
                <a:avLst/>
              </a:prstGeom>
              <a:blipFill>
                <a:blip r:embed="rId6"/>
                <a:stretch>
                  <a:fillRect b="-7547"/>
                </a:stretch>
              </a:blipFill>
            </p:spPr>
            <p:txBody>
              <a:bodyPr/>
              <a:lstStyle/>
              <a:p>
                <a:r>
                  <a:rPr lang="it-IT">
                    <a:noFill/>
                  </a:rPr>
                  <a:t> </a:t>
                </a:r>
              </a:p>
            </p:txBody>
          </p:sp>
        </mc:Fallback>
      </mc:AlternateContent>
    </p:spTree>
    <p:extLst>
      <p:ext uri="{BB962C8B-B14F-4D97-AF65-F5344CB8AC3E}">
        <p14:creationId xmlns:p14="http://schemas.microsoft.com/office/powerpoint/2010/main" val="16649240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51D42AE-5ACF-CAD7-2F0E-4C8095995458}"/>
                  </a:ext>
                </a:extLst>
              </p:cNvPr>
              <p:cNvSpPr>
                <a:spLocks noGrp="1"/>
              </p:cNvSpPr>
              <p:nvPr>
                <p:ph type="title"/>
              </p:nvPr>
            </p:nvSpPr>
            <p:spPr/>
            <p:txBody>
              <a:bodyPr/>
              <a:lstStyle/>
              <a:p>
                <a:r>
                  <a:rPr lang="it-IT" dirty="0">
                    <a:solidFill>
                      <a:srgbClr val="FF0000"/>
                    </a:solidFill>
                  </a:rPr>
                  <a:t>Marginalize over </a:t>
                </a:r>
                <a14:m>
                  <m:oMath xmlns:m="http://schemas.openxmlformats.org/officeDocument/2006/math">
                    <m:sSub>
                      <m:sSubPr>
                        <m:ctrlPr>
                          <a:rPr lang="it-IT" i="1" dirty="0">
                            <a:solidFill>
                              <a:srgbClr val="FF0000"/>
                            </a:solidFill>
                            <a:latin typeface="Cambria Math" panose="02040503050406030204" pitchFamily="18" charset="0"/>
                          </a:rPr>
                        </m:ctrlPr>
                      </m:sSubPr>
                      <m:e>
                        <m:r>
                          <a:rPr lang="it-IT" i="1" dirty="0">
                            <a:solidFill>
                              <a:srgbClr val="FF0000"/>
                            </a:solidFill>
                            <a:latin typeface="Cambria Math" panose="02040503050406030204" pitchFamily="18" charset="0"/>
                          </a:rPr>
                          <m:t>𝜇</m:t>
                        </m:r>
                      </m:e>
                      <m:sub>
                        <m:r>
                          <a:rPr lang="it-IT" i="1" dirty="0">
                            <a:solidFill>
                              <a:srgbClr val="FF0000"/>
                            </a:solidFill>
                            <a:latin typeface="Cambria Math" panose="02040503050406030204" pitchFamily="18" charset="0"/>
                          </a:rPr>
                          <m:t>𝑘</m:t>
                        </m:r>
                      </m:sub>
                    </m:sSub>
                    <m:r>
                      <a:rPr lang="it-IT" i="1" dirty="0">
                        <a:solidFill>
                          <a:srgbClr val="FF0000"/>
                        </a:solidFill>
                        <a:latin typeface="Cambria Math" panose="02040503050406030204" pitchFamily="18" charset="0"/>
                      </a:rPr>
                      <m:t> </m:t>
                    </m:r>
                    <m:r>
                      <m:rPr>
                        <m:sty m:val="p"/>
                      </m:rPr>
                      <a:rPr lang="it-IT" i="1" dirty="0">
                        <a:solidFill>
                          <a:srgbClr val="FF0000"/>
                        </a:solidFill>
                        <a:latin typeface="Cambria Math" panose="02040503050406030204" pitchFamily="18" charset="0"/>
                      </a:rPr>
                      <m:t>and</m:t>
                    </m:r>
                    <m:r>
                      <a:rPr lang="it-IT" i="1" dirty="0">
                        <a:solidFill>
                          <a:srgbClr val="FF0000"/>
                        </a:solidFill>
                        <a:latin typeface="Cambria Math" panose="02040503050406030204" pitchFamily="18" charset="0"/>
                      </a:rPr>
                      <m:t> </m:t>
                    </m:r>
                    <m:sSubSup>
                      <m:sSubSupPr>
                        <m:ctrlPr>
                          <a:rPr lang="it-IT" i="1" dirty="0">
                            <a:solidFill>
                              <a:srgbClr val="FF0000"/>
                            </a:solidFill>
                            <a:latin typeface="Cambria Math" panose="02040503050406030204" pitchFamily="18" charset="0"/>
                          </a:rPr>
                        </m:ctrlPr>
                      </m:sSubSupPr>
                      <m:e>
                        <m:r>
                          <a:rPr lang="it-IT" i="1" dirty="0">
                            <a:solidFill>
                              <a:srgbClr val="FF0000"/>
                            </a:solidFill>
                            <a:latin typeface="Cambria Math" panose="02040503050406030204" pitchFamily="18" charset="0"/>
                          </a:rPr>
                          <m:t>𝜎</m:t>
                        </m:r>
                      </m:e>
                      <m:sub>
                        <m:r>
                          <a:rPr lang="it-IT" i="1" dirty="0">
                            <a:solidFill>
                              <a:srgbClr val="FF0000"/>
                            </a:solidFill>
                            <a:latin typeface="Cambria Math" panose="02040503050406030204" pitchFamily="18" charset="0"/>
                          </a:rPr>
                          <m:t>𝑘</m:t>
                        </m:r>
                      </m:sub>
                      <m:sup>
                        <m:r>
                          <a:rPr lang="it-IT" i="1" dirty="0">
                            <a:solidFill>
                              <a:srgbClr val="FF0000"/>
                            </a:solidFill>
                            <a:latin typeface="Cambria Math" panose="02040503050406030204" pitchFamily="18" charset="0"/>
                          </a:rPr>
                          <m:t>2</m:t>
                        </m:r>
                      </m:sup>
                    </m:sSubSup>
                  </m:oMath>
                </a14:m>
                <a:r>
                  <a:rPr lang="it-IT" dirty="0"/>
                  <a:t> </a:t>
                </a:r>
                <a:r>
                  <a:rPr lang="it-IT" dirty="0">
                    <a:solidFill>
                      <a:srgbClr val="FF0000"/>
                    </a:solidFill>
                  </a:rPr>
                  <a:t>(2/3)</a:t>
                </a:r>
                <a:endParaRPr lang="it-IT" dirty="0"/>
              </a:p>
            </p:txBody>
          </p:sp>
        </mc:Choice>
        <mc:Fallback xmlns="">
          <p:sp>
            <p:nvSpPr>
              <p:cNvPr id="2" name="Title 1">
                <a:extLst>
                  <a:ext uri="{FF2B5EF4-FFF2-40B4-BE49-F238E27FC236}">
                    <a16:creationId xmlns:a16="http://schemas.microsoft.com/office/drawing/2014/main" id="{851D42AE-5ACF-CAD7-2F0E-4C8095995458}"/>
                  </a:ext>
                </a:extLst>
              </p:cNvPr>
              <p:cNvSpPr>
                <a:spLocks noGrp="1" noRot="1" noChangeAspect="1" noMove="1" noResize="1" noEditPoints="1" noAdjustHandles="1" noChangeArrowheads="1" noChangeShapeType="1" noTextEdit="1"/>
              </p:cNvSpPr>
              <p:nvPr>
                <p:ph type="title"/>
              </p:nvPr>
            </p:nvSpPr>
            <p:spPr>
              <a:blipFill>
                <a:blip r:embed="rId3"/>
                <a:stretch>
                  <a:fillRect l="-2052" t="-651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133856-DE0F-5A0A-B2AE-F7EF957C92D2}"/>
                  </a:ext>
                </a:extLst>
              </p:cNvPr>
              <p:cNvSpPr>
                <a:spLocks noGrp="1"/>
              </p:cNvSpPr>
              <p:nvPr>
                <p:ph idx="1"/>
              </p:nvPr>
            </p:nvSpPr>
            <p:spPr>
              <a:xfrm>
                <a:off x="700635" y="1563077"/>
                <a:ext cx="10790730" cy="4743938"/>
              </a:xfrm>
            </p:spPr>
            <p:txBody>
              <a:bodyPr>
                <a:normAutofit/>
              </a:bodyPr>
              <a:lstStyle/>
              <a:p>
                <a14:m>
                  <m:oMath xmlns:m="http://schemas.openxmlformats.org/officeDocument/2006/math">
                    <m:r>
                      <m:rPr>
                        <m:nor/>
                      </m:rPr>
                      <a:rPr lang="it-IT" sz="1800" smtClean="0">
                        <a:latin typeface="Cambria Math" panose="02040503050406030204" pitchFamily="18" charset="0"/>
                      </a:rPr>
                      <m:t>NIG</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a:rPr lang="it-IT" sz="1800" i="1">
                                <a:latin typeface="Cambria Math" panose="02040503050406030204" pitchFamily="18" charset="0"/>
                              </a:rPr>
                              <m:t>0</m:t>
                            </m:r>
                          </m:sub>
                        </m:sSub>
                      </m:e>
                    </m:d>
                  </m:oMath>
                </a14:m>
                <a:r>
                  <a:rPr lang="it-IT" sz="1800" dirty="0"/>
                  <a:t> is a </a:t>
                </a:r>
                <a:r>
                  <a:rPr lang="it-IT" sz="1800" b="1" dirty="0"/>
                  <a:t>conjugate prior </a:t>
                </a:r>
                <a:r>
                  <a:rPr lang="it-IT" sz="1800" dirty="0"/>
                  <a:t>of </a:t>
                </a:r>
                <a14:m>
                  <m:oMath xmlns:m="http://schemas.openxmlformats.org/officeDocument/2006/math">
                    <m:r>
                      <m:rPr>
                        <m:sty m:val="p"/>
                      </m:rPr>
                      <a:rPr lang="it-IT" sz="1800" i="1">
                        <a:latin typeface="Cambria Math" panose="02040503050406030204" pitchFamily="18" charset="0"/>
                      </a:rPr>
                      <m:t>p</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b="0" i="1">
                            <a:latin typeface="Cambria Math" panose="02040503050406030204" pitchFamily="18" charset="0"/>
                          </a:rPr>
                          <m:t>𝑥</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a:rPr lang="it-IT" sz="1800" i="1">
                        <a:latin typeface="Cambria Math" panose="02040503050406030204" pitchFamily="18" charset="0"/>
                      </a:rPr>
                      <m:t>)</m:t>
                    </m:r>
                  </m:oMath>
                </a14:m>
                <a:r>
                  <a:rPr lang="it-IT" sz="1800" dirty="0"/>
                  <a:t>.</a:t>
                </a:r>
                <a:endParaRPr lang="it-IT" sz="1800" i="1" dirty="0">
                  <a:latin typeface="Cambria Math" panose="02040503050406030204" pitchFamily="18" charset="0"/>
                </a:endParaRPr>
              </a:p>
              <a:p>
                <a14:m>
                  <m:oMath xmlns:m="http://schemas.openxmlformats.org/officeDocument/2006/math">
                    <m:r>
                      <a:rPr lang="it-IT" sz="1800" b="0" i="1" smtClean="0">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r>
                      <a:rPr lang="it-IT" sz="1800" i="1">
                        <a:latin typeface="Cambria Math" panose="02040503050406030204" pitchFamily="18" charset="0"/>
                      </a:rPr>
                      <m:t>∝</m:t>
                    </m:r>
                    <m:d>
                      <m:dPr>
                        <m:ctrlPr>
                          <a:rPr lang="it-IT" sz="1800" i="1">
                            <a:latin typeface="Cambria Math" panose="02040503050406030204" pitchFamily="18" charset="0"/>
                          </a:rPr>
                        </m:ctrlPr>
                      </m:dPr>
                      <m:e>
                        <m:nary>
                          <m:naryPr>
                            <m:chr m:val="∏"/>
                            <m:ctrlPr>
                              <a:rPr lang="it-IT" sz="1800" i="1">
                                <a:latin typeface="Cambria Math" panose="02040503050406030204" pitchFamily="18" charset="0"/>
                              </a:rPr>
                            </m:ctrlPr>
                          </m:naryPr>
                          <m:sub>
                            <m:r>
                              <a:rPr lang="it-IT" sz="1800" i="1">
                                <a:latin typeface="Cambria Math" panose="02040503050406030204" pitchFamily="18" charset="0"/>
                              </a:rPr>
                              <m:t>𝑗</m:t>
                            </m:r>
                            <m:r>
                              <a:rPr lang="it-IT" sz="1800" i="1">
                                <a:latin typeface="Cambria Math" panose="02040503050406030204" pitchFamily="18" charset="0"/>
                              </a:rPr>
                              <m:t>=</m:t>
                            </m:r>
                            <m:r>
                              <a:rPr lang="it-IT" sz="1800" i="1">
                                <a:latin typeface="Cambria Math" panose="02040503050406030204" pitchFamily="18" charset="0"/>
                              </a:rPr>
                              <m:t>1</m:t>
                            </m:r>
                          </m:sub>
                          <m:sup>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sup>
                          <m:e>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b="0" i="1">
                                        <a:latin typeface="Cambria Math" panose="02040503050406030204" pitchFamily="18" charset="0"/>
                                      </a:rPr>
                                      <m:t>𝑥</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r>
                                      <a:rPr lang="it-IT" sz="1800" i="1">
                                        <a:latin typeface="Cambria Math" panose="02040503050406030204" pitchFamily="18" charset="0"/>
                                      </a:rPr>
                                      <m:t>,</m:t>
                                    </m:r>
                                    <m:r>
                                      <a:rPr lang="it-IT" sz="1800" i="1">
                                        <a:latin typeface="Cambria Math" panose="02040503050406030204" pitchFamily="18" charset="0"/>
                                      </a:rPr>
                                      <m:t>𝑗</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m:rPr>
                                        <m:sty m:val="p"/>
                                      </m:rPr>
                                      <a:rPr lang="it-IT" sz="1800" i="1">
                                        <a:latin typeface="Cambria Math" panose="02040503050406030204" pitchFamily="18" charset="0"/>
                                      </a:rPr>
                                      <m:t>k</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e>
                        </m:nary>
                      </m:e>
                    </m:d>
                    <m:r>
                      <a:rPr lang="it-IT" sz="1800" i="1">
                        <a:latin typeface="Cambria Math" panose="02040503050406030204" pitchFamily="18" charset="0"/>
                      </a:rPr>
                      <m:t>⋅</m:t>
                    </m:r>
                    <m:r>
                      <m:rPr>
                        <m:nor/>
                      </m:rPr>
                      <a:rPr lang="it-IT" sz="1800">
                        <a:latin typeface="Cambria Math" panose="02040503050406030204" pitchFamily="18" charset="0"/>
                      </a:rPr>
                      <m:t>NIG</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a:rPr lang="it-IT" sz="1800" i="1">
                                <a:latin typeface="Cambria Math" panose="02040503050406030204" pitchFamily="18" charset="0"/>
                              </a:rPr>
                              <m:t>0</m:t>
                            </m:r>
                          </m:sub>
                        </m:sSub>
                      </m:e>
                    </m:d>
                    <m:r>
                      <a:rPr lang="it-IT" sz="1800" i="1">
                        <a:latin typeface="Cambria Math" panose="02040503050406030204" pitchFamily="18" charset="0"/>
                      </a:rPr>
                      <m:t> </m:t>
                    </m:r>
                    <m:r>
                      <m:rPr>
                        <m:nor/>
                      </m:rPr>
                      <a:rPr lang="it-IT" sz="1800" dirty="0"/>
                      <m:t>= </m:t>
                    </m:r>
                    <m:r>
                      <m:rPr>
                        <m:nor/>
                      </m:rPr>
                      <a:rPr lang="it-IT" sz="1800">
                        <a:latin typeface="Cambria Math" panose="02040503050406030204" pitchFamily="18" charset="0"/>
                      </a:rPr>
                      <m:t>NIG</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a:rPr lang="it-IT" sz="1800" i="1">
                                <a:latin typeface="Cambria Math" panose="02040503050406030204" pitchFamily="18" charset="0"/>
                              </a:rPr>
                              <m:t>𝑛</m:t>
                            </m:r>
                          </m:sub>
                        </m:sSub>
                      </m:e>
                    </m:d>
                  </m:oMath>
                </a14:m>
                <a:endParaRPr lang="it-IT" sz="1800" dirty="0"/>
              </a:p>
              <a:p>
                <a:pPr lvl="1"/>
                <a14:m>
                  <m:oMath xmlns:m="http://schemas.openxmlformats.org/officeDocument/2006/math">
                    <m:d>
                      <m:dPr>
                        <m:begChr m:val="{"/>
                        <m:endChr m:val=""/>
                        <m:ctrlPr>
                          <a:rPr lang="it-IT" sz="1600" i="1" smtClean="0">
                            <a:latin typeface="Cambria Math" panose="02040503050406030204" pitchFamily="18" charset="0"/>
                          </a:rPr>
                        </m:ctrlPr>
                      </m:dPr>
                      <m:e>
                        <m:eqArr>
                          <m:eqArrPr>
                            <m:ctrlPr>
                              <a:rPr lang="it-IT" sz="1600" i="1" smtClean="0">
                                <a:latin typeface="Cambria Math" panose="02040503050406030204" pitchFamily="18" charset="0"/>
                              </a:rPr>
                            </m:ctrlPr>
                          </m:eqArrPr>
                          <m:e>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𝛼</m:t>
                                </m:r>
                              </m:e>
                              <m:sub>
                                <m:r>
                                  <a:rPr lang="it-IT" sz="1600" b="0" i="1" smtClean="0">
                                    <a:latin typeface="Cambria Math" panose="02040503050406030204" pitchFamily="18" charset="0"/>
                                  </a:rPr>
                                  <m:t>𝑛</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𝛼</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box>
                              <m:boxPr>
                                <m:ctrlPr>
                                  <a:rPr lang="it-IT" sz="1600" b="0" i="1" smtClean="0">
                                    <a:latin typeface="Cambria Math" panose="02040503050406030204" pitchFamily="18" charset="0"/>
                                  </a:rPr>
                                </m:ctrlPr>
                              </m:boxPr>
                              <m:e>
                                <m:argPr>
                                  <m:argSz m:val="-1"/>
                                </m:argPr>
                                <m:f>
                                  <m:fPr>
                                    <m:ctrlPr>
                                      <a:rPr lang="it-IT" sz="1600" b="0" i="1" smtClean="0">
                                        <a:latin typeface="Cambria Math" panose="02040503050406030204" pitchFamily="18" charset="0"/>
                                      </a:rPr>
                                    </m:ctrlPr>
                                  </m:fPr>
                                  <m:num>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num>
                                  <m:den>
                                    <m:r>
                                      <a:rPr lang="it-IT" sz="1600" b="0" i="1" smtClean="0">
                                        <a:latin typeface="Cambria Math" panose="02040503050406030204" pitchFamily="18" charset="0"/>
                                      </a:rPr>
                                      <m:t>2</m:t>
                                    </m:r>
                                  </m:den>
                                </m:f>
                              </m:e>
                            </m:box>
                            <m:r>
                              <a:rPr lang="it-IT" sz="1600" i="1" smtClean="0">
                                <a:latin typeface="Cambria Math" panose="02040503050406030204" pitchFamily="18" charset="0"/>
                              </a:rPr>
                              <m:t> </m:t>
                            </m:r>
                            <m:r>
                              <a:rPr lang="it-IT" sz="1600" b="0" i="1" smtClean="0">
                                <a:latin typeface="Cambria Math" panose="02040503050406030204" pitchFamily="18" charset="0"/>
                              </a:rPr>
                              <m:t>,  </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𝛽</m:t>
                                </m:r>
                              </m:e>
                              <m:sub>
                                <m:r>
                                  <a:rPr lang="it-IT" sz="1600" b="0" i="1" smtClean="0">
                                    <a:latin typeface="Cambria Math" panose="02040503050406030204" pitchFamily="18" charset="0"/>
                                  </a:rPr>
                                  <m:t>𝑛</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𝛽</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box>
                              <m:boxPr>
                                <m:ctrlPr>
                                  <a:rPr lang="it-IT" sz="1600" b="0" i="1" smtClean="0">
                                    <a:latin typeface="Cambria Math" panose="02040503050406030204" pitchFamily="18" charset="0"/>
                                  </a:rPr>
                                </m:ctrlPr>
                              </m:boxPr>
                              <m:e>
                                <m:argPr>
                                  <m:argSz m:val="-1"/>
                                </m:argPr>
                                <m:f>
                                  <m:fPr>
                                    <m:ctrlPr>
                                      <a:rPr lang="it-IT" sz="1600" b="0" i="1" smtClean="0">
                                        <a:latin typeface="Cambria Math" panose="02040503050406030204" pitchFamily="18" charset="0"/>
                                      </a:rPr>
                                    </m:ctrlPr>
                                  </m:fPr>
                                  <m:num>
                                    <m:sSub>
                                      <m:sSubPr>
                                        <m:ctrlPr>
                                          <a:rPr lang="it-IT" sz="1600" i="1" smtClean="0">
                                            <a:latin typeface="Cambria Math" panose="02040503050406030204" pitchFamily="18" charset="0"/>
                                          </a:rPr>
                                        </m:ctrlPr>
                                      </m:sSubPr>
                                      <m:e>
                                        <m:r>
                                          <a:rPr lang="it-IT" sz="1600" i="1">
                                            <a:latin typeface="Cambria Math" panose="02040503050406030204" pitchFamily="18" charset="0"/>
                                          </a:rPr>
                                          <m:t>𝑆</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num>
                                  <m:den>
                                    <m:r>
                                      <a:rPr lang="it-IT" sz="1600" b="0" i="1" smtClean="0">
                                        <a:latin typeface="Cambria Math" panose="02040503050406030204" pitchFamily="18" charset="0"/>
                                      </a:rPr>
                                      <m:t>2</m:t>
                                    </m:r>
                                  </m:den>
                                </m:f>
                              </m:e>
                            </m:box>
                            <m:r>
                              <a:rPr lang="it-IT" sz="1600" b="0" i="1" smtClean="0">
                                <a:latin typeface="Cambria Math" panose="02040503050406030204" pitchFamily="18" charset="0"/>
                              </a:rPr>
                              <m:t>+</m:t>
                            </m:r>
                            <m:box>
                              <m:boxPr>
                                <m:ctrlPr>
                                  <a:rPr lang="it-IT" sz="1600" b="0" i="1" smtClean="0">
                                    <a:latin typeface="Cambria Math" panose="02040503050406030204" pitchFamily="18" charset="0"/>
                                  </a:rPr>
                                </m:ctrlPr>
                              </m:boxPr>
                              <m:e>
                                <m:argPr>
                                  <m:argSz m:val="-1"/>
                                </m:argPr>
                                <m:f>
                                  <m:fPr>
                                    <m:ctrlPr>
                                      <a:rPr lang="it-IT" sz="1600" b="0" i="1" smtClean="0">
                                        <a:latin typeface="Cambria Math" panose="02040503050406030204" pitchFamily="18" charset="0"/>
                                      </a:rPr>
                                    </m:ctrlPr>
                                  </m:fPr>
                                  <m:num>
                                    <m:sSub>
                                      <m:sSubPr>
                                        <m:ctrlPr>
                                          <a:rPr lang="it-IT" sz="1600" i="1" smtClean="0">
                                            <a:latin typeface="Cambria Math" panose="02040503050406030204" pitchFamily="18" charset="0"/>
                                          </a:rPr>
                                        </m:ctrlPr>
                                      </m:sSubPr>
                                      <m:e>
                                        <m:r>
                                          <a:rPr lang="it-IT" sz="1600" i="1">
                                            <a:latin typeface="Cambria Math" panose="02040503050406030204" pitchFamily="18" charset="0"/>
                                          </a:rPr>
                                          <m:t>𝜅</m:t>
                                        </m:r>
                                      </m:e>
                                      <m:sub>
                                        <m:r>
                                          <a:rPr lang="it-IT" sz="1600" i="1">
                                            <a:latin typeface="Cambria Math" panose="02040503050406030204" pitchFamily="18" charset="0"/>
                                          </a:rPr>
                                          <m:t>0</m:t>
                                        </m:r>
                                      </m:sub>
                                    </m:sSub>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num>
                                  <m:den>
                                    <m:r>
                                      <a:rPr lang="it-IT" sz="1600" i="1" smtClean="0">
                                        <a:latin typeface="Cambria Math" panose="02040503050406030204" pitchFamily="18" charset="0"/>
                                      </a:rPr>
                                      <m:t>2</m:t>
                                    </m:r>
                                    <m:sSub>
                                      <m:sSubPr>
                                        <m:ctrlPr>
                                          <a:rPr lang="it-IT" sz="1600" i="1">
                                            <a:latin typeface="Cambria Math" panose="02040503050406030204" pitchFamily="18" charset="0"/>
                                          </a:rPr>
                                        </m:ctrlPr>
                                      </m:sSubPr>
                                      <m:e>
                                        <m:r>
                                          <a:rPr lang="it-IT" sz="1600" i="1">
                                            <a:latin typeface="Cambria Math" panose="02040503050406030204" pitchFamily="18" charset="0"/>
                                          </a:rPr>
                                          <m:t>𝜅</m:t>
                                        </m:r>
                                      </m:e>
                                      <m:sub>
                                        <m:r>
                                          <a:rPr lang="it-IT" sz="1600" i="1">
                                            <a:latin typeface="Cambria Math" panose="02040503050406030204" pitchFamily="18" charset="0"/>
                                          </a:rPr>
                                          <m:t>𝑛</m:t>
                                        </m:r>
                                      </m:sub>
                                    </m:sSub>
                                  </m:den>
                                </m:f>
                              </m:e>
                            </m:box>
                            <m:sSup>
                              <m:sSupPr>
                                <m:ctrlPr>
                                  <a:rPr lang="it-IT" sz="1600" b="0" i="1" smtClean="0">
                                    <a:latin typeface="Cambria Math" panose="02040503050406030204" pitchFamily="18" charset="0"/>
                                  </a:rPr>
                                </m:ctrlPr>
                              </m:sSupPr>
                              <m:e>
                                <m:d>
                                  <m:dPr>
                                    <m:ctrlPr>
                                      <a:rPr lang="it-IT" sz="1600" b="0" i="1" smtClean="0">
                                        <a:latin typeface="Cambria Math" panose="02040503050406030204" pitchFamily="18" charset="0"/>
                                      </a:rPr>
                                    </m:ctrlPr>
                                  </m:dPr>
                                  <m:e>
                                    <m:sSub>
                                      <m:sSubPr>
                                        <m:ctrlPr>
                                          <a:rPr lang="it-IT" sz="1600" i="1" smtClean="0">
                                            <a:latin typeface="Cambria Math" panose="02040503050406030204" pitchFamily="18" charset="0"/>
                                          </a:rPr>
                                        </m:ctrlPr>
                                      </m:sSubPr>
                                      <m:e>
                                        <m:bar>
                                          <m:barPr>
                                            <m:pos m:val="top"/>
                                            <m:ctrlPr>
                                              <a:rPr lang="it-IT" sz="1600" i="1">
                                                <a:latin typeface="Cambria Math" panose="02040503050406030204" pitchFamily="18" charset="0"/>
                                              </a:rPr>
                                            </m:ctrlPr>
                                          </m:barPr>
                                          <m:e>
                                            <m:r>
                                              <a:rPr lang="it-IT" sz="1600" i="1">
                                                <a:latin typeface="Cambria Math" panose="02040503050406030204" pitchFamily="18" charset="0"/>
                                              </a:rPr>
                                              <m:t>𝑥</m:t>
                                            </m:r>
                                          </m:e>
                                        </m:bar>
                                      </m:e>
                                      <m:sub>
                                        <m:r>
                                          <a:rPr lang="it-IT" sz="1600" i="1">
                                            <a:latin typeface="Cambria Math" panose="02040503050406030204" pitchFamily="18" charset="0"/>
                                          </a:rPr>
                                          <m:t>𝑘</m:t>
                                        </m:r>
                                        <m:r>
                                          <a:rPr lang="it-IT" sz="1600" b="0" i="1" smtClean="0">
                                            <a:latin typeface="Cambria Math" panose="02040503050406030204" pitchFamily="18" charset="0"/>
                                          </a:rPr>
                                          <m:t>¬</m:t>
                                        </m:r>
                                        <m:r>
                                          <m:rPr>
                                            <m:sty m:val="p"/>
                                          </m:rPr>
                                          <a:rPr lang="it-IT" sz="1600" b="0" i="1" smtClean="0">
                                            <a:latin typeface="Cambria Math" panose="02040503050406030204" pitchFamily="18" charset="0"/>
                                          </a:rPr>
                                          <m:t>i</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𝜇</m:t>
                                        </m:r>
                                      </m:e>
                                      <m:sub>
                                        <m:r>
                                          <a:rPr lang="it-IT" sz="1600" b="0" i="1" smtClean="0">
                                            <a:latin typeface="Cambria Math" panose="02040503050406030204" pitchFamily="18" charset="0"/>
                                          </a:rPr>
                                          <m:t>0</m:t>
                                        </m:r>
                                      </m:sub>
                                    </m:sSub>
                                  </m:e>
                                </m:d>
                              </m:e>
                              <m:sup>
                                <m:r>
                                  <a:rPr lang="it-IT" sz="1600" b="0" i="1" smtClean="0">
                                    <a:latin typeface="Cambria Math" panose="02040503050406030204" pitchFamily="18" charset="0"/>
                                  </a:rPr>
                                  <m:t>2</m:t>
                                </m:r>
                              </m:sup>
                            </m:sSup>
                          </m:e>
                          <m:e>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𝑛</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r>
                              <a:rPr lang="it-IT" sz="1600" b="0" i="1" smtClean="0">
                                <a:latin typeface="Cambria Math" panose="02040503050406030204" pitchFamily="18" charset="0"/>
                              </a:rPr>
                              <m:t>,  </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𝜇</m:t>
                                </m:r>
                              </m:e>
                              <m:sub>
                                <m:r>
                                  <a:rPr lang="it-IT" sz="1600" b="0" i="1" smtClean="0">
                                    <a:latin typeface="Cambria Math" panose="02040503050406030204" pitchFamily="18" charset="0"/>
                                  </a:rPr>
                                  <m:t>𝑛</m:t>
                                </m:r>
                              </m:sub>
                            </m:sSub>
                            <m:r>
                              <a:rPr lang="it-IT" sz="1600" b="0" i="1" smtClean="0">
                                <a:latin typeface="Cambria Math" panose="02040503050406030204" pitchFamily="18" charset="0"/>
                              </a:rPr>
                              <m:t>=</m:t>
                            </m:r>
                            <m:box>
                              <m:boxPr>
                                <m:ctrlPr>
                                  <a:rPr lang="it-IT" sz="1600" b="0" i="1" smtClean="0">
                                    <a:latin typeface="Cambria Math" panose="02040503050406030204" pitchFamily="18" charset="0"/>
                                  </a:rPr>
                                </m:ctrlPr>
                              </m:boxPr>
                              <m:e>
                                <m:argPr>
                                  <m:argSz m:val="-1"/>
                                </m:argPr>
                                <m:f>
                                  <m:fPr>
                                    <m:ctrlPr>
                                      <a:rPr lang="it-IT" sz="1600" b="0" i="1" smtClean="0">
                                        <a:latin typeface="Cambria Math" panose="02040503050406030204" pitchFamily="18" charset="0"/>
                                      </a:rPr>
                                    </m:ctrlPr>
                                  </m:fPr>
                                  <m:num>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0</m:t>
                                        </m:r>
                                      </m:sub>
                                    </m:sSub>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𝜇</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sSub>
                                      <m:sSubPr>
                                        <m:ctrlPr>
                                          <a:rPr lang="it-IT" sz="1600" i="1">
                                            <a:latin typeface="Cambria Math" panose="02040503050406030204" pitchFamily="18" charset="0"/>
                                          </a:rPr>
                                        </m:ctrlPr>
                                      </m:sSubPr>
                                      <m:e>
                                        <m:bar>
                                          <m:barPr>
                                            <m:pos m:val="top"/>
                                            <m:ctrlPr>
                                              <a:rPr lang="it-IT" sz="1600" i="1">
                                                <a:latin typeface="Cambria Math" panose="02040503050406030204" pitchFamily="18" charset="0"/>
                                              </a:rPr>
                                            </m:ctrlPr>
                                          </m:barPr>
                                          <m:e>
                                            <m:r>
                                              <a:rPr lang="it-IT" sz="1600" i="1">
                                                <a:latin typeface="Cambria Math" panose="02040503050406030204" pitchFamily="18" charset="0"/>
                                              </a:rPr>
                                              <m:t>𝑥</m:t>
                                            </m:r>
                                          </m:e>
                                        </m:bar>
                                      </m:e>
                                      <m:sub>
                                        <m:r>
                                          <a:rPr lang="it-IT" sz="1600" i="1">
                                            <a:latin typeface="Cambria Math" panose="02040503050406030204" pitchFamily="18" charset="0"/>
                                          </a:rPr>
                                          <m:t>𝑘</m:t>
                                        </m:r>
                                        <m:r>
                                          <a:rPr lang="it-IT" sz="1600" i="1">
                                            <a:latin typeface="Cambria Math" panose="02040503050406030204" pitchFamily="18" charset="0"/>
                                          </a:rPr>
                                          <m:t>¬</m:t>
                                        </m:r>
                                        <m:r>
                                          <m:rPr>
                                            <m:sty m:val="p"/>
                                          </m:rPr>
                                          <a:rPr lang="it-IT" sz="1600" i="1">
                                            <a:latin typeface="Cambria Math" panose="02040503050406030204" pitchFamily="18" charset="0"/>
                                          </a:rPr>
                                          <m:t>i</m:t>
                                        </m:r>
                                      </m:sub>
                                    </m:sSub>
                                  </m:num>
                                  <m:den>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den>
                                </m:f>
                              </m:e>
                            </m:box>
                          </m:e>
                        </m:eqArr>
                      </m:e>
                    </m:d>
                  </m:oMath>
                </a14:m>
                <a:endParaRPr lang="it-IT" sz="1600" dirty="0"/>
              </a:p>
              <a:p>
                <a:pPr marL="342900" indent="-342900">
                  <a:lnSpc>
                    <a:spcPct val="200000"/>
                  </a:lnSpc>
                  <a:buFont typeface="+mj-lt"/>
                  <a:buAutoNum type="arabicPeriod" startAt="2"/>
                </a:pPr>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r>
                      <a:rPr lang="it-IT" sz="1800" b="0" i="1" smtClean="0">
                        <a:latin typeface="Cambria Math" panose="02040503050406030204" pitchFamily="18" charset="0"/>
                      </a:rPr>
                      <m:t>=</m:t>
                    </m:r>
                  </m:oMath>
                </a14:m>
                <a:r>
                  <a:rPr lang="it-IT" sz="1800" dirty="0"/>
                  <a:t> </a:t>
                </a:r>
                <a14:m>
                  <m:oMath xmlns:m="http://schemas.openxmlformats.org/officeDocument/2006/math">
                    <m:r>
                      <a:rPr lang="it-IT" sz="1800" i="1" smtClean="0">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m:rPr>
                                <m:sty m:val="p"/>
                              </m:rPr>
                              <a:rPr lang="it-IT" sz="1800" i="1">
                                <a:latin typeface="Cambria Math" panose="02040503050406030204" pitchFamily="18" charset="0"/>
                              </a:rPr>
                              <m:t>k</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r>
                      <a:rPr lang="it-IT" sz="1800" b="0" i="0" smtClean="0">
                        <a:latin typeface="Cambria Math" panose="02040503050406030204" pitchFamily="18" charset="0"/>
                      </a:rPr>
                      <m:t>,  </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r>
                      <a:rPr lang="it-IT" sz="1800" b="0" i="1" smtClean="0">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b="0" i="1" smtClean="0">
                                <a:latin typeface="Cambria Math" panose="02040503050406030204" pitchFamily="18" charset="0"/>
                              </a:rPr>
                              <m:t>𝑛</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b="0" i="1" smtClean="0">
                                <a:latin typeface="Cambria Math" panose="02040503050406030204" pitchFamily="18" charset="0"/>
                              </a:rPr>
                              <m:t>𝑛</m:t>
                            </m:r>
                          </m:sub>
                        </m:sSub>
                      </m:e>
                    </m:d>
                    <m:r>
                      <a:rPr lang="it-IT" sz="1800" i="1">
                        <a:latin typeface="Cambria Math" panose="02040503050406030204" pitchFamily="18" charset="0"/>
                      </a:rPr>
                      <m:t>⋅</m:t>
                    </m:r>
                    <m:r>
                      <m:rPr>
                        <m:nor/>
                      </m:rPr>
                      <a:rPr lang="it-IT" sz="1800">
                        <a:latin typeface="Cambria Math" panose="02040503050406030204" pitchFamily="18" charset="0"/>
                      </a:rPr>
                      <m:t>Inv</m:t>
                    </m:r>
                    <m:r>
                      <m:rPr>
                        <m:nor/>
                      </m:rPr>
                      <a:rPr lang="it-IT" sz="1800">
                        <a:latin typeface="Cambria Math" panose="02040503050406030204" pitchFamily="18" charset="0"/>
                      </a:rPr>
                      <m:t>−</m:t>
                    </m:r>
                    <m:r>
                      <m:rPr>
                        <m:nor/>
                      </m:rPr>
                      <a:rPr lang="it-IT" sz="1800">
                        <a:latin typeface="Cambria Math" panose="02040503050406030204" pitchFamily="18" charset="0"/>
                      </a:rPr>
                      <m:t>Gamma</m:t>
                    </m:r>
                    <m:d>
                      <m:dPr>
                        <m:ctrlPr>
                          <a:rPr lang="it-IT" sz="1800" i="1">
                            <a:latin typeface="Cambria Math" panose="02040503050406030204" pitchFamily="18" charset="0"/>
                          </a:rPr>
                        </m:ctrlPr>
                      </m:dPr>
                      <m:e>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b="0" i="1" smtClean="0">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m:rPr>
                                <m:sty m:val="p"/>
                              </m:rPr>
                              <a:rPr lang="it-IT" sz="1800" b="0" i="1" smtClean="0">
                                <a:latin typeface="Cambria Math" panose="02040503050406030204" pitchFamily="18" charset="0"/>
                              </a:rPr>
                              <m:t>n</m:t>
                            </m:r>
                          </m:sub>
                        </m:sSub>
                      </m:e>
                    </m:d>
                  </m:oMath>
                </a14:m>
                <a:endParaRPr lang="it-IT" sz="1800" dirty="0"/>
              </a:p>
              <a:p>
                <a:pPr>
                  <a:lnSpc>
                    <a:spcPct val="100000"/>
                  </a:lnSpc>
                </a:pPr>
                <a:r>
                  <a:rPr lang="en-US" sz="1800" dirty="0"/>
                  <a:t>Let's put the pieces together, isolate the components dependent on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oMath>
                </a14:m>
                <a:r>
                  <a:rPr lang="en-US" sz="1800" dirty="0"/>
                  <a:t>, and apply the convolution of two Gaussians (solution problem 1b: sum of variances).</a:t>
                </a:r>
              </a:p>
              <a:p>
                <a:pPr>
                  <a:lnSpc>
                    <a:spcPct val="100000"/>
                  </a:lnSpc>
                </a:pPr>
                <a14:m>
                  <m:oMath xmlns:m="http://schemas.openxmlformats.org/officeDocument/2006/math">
                    <m:m>
                      <m:mPr>
                        <m:plcHide m:val="on"/>
                        <m:mcs>
                          <m:mc>
                            <m:mcPr>
                              <m:count m:val="3"/>
                              <m:mcJc m:val="center"/>
                            </m:mcPr>
                          </m:mc>
                        </m:mcs>
                        <m:ctrlPr>
                          <a:rPr lang="it-IT" sz="1800" i="1" smtClean="0">
                            <a:latin typeface="Cambria Math" panose="02040503050406030204" pitchFamily="18" charset="0"/>
                          </a:rPr>
                        </m:ctrlPr>
                      </m:mPr>
                      <m:mr>
                        <m:e>
                          <m:r>
                            <a:rPr lang="it-IT" sz="1800" i="1">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e>
                        <m:e>
                          <m:r>
                            <a:rPr lang="it-IT" sz="1800" b="0" i="1" smtClean="0">
                              <a:latin typeface="Cambria Math" panose="02040503050406030204" pitchFamily="18" charset="0"/>
                            </a:rPr>
                            <m:t>=</m:t>
                          </m:r>
                        </m:e>
                        <m:e>
                          <m:r>
                            <a:rPr lang="it-IT" sz="1800" i="1">
                              <a:latin typeface="Cambria Math" panose="02040503050406030204" pitchFamily="18" charset="0"/>
                            </a:rPr>
                            <m:t>∫</m:t>
                          </m:r>
                          <m:d>
                            <m:dPr>
                              <m:ctrlPr>
                                <a:rPr lang="it-IT" sz="1800" i="1">
                                  <a:latin typeface="Cambria Math" panose="02040503050406030204" pitchFamily="18" charset="0"/>
                                </a:rPr>
                              </m:ctrlPr>
                            </m:dPr>
                            <m:e>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m:rPr>
                                          <m:sty m:val="p"/>
                                        </m:rPr>
                                        <a:rPr lang="it-IT" sz="1800" i="1">
                                          <a:latin typeface="Cambria Math" panose="02040503050406030204" pitchFamily="18" charset="0"/>
                                        </a:rPr>
                                        <m:t>k</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e>
                              </m:d>
                              <m:r>
                                <a:rPr lang="it-IT" sz="1800" i="1">
                                  <a:latin typeface="Cambria Math" panose="02040503050406030204" pitchFamily="18" charset="0"/>
                                </a:rPr>
                                <m:t>𝑑</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d>
                          <m:r>
                            <m:rPr>
                              <m:nor/>
                            </m:rPr>
                            <a:rPr lang="it-IT" sz="1800" dirty="0"/>
                            <m:t> </m:t>
                          </m:r>
                          <m:r>
                            <m:rPr>
                              <m:nor/>
                            </m:rPr>
                            <a:rPr lang="it-IT" sz="1800">
                              <a:latin typeface="Cambria Math" panose="02040503050406030204" pitchFamily="18" charset="0"/>
                            </a:rPr>
                            <m:t>Inv</m:t>
                          </m:r>
                          <m:r>
                            <m:rPr>
                              <m:nor/>
                            </m:rPr>
                            <a:rPr lang="it-IT" sz="1800">
                              <a:latin typeface="Cambria Math" panose="02040503050406030204" pitchFamily="18" charset="0"/>
                            </a:rPr>
                            <m:t>−</m:t>
                          </m:r>
                          <m:r>
                            <m:rPr>
                              <m:nor/>
                            </m:rPr>
                            <a:rPr lang="it-IT" sz="1800">
                              <a:latin typeface="Cambria Math" panose="02040503050406030204" pitchFamily="18" charset="0"/>
                            </a:rPr>
                            <m:t>Gamma</m:t>
                          </m:r>
                          <m:d>
                            <m:dPr>
                              <m:ctrlPr>
                                <a:rPr lang="it-IT" sz="1800" i="1">
                                  <a:latin typeface="Cambria Math" panose="02040503050406030204" pitchFamily="18" charset="0"/>
                                </a:rPr>
                              </m:ctrlPr>
                            </m:dPr>
                            <m:e>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m:rPr>
                                      <m:sty m:val="p"/>
                                    </m:rPr>
                                    <a:rPr lang="it-IT" sz="1800" i="1">
                                      <a:latin typeface="Cambria Math" panose="02040503050406030204" pitchFamily="18" charset="0"/>
                                    </a:rPr>
                                    <m:t>n</m:t>
                                  </m:r>
                                </m:sub>
                              </m:sSub>
                            </m:e>
                          </m:d>
                          <m:r>
                            <a:rPr lang="it-IT" sz="1800" i="1">
                              <a:latin typeface="Cambria Math" panose="02040503050406030204" pitchFamily="18" charset="0"/>
                            </a:rPr>
                            <m:t>𝑑</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a:rPr lang="it-IT" sz="1800" i="1">
                              <a:latin typeface="Cambria Math" panose="02040503050406030204" pitchFamily="18" charset="0"/>
                            </a:rPr>
                            <m:t>=</m:t>
                          </m:r>
                        </m:e>
                      </m:mr>
                      <m:mr>
                        <m:e/>
                        <m:e>
                          <m:r>
                            <a:rPr lang="it-IT" sz="1800" b="0" i="1" smtClean="0">
                              <a:latin typeface="Cambria Math" panose="02040503050406030204" pitchFamily="18" charset="0"/>
                            </a:rPr>
                            <m:t>=</m:t>
                          </m:r>
                        </m:e>
                        <m:e>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r>
                                <a:rPr lang="it-IT" sz="1800" b="0" i="1" smtClean="0">
                                  <a:latin typeface="Cambria Math" panose="02040503050406030204" pitchFamily="18" charset="0"/>
                                </a:rPr>
                                <m:t>(</m:t>
                              </m:r>
                              <m:r>
                                <a:rPr lang="it-IT" sz="1800" b="0" i="1" smtClean="0">
                                  <a:latin typeface="Cambria Math" panose="02040503050406030204" pitchFamily="18" charset="0"/>
                                </a:rPr>
                                <m:t>1</m:t>
                              </m:r>
                              <m:r>
                                <a:rPr lang="it-IT" sz="1800" b="0" i="1" smtClean="0">
                                  <a:latin typeface="Cambria Math" panose="02040503050406030204" pitchFamily="18" charset="0"/>
                                </a:rPr>
                                <m:t>+</m:t>
                              </m:r>
                              <m:r>
                                <a:rPr lang="it-IT" sz="1800" b="0" i="1" smtClean="0">
                                  <a:latin typeface="Cambria Math" panose="02040503050406030204" pitchFamily="18" charset="0"/>
                                </a:rPr>
                                <m:t>1</m:t>
                              </m:r>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r>
                                <a:rPr lang="it-IT" sz="1800" b="0" i="1" smtClean="0">
                                  <a:latin typeface="Cambria Math" panose="02040503050406030204" pitchFamily="18" charset="0"/>
                                </a:rPr>
                                <m:t>)</m:t>
                              </m:r>
                            </m:e>
                          </m:d>
                          <m:r>
                            <a:rPr lang="it-IT" sz="1800" b="0" i="1" smtClean="0">
                              <a:latin typeface="Cambria Math" panose="02040503050406030204" pitchFamily="18" charset="0"/>
                            </a:rPr>
                            <m:t>⋅</m:t>
                          </m:r>
                          <m:r>
                            <m:rPr>
                              <m:nor/>
                            </m:rPr>
                            <a:rPr lang="it-IT" sz="1800">
                              <a:latin typeface="Cambria Math" panose="02040503050406030204" pitchFamily="18" charset="0"/>
                            </a:rPr>
                            <m:t>Inv</m:t>
                          </m:r>
                          <m:r>
                            <m:rPr>
                              <m:nor/>
                            </m:rPr>
                            <a:rPr lang="it-IT" sz="1800">
                              <a:latin typeface="Cambria Math" panose="02040503050406030204" pitchFamily="18" charset="0"/>
                            </a:rPr>
                            <m:t>−</m:t>
                          </m:r>
                          <m:r>
                            <m:rPr>
                              <m:nor/>
                            </m:rPr>
                            <a:rPr lang="it-IT" sz="1800">
                              <a:latin typeface="Cambria Math" panose="02040503050406030204" pitchFamily="18" charset="0"/>
                            </a:rPr>
                            <m:t>Gamma</m:t>
                          </m:r>
                          <m:d>
                            <m:dPr>
                              <m:ctrlPr>
                                <a:rPr lang="it-IT" sz="1800" i="1">
                                  <a:latin typeface="Cambria Math" panose="02040503050406030204" pitchFamily="18" charset="0"/>
                                </a:rPr>
                              </m:ctrlPr>
                            </m:dPr>
                            <m:e>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m:rPr>
                                      <m:sty m:val="p"/>
                                    </m:rPr>
                                    <a:rPr lang="it-IT" sz="1800" i="1">
                                      <a:latin typeface="Cambria Math" panose="02040503050406030204" pitchFamily="18" charset="0"/>
                                    </a:rPr>
                                    <m:t>n</m:t>
                                  </m:r>
                                </m:sub>
                              </m:sSub>
                            </m:e>
                          </m:d>
                          <m:r>
                            <a:rPr lang="it-IT" sz="1800" i="1">
                              <a:latin typeface="Cambria Math" panose="02040503050406030204" pitchFamily="18" charset="0"/>
                            </a:rPr>
                            <m:t>𝑑</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mr>
                    </m:m>
                  </m:oMath>
                </a14:m>
                <a:endParaRPr lang="it-IT" sz="1800" dirty="0"/>
              </a:p>
            </p:txBody>
          </p:sp>
        </mc:Choice>
        <mc:Fallback xmlns="">
          <p:sp>
            <p:nvSpPr>
              <p:cNvPr id="3" name="Content Placeholder 2">
                <a:extLst>
                  <a:ext uri="{FF2B5EF4-FFF2-40B4-BE49-F238E27FC236}">
                    <a16:creationId xmlns:a16="http://schemas.microsoft.com/office/drawing/2014/main" id="{0D133856-DE0F-5A0A-B2AE-F7EF957C92D2}"/>
                  </a:ext>
                </a:extLst>
              </p:cNvPr>
              <p:cNvSpPr>
                <a:spLocks noGrp="1" noRot="1" noChangeAspect="1" noMove="1" noResize="1" noEditPoints="1" noAdjustHandles="1" noChangeArrowheads="1" noChangeShapeType="1" noTextEdit="1"/>
              </p:cNvSpPr>
              <p:nvPr>
                <p:ph idx="1"/>
              </p:nvPr>
            </p:nvSpPr>
            <p:spPr>
              <a:xfrm>
                <a:off x="700635" y="1563077"/>
                <a:ext cx="10790730" cy="4743938"/>
              </a:xfrm>
              <a:blipFill>
                <a:blip r:embed="rId4"/>
                <a:stretch>
                  <a:fillRect l="-452"/>
                </a:stretch>
              </a:blipFill>
            </p:spPr>
            <p:txBody>
              <a:bodyPr/>
              <a:lstStyle/>
              <a:p>
                <a:r>
                  <a:rPr lang="it-IT">
                    <a:noFill/>
                  </a:rPr>
                  <a:t> </a:t>
                </a:r>
              </a:p>
            </p:txBody>
          </p:sp>
        </mc:Fallback>
      </mc:AlternateContent>
    </p:spTree>
    <p:extLst>
      <p:ext uri="{BB962C8B-B14F-4D97-AF65-F5344CB8AC3E}">
        <p14:creationId xmlns:p14="http://schemas.microsoft.com/office/powerpoint/2010/main" val="9702566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0C66C96-2D91-D990-9502-FD6A235DD207}"/>
                  </a:ext>
                </a:extLst>
              </p:cNvPr>
              <p:cNvSpPr>
                <a:spLocks noGrp="1"/>
              </p:cNvSpPr>
              <p:nvPr>
                <p:ph type="title"/>
              </p:nvPr>
            </p:nvSpPr>
            <p:spPr/>
            <p:txBody>
              <a:bodyPr/>
              <a:lstStyle/>
              <a:p>
                <a:r>
                  <a:rPr lang="it-IT" dirty="0">
                    <a:solidFill>
                      <a:srgbClr val="FF0000"/>
                    </a:solidFill>
                  </a:rPr>
                  <a:t>Marginalize over </a:t>
                </a:r>
                <a14:m>
                  <m:oMath xmlns:m="http://schemas.openxmlformats.org/officeDocument/2006/math">
                    <m:sSub>
                      <m:sSubPr>
                        <m:ctrlPr>
                          <a:rPr lang="it-IT" i="1" dirty="0">
                            <a:solidFill>
                              <a:srgbClr val="FF0000"/>
                            </a:solidFill>
                            <a:latin typeface="Cambria Math" panose="02040503050406030204" pitchFamily="18" charset="0"/>
                          </a:rPr>
                        </m:ctrlPr>
                      </m:sSubPr>
                      <m:e>
                        <m:r>
                          <a:rPr lang="it-IT" i="1" dirty="0">
                            <a:solidFill>
                              <a:srgbClr val="FF0000"/>
                            </a:solidFill>
                            <a:latin typeface="Cambria Math" panose="02040503050406030204" pitchFamily="18" charset="0"/>
                          </a:rPr>
                          <m:t>𝜇</m:t>
                        </m:r>
                      </m:e>
                      <m:sub>
                        <m:r>
                          <a:rPr lang="it-IT" i="1" dirty="0">
                            <a:solidFill>
                              <a:srgbClr val="FF0000"/>
                            </a:solidFill>
                            <a:latin typeface="Cambria Math" panose="02040503050406030204" pitchFamily="18" charset="0"/>
                          </a:rPr>
                          <m:t>𝑘</m:t>
                        </m:r>
                      </m:sub>
                    </m:sSub>
                    <m:r>
                      <a:rPr lang="it-IT" i="1" dirty="0">
                        <a:solidFill>
                          <a:srgbClr val="FF0000"/>
                        </a:solidFill>
                        <a:latin typeface="Cambria Math" panose="02040503050406030204" pitchFamily="18" charset="0"/>
                      </a:rPr>
                      <m:t> </m:t>
                    </m:r>
                    <m:r>
                      <m:rPr>
                        <m:sty m:val="p"/>
                      </m:rPr>
                      <a:rPr lang="it-IT" i="1" dirty="0">
                        <a:solidFill>
                          <a:srgbClr val="FF0000"/>
                        </a:solidFill>
                        <a:latin typeface="Cambria Math" panose="02040503050406030204" pitchFamily="18" charset="0"/>
                      </a:rPr>
                      <m:t>and</m:t>
                    </m:r>
                    <m:r>
                      <a:rPr lang="it-IT" i="1" dirty="0">
                        <a:solidFill>
                          <a:srgbClr val="FF0000"/>
                        </a:solidFill>
                        <a:latin typeface="Cambria Math" panose="02040503050406030204" pitchFamily="18" charset="0"/>
                      </a:rPr>
                      <m:t> </m:t>
                    </m:r>
                    <m:sSubSup>
                      <m:sSubSupPr>
                        <m:ctrlPr>
                          <a:rPr lang="it-IT" i="1" dirty="0">
                            <a:solidFill>
                              <a:srgbClr val="FF0000"/>
                            </a:solidFill>
                            <a:latin typeface="Cambria Math" panose="02040503050406030204" pitchFamily="18" charset="0"/>
                          </a:rPr>
                        </m:ctrlPr>
                      </m:sSubSupPr>
                      <m:e>
                        <m:r>
                          <a:rPr lang="it-IT" i="1" dirty="0">
                            <a:solidFill>
                              <a:srgbClr val="FF0000"/>
                            </a:solidFill>
                            <a:latin typeface="Cambria Math" panose="02040503050406030204" pitchFamily="18" charset="0"/>
                          </a:rPr>
                          <m:t>𝜎</m:t>
                        </m:r>
                      </m:e>
                      <m:sub>
                        <m:r>
                          <a:rPr lang="it-IT" i="1" dirty="0">
                            <a:solidFill>
                              <a:srgbClr val="FF0000"/>
                            </a:solidFill>
                            <a:latin typeface="Cambria Math" panose="02040503050406030204" pitchFamily="18" charset="0"/>
                          </a:rPr>
                          <m:t>𝑘</m:t>
                        </m:r>
                      </m:sub>
                      <m:sup>
                        <m:r>
                          <a:rPr lang="it-IT" i="1" dirty="0">
                            <a:solidFill>
                              <a:srgbClr val="FF0000"/>
                            </a:solidFill>
                            <a:latin typeface="Cambria Math" panose="02040503050406030204" pitchFamily="18" charset="0"/>
                          </a:rPr>
                          <m:t>2</m:t>
                        </m:r>
                      </m:sup>
                    </m:sSubSup>
                  </m:oMath>
                </a14:m>
                <a:r>
                  <a:rPr lang="it-IT" dirty="0"/>
                  <a:t> </a:t>
                </a:r>
                <a:r>
                  <a:rPr lang="it-IT" dirty="0">
                    <a:solidFill>
                      <a:srgbClr val="FF0000"/>
                    </a:solidFill>
                  </a:rPr>
                  <a:t>(3/3)</a:t>
                </a:r>
                <a:endParaRPr lang="it-IT" dirty="0"/>
              </a:p>
            </p:txBody>
          </p:sp>
        </mc:Choice>
        <mc:Fallback xmlns="">
          <p:sp>
            <p:nvSpPr>
              <p:cNvPr id="2" name="Title 1">
                <a:extLst>
                  <a:ext uri="{FF2B5EF4-FFF2-40B4-BE49-F238E27FC236}">
                    <a16:creationId xmlns:a16="http://schemas.microsoft.com/office/drawing/2014/main" id="{70C66C96-2D91-D990-9502-FD6A235DD207}"/>
                  </a:ext>
                </a:extLst>
              </p:cNvPr>
              <p:cNvSpPr>
                <a:spLocks noGrp="1" noRot="1" noChangeAspect="1" noMove="1" noResize="1" noEditPoints="1" noAdjustHandles="1" noChangeArrowheads="1" noChangeShapeType="1" noTextEdit="1"/>
              </p:cNvSpPr>
              <p:nvPr>
                <p:ph type="title"/>
              </p:nvPr>
            </p:nvSpPr>
            <p:spPr>
              <a:blipFill>
                <a:blip r:embed="rId3"/>
                <a:stretch>
                  <a:fillRect l="-2052" t="-651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B8F046-CF0D-A0F3-118F-B3DC4C003294}"/>
                  </a:ext>
                </a:extLst>
              </p:cNvPr>
              <p:cNvSpPr>
                <a:spLocks noGrp="1"/>
              </p:cNvSpPr>
              <p:nvPr>
                <p:ph idx="1"/>
              </p:nvPr>
            </p:nvSpPr>
            <p:spPr>
              <a:xfrm>
                <a:off x="700635" y="1563077"/>
                <a:ext cx="10790730" cy="4650154"/>
              </a:xfrm>
            </p:spPr>
            <p:txBody>
              <a:bodyPr>
                <a:normAutofit/>
              </a:bodyPr>
              <a:lstStyle/>
              <a:p>
                <a:pPr marL="342900" indent="-342900">
                  <a:lnSpc>
                    <a:spcPct val="100000"/>
                  </a:lnSpc>
                  <a:buFont typeface="+mj-lt"/>
                  <a:buAutoNum type="arabicPeriod" startAt="3"/>
                </a:pPr>
                <a:r>
                  <a:rPr lang="en-US" sz="1800" dirty="0"/>
                  <a:t>The Inverse-Gamma normalizing constant is</a:t>
                </a:r>
                <a:r>
                  <a:rPr lang="it-IT" sz="1800" dirty="0"/>
                  <a:t>:</a:t>
                </a:r>
                <a:r>
                  <a:rPr lang="en-US" sz="1800" dirty="0"/>
                  <a:t> </a:t>
                </a:r>
                <a14:m>
                  <m:oMath xmlns:m="http://schemas.openxmlformats.org/officeDocument/2006/math">
                    <m:nary>
                      <m:naryPr>
                        <m:subHide m:val="on"/>
                        <m:supHide m:val="on"/>
                        <m:ctrlPr>
                          <a:rPr lang="it-IT" sz="1800" b="0" i="1" dirty="0" smtClean="0">
                            <a:latin typeface="Cambria Math" panose="02040503050406030204" pitchFamily="18" charset="0"/>
                          </a:rPr>
                        </m:ctrlPr>
                      </m:naryPr>
                      <m:sub/>
                      <m:sup/>
                      <m:e>
                        <m:sSup>
                          <m:sSupPr>
                            <m:ctrlPr>
                              <a:rPr lang="it-IT" sz="1800" b="0" i="1" dirty="0" smtClean="0">
                                <a:latin typeface="Cambria Math" panose="02040503050406030204" pitchFamily="18" charset="0"/>
                              </a:rPr>
                            </m:ctrlPr>
                          </m:sSupPr>
                          <m:e>
                            <m:r>
                              <a:rPr lang="it-IT" sz="1800" b="0" i="1" dirty="0" smtClean="0">
                                <a:latin typeface="Cambria Math" panose="02040503050406030204" pitchFamily="18" charset="0"/>
                              </a:rPr>
                              <m:t>𝑥</m:t>
                            </m:r>
                          </m:e>
                          <m:sup>
                            <m:r>
                              <a:rPr lang="it-IT" sz="1800" b="0" i="1" dirty="0" smtClean="0">
                                <a:latin typeface="Cambria Math" panose="02040503050406030204" pitchFamily="18" charset="0"/>
                              </a:rPr>
                              <m:t>−</m:t>
                            </m:r>
                            <m:d>
                              <m:dPr>
                                <m:ctrlPr>
                                  <a:rPr lang="it-IT" sz="1800" b="0" i="1" dirty="0" smtClean="0">
                                    <a:latin typeface="Cambria Math" panose="02040503050406030204" pitchFamily="18" charset="0"/>
                                  </a:rPr>
                                </m:ctrlPr>
                              </m:dPr>
                              <m:e>
                                <m:r>
                                  <a:rPr lang="it-IT" sz="1800" b="0" i="1" dirty="0" smtClean="0">
                                    <a:latin typeface="Cambria Math" panose="02040503050406030204" pitchFamily="18" charset="0"/>
                                  </a:rPr>
                                  <m:t>𝛼</m:t>
                                </m:r>
                                <m:r>
                                  <a:rPr lang="it-IT" sz="1800" b="0" i="1" dirty="0" smtClean="0">
                                    <a:latin typeface="Cambria Math" panose="02040503050406030204" pitchFamily="18" charset="0"/>
                                  </a:rPr>
                                  <m:t>+1</m:t>
                                </m:r>
                              </m:e>
                            </m:d>
                          </m:sup>
                        </m:sSup>
                      </m:e>
                    </m:nary>
                    <m:sSup>
                      <m:sSupPr>
                        <m:ctrlPr>
                          <a:rPr lang="it-IT" sz="1800" b="0" i="1" dirty="0" smtClean="0">
                            <a:latin typeface="Cambria Math" panose="02040503050406030204" pitchFamily="18" charset="0"/>
                          </a:rPr>
                        </m:ctrlPr>
                      </m:sSupPr>
                      <m:e>
                        <m:r>
                          <a:rPr lang="it-IT" sz="1800" b="0" i="1" dirty="0" smtClean="0">
                            <a:latin typeface="Cambria Math" panose="02040503050406030204" pitchFamily="18" charset="0"/>
                          </a:rPr>
                          <m:t>𝑒</m:t>
                        </m:r>
                      </m:e>
                      <m:sup>
                        <m:r>
                          <a:rPr lang="it-IT" sz="1800" b="0" i="1" dirty="0" smtClean="0">
                            <a:latin typeface="Cambria Math" panose="02040503050406030204" pitchFamily="18" charset="0"/>
                          </a:rPr>
                          <m:t>−</m:t>
                        </m:r>
                        <m:r>
                          <a:rPr lang="it-IT" sz="1800" b="0" i="1" dirty="0" smtClean="0">
                            <a:latin typeface="Cambria Math" panose="02040503050406030204" pitchFamily="18" charset="0"/>
                          </a:rPr>
                          <m:t>𝛽</m:t>
                        </m:r>
                        <m:r>
                          <m:rPr>
                            <m:lit/>
                          </m:rPr>
                          <a:rPr lang="it-IT" sz="1800" b="0" i="1" dirty="0" smtClean="0">
                            <a:latin typeface="Cambria Math" panose="02040503050406030204" pitchFamily="18" charset="0"/>
                          </a:rPr>
                          <m:t>/</m:t>
                        </m:r>
                        <m:r>
                          <a:rPr lang="it-IT" sz="1800" b="0" i="1" dirty="0" smtClean="0">
                            <a:latin typeface="Cambria Math" panose="02040503050406030204" pitchFamily="18" charset="0"/>
                          </a:rPr>
                          <m:t>𝑥</m:t>
                        </m:r>
                      </m:sup>
                    </m:sSup>
                    <m:r>
                      <a:rPr lang="it-IT" sz="1800" b="0" i="1" dirty="0" smtClean="0">
                        <a:latin typeface="Cambria Math" panose="02040503050406030204" pitchFamily="18" charset="0"/>
                      </a:rPr>
                      <m:t>𝑑𝑥</m:t>
                    </m:r>
                    <m:r>
                      <a:rPr lang="en-US" sz="1800" i="1" dirty="0">
                        <a:latin typeface="Cambria Math" panose="02040503050406030204" pitchFamily="18" charset="0"/>
                      </a:rPr>
                      <m:t>=</m:t>
                    </m:r>
                    <m:r>
                      <m:rPr>
                        <m:sty m:val="p"/>
                      </m:rPr>
                      <a:rPr lang="it-IT" sz="1800" b="0" i="0" dirty="0" smtClean="0">
                        <a:latin typeface="Cambria Math" panose="02040503050406030204" pitchFamily="18" charset="0"/>
                      </a:rPr>
                      <m:t>Γ</m:t>
                    </m:r>
                    <m:d>
                      <m:dPr>
                        <m:ctrlPr>
                          <a:rPr lang="it-IT" sz="1800" b="0" i="1" dirty="0" smtClean="0">
                            <a:latin typeface="Cambria Math" panose="02040503050406030204" pitchFamily="18" charset="0"/>
                          </a:rPr>
                        </m:ctrlPr>
                      </m:dPr>
                      <m:e>
                        <m:r>
                          <a:rPr lang="it-IT" sz="1800" b="0" i="1" dirty="0" smtClean="0">
                            <a:latin typeface="Cambria Math" panose="02040503050406030204" pitchFamily="18" charset="0"/>
                          </a:rPr>
                          <m:t>𝛼</m:t>
                        </m:r>
                      </m:e>
                    </m:d>
                    <m:sSup>
                      <m:sSupPr>
                        <m:ctrlPr>
                          <a:rPr lang="it-IT" sz="1800" b="0" i="1" dirty="0" smtClean="0">
                            <a:latin typeface="Cambria Math" panose="02040503050406030204" pitchFamily="18" charset="0"/>
                          </a:rPr>
                        </m:ctrlPr>
                      </m:sSupPr>
                      <m:e>
                        <m:r>
                          <a:rPr lang="it-IT" sz="1800" b="0" i="1" dirty="0" smtClean="0">
                            <a:latin typeface="Cambria Math" panose="02040503050406030204" pitchFamily="18" charset="0"/>
                          </a:rPr>
                          <m:t>𝛽</m:t>
                        </m:r>
                      </m:e>
                      <m:sup>
                        <m:r>
                          <a:rPr lang="it-IT" sz="1800" b="0" i="1" dirty="0" smtClean="0">
                            <a:latin typeface="Cambria Math" panose="02040503050406030204" pitchFamily="18" charset="0"/>
                          </a:rPr>
                          <m:t>−</m:t>
                        </m:r>
                        <m:r>
                          <a:rPr lang="it-IT" sz="1800" b="0" i="1" dirty="0" smtClean="0">
                            <a:latin typeface="Cambria Math" panose="02040503050406030204" pitchFamily="18" charset="0"/>
                          </a:rPr>
                          <m:t>𝛼</m:t>
                        </m:r>
                      </m:sup>
                    </m:sSup>
                  </m:oMath>
                </a14:m>
                <a:r>
                  <a:rPr lang="it-IT" sz="1800" dirty="0"/>
                  <a:t>.</a:t>
                </a:r>
              </a:p>
              <a:p>
                <a:pPr>
                  <a:lnSpc>
                    <a:spcPct val="100000"/>
                  </a:lnSpc>
                </a:pPr>
                <a:r>
                  <a:rPr lang="it-IT" sz="1800" dirty="0"/>
                  <a:t>Let’s write explicitly the distrubition inside the integral </a:t>
                </a:r>
                <a:r>
                  <a:rPr lang="en-US" sz="1800" dirty="0"/>
                  <a:t>and take out everything that does not depend on </a:t>
                </a:r>
                <a14:m>
                  <m:oMath xmlns:m="http://schemas.openxmlformats.org/officeDocument/2006/math">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oMath>
                </a14:m>
                <a:r>
                  <a:rPr lang="it-IT" sz="1800" dirty="0"/>
                  <a:t>.</a:t>
                </a:r>
              </a:p>
              <a:p>
                <a:pPr>
                  <a:lnSpc>
                    <a:spcPct val="100000"/>
                  </a:lnSpc>
                </a:pPr>
                <a14:m>
                  <m:oMath xmlns:m="http://schemas.openxmlformats.org/officeDocument/2006/math">
                    <m:m>
                      <m:mPr>
                        <m:plcHide m:val="on"/>
                        <m:mcs>
                          <m:mc>
                            <m:mcPr>
                              <m:count m:val="3"/>
                              <m:mcJc m:val="center"/>
                            </m:mcPr>
                          </m:mc>
                        </m:mcs>
                        <m:ctrlPr>
                          <a:rPr lang="it-IT" sz="1800" i="1" smtClean="0">
                            <a:latin typeface="Cambria Math" panose="02040503050406030204" pitchFamily="18" charset="0"/>
                          </a:rPr>
                        </m:ctrlPr>
                      </m:mPr>
                      <m:mr>
                        <m:e>
                          <m:r>
                            <m:rPr>
                              <m:brk m:alnAt="7"/>
                            </m:rP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brk m:alnAt="7"/>
                                    </m:rPr>
                                    <a:rPr lang="it-IT" sz="1800" i="1">
                                      <a:latin typeface="Cambria Math" panose="02040503050406030204" pitchFamily="18" charset="0"/>
                                    </a:rPr>
                                    <m:t>𝑥</m:t>
                                  </m:r>
                                </m:e>
                                <m:sub>
                                  <m:r>
                                    <m:rPr>
                                      <m:brk m:alnAt="7"/>
                                    </m:rP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m:rPr>
                                      <m:brk m:alnAt="7"/>
                                    </m:rPr>
                                    <a:rPr lang="it-IT" sz="1800" i="1">
                                      <a:latin typeface="Cambria Math" panose="02040503050406030204" pitchFamily="18" charset="0"/>
                                    </a:rPr>
                                    <m:t>𝒙</m:t>
                                  </m:r>
                                </m:e>
                                <m:sub>
                                  <m:r>
                                    <m:rPr>
                                      <m:brk m:alnAt="7"/>
                                    </m:rPr>
                                    <a:rPr lang="it-IT" sz="1800" b="0" i="1">
                                      <a:latin typeface="Cambria Math" panose="02040503050406030204" pitchFamily="18" charset="0"/>
                                    </a:rPr>
                                    <m:t>𝑘</m:t>
                                  </m:r>
                                  <m:r>
                                    <a:rPr lang="it-IT" sz="1800" b="0" i="1">
                                      <a:latin typeface="Cambria Math" panose="02040503050406030204" pitchFamily="18" charset="0"/>
                                    </a:rPr>
                                    <m:t>¬</m:t>
                                  </m:r>
                                  <m:r>
                                    <a:rPr lang="it-IT" sz="1800" b="0" i="1">
                                      <a:latin typeface="Cambria Math" panose="02040503050406030204" pitchFamily="18" charset="0"/>
                                    </a:rPr>
                                    <m:t>𝑖</m:t>
                                  </m:r>
                                </m:sub>
                              </m:sSub>
                            </m:e>
                          </m:d>
                        </m:e>
                        <m:e>
                          <m:r>
                            <a:rPr lang="it-IT" sz="1800" b="0" i="1" smtClean="0">
                              <a:latin typeface="Cambria Math" panose="02040503050406030204" pitchFamily="18" charset="0"/>
                            </a:rPr>
                            <m:t>=</m:t>
                          </m:r>
                        </m:e>
                        <m:e>
                          <m:f>
                            <m:fPr>
                              <m:ctrlPr>
                                <a:rPr lang="it-IT" sz="1800" i="1" smtClean="0">
                                  <a:latin typeface="Cambria Math" panose="02040503050406030204" pitchFamily="18" charset="0"/>
                                </a:rPr>
                              </m:ctrlPr>
                            </m:fPr>
                            <m:num>
                              <m:sSubSup>
                                <m:sSubSupPr>
                                  <m:ctrlPr>
                                    <a:rPr lang="it-IT" sz="1800" i="1">
                                      <a:latin typeface="Cambria Math" panose="02040503050406030204" pitchFamily="18" charset="0"/>
                                    </a:rPr>
                                  </m:ctrlPr>
                                </m:sSubSupPr>
                                <m:e>
                                  <m:r>
                                    <a:rPr lang="it-IT" sz="1800" i="1">
                                      <a:latin typeface="Cambria Math" panose="02040503050406030204" pitchFamily="18" charset="0"/>
                                    </a:rPr>
                                    <m:t>𝛽</m:t>
                                  </m:r>
                                </m:e>
                                <m:sub>
                                  <m:r>
                                    <a:rPr lang="it-IT" sz="1800" i="1">
                                      <a:latin typeface="Cambria Math" panose="02040503050406030204" pitchFamily="18" charset="0"/>
                                    </a:rPr>
                                    <m:t>𝑛</m:t>
                                  </m:r>
                                </m:sub>
                                <m:sup>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sup>
                              </m:sSubSup>
                            </m:num>
                            <m:den>
                              <m:r>
                                <m:rPr>
                                  <m:sty m:val="p"/>
                                </m:rPr>
                                <a:rPr lang="it-IT" sz="1800" i="0">
                                  <a:latin typeface="Cambria Math" panose="02040503050406030204" pitchFamily="18" charset="0"/>
                                </a:rPr>
                                <m:t>Γ</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e>
                              </m:d>
                            </m:den>
                          </m:f>
                          <m:f>
                            <m:fPr>
                              <m:ctrlPr>
                                <a:rPr lang="it-IT" sz="1800" i="1">
                                  <a:latin typeface="Cambria Math" panose="02040503050406030204" pitchFamily="18" charset="0"/>
                                </a:rPr>
                              </m:ctrlPr>
                            </m:fPr>
                            <m:num>
                              <m:r>
                                <a:rPr lang="it-IT" sz="1800" i="1">
                                  <a:latin typeface="Cambria Math" panose="02040503050406030204" pitchFamily="18" charset="0"/>
                                </a:rPr>
                                <m:t>1</m:t>
                              </m:r>
                            </m:num>
                            <m:den>
                              <m:rad>
                                <m:radPr>
                                  <m:degHide m:val="on"/>
                                  <m:ctrlPr>
                                    <a:rPr lang="it-IT" sz="1800" i="1">
                                      <a:latin typeface="Cambria Math" panose="02040503050406030204" pitchFamily="18" charset="0"/>
                                    </a:rPr>
                                  </m:ctrlPr>
                                </m:radPr>
                                <m:deg/>
                                <m:e>
                                  <m:r>
                                    <a:rPr lang="it-IT" sz="1800" i="1">
                                      <a:latin typeface="Cambria Math" panose="02040503050406030204" pitchFamily="18" charset="0"/>
                                    </a:rPr>
                                    <m:t>2</m:t>
                                  </m:r>
                                  <m:r>
                                    <a:rPr lang="it-IT" sz="1800" i="1">
                                      <a:latin typeface="Cambria Math" panose="02040503050406030204" pitchFamily="18" charset="0"/>
                                    </a:rPr>
                                    <m:t>𝜋</m:t>
                                  </m:r>
                                  <m:d>
                                    <m:dPr>
                                      <m:ctrlPr>
                                        <a:rPr lang="it-IT" sz="1800" i="1">
                                          <a:latin typeface="Cambria Math" panose="02040503050406030204" pitchFamily="18" charset="0"/>
                                        </a:rPr>
                                      </m:ctrlPr>
                                    </m:dPr>
                                    <m:e>
                                      <m:r>
                                        <a:rPr lang="it-IT" sz="1800" i="1">
                                          <a:latin typeface="Cambria Math" panose="02040503050406030204" pitchFamily="18" charset="0"/>
                                        </a:rPr>
                                        <m:t>1+1</m:t>
                                      </m:r>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e>
                                  </m:d>
                                </m:e>
                              </m:rad>
                            </m:den>
                          </m:f>
                          <m:nary>
                            <m:naryPr>
                              <m:subHide m:val="on"/>
                              <m:supHide m:val="on"/>
                              <m:ctrlPr>
                                <a:rPr lang="it-IT" sz="1800" i="1">
                                  <a:latin typeface="Cambria Math" panose="02040503050406030204" pitchFamily="18" charset="0"/>
                                </a:rPr>
                              </m:ctrlPr>
                            </m:naryPr>
                            <m:sub/>
                            <m:sup/>
                            <m:e>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d>
                                </m:e>
                                <m:sup>
                                  <m:r>
                                    <a:rPr lang="it-IT" sz="1800" i="1">
                                      <a:latin typeface="Cambria Math" panose="02040503050406030204" pitchFamily="18" charset="0"/>
                                    </a:rPr>
                                    <m: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r>
                                        <a:rPr lang="it-IT" sz="1800" i="1">
                                          <a:latin typeface="Cambria Math" panose="02040503050406030204" pitchFamily="18" charset="0"/>
                                        </a:rPr>
                                        <m:t>+1</m:t>
                                      </m:r>
                                      <m:r>
                                        <m:rPr>
                                          <m:lit/>
                                        </m:rPr>
                                        <a:rPr lang="it-IT" sz="1800" i="1">
                                          <a:latin typeface="Cambria Math" panose="02040503050406030204" pitchFamily="18" charset="0"/>
                                        </a:rPr>
                                        <m:t>/</m:t>
                                      </m:r>
                                      <m:r>
                                        <a:rPr lang="it-IT" sz="1800" i="1">
                                          <a:latin typeface="Cambria Math" panose="02040503050406030204" pitchFamily="18" charset="0"/>
                                        </a:rPr>
                                        <m:t>2+1</m:t>
                                      </m:r>
                                    </m:e>
                                  </m:d>
                                </m:sup>
                              </m:sSup>
                              <m:r>
                                <a:rPr lang="it-IT" sz="1800" i="1">
                                  <a:latin typeface="Cambria Math" panose="02040503050406030204" pitchFamily="18" charset="0"/>
                                </a:rPr>
                                <m:t>𝑒𝑥𝑝</m:t>
                              </m:r>
                              <m:d>
                                <m:dPr>
                                  <m:ctrlPr>
                                    <a:rPr lang="it-IT" sz="1800" i="1">
                                      <a:latin typeface="Cambria Math" panose="02040503050406030204" pitchFamily="18" charset="0"/>
                                    </a:rPr>
                                  </m:ctrlPr>
                                </m:dPr>
                                <m:e>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den>
                                  </m:f>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a:rPr lang="it-IT" sz="1800" i="1">
                                              <a:latin typeface="Cambria Math" panose="02040503050406030204" pitchFamily="18" charset="0"/>
                                            </a:rPr>
                                            <m:t>𝑛</m:t>
                                          </m:r>
                                        </m:sub>
                                      </m:sSub>
                                      <m:r>
                                        <a:rPr lang="it-IT" sz="1800" i="1">
                                          <a:latin typeface="Cambria Math" panose="02040503050406030204" pitchFamily="18" charset="0"/>
                                        </a:rPr>
                                        <m:t>+</m:t>
                                      </m:r>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e>
                                              </m:d>
                                            </m:e>
                                            <m:sup>
                                              <m:r>
                                                <a:rPr lang="it-IT" sz="1800" i="1">
                                                  <a:latin typeface="Cambria Math" panose="02040503050406030204" pitchFamily="18" charset="0"/>
                                                </a:rPr>
                                                <m:t>2</m:t>
                                              </m:r>
                                            </m:sup>
                                          </m:sSup>
                                        </m:num>
                                        <m:den>
                                          <m:r>
                                            <a:rPr lang="it-IT" sz="1800" i="1">
                                              <a:latin typeface="Cambria Math" panose="02040503050406030204" pitchFamily="18" charset="0"/>
                                            </a:rPr>
                                            <m:t>2</m:t>
                                          </m:r>
                                          <m:d>
                                            <m:dPr>
                                              <m:ctrlPr>
                                                <a:rPr lang="it-IT" sz="1800" i="1">
                                                  <a:latin typeface="Cambria Math" panose="02040503050406030204" pitchFamily="18" charset="0"/>
                                                </a:rPr>
                                              </m:ctrlPr>
                                            </m:dPr>
                                            <m:e>
                                              <m:r>
                                                <a:rPr lang="it-IT" sz="1800" i="1">
                                                  <a:latin typeface="Cambria Math" panose="02040503050406030204" pitchFamily="18" charset="0"/>
                                                </a:rPr>
                                                <m:t>1+1</m:t>
                                              </m:r>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e>
                                          </m:d>
                                        </m:den>
                                      </m:f>
                                    </m:e>
                                  </m:d>
                                </m:e>
                              </m:d>
                              <m:r>
                                <a:rPr lang="it-IT" sz="1800" i="1">
                                  <a:latin typeface="Cambria Math" panose="02040503050406030204" pitchFamily="18" charset="0"/>
                                </a:rPr>
                                <m:t>𝑑</m:t>
                              </m:r>
                              <m:sSubSup>
                                <m:sSubSupPr>
                                  <m:ctrlPr>
                                    <a:rPr lang="it-IT" sz="1800" i="1">
                                      <a:latin typeface="Cambria Math" panose="02040503050406030204" pitchFamily="18" charset="0"/>
                                    </a:rPr>
                                  </m:ctrlPr>
                                </m:sSubSupPr>
                                <m:e>
                                  <m:r>
                                    <a:rPr lang="it-IT" sz="1800" i="1">
                                      <a:latin typeface="Cambria Math" panose="02040503050406030204" pitchFamily="18" charset="0"/>
                                    </a:rPr>
                                    <m:t>𝜎</m:t>
                                  </m:r>
                                </m:e>
                                <m:sub>
                                  <m:r>
                                    <a:rPr lang="it-IT" sz="1800" i="1">
                                      <a:latin typeface="Cambria Math" panose="02040503050406030204" pitchFamily="18" charset="0"/>
                                    </a:rPr>
                                    <m:t>𝑘</m:t>
                                  </m:r>
                                </m:sub>
                                <m:sup>
                                  <m:r>
                                    <a:rPr lang="it-IT" sz="1800" i="1">
                                      <a:latin typeface="Cambria Math" panose="02040503050406030204" pitchFamily="18" charset="0"/>
                                    </a:rPr>
                                    <m:t>2</m:t>
                                  </m:r>
                                </m:sup>
                              </m:sSubSup>
                            </m:e>
                          </m:nary>
                          <m:r>
                            <a:rPr lang="it-IT" sz="1800" b="0" i="1" smtClean="0">
                              <a:latin typeface="Cambria Math" panose="02040503050406030204" pitchFamily="18" charset="0"/>
                            </a:rPr>
                            <m:t>=</m:t>
                          </m:r>
                        </m:e>
                      </m:mr>
                      <m:mr>
                        <m:e/>
                        <m:e>
                          <m:r>
                            <a:rPr lang="it-IT" sz="1800" b="0" i="1" smtClean="0">
                              <a:latin typeface="Cambria Math" panose="02040503050406030204" pitchFamily="18" charset="0"/>
                            </a:rPr>
                            <m:t>=</m:t>
                          </m:r>
                        </m:e>
                        <m:e>
                          <m:f>
                            <m:fPr>
                              <m:ctrlPr>
                                <a:rPr lang="it-IT" sz="1800" i="1" smtClean="0">
                                  <a:latin typeface="Cambria Math" panose="02040503050406030204" pitchFamily="18" charset="0"/>
                                </a:rPr>
                              </m:ctrlPr>
                            </m:fPr>
                            <m:num>
                              <m:sSubSup>
                                <m:sSubSupPr>
                                  <m:ctrlPr>
                                    <a:rPr lang="it-IT" sz="1800" i="1">
                                      <a:latin typeface="Cambria Math" panose="02040503050406030204" pitchFamily="18" charset="0"/>
                                    </a:rPr>
                                  </m:ctrlPr>
                                </m:sSubSupPr>
                                <m:e>
                                  <m:r>
                                    <a:rPr lang="it-IT" sz="1800" i="1">
                                      <a:latin typeface="Cambria Math" panose="02040503050406030204" pitchFamily="18" charset="0"/>
                                    </a:rPr>
                                    <m:t>𝛽</m:t>
                                  </m:r>
                                </m:e>
                                <m:sub>
                                  <m:r>
                                    <a:rPr lang="it-IT" sz="1800" i="1">
                                      <a:latin typeface="Cambria Math" panose="02040503050406030204" pitchFamily="18" charset="0"/>
                                    </a:rPr>
                                    <m:t>𝑛</m:t>
                                  </m:r>
                                </m:sub>
                                <m:sup>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sup>
                              </m:sSubSup>
                            </m:num>
                            <m:den>
                              <m:r>
                                <m:rPr>
                                  <m:sty m:val="p"/>
                                </m:rPr>
                                <a:rPr lang="it-IT" sz="1800" i="0">
                                  <a:latin typeface="Cambria Math" panose="02040503050406030204" pitchFamily="18" charset="0"/>
                                </a:rPr>
                                <m:t>Γ</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e>
                              </m:d>
                            </m:den>
                          </m:f>
                          <m:f>
                            <m:fPr>
                              <m:ctrlPr>
                                <a:rPr lang="it-IT" sz="1800" i="1">
                                  <a:latin typeface="Cambria Math" panose="02040503050406030204" pitchFamily="18" charset="0"/>
                                </a:rPr>
                              </m:ctrlPr>
                            </m:fPr>
                            <m:num>
                              <m:r>
                                <a:rPr lang="it-IT" sz="1800" i="1">
                                  <a:latin typeface="Cambria Math" panose="02040503050406030204" pitchFamily="18" charset="0"/>
                                </a:rPr>
                                <m:t>1</m:t>
                              </m:r>
                            </m:num>
                            <m:den>
                              <m:rad>
                                <m:radPr>
                                  <m:degHide m:val="on"/>
                                  <m:ctrlPr>
                                    <a:rPr lang="it-IT" sz="1800" i="1">
                                      <a:latin typeface="Cambria Math" panose="02040503050406030204" pitchFamily="18" charset="0"/>
                                    </a:rPr>
                                  </m:ctrlPr>
                                </m:radPr>
                                <m:deg/>
                                <m:e>
                                  <m:r>
                                    <a:rPr lang="it-IT" sz="1800" i="1">
                                      <a:latin typeface="Cambria Math" panose="02040503050406030204" pitchFamily="18" charset="0"/>
                                    </a:rPr>
                                    <m:t>2</m:t>
                                  </m:r>
                                  <m:r>
                                    <a:rPr lang="it-IT" sz="1800" i="1">
                                      <a:latin typeface="Cambria Math" panose="02040503050406030204" pitchFamily="18" charset="0"/>
                                    </a:rPr>
                                    <m:t>𝜋</m:t>
                                  </m:r>
                                  <m:d>
                                    <m:dPr>
                                      <m:ctrlPr>
                                        <a:rPr lang="it-IT" sz="1800" i="1">
                                          <a:latin typeface="Cambria Math" panose="02040503050406030204" pitchFamily="18" charset="0"/>
                                        </a:rPr>
                                      </m:ctrlPr>
                                    </m:dPr>
                                    <m:e>
                                      <m:r>
                                        <a:rPr lang="it-IT" sz="1800" i="1">
                                          <a:latin typeface="Cambria Math" panose="02040503050406030204" pitchFamily="18" charset="0"/>
                                        </a:rPr>
                                        <m:t>1+1</m:t>
                                      </m:r>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e>
                                  </m:d>
                                </m:e>
                              </m:rad>
                            </m:den>
                          </m:f>
                          <m:r>
                            <m:rPr>
                              <m:sty m:val="p"/>
                            </m:rPr>
                            <a:rPr lang="it-IT" sz="1800" i="0">
                              <a:latin typeface="Cambria Math" panose="02040503050406030204" pitchFamily="18" charset="0"/>
                            </a:rPr>
                            <m:t>Γ</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r>
                                <a:rPr lang="it-IT" sz="1800" i="1">
                                  <a:latin typeface="Cambria Math" panose="02040503050406030204" pitchFamily="18" charset="0"/>
                                </a:rPr>
                                <m:t>+1</m:t>
                              </m:r>
                              <m:r>
                                <m:rPr>
                                  <m:lit/>
                                </m:rPr>
                                <a:rPr lang="it-IT" sz="1800" i="1">
                                  <a:latin typeface="Cambria Math" panose="02040503050406030204" pitchFamily="18" charset="0"/>
                                </a:rPr>
                                <m:t>/</m:t>
                              </m:r>
                              <m:r>
                                <a:rPr lang="it-IT" sz="1800" i="1">
                                  <a:latin typeface="Cambria Math" panose="02040503050406030204" pitchFamily="18" charset="0"/>
                                </a:rPr>
                                <m:t>2</m:t>
                              </m:r>
                            </m:e>
                          </m:d>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𝛽</m:t>
                                      </m:r>
                                    </m:e>
                                    <m:sub>
                                      <m:r>
                                        <a:rPr lang="it-IT" sz="1800" i="1">
                                          <a:latin typeface="Cambria Math" panose="02040503050406030204" pitchFamily="18" charset="0"/>
                                        </a:rPr>
                                        <m:t>𝑛</m:t>
                                      </m:r>
                                    </m:sub>
                                  </m:sSub>
                                  <m:r>
                                    <a:rPr lang="it-IT" sz="1800" i="1">
                                      <a:latin typeface="Cambria Math" panose="02040503050406030204" pitchFamily="18" charset="0"/>
                                    </a:rPr>
                                    <m:t>+</m:t>
                                  </m:r>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e>
                                          </m:d>
                                        </m:e>
                                        <m:sup>
                                          <m:r>
                                            <a:rPr lang="it-IT" sz="1800" i="1">
                                              <a:latin typeface="Cambria Math" panose="02040503050406030204" pitchFamily="18" charset="0"/>
                                            </a:rPr>
                                            <m:t>2</m:t>
                                          </m:r>
                                        </m:sup>
                                      </m:sSup>
                                    </m:num>
                                    <m:den>
                                      <m:r>
                                        <a:rPr lang="it-IT" sz="1800" i="1">
                                          <a:latin typeface="Cambria Math" panose="02040503050406030204" pitchFamily="18" charset="0"/>
                                        </a:rPr>
                                        <m:t>2</m:t>
                                      </m:r>
                                      <m:d>
                                        <m:dPr>
                                          <m:ctrlPr>
                                            <a:rPr lang="it-IT" sz="1800" i="1">
                                              <a:latin typeface="Cambria Math" panose="02040503050406030204" pitchFamily="18" charset="0"/>
                                            </a:rPr>
                                          </m:ctrlPr>
                                        </m:dPr>
                                        <m:e>
                                          <m:r>
                                            <a:rPr lang="it-IT" sz="1800" i="1">
                                              <a:latin typeface="Cambria Math" panose="02040503050406030204" pitchFamily="18" charset="0"/>
                                            </a:rPr>
                                            <m:t>1+1</m:t>
                                          </m:r>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e>
                                      </m:d>
                                    </m:den>
                                  </m:f>
                                </m:e>
                              </m:d>
                            </m:e>
                            <m:sup>
                              <m:r>
                                <a:rPr lang="it-IT" sz="1800" i="1">
                                  <a:latin typeface="Cambria Math" panose="02040503050406030204" pitchFamily="18" charset="0"/>
                                </a:rPr>
                                <m: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𝛼</m:t>
                                      </m:r>
                                    </m:e>
                                    <m:sub>
                                      <m:r>
                                        <a:rPr lang="it-IT" sz="1800" i="1">
                                          <a:latin typeface="Cambria Math" panose="02040503050406030204" pitchFamily="18" charset="0"/>
                                        </a:rPr>
                                        <m:t>𝑛</m:t>
                                      </m:r>
                                    </m:sub>
                                  </m:sSub>
                                  <m:r>
                                    <a:rPr lang="it-IT" sz="1800" i="1">
                                      <a:latin typeface="Cambria Math" panose="02040503050406030204" pitchFamily="18" charset="0"/>
                                    </a:rPr>
                                    <m:t>+1</m:t>
                                  </m:r>
                                  <m:r>
                                    <m:rPr>
                                      <m:lit/>
                                    </m:rPr>
                                    <a:rPr lang="it-IT" sz="1800" i="1">
                                      <a:latin typeface="Cambria Math" panose="02040503050406030204" pitchFamily="18" charset="0"/>
                                    </a:rPr>
                                    <m:t>/</m:t>
                                  </m:r>
                                  <m:r>
                                    <a:rPr lang="it-IT" sz="1800" i="1">
                                      <a:latin typeface="Cambria Math" panose="02040503050406030204" pitchFamily="18" charset="0"/>
                                    </a:rPr>
                                    <m:t>2</m:t>
                                  </m:r>
                                </m:e>
                              </m:d>
                            </m:sup>
                          </m:sSup>
                        </m:e>
                      </m:mr>
                    </m:m>
                  </m:oMath>
                </a14:m>
                <a:endParaRPr lang="it-IT" sz="1800" dirty="0"/>
              </a:p>
              <a:p>
                <a:pPr>
                  <a:lnSpc>
                    <a:spcPct val="150000"/>
                  </a:lnSpc>
                </a:pPr>
                <a:r>
                  <a:rPr lang="it-IT" sz="1800" dirty="0"/>
                  <a:t>Let’s define </a:t>
                </a:r>
                <a14:m>
                  <m:oMath xmlns:m="http://schemas.openxmlformats.org/officeDocument/2006/math">
                    <m:r>
                      <a:rPr lang="it-IT" sz="1800" b="0" i="1" smtClean="0">
                        <a:latin typeface="Cambria Math" panose="02040503050406030204" pitchFamily="18" charset="0"/>
                      </a:rPr>
                      <m:t>𝜈</m:t>
                    </m:r>
                    <m:r>
                      <a:rPr lang="it-IT" sz="1800" i="1">
                        <a:latin typeface="Cambria Math" panose="02040503050406030204" pitchFamily="18" charset="0"/>
                      </a:rPr>
                      <m:t>≝</m:t>
                    </m:r>
                    <m:r>
                      <a:rPr lang="it-IT" sz="1800" b="0" i="1" smtClean="0">
                        <a:latin typeface="Cambria Math" panose="02040503050406030204" pitchFamily="18" charset="0"/>
                      </a:rPr>
                      <m:t>2</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𝛼</m:t>
                        </m:r>
                      </m:e>
                      <m:sub>
                        <m:r>
                          <a:rPr lang="it-IT" sz="1800" b="0" i="1" smtClean="0">
                            <a:latin typeface="Cambria Math" panose="02040503050406030204" pitchFamily="18" charset="0"/>
                          </a:rPr>
                          <m:t>𝑛</m:t>
                        </m:r>
                      </m:sub>
                    </m:sSub>
                  </m:oMath>
                </a14:m>
                <a:r>
                  <a:rPr lang="it-IT" sz="1800" dirty="0"/>
                  <a:t> and </a:t>
                </a:r>
                <a14:m>
                  <m:oMath xmlns:m="http://schemas.openxmlformats.org/officeDocument/2006/math">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𝑠</m:t>
                        </m:r>
                      </m:e>
                      <m:sup>
                        <m:r>
                          <a:rPr lang="it-IT" sz="1800" b="0" i="1" smtClean="0">
                            <a:latin typeface="Cambria Math" panose="02040503050406030204" pitchFamily="18" charset="0"/>
                          </a:rPr>
                          <m:t>2</m:t>
                        </m:r>
                      </m:sup>
                    </m:sSup>
                    <m:r>
                      <a:rPr lang="it-IT" sz="1800" i="1">
                        <a:latin typeface="Cambria Math" panose="02040503050406030204" pitchFamily="18" charset="0"/>
                      </a:rPr>
                      <m:t>≝</m:t>
                    </m:r>
                    <m:box>
                      <m:boxPr>
                        <m:ctrlPr>
                          <a:rPr lang="it-IT" sz="1800" b="0" i="1" smtClean="0">
                            <a:latin typeface="Cambria Math" panose="02040503050406030204" pitchFamily="18" charset="0"/>
                          </a:rPr>
                        </m:ctrlPr>
                      </m:boxPr>
                      <m:e>
                        <m:argPr>
                          <m:argSz m:val="-1"/>
                        </m:argPr>
                        <m:f>
                          <m:fPr>
                            <m:ctrlPr>
                              <a:rPr lang="it-IT" sz="1800" b="0" i="1" smtClean="0">
                                <a:latin typeface="Cambria Math" panose="02040503050406030204" pitchFamily="18" charset="0"/>
                              </a:rPr>
                            </m:ctrlPr>
                          </m:fPr>
                          <m:num>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𝛽</m:t>
                                </m:r>
                              </m:e>
                              <m:sub>
                                <m:r>
                                  <a:rPr lang="it-IT" sz="1800" b="0" i="1" smtClean="0">
                                    <a:latin typeface="Cambria Math" panose="02040503050406030204" pitchFamily="18" charset="0"/>
                                  </a:rPr>
                                  <m:t>𝑛</m:t>
                                </m:r>
                              </m:sub>
                            </m:sSub>
                          </m:num>
                          <m:den>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𝛼</m:t>
                                </m:r>
                              </m:e>
                              <m:sub>
                                <m:r>
                                  <a:rPr lang="it-IT" sz="1800" b="0" i="1" smtClean="0">
                                    <a:latin typeface="Cambria Math" panose="02040503050406030204" pitchFamily="18" charset="0"/>
                                  </a:rPr>
                                  <m:t>𝑛</m:t>
                                </m:r>
                              </m:sub>
                            </m:sSub>
                          </m:den>
                        </m:f>
                      </m:e>
                    </m:box>
                    <m:d>
                      <m:dPr>
                        <m:ctrlPr>
                          <a:rPr lang="it-IT" sz="1800" b="0" i="1" smtClean="0">
                            <a:latin typeface="Cambria Math" panose="02040503050406030204" pitchFamily="18" charset="0"/>
                          </a:rPr>
                        </m:ctrlPr>
                      </m:dPr>
                      <m:e>
                        <m:r>
                          <a:rPr lang="it-IT" sz="1800" b="0" i="1" smtClean="0">
                            <a:latin typeface="Cambria Math" panose="02040503050406030204" pitchFamily="18" charset="0"/>
                          </a:rPr>
                          <m:t>1+</m:t>
                        </m:r>
                        <m:box>
                          <m:boxPr>
                            <m:ctrlPr>
                              <a:rPr lang="it-IT" sz="1800" b="0" i="1" smtClean="0">
                                <a:latin typeface="Cambria Math" panose="02040503050406030204" pitchFamily="18" charset="0"/>
                              </a:rPr>
                            </m:ctrlPr>
                          </m:boxPr>
                          <m:e>
                            <m:argPr>
                              <m:argSz m:val="-1"/>
                            </m:argPr>
                            <m:f>
                              <m:fPr>
                                <m:ctrlPr>
                                  <a:rPr lang="it-IT" sz="1800" b="0" i="1" smtClean="0">
                                    <a:latin typeface="Cambria Math" panose="02040503050406030204" pitchFamily="18" charset="0"/>
                                  </a:rPr>
                                </m:ctrlPr>
                              </m:fPr>
                              <m:num>
                                <m:r>
                                  <a:rPr lang="it-IT" sz="1800" b="0" i="1" smtClean="0">
                                    <a:latin typeface="Cambria Math" panose="02040503050406030204" pitchFamily="18" charset="0"/>
                                  </a:rPr>
                                  <m:t>1</m:t>
                                </m:r>
                              </m:num>
                              <m:den>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𝜅</m:t>
                                    </m:r>
                                  </m:e>
                                  <m:sub>
                                    <m:r>
                                      <a:rPr lang="it-IT" sz="1800" b="0" i="1" smtClean="0">
                                        <a:latin typeface="Cambria Math" panose="02040503050406030204" pitchFamily="18" charset="0"/>
                                      </a:rPr>
                                      <m:t>𝑛</m:t>
                                    </m:r>
                                  </m:sub>
                                </m:sSub>
                              </m:den>
                            </m:f>
                          </m:e>
                        </m:box>
                      </m:e>
                    </m:d>
                  </m:oMath>
                </a14:m>
                <a:r>
                  <a:rPr lang="it-IT" sz="1800" dirty="0"/>
                  <a:t>:</a:t>
                </a:r>
              </a:p>
              <a:p>
                <a:pPr marL="0" indent="0">
                  <a:lnSpc>
                    <a:spcPts val="10500"/>
                  </a:lnSpc>
                  <a:buNone/>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m:t>
                      </m:r>
                      <m:r>
                        <a:rPr lang="it-IT" i="1" smtClean="0">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e>
                        <m:e>
                          <m:sSub>
                            <m:sSubPr>
                              <m:ctrlPr>
                                <a:rPr lang="it-IT" i="1">
                                  <a:latin typeface="Cambria Math" panose="02040503050406030204" pitchFamily="18" charset="0"/>
                                </a:rPr>
                              </m:ctrlPr>
                            </m:sSubPr>
                            <m:e>
                              <m:r>
                                <a:rPr lang="it-IT" i="1">
                                  <a:latin typeface="Cambria Math" panose="02040503050406030204" pitchFamily="18" charset="0"/>
                                </a:rPr>
                                <m:t>𝒙</m:t>
                              </m:r>
                            </m:e>
                            <m:sub>
                              <m:r>
                                <a:rPr lang="it-IT" b="0" i="1">
                                  <a:latin typeface="Cambria Math" panose="02040503050406030204" pitchFamily="18" charset="0"/>
                                </a:rPr>
                                <m:t>𝑘</m:t>
                              </m:r>
                              <m:r>
                                <a:rPr lang="it-IT" b="0" i="1">
                                  <a:latin typeface="Cambria Math" panose="02040503050406030204" pitchFamily="18" charset="0"/>
                                </a:rPr>
                                <m:t>¬</m:t>
                              </m:r>
                              <m:r>
                                <a:rPr lang="it-IT" b="0" i="1">
                                  <a:latin typeface="Cambria Math" panose="02040503050406030204" pitchFamily="18" charset="0"/>
                                </a:rPr>
                                <m:t>𝑖</m:t>
                              </m:r>
                            </m:sub>
                          </m:sSub>
                        </m:e>
                      </m:d>
                      <m:r>
                        <a:rPr lang="it-IT" i="1">
                          <a:latin typeface="Cambria Math" panose="02040503050406030204" pitchFamily="18" charset="0"/>
                        </a:rPr>
                        <m:t>=</m:t>
                      </m:r>
                      <m:f>
                        <m:fPr>
                          <m:ctrlPr>
                            <a:rPr lang="it-IT" i="1">
                              <a:latin typeface="Cambria Math" panose="02040503050406030204" pitchFamily="18" charset="0"/>
                            </a:rPr>
                          </m:ctrlPr>
                        </m:fPr>
                        <m:num>
                          <m:r>
                            <m:rPr>
                              <m:sty m:val="p"/>
                            </m:rPr>
                            <a:rPr lang="it-IT" i="0">
                              <a:latin typeface="Cambria Math" panose="02040503050406030204" pitchFamily="18" charset="0"/>
                            </a:rPr>
                            <m:t>Γ</m:t>
                          </m:r>
                          <m:d>
                            <m:dPr>
                              <m:ctrlPr>
                                <a:rPr lang="it-IT" i="1">
                                  <a:latin typeface="Cambria Math" panose="02040503050406030204" pitchFamily="18" charset="0"/>
                                </a:rPr>
                              </m:ctrlPr>
                            </m:dPr>
                            <m:e>
                              <m:f>
                                <m:fPr>
                                  <m:ctrlPr>
                                    <a:rPr lang="it-IT" i="1">
                                      <a:latin typeface="Cambria Math" panose="02040503050406030204" pitchFamily="18" charset="0"/>
                                    </a:rPr>
                                  </m:ctrlPr>
                                </m:fPr>
                                <m:num>
                                  <m:r>
                                    <a:rPr lang="it-IT" i="1">
                                      <a:latin typeface="Cambria Math" panose="02040503050406030204" pitchFamily="18" charset="0"/>
                                    </a:rPr>
                                    <m:t>𝜈</m:t>
                                  </m:r>
                                  <m:r>
                                    <a:rPr lang="it-IT" i="1">
                                      <a:latin typeface="Cambria Math" panose="02040503050406030204" pitchFamily="18" charset="0"/>
                                    </a:rPr>
                                    <m:t>+1</m:t>
                                  </m:r>
                                </m:num>
                                <m:den>
                                  <m:r>
                                    <a:rPr lang="it-IT" i="1">
                                      <a:latin typeface="Cambria Math" panose="02040503050406030204" pitchFamily="18" charset="0"/>
                                    </a:rPr>
                                    <m:t>2</m:t>
                                  </m:r>
                                </m:den>
                              </m:f>
                            </m:e>
                          </m:d>
                        </m:num>
                        <m:den>
                          <m:r>
                            <m:rPr>
                              <m:sty m:val="p"/>
                            </m:rPr>
                            <a:rPr lang="it-IT" i="0">
                              <a:latin typeface="Cambria Math" panose="02040503050406030204" pitchFamily="18" charset="0"/>
                            </a:rPr>
                            <m:t>Γ</m:t>
                          </m:r>
                          <m:d>
                            <m:dPr>
                              <m:ctrlPr>
                                <a:rPr lang="it-IT" i="1">
                                  <a:latin typeface="Cambria Math" panose="02040503050406030204" pitchFamily="18" charset="0"/>
                                </a:rPr>
                              </m:ctrlPr>
                            </m:dPr>
                            <m:e>
                              <m:f>
                                <m:fPr>
                                  <m:ctrlPr>
                                    <a:rPr lang="it-IT" i="1">
                                      <a:latin typeface="Cambria Math" panose="02040503050406030204" pitchFamily="18" charset="0"/>
                                    </a:rPr>
                                  </m:ctrlPr>
                                </m:fPr>
                                <m:num>
                                  <m:r>
                                    <a:rPr lang="it-IT" i="1">
                                      <a:latin typeface="Cambria Math" panose="02040503050406030204" pitchFamily="18" charset="0"/>
                                    </a:rPr>
                                    <m:t>𝜈</m:t>
                                  </m:r>
                                </m:num>
                                <m:den>
                                  <m:r>
                                    <a:rPr lang="it-IT" i="1">
                                      <a:latin typeface="Cambria Math" panose="02040503050406030204" pitchFamily="18" charset="0"/>
                                    </a:rPr>
                                    <m:t>2</m:t>
                                  </m:r>
                                </m:den>
                              </m:f>
                            </m:e>
                          </m:d>
                          <m:rad>
                            <m:radPr>
                              <m:degHide m:val="on"/>
                              <m:ctrlPr>
                                <a:rPr lang="it-IT" i="1">
                                  <a:latin typeface="Cambria Math" panose="02040503050406030204" pitchFamily="18" charset="0"/>
                                </a:rPr>
                              </m:ctrlPr>
                            </m:radPr>
                            <m:deg/>
                            <m:e>
                              <m:r>
                                <a:rPr lang="it-IT" i="1">
                                  <a:latin typeface="Cambria Math" panose="02040503050406030204" pitchFamily="18" charset="0"/>
                                </a:rPr>
                                <m:t>𝜋𝜈</m:t>
                              </m:r>
                              <m:sSup>
                                <m:sSupPr>
                                  <m:ctrlPr>
                                    <a:rPr lang="it-IT" i="1">
                                      <a:latin typeface="Cambria Math" panose="02040503050406030204" pitchFamily="18" charset="0"/>
                                    </a:rPr>
                                  </m:ctrlPr>
                                </m:sSupPr>
                                <m:e>
                                  <m:r>
                                    <a:rPr lang="it-IT" i="1">
                                      <a:latin typeface="Cambria Math" panose="02040503050406030204" pitchFamily="18" charset="0"/>
                                    </a:rPr>
                                    <m:t>𝑠</m:t>
                                  </m:r>
                                </m:e>
                                <m:sup>
                                  <m:r>
                                    <a:rPr lang="it-IT" i="1">
                                      <a:latin typeface="Cambria Math" panose="02040503050406030204" pitchFamily="18" charset="0"/>
                                    </a:rPr>
                                    <m:t>2</m:t>
                                  </m:r>
                                </m:sup>
                              </m:sSup>
                            </m:e>
                          </m:rad>
                        </m:den>
                      </m:f>
                      <m:sSup>
                        <m:sSupPr>
                          <m:ctrlPr>
                            <a:rPr lang="it-IT" i="1">
                              <a:latin typeface="Cambria Math" panose="02040503050406030204" pitchFamily="18" charset="0"/>
                            </a:rPr>
                          </m:ctrlPr>
                        </m:sSupPr>
                        <m:e>
                          <m:d>
                            <m:dPr>
                              <m:ctrlPr>
                                <a:rPr lang="it-IT" i="1">
                                  <a:latin typeface="Cambria Math" panose="02040503050406030204" pitchFamily="18" charset="0"/>
                                </a:rPr>
                              </m:ctrlPr>
                            </m:dPr>
                            <m:e>
                              <m:r>
                                <a:rPr lang="it-IT" i="1">
                                  <a:latin typeface="Cambria Math" panose="02040503050406030204" pitchFamily="18" charset="0"/>
                                </a:rPr>
                                <m:t>1+</m:t>
                              </m:r>
                              <m:f>
                                <m:fPr>
                                  <m:ctrlPr>
                                    <a:rPr lang="it-IT" i="1">
                                      <a:latin typeface="Cambria Math" panose="02040503050406030204" pitchFamily="18" charset="0"/>
                                    </a:rPr>
                                  </m:ctrlPr>
                                </m:fPr>
                                <m:num>
                                  <m:sSup>
                                    <m:sSupPr>
                                      <m:ctrlPr>
                                        <a:rPr lang="it-IT" i="1">
                                          <a:latin typeface="Cambria Math" panose="02040503050406030204" pitchFamily="18" charset="0"/>
                                        </a:rPr>
                                      </m:ctrlPr>
                                    </m:sSupPr>
                                    <m:e>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𝑛</m:t>
                                              </m:r>
                                            </m:sub>
                                          </m:sSub>
                                        </m:e>
                                      </m:d>
                                    </m:e>
                                    <m:sup>
                                      <m:r>
                                        <a:rPr lang="it-IT" i="1">
                                          <a:latin typeface="Cambria Math" panose="02040503050406030204" pitchFamily="18" charset="0"/>
                                        </a:rPr>
                                        <m:t>2</m:t>
                                      </m:r>
                                    </m:sup>
                                  </m:sSup>
                                </m:num>
                                <m:den>
                                  <m:r>
                                    <a:rPr lang="it-IT" i="1">
                                      <a:latin typeface="Cambria Math" panose="02040503050406030204" pitchFamily="18" charset="0"/>
                                    </a:rPr>
                                    <m:t>𝜈</m:t>
                                  </m:r>
                                  <m:sSup>
                                    <m:sSupPr>
                                      <m:ctrlPr>
                                        <a:rPr lang="it-IT" i="1">
                                          <a:latin typeface="Cambria Math" panose="02040503050406030204" pitchFamily="18" charset="0"/>
                                        </a:rPr>
                                      </m:ctrlPr>
                                    </m:sSupPr>
                                    <m:e>
                                      <m:r>
                                        <a:rPr lang="it-IT" i="1">
                                          <a:latin typeface="Cambria Math" panose="02040503050406030204" pitchFamily="18" charset="0"/>
                                        </a:rPr>
                                        <m:t>𝑠</m:t>
                                      </m:r>
                                    </m:e>
                                    <m:sup>
                                      <m:r>
                                        <a:rPr lang="it-IT" i="1">
                                          <a:latin typeface="Cambria Math" panose="02040503050406030204" pitchFamily="18" charset="0"/>
                                        </a:rPr>
                                        <m:t>2</m:t>
                                      </m:r>
                                    </m:sup>
                                  </m:sSup>
                                </m:den>
                              </m:f>
                            </m:e>
                          </m:d>
                        </m:e>
                        <m:sup>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𝜈</m:t>
                              </m:r>
                              <m:r>
                                <a:rPr lang="it-IT" i="1">
                                  <a:latin typeface="Cambria Math" panose="02040503050406030204" pitchFamily="18" charset="0"/>
                                </a:rPr>
                                <m:t>+1</m:t>
                              </m:r>
                            </m:num>
                            <m:den>
                              <m:r>
                                <a:rPr lang="it-IT" i="1">
                                  <a:latin typeface="Cambria Math" panose="02040503050406030204" pitchFamily="18" charset="0"/>
                                </a:rPr>
                                <m:t>2</m:t>
                              </m:r>
                            </m:den>
                          </m:f>
                        </m:sup>
                      </m:sSup>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𝑡</m:t>
                          </m:r>
                        </m:e>
                        <m:sub>
                          <m:r>
                            <a:rPr lang="it-IT" i="1">
                              <a:latin typeface="Cambria Math" panose="02040503050406030204" pitchFamily="18" charset="0"/>
                            </a:rPr>
                            <m:t>𝜈</m:t>
                          </m:r>
                        </m:sub>
                      </m:sSub>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e>
                        <m:e>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𝑛</m:t>
                              </m:r>
                            </m:sub>
                          </m:sSub>
                          <m:r>
                            <a:rPr lang="it-IT" i="1">
                              <a:latin typeface="Cambria Math" panose="02040503050406030204" pitchFamily="18" charset="0"/>
                            </a:rPr>
                            <m:t>,</m:t>
                          </m:r>
                          <m:r>
                            <a:rPr lang="it-IT" i="1">
                              <a:latin typeface="Cambria Math" panose="02040503050406030204" pitchFamily="18" charset="0"/>
                            </a:rPr>
                            <m:t>𝑠</m:t>
                          </m:r>
                        </m:e>
                      </m:d>
                    </m:oMath>
                  </m:oMathPara>
                </a14:m>
                <a:endParaRPr lang="it-IT" dirty="0"/>
              </a:p>
            </p:txBody>
          </p:sp>
        </mc:Choice>
        <mc:Fallback xmlns="">
          <p:sp>
            <p:nvSpPr>
              <p:cNvPr id="3" name="Content Placeholder 2">
                <a:extLst>
                  <a:ext uri="{FF2B5EF4-FFF2-40B4-BE49-F238E27FC236}">
                    <a16:creationId xmlns:a16="http://schemas.microsoft.com/office/drawing/2014/main" id="{8DB8F046-CF0D-A0F3-118F-B3DC4C003294}"/>
                  </a:ext>
                </a:extLst>
              </p:cNvPr>
              <p:cNvSpPr>
                <a:spLocks noGrp="1" noRot="1" noChangeAspect="1" noMove="1" noResize="1" noEditPoints="1" noAdjustHandles="1" noChangeArrowheads="1" noChangeShapeType="1" noTextEdit="1"/>
              </p:cNvSpPr>
              <p:nvPr>
                <p:ph idx="1"/>
              </p:nvPr>
            </p:nvSpPr>
            <p:spPr>
              <a:xfrm>
                <a:off x="700635" y="1563077"/>
                <a:ext cx="10790730" cy="4650154"/>
              </a:xfrm>
              <a:blipFill>
                <a:blip r:embed="rId4"/>
                <a:stretch>
                  <a:fillRect l="-452" t="-11271" r="-169"/>
                </a:stretch>
              </a:blipFill>
            </p:spPr>
            <p:txBody>
              <a:bodyPr/>
              <a:lstStyle/>
              <a:p>
                <a:r>
                  <a:rPr lang="it-IT">
                    <a:noFill/>
                  </a:rPr>
                  <a:t> </a:t>
                </a:r>
              </a:p>
            </p:txBody>
          </p:sp>
        </mc:Fallback>
      </mc:AlternateContent>
      <p:sp>
        <p:nvSpPr>
          <p:cNvPr id="4" name="TextBox 3">
            <a:extLst>
              <a:ext uri="{FF2B5EF4-FFF2-40B4-BE49-F238E27FC236}">
                <a16:creationId xmlns:a16="http://schemas.microsoft.com/office/drawing/2014/main" id="{71A7A156-5BAE-66DE-D130-9C5B996F4048}"/>
              </a:ext>
            </a:extLst>
          </p:cNvPr>
          <p:cNvSpPr txBox="1"/>
          <p:nvPr/>
        </p:nvSpPr>
        <p:spPr>
          <a:xfrm>
            <a:off x="9709458" y="4940980"/>
            <a:ext cx="1781907" cy="707886"/>
          </a:xfrm>
          <a:prstGeom prst="rect">
            <a:avLst/>
          </a:prstGeom>
          <a:noFill/>
        </p:spPr>
        <p:txBody>
          <a:bodyPr wrap="square" rtlCol="0">
            <a:spAutoFit/>
          </a:bodyPr>
          <a:lstStyle/>
          <a:p>
            <a:pPr algn="ctr"/>
            <a:r>
              <a:rPr lang="it-IT" sz="2000" b="1" dirty="0"/>
              <a:t>t-Student distribution</a:t>
            </a:r>
          </a:p>
        </p:txBody>
      </p:sp>
    </p:spTree>
    <p:extLst>
      <p:ext uri="{BB962C8B-B14F-4D97-AF65-F5344CB8AC3E}">
        <p14:creationId xmlns:p14="http://schemas.microsoft.com/office/powerpoint/2010/main" val="38309149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3978-4C96-E92D-161A-9C012BBA2739}"/>
              </a:ext>
            </a:extLst>
          </p:cNvPr>
          <p:cNvSpPr>
            <a:spLocks noGrp="1"/>
          </p:cNvSpPr>
          <p:nvPr>
            <p:ph type="title"/>
          </p:nvPr>
        </p:nvSpPr>
        <p:spPr/>
        <p:txBody>
          <a:bodyPr/>
          <a:lstStyle/>
          <a:p>
            <a:r>
              <a:rPr lang="it-IT" dirty="0">
                <a:solidFill>
                  <a:srgbClr val="FF0000"/>
                </a:solidFill>
              </a:rPr>
              <a:t>Collapsed gibbs sampling algorithm</a:t>
            </a:r>
            <a:endParaRPr lang="it-I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E55F89-463B-CF66-3B1C-0E60FDDAC54F}"/>
                  </a:ext>
                </a:extLst>
              </p:cNvPr>
              <p:cNvSpPr>
                <a:spLocks noGrp="1"/>
              </p:cNvSpPr>
              <p:nvPr>
                <p:ph idx="1"/>
              </p:nvPr>
            </p:nvSpPr>
            <p:spPr>
              <a:xfrm>
                <a:off x="700635" y="2355596"/>
                <a:ext cx="10790731" cy="2146808"/>
              </a:xfrm>
            </p:spPr>
            <p:txBody>
              <a:bodyPr/>
              <a:lstStyle/>
              <a:p>
                <a:pPr marL="457200" indent="-457200">
                  <a:buFont typeface="+mj-lt"/>
                  <a:buAutoNum type="arabicPeriod"/>
                </a:pPr>
                <a:r>
                  <a:rPr lang="it-IT" dirty="0"/>
                  <a:t>Initialize </a:t>
                </a: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𝜽</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t>
                </a: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𝒘</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and </a:t>
                </a:r>
                <a14:m>
                  <m:oMath xmlns:m="http://schemas.openxmlformats.org/officeDocument/2006/math">
                    <m:sSup>
                      <m:sSupPr>
                        <m:ctrlPr>
                          <a:rPr lang="it-IT" i="1">
                            <a:latin typeface="Cambria Math" panose="02040503050406030204" pitchFamily="18" charset="0"/>
                          </a:rPr>
                        </m:ctrlPr>
                      </m:sSupPr>
                      <m:e>
                        <m:r>
                          <a:rPr lang="it-IT" b="1" i="1">
                            <a:latin typeface="Cambria Math" panose="02040503050406030204" pitchFamily="18" charset="0"/>
                          </a:rPr>
                          <m:t>𝒛</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and choose the hyperparameters </a:t>
                </a:r>
                <a14:m>
                  <m:oMath xmlns:m="http://schemas.openxmlformats.org/officeDocument/2006/math">
                    <m:r>
                      <a:rPr lang="it-IT" b="0" i="1" smtClean="0">
                        <a:latin typeface="Cambria Math" panose="02040503050406030204" pitchFamily="18" charset="0"/>
                      </a:rPr>
                      <m:t>𝛼</m:t>
                    </m:r>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0</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𝜅</m:t>
                        </m:r>
                      </m:e>
                      <m:sub>
                        <m:r>
                          <a:rPr lang="it-IT" b="0" i="1" smtClean="0">
                            <a:latin typeface="Cambria Math" panose="02040503050406030204" pitchFamily="18" charset="0"/>
                          </a:rPr>
                          <m:t>0</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𝛼</m:t>
                        </m:r>
                      </m:e>
                      <m:sub>
                        <m:r>
                          <a:rPr lang="it-IT" b="0" i="1" smtClean="0">
                            <a:latin typeface="Cambria Math" panose="02040503050406030204" pitchFamily="18" charset="0"/>
                          </a:rPr>
                          <m:t>0</m:t>
                        </m:r>
                      </m:sub>
                    </m:sSub>
                    <m:r>
                      <m:rPr>
                        <m:nor/>
                      </m:rPr>
                      <a:rPr lang="it-IT" b="0" i="0" smtClean="0">
                        <a:latin typeface="Cambria Math" panose="02040503050406030204" pitchFamily="18" charset="0"/>
                      </a:rPr>
                      <m:t> </m:t>
                    </m:r>
                    <m:r>
                      <m:rPr>
                        <m:nor/>
                      </m:rPr>
                      <a:rPr lang="it-IT" b="0" i="0" smtClean="0">
                        <a:latin typeface="Cambria Math" panose="02040503050406030204" pitchFamily="18" charset="0"/>
                      </a:rPr>
                      <m:t>and</m:t>
                    </m:r>
                    <m:sSub>
                      <m:sSubPr>
                        <m:ctrlPr>
                          <a:rPr lang="it-IT" b="0" i="1" smtClean="0">
                            <a:latin typeface="Cambria Math" panose="02040503050406030204" pitchFamily="18" charset="0"/>
                          </a:rPr>
                        </m:ctrlPr>
                      </m:sSubPr>
                      <m:e>
                        <m:r>
                          <a:rPr lang="it-IT" b="0" i="1" smtClean="0">
                            <a:latin typeface="Cambria Math" panose="02040503050406030204" pitchFamily="18" charset="0"/>
                          </a:rPr>
                          <m:t> </m:t>
                        </m:r>
                        <m:r>
                          <a:rPr lang="it-IT" b="0" i="1" smtClean="0">
                            <a:latin typeface="Cambria Math" panose="02040503050406030204" pitchFamily="18" charset="0"/>
                          </a:rPr>
                          <m:t>𝛽</m:t>
                        </m:r>
                      </m:e>
                      <m:sub>
                        <m:r>
                          <a:rPr lang="it-IT" b="0" i="1" smtClean="0">
                            <a:latin typeface="Cambria Math" panose="02040503050406030204" pitchFamily="18" charset="0"/>
                          </a:rPr>
                          <m:t>0</m:t>
                        </m:r>
                      </m:sub>
                    </m:sSub>
                    <m:r>
                      <a:rPr lang="it-IT" b="0" i="1" smtClean="0">
                        <a:latin typeface="Cambria Math" panose="02040503050406030204" pitchFamily="18" charset="0"/>
                      </a:rPr>
                      <m:t>.</m:t>
                    </m:r>
                  </m:oMath>
                </a14:m>
                <a:endParaRPr lang="it-IT" dirty="0"/>
              </a:p>
              <a:p>
                <a:pPr marL="457200" indent="-457200">
                  <a:buFont typeface="+mj-lt"/>
                  <a:buAutoNum type="arabicPeriod"/>
                </a:pPr>
                <a:r>
                  <a:rPr lang="it-IT" dirty="0"/>
                  <a:t>For iterations </a:t>
                </a:r>
                <a14:m>
                  <m:oMath xmlns:m="http://schemas.openxmlformats.org/officeDocument/2006/math">
                    <m:r>
                      <m:rPr>
                        <m:sty m:val="p"/>
                      </m:rPr>
                      <a:rPr lang="it-IT" i="1">
                        <a:latin typeface="Cambria Math" panose="02040503050406030204" pitchFamily="18" charset="0"/>
                      </a:rPr>
                      <m:t>t</m:t>
                    </m:r>
                    <m:r>
                      <a:rPr lang="it-IT" i="1">
                        <a:latin typeface="Cambria Math" panose="02040503050406030204" pitchFamily="18" charset="0"/>
                      </a:rPr>
                      <m:t> = 1,2,…, </m:t>
                    </m:r>
                    <m:r>
                      <m:rPr>
                        <m:sty m:val="p"/>
                      </m:rPr>
                      <a:rPr lang="it-IT" i="1">
                        <a:latin typeface="Cambria Math" panose="02040503050406030204" pitchFamily="18" charset="0"/>
                      </a:rPr>
                      <m:t>M</m:t>
                    </m:r>
                    <m:r>
                      <a:rPr lang="it-IT" i="1">
                        <a:latin typeface="Cambria Math" panose="02040503050406030204" pitchFamily="18" charset="0"/>
                      </a:rPr>
                      <m:t>:</m:t>
                    </m:r>
                  </m:oMath>
                </a14:m>
                <a:endParaRPr lang="it-IT" dirty="0"/>
              </a:p>
              <a:p>
                <a:pPr lvl="1"/>
                <a:r>
                  <a:rPr lang="it-IT" dirty="0"/>
                  <a:t>For each </a:t>
                </a:r>
                <a:r>
                  <a:rPr lang="it-IT" i="1" dirty="0"/>
                  <a:t>i</a:t>
                </a:r>
                <a:r>
                  <a:rPr lang="it-IT" dirty="0"/>
                  <a:t>: </a:t>
                </a:r>
              </a:p>
              <a:p>
                <a:pPr lvl="2"/>
                <a:r>
                  <a:rPr lang="it-IT" sz="1800" dirty="0"/>
                  <a:t>Remove point </a:t>
                </a:r>
                <a:r>
                  <a:rPr lang="it-IT" sz="1800" i="1" dirty="0"/>
                  <a:t>i</a:t>
                </a:r>
                <a:r>
                  <a:rPr lang="it-IT" sz="1800" dirty="0"/>
                  <a:t> from the cluster </a:t>
                </a:r>
                <a:r>
                  <a:rPr lang="en-US" sz="1800" dirty="0"/>
                  <a:t>it occupied in the previous iteration </a:t>
                </a:r>
                <a14:m>
                  <m:oMath xmlns:m="http://schemas.openxmlformats.org/officeDocument/2006/math">
                    <m:r>
                      <a:rPr lang="en-US" sz="1800" i="1" dirty="0" smtClean="0">
                        <a:latin typeface="Cambria Math" panose="02040503050406030204" pitchFamily="18" charset="0"/>
                      </a:rPr>
                      <m:t>𝑡</m:t>
                    </m:r>
                    <m:r>
                      <a:rPr lang="en-US" sz="1800" i="1" dirty="0" smtClean="0">
                        <a:latin typeface="Cambria Math" panose="02040503050406030204" pitchFamily="18" charset="0"/>
                      </a:rPr>
                      <m:t>−1</m:t>
                    </m:r>
                  </m:oMath>
                </a14:m>
                <a:r>
                  <a:rPr lang="it-IT" sz="1800" dirty="0"/>
                  <a:t>.</a:t>
                </a:r>
              </a:p>
              <a:p>
                <a:pPr lvl="2"/>
                <a:r>
                  <a:rPr lang="it-IT" sz="1800" dirty="0"/>
                  <a:t>Draw </a:t>
                </a:r>
                <a14:m>
                  <m:oMath xmlns:m="http://schemas.openxmlformats.org/officeDocument/2006/math">
                    <m:sSubSup>
                      <m:sSubSupPr>
                        <m:ctrlPr>
                          <a:rPr lang="it-IT" sz="1800" i="1">
                            <a:latin typeface="Cambria Math" panose="02040503050406030204" pitchFamily="18" charset="0"/>
                          </a:rPr>
                        </m:ctrlPr>
                      </m:sSubSupPr>
                      <m:e>
                        <m:r>
                          <a:rPr lang="it-IT" sz="1800">
                            <a:latin typeface="Cambria Math" panose="02040503050406030204" pitchFamily="18" charset="0"/>
                          </a:rPr>
                          <m:t>𝑧</m:t>
                        </m:r>
                      </m:e>
                      <m:sub>
                        <m:r>
                          <a:rPr lang="it-IT" sz="1800">
                            <a:latin typeface="Cambria Math" panose="02040503050406030204" pitchFamily="18" charset="0"/>
                          </a:rPr>
                          <m:t>𝑖</m:t>
                        </m:r>
                      </m:sub>
                      <m:sup>
                        <m:d>
                          <m:dPr>
                            <m:ctrlPr>
                              <a:rPr lang="it-IT" sz="1800" i="1">
                                <a:latin typeface="Cambria Math" panose="02040503050406030204" pitchFamily="18" charset="0"/>
                              </a:rPr>
                            </m:ctrlPr>
                          </m:dPr>
                          <m:e>
                            <m:r>
                              <a:rPr lang="it-IT" sz="1800">
                                <a:latin typeface="Cambria Math" panose="02040503050406030204" pitchFamily="18" charset="0"/>
                              </a:rPr>
                              <m:t>𝑡</m:t>
                            </m:r>
                          </m:e>
                        </m:d>
                      </m:sup>
                    </m:sSubSup>
                    <m:r>
                      <a:rPr lang="it-IT" sz="1800" i="1">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𝒙</m:t>
                        </m:r>
                        <m:r>
                          <a:rPr lang="it-IT" sz="1800" i="1">
                            <a:latin typeface="Cambria Math" panose="02040503050406030204" pitchFamily="18" charset="0"/>
                          </a:rPr>
                          <m:t>,</m:t>
                        </m:r>
                        <m:r>
                          <a:rPr lang="it-IT" sz="1800" i="1">
                            <a:latin typeface="Cambria Math" panose="02040503050406030204" pitchFamily="18" charset="0"/>
                          </a:rPr>
                          <m:t>𝛼</m:t>
                        </m:r>
                      </m:e>
                    </m:d>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r>
                      <m:rPr>
                        <m:lit/>
                      </m:rPr>
                      <a:rPr lang="it-IT" sz="1800" i="1">
                        <a:latin typeface="Cambria Math" panose="02040503050406030204" pitchFamily="18" charset="0"/>
                      </a:rPr>
                      <m:t>/</m:t>
                    </m:r>
                    <m:r>
                      <a:rPr lang="it-IT" sz="1800" i="1">
                        <a:latin typeface="Cambria Math" panose="02040503050406030204" pitchFamily="18" charset="0"/>
                      </a:rPr>
                      <m:t>𝐾</m:t>
                    </m:r>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𝑡</m:t>
                        </m:r>
                      </m:e>
                      <m:sub>
                        <m:r>
                          <a:rPr lang="it-IT" sz="1800" i="1">
                            <a:latin typeface="Cambria Math" panose="02040503050406030204" pitchFamily="18" charset="0"/>
                          </a:rPr>
                          <m:t>𝜈</m:t>
                        </m:r>
                      </m:sub>
                    </m:sSub>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r>
                          <a:rPr lang="it-IT" sz="1800" i="1">
                            <a:latin typeface="Cambria Math" panose="02040503050406030204" pitchFamily="18" charset="0"/>
                          </a:rPr>
                          <m:t>𝑠</m:t>
                        </m:r>
                      </m:e>
                    </m:d>
                  </m:oMath>
                </a14:m>
                <a:r>
                  <a:rPr lang="it-IT" sz="1800" i="1" dirty="0"/>
                  <a:t>.</a:t>
                </a:r>
              </a:p>
              <a:p>
                <a:pPr marL="0" indent="0">
                  <a:buNone/>
                </a:pPr>
                <a:endParaRPr lang="it-IT" dirty="0"/>
              </a:p>
            </p:txBody>
          </p:sp>
        </mc:Choice>
        <mc:Fallback xmlns="">
          <p:sp>
            <p:nvSpPr>
              <p:cNvPr id="3" name="Content Placeholder 2">
                <a:extLst>
                  <a:ext uri="{FF2B5EF4-FFF2-40B4-BE49-F238E27FC236}">
                    <a16:creationId xmlns:a16="http://schemas.microsoft.com/office/drawing/2014/main" id="{88E55F89-463B-CF66-3B1C-0E60FDDAC54F}"/>
                  </a:ext>
                </a:extLst>
              </p:cNvPr>
              <p:cNvSpPr>
                <a:spLocks noGrp="1" noRot="1" noChangeAspect="1" noMove="1" noResize="1" noEditPoints="1" noAdjustHandles="1" noChangeArrowheads="1" noChangeShapeType="1" noTextEdit="1"/>
              </p:cNvSpPr>
              <p:nvPr>
                <p:ph idx="1"/>
              </p:nvPr>
            </p:nvSpPr>
            <p:spPr>
              <a:xfrm>
                <a:off x="700635" y="2355596"/>
                <a:ext cx="10790731" cy="2146808"/>
              </a:xfrm>
              <a:blipFill>
                <a:blip r:embed="rId3"/>
                <a:stretch>
                  <a:fillRect l="-565" t="-283"/>
                </a:stretch>
              </a:blipFill>
            </p:spPr>
            <p:txBody>
              <a:bodyPr/>
              <a:lstStyle/>
              <a:p>
                <a:r>
                  <a:rPr lang="it-IT">
                    <a:noFill/>
                  </a:rPr>
                  <a:t> </a:t>
                </a:r>
              </a:p>
            </p:txBody>
          </p:sp>
        </mc:Fallback>
      </mc:AlternateContent>
    </p:spTree>
    <p:extLst>
      <p:ext uri="{BB962C8B-B14F-4D97-AF65-F5344CB8AC3E}">
        <p14:creationId xmlns:p14="http://schemas.microsoft.com/office/powerpoint/2010/main" val="35617075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EC42C-5667-7FE3-0CC4-4EDEE5252992}"/>
              </a:ext>
            </a:extLst>
          </p:cNvPr>
          <p:cNvSpPr>
            <a:spLocks noGrp="1"/>
          </p:cNvSpPr>
          <p:nvPr>
            <p:ph type="title"/>
          </p:nvPr>
        </p:nvSpPr>
        <p:spPr/>
        <p:txBody>
          <a:bodyPr>
            <a:normAutofit fontScale="90000"/>
          </a:bodyPr>
          <a:lstStyle/>
          <a:p>
            <a:r>
              <a:rPr lang="it-IT" dirty="0">
                <a:solidFill>
                  <a:srgbClr val="FF0000"/>
                </a:solidFill>
              </a:rPr>
              <a:t>Non-parametric Collapsed gibbs sampling</a:t>
            </a:r>
            <a:endParaRPr lang="it-I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7F09EB-9E5E-5C56-B04D-565D4365EBBA}"/>
                  </a:ext>
                </a:extLst>
              </p:cNvPr>
              <p:cNvSpPr>
                <a:spLocks noGrp="1"/>
              </p:cNvSpPr>
              <p:nvPr>
                <p:ph idx="1"/>
              </p:nvPr>
            </p:nvSpPr>
            <p:spPr>
              <a:xfrm>
                <a:off x="700635" y="1563077"/>
                <a:ext cx="10790730" cy="4657969"/>
              </a:xfrm>
            </p:spPr>
            <p:txBody>
              <a:bodyPr>
                <a:normAutofit/>
              </a:bodyPr>
              <a:lstStyle/>
              <a:p>
                <a:r>
                  <a:rPr lang="en-US" sz="1800" dirty="0"/>
                  <a:t>Let us assume the number of clusters </a:t>
                </a:r>
                <a14:m>
                  <m:oMath xmlns:m="http://schemas.openxmlformats.org/officeDocument/2006/math">
                    <m:r>
                      <a:rPr lang="en-US" sz="1800" i="1">
                        <a:latin typeface="Cambria Math" panose="02040503050406030204" pitchFamily="18" charset="0"/>
                      </a:rPr>
                      <m:t>𝐾</m:t>
                    </m:r>
                  </m:oMath>
                </a14:m>
                <a:r>
                  <a:rPr lang="en-US" sz="1800" dirty="0"/>
                  <a:t> is unknown, so we adopt a nonparametric model that permits an </a:t>
                </a:r>
                <a:r>
                  <a:rPr lang="en-US" sz="1800" b="1" dirty="0"/>
                  <a:t>unbounded number of clusters </a:t>
                </a:r>
                <a:r>
                  <a:rPr lang="en-US" sz="1800" dirty="0"/>
                  <a:t>(</a:t>
                </a:r>
                <a14:m>
                  <m:oMath xmlns:m="http://schemas.openxmlformats.org/officeDocument/2006/math">
                    <m:r>
                      <a:rPr lang="en-US" sz="1800" i="1">
                        <a:latin typeface="Cambria Math" panose="02040503050406030204" pitchFamily="18" charset="0"/>
                      </a:rPr>
                      <m:t>𝐾</m:t>
                    </m:r>
                    <m:r>
                      <a:rPr lang="en-US" sz="1800">
                        <a:latin typeface="Cambria Math" panose="02040503050406030204" pitchFamily="18" charset="0"/>
                      </a:rPr>
                      <m:t>→</m:t>
                    </m:r>
                    <m:r>
                      <a:rPr lang="en-US" sz="1800">
                        <a:latin typeface="Cambria Math" panose="02040503050406030204" pitchFamily="18" charset="0"/>
                      </a:rPr>
                      <m:t>∞</m:t>
                    </m:r>
                  </m:oMath>
                </a14:m>
                <a:r>
                  <a:rPr lang="en-US" sz="1800" dirty="0"/>
                  <a:t>). </a:t>
                </a:r>
              </a:p>
              <a:p>
                <a:r>
                  <a:rPr lang="it-IT" sz="1800" dirty="0"/>
                  <a:t>The only part that depends on </a:t>
                </a:r>
                <a14:m>
                  <m:oMath xmlns:m="http://schemas.openxmlformats.org/officeDocument/2006/math">
                    <m:r>
                      <a:rPr lang="en-US" sz="1800" i="1">
                        <a:latin typeface="Cambria Math" panose="02040503050406030204" pitchFamily="18" charset="0"/>
                      </a:rPr>
                      <m:t>𝐾</m:t>
                    </m:r>
                  </m:oMath>
                </a14:m>
                <a:r>
                  <a:rPr lang="it-IT" sz="1800" dirty="0"/>
                  <a:t> is </a:t>
                </a:r>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e>
                    </m:d>
                  </m:oMath>
                </a14:m>
                <a:r>
                  <a:rPr lang="it-IT" sz="1800" dirty="0"/>
                  <a:t>. </a:t>
                </a:r>
              </a:p>
              <a:p>
                <a14:m>
                  <m:oMath xmlns:m="http://schemas.openxmlformats.org/officeDocument/2006/math">
                    <m: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e>
                    </m:d>
                    <m:r>
                      <a:rPr lang="it-IT" sz="1800" i="1">
                        <a:latin typeface="Cambria Math" panose="02040503050406030204" pitchFamily="18" charset="0"/>
                      </a:rPr>
                      <m:t>=</m:t>
                    </m:r>
                    <m:func>
                      <m:funcPr>
                        <m:ctrlPr>
                          <a:rPr lang="it-IT" sz="1800" i="1">
                            <a:latin typeface="Cambria Math" panose="02040503050406030204" pitchFamily="18" charset="0"/>
                          </a:rPr>
                        </m:ctrlPr>
                      </m:funcPr>
                      <m:fName>
                        <m:limLow>
                          <m:limLowPr>
                            <m:ctrlPr>
                              <a:rPr lang="it-IT" sz="1800" i="1">
                                <a:latin typeface="Cambria Math" panose="02040503050406030204" pitchFamily="18" charset="0"/>
                              </a:rPr>
                            </m:ctrlPr>
                          </m:limLowPr>
                          <m:e>
                            <m:r>
                              <m:rPr>
                                <m:sty m:val="p"/>
                              </m:rPr>
                              <a:rPr lang="it-IT" sz="1800" i="0">
                                <a:latin typeface="Cambria Math" panose="02040503050406030204" pitchFamily="18" charset="0"/>
                              </a:rPr>
                              <m:t>lim</m:t>
                            </m:r>
                          </m:e>
                          <m:lim>
                            <m:r>
                              <a:rPr lang="it-IT" sz="1800" i="1">
                                <a:latin typeface="Cambria Math" panose="02040503050406030204" pitchFamily="18" charset="0"/>
                              </a:rPr>
                              <m:t>𝐾</m:t>
                            </m:r>
                            <m:r>
                              <a:rPr lang="it-IT" sz="1800" i="1">
                                <a:latin typeface="Cambria Math" panose="02040503050406030204" pitchFamily="18" charset="0"/>
                              </a:rPr>
                              <m:t>→</m:t>
                            </m:r>
                            <m:r>
                              <a:rPr lang="it-IT" sz="1800" i="1">
                                <a:latin typeface="Cambria Math" panose="02040503050406030204" pitchFamily="18" charset="0"/>
                              </a:rPr>
                              <m:t>∞</m:t>
                            </m:r>
                          </m:lim>
                        </m:limLow>
                      </m:fName>
                      <m:e>
                        <m:f>
                          <m:fPr>
                            <m:ctrlPr>
                              <a:rPr lang="it-IT" sz="1800" i="1">
                                <a:latin typeface="Cambria Math" panose="02040503050406030204" pitchFamily="18" charset="0"/>
                              </a:rPr>
                            </m:ctrlPr>
                          </m:fPr>
                          <m:num>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𝛼</m:t>
                            </m:r>
                            <m:r>
                              <m:rPr>
                                <m:lit/>
                              </m:rPr>
                              <a:rPr lang="it-IT" sz="1800" i="1">
                                <a:latin typeface="Cambria Math" panose="02040503050406030204" pitchFamily="18" charset="0"/>
                              </a:rPr>
                              <m:t>/</m:t>
                            </m:r>
                            <m:r>
                              <a:rPr lang="it-IT" sz="1800" i="1">
                                <a:latin typeface="Cambria Math" panose="02040503050406030204" pitchFamily="18" charset="0"/>
                              </a:rPr>
                              <m:t>𝐾</m:t>
                            </m:r>
                          </m:num>
                          <m:den>
                            <m:r>
                              <a:rPr lang="it-IT" sz="1800" i="1">
                                <a:latin typeface="Cambria Math" panose="02040503050406030204" pitchFamily="18" charset="0"/>
                              </a:rPr>
                              <m:t>𝑁</m:t>
                            </m:r>
                            <m:r>
                              <a:rPr lang="it-IT" sz="1800" i="1">
                                <a:latin typeface="Cambria Math" panose="02040503050406030204" pitchFamily="18" charset="0"/>
                              </a:rPr>
                              <m:t>−</m:t>
                            </m:r>
                            <m:r>
                              <a:rPr lang="it-IT" sz="1800" i="1">
                                <a:latin typeface="Cambria Math" panose="02040503050406030204" pitchFamily="18" charset="0"/>
                              </a:rPr>
                              <m:t>1</m:t>
                            </m:r>
                            <m:r>
                              <a:rPr lang="it-IT" sz="1800" i="1">
                                <a:latin typeface="Cambria Math" panose="02040503050406030204" pitchFamily="18" charset="0"/>
                              </a:rPr>
                              <m:t>+</m:t>
                            </m:r>
                            <m:r>
                              <a:rPr lang="it-IT" sz="1800" i="1">
                                <a:latin typeface="Cambria Math" panose="02040503050406030204" pitchFamily="18" charset="0"/>
                              </a:rPr>
                              <m:t>𝛼</m:t>
                            </m:r>
                          </m:den>
                        </m:f>
                      </m:e>
                    </m:func>
                  </m:oMath>
                </a14:m>
                <a:endParaRPr lang="it-IT" sz="1800" dirty="0"/>
              </a:p>
              <a:p>
                <a:pPr lvl="1"/>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r>
                      <a:rPr lang="it-IT" b="0" i="1" smtClean="0">
                        <a:latin typeface="Cambria Math" panose="02040503050406030204" pitchFamily="18" charset="0"/>
                      </a:rPr>
                      <m:t>&gt;</m:t>
                    </m:r>
                    <m:r>
                      <a:rPr lang="it-IT" b="0" i="1" smtClean="0">
                        <a:latin typeface="Cambria Math" panose="02040503050406030204" pitchFamily="18" charset="0"/>
                      </a:rPr>
                      <m:t>0</m:t>
                    </m:r>
                    <m:r>
                      <a:rPr lang="it-IT" b="0" i="1" smtClean="0">
                        <a:latin typeface="Cambria Math" panose="02040503050406030204" pitchFamily="18" charset="0"/>
                      </a:rPr>
                      <m:t> ⇒ </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𝑘</m:t>
                        </m:r>
                      </m:e>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𝛼</m:t>
                        </m:r>
                      </m:e>
                    </m:d>
                    <m:r>
                      <a:rPr lang="it-IT" b="0" i="1"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num>
                      <m:den>
                        <m:r>
                          <a:rPr lang="it-IT" i="1">
                            <a:latin typeface="Cambria Math" panose="02040503050406030204" pitchFamily="18" charset="0"/>
                          </a:rPr>
                          <m:t>𝑁</m:t>
                        </m:r>
                        <m:r>
                          <a:rPr lang="it-IT" i="1">
                            <a:latin typeface="Cambria Math" panose="02040503050406030204" pitchFamily="18" charset="0"/>
                          </a:rPr>
                          <m:t>−</m:t>
                        </m:r>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𝛼</m:t>
                        </m:r>
                      </m:den>
                    </m:f>
                  </m:oMath>
                </a14:m>
                <a:endParaRPr lang="it-IT" dirty="0"/>
              </a:p>
              <a:p>
                <a:pPr lvl="1"/>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r>
                      <a:rPr lang="it-IT" b="0" i="1" smtClean="0">
                        <a:latin typeface="Cambria Math" panose="02040503050406030204" pitchFamily="18" charset="0"/>
                      </a:rPr>
                      <m:t>=</m:t>
                    </m:r>
                    <m:r>
                      <a:rPr lang="it-IT" i="1">
                        <a:latin typeface="Cambria Math" panose="02040503050406030204" pitchFamily="18" charset="0"/>
                      </a:rPr>
                      <m:t>0</m:t>
                    </m:r>
                    <m:r>
                      <a:rPr lang="it-IT" i="1">
                        <a:latin typeface="Cambria Math" panose="02040503050406030204" pitchFamily="18" charset="0"/>
                      </a:rPr>
                      <m:t> ⇒ </m:t>
                    </m:r>
                    <m:m>
                      <m:mPr>
                        <m:plcHide m:val="on"/>
                        <m:mcs>
                          <m:mc>
                            <m:mcPr>
                              <m:count m:val="3"/>
                              <m:mcJc m:val="center"/>
                            </m:mcPr>
                          </m:mc>
                        </m:mcs>
                        <m:ctrlPr>
                          <a:rPr lang="it-IT" i="1" smtClean="0">
                            <a:latin typeface="Cambria Math" panose="02040503050406030204" pitchFamily="18" charset="0"/>
                          </a:rPr>
                        </m:ctrlPr>
                      </m:mPr>
                      <m:mr>
                        <m:e>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𝑛𝑒𝑤</m:t>
                              </m:r>
                            </m:e>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𝛼</m:t>
                              </m:r>
                            </m:e>
                          </m:d>
                        </m:e>
                        <m:e>
                          <m:r>
                            <a:rPr lang="it-IT" b="0" i="1" smtClean="0">
                              <a:latin typeface="Cambria Math" panose="02040503050406030204" pitchFamily="18" charset="0"/>
                            </a:rPr>
                            <m:t>=</m:t>
                          </m:r>
                        </m:e>
                        <m:e>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𝑜𝑙𝑑</m:t>
                              </m:r>
                            </m:e>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𝛼</m:t>
                              </m:r>
                            </m:e>
                          </m:d>
                          <m:r>
                            <a:rPr lang="it-IT" i="1">
                              <a:latin typeface="Cambria Math" panose="02040503050406030204" pitchFamily="18" charset="0"/>
                            </a:rPr>
                            <m:t>=</m:t>
                          </m:r>
                          <m:r>
                            <a:rPr lang="it-IT" i="1">
                              <a:latin typeface="Cambria Math" panose="02040503050406030204" pitchFamily="18" charset="0"/>
                            </a:rPr>
                            <m:t>1</m:t>
                          </m:r>
                          <m:r>
                            <a:rPr lang="it-IT" i="1">
                              <a:latin typeface="Cambria Math" panose="02040503050406030204" pitchFamily="18" charset="0"/>
                            </a:rPr>
                            <m:t>−</m:t>
                          </m:r>
                          <m:nary>
                            <m:naryPr>
                              <m:chr m:val="∑"/>
                              <m:ctrlPr>
                                <a:rPr lang="it-IT" i="1">
                                  <a:latin typeface="Cambria Math" panose="02040503050406030204" pitchFamily="18" charset="0"/>
                                </a:rPr>
                              </m:ctrlPr>
                            </m:naryPr>
                            <m:sub>
                              <m:r>
                                <m:rPr>
                                  <m:sty m:val="p"/>
                                  <m:brk m:alnAt="23"/>
                                </m:rPr>
                                <a:rPr lang="it-IT" i="1">
                                  <a:latin typeface="Cambria Math" panose="02040503050406030204" pitchFamily="18" charset="0"/>
                                </a:rPr>
                                <m:t>k</m:t>
                              </m:r>
                              <m:r>
                                <a:rPr lang="it-IT" i="1">
                                  <a:latin typeface="Cambria Math" panose="02040503050406030204" pitchFamily="18" charset="0"/>
                                </a:rPr>
                                <m:t>=</m:t>
                              </m:r>
                              <m:r>
                                <a:rPr lang="it-IT" i="1">
                                  <a:latin typeface="Cambria Math" panose="02040503050406030204" pitchFamily="18" charset="0"/>
                                </a:rPr>
                                <m:t>1</m:t>
                              </m:r>
                            </m:sub>
                            <m:sup>
                              <m:sSup>
                                <m:sSupPr>
                                  <m:ctrlPr>
                                    <a:rPr lang="it-IT" i="1">
                                      <a:latin typeface="Cambria Math" panose="02040503050406030204" pitchFamily="18" charset="0"/>
                                    </a:rPr>
                                  </m:ctrlPr>
                                </m:sSupPr>
                                <m:e>
                                  <m:r>
                                    <a:rPr lang="it-IT" i="1">
                                      <a:latin typeface="Cambria Math" panose="02040503050406030204" pitchFamily="18" charset="0"/>
                                    </a:rPr>
                                    <m:t>𝐾</m:t>
                                  </m:r>
                                </m:e>
                                <m:sup>
                                  <m:r>
                                    <a:rPr lang="it-IT" i="1">
                                      <a:latin typeface="Cambria Math" panose="02040503050406030204" pitchFamily="18" charset="0"/>
                                    </a:rPr>
                                    <m:t>∗</m:t>
                                  </m:r>
                                </m:sup>
                              </m:sSup>
                            </m:sup>
                            <m:e>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𝑘</m:t>
                                  </m:r>
                                </m:e>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𝛼</m:t>
                                  </m:r>
                                </m:e>
                              </m:d>
                              <m:r>
                                <a:rPr lang="it-IT" b="0" i="1" smtClean="0">
                                  <a:latin typeface="Cambria Math" panose="02040503050406030204" pitchFamily="18" charset="0"/>
                                </a:rPr>
                                <m:t>=</m:t>
                              </m:r>
                            </m:e>
                          </m:nary>
                        </m:e>
                      </m:mr>
                      <m:mr>
                        <m:e/>
                        <m:e>
                          <m:r>
                            <a:rPr lang="it-IT" b="0" i="1" smtClean="0">
                              <a:latin typeface="Cambria Math" panose="02040503050406030204" pitchFamily="18" charset="0"/>
                            </a:rPr>
                            <m:t>=</m:t>
                          </m:r>
                        </m:e>
                        <m:e>
                          <m:r>
                            <a:rPr lang="it-IT" i="1">
                              <a:latin typeface="Cambria Math" panose="02040503050406030204" pitchFamily="18" charset="0"/>
                            </a:rPr>
                            <m:t>1</m:t>
                          </m:r>
                          <m:r>
                            <a:rPr lang="it-IT" i="1">
                              <a:latin typeface="Cambria Math" panose="02040503050406030204" pitchFamily="18" charset="0"/>
                            </a:rPr>
                            <m:t>−</m:t>
                          </m:r>
                          <m:nary>
                            <m:naryPr>
                              <m:chr m:val="∑"/>
                              <m:ctrlPr>
                                <a:rPr lang="it-IT" i="1">
                                  <a:latin typeface="Cambria Math" panose="02040503050406030204" pitchFamily="18" charset="0"/>
                                </a:rPr>
                              </m:ctrlPr>
                            </m:naryPr>
                            <m:sub>
                              <m:r>
                                <m:rPr>
                                  <m:sty m:val="p"/>
                                  <m:brk m:alnAt="23"/>
                                </m:rPr>
                                <a:rPr lang="it-IT" i="1">
                                  <a:latin typeface="Cambria Math" panose="02040503050406030204" pitchFamily="18" charset="0"/>
                                </a:rPr>
                                <m:t>k</m:t>
                              </m:r>
                              <m:r>
                                <a:rPr lang="it-IT" i="1">
                                  <a:latin typeface="Cambria Math" panose="02040503050406030204" pitchFamily="18" charset="0"/>
                                </a:rPr>
                                <m:t>=</m:t>
                              </m:r>
                              <m:r>
                                <a:rPr lang="it-IT" i="1">
                                  <a:latin typeface="Cambria Math" panose="02040503050406030204" pitchFamily="18" charset="0"/>
                                </a:rPr>
                                <m:t>1</m:t>
                              </m:r>
                            </m:sub>
                            <m:sup>
                              <m:sSup>
                                <m:sSupPr>
                                  <m:ctrlPr>
                                    <a:rPr lang="it-IT" i="1">
                                      <a:latin typeface="Cambria Math" panose="02040503050406030204" pitchFamily="18" charset="0"/>
                                    </a:rPr>
                                  </m:ctrlPr>
                                </m:sSupPr>
                                <m:e>
                                  <m:r>
                                    <a:rPr lang="it-IT" i="1">
                                      <a:latin typeface="Cambria Math" panose="02040503050406030204" pitchFamily="18" charset="0"/>
                                    </a:rPr>
                                    <m:t>𝐾</m:t>
                                  </m:r>
                                </m:e>
                                <m:sup>
                                  <m:r>
                                    <a:rPr lang="it-IT" i="1">
                                      <a:latin typeface="Cambria Math" panose="02040503050406030204" pitchFamily="18" charset="0"/>
                                    </a:rPr>
                                    <m:t>∗</m:t>
                                  </m:r>
                                </m:sup>
                              </m:sSup>
                            </m:sup>
                            <m:e>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num>
                                <m:den>
                                  <m:r>
                                    <a:rPr lang="it-IT" i="1">
                                      <a:latin typeface="Cambria Math" panose="02040503050406030204" pitchFamily="18" charset="0"/>
                                    </a:rPr>
                                    <m:t>𝑁</m:t>
                                  </m:r>
                                  <m:r>
                                    <a:rPr lang="it-IT" i="1">
                                      <a:latin typeface="Cambria Math" panose="02040503050406030204" pitchFamily="18" charset="0"/>
                                    </a:rPr>
                                    <m:t>−</m:t>
                                  </m:r>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𝛼</m:t>
                                  </m:r>
                                </m:den>
                              </m:f>
                            </m:e>
                          </m:nary>
                          <m:r>
                            <a:rPr lang="it-IT" i="1">
                              <a:latin typeface="Cambria Math" panose="02040503050406030204" pitchFamily="18" charset="0"/>
                            </a:rPr>
                            <m:t>=</m:t>
                          </m:r>
                          <m:r>
                            <a:rPr lang="it-IT">
                              <a:latin typeface="Cambria Math" panose="02040503050406030204" pitchFamily="18" charset="0"/>
                            </a:rPr>
                            <m:t>1</m:t>
                          </m:r>
                          <m:r>
                            <a:rPr lang="it-IT">
                              <a:latin typeface="Cambria Math" panose="02040503050406030204" pitchFamily="18" charset="0"/>
                            </a:rPr>
                            <m:t>−</m:t>
                          </m:r>
                          <m:f>
                            <m:fPr>
                              <m:ctrlPr>
                                <a:rPr lang="it-IT" i="1">
                                  <a:latin typeface="Cambria Math" panose="02040503050406030204" pitchFamily="18" charset="0"/>
                                </a:rPr>
                              </m:ctrlPr>
                            </m:fPr>
                            <m:num>
                              <m:r>
                                <m:rPr>
                                  <m:sty m:val="p"/>
                                </m:rPr>
                                <a:rPr lang="it-IT" i="1">
                                  <a:latin typeface="Cambria Math" panose="02040503050406030204" pitchFamily="18" charset="0"/>
                                </a:rPr>
                                <m:t>N</m:t>
                              </m:r>
                              <m:r>
                                <a:rPr lang="it-IT" i="1">
                                  <a:latin typeface="Cambria Math" panose="02040503050406030204" pitchFamily="18" charset="0"/>
                                </a:rPr>
                                <m:t>−</m:t>
                              </m:r>
                              <m:r>
                                <a:rPr lang="it-IT" i="1">
                                  <a:latin typeface="Cambria Math" panose="02040503050406030204" pitchFamily="18" charset="0"/>
                                </a:rPr>
                                <m:t>1</m:t>
                              </m:r>
                            </m:num>
                            <m:den>
                              <m:r>
                                <a:rPr lang="it-IT" i="1">
                                  <a:latin typeface="Cambria Math" panose="02040503050406030204" pitchFamily="18" charset="0"/>
                                </a:rPr>
                                <m:t>𝑁</m:t>
                              </m:r>
                              <m:r>
                                <a:rPr lang="it-IT" i="1">
                                  <a:latin typeface="Cambria Math" panose="02040503050406030204" pitchFamily="18" charset="0"/>
                                </a:rPr>
                                <m:t>−</m:t>
                              </m:r>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𝛼</m:t>
                              </m:r>
                            </m:den>
                          </m:f>
                          <m:r>
                            <a:rPr lang="it-IT" i="1">
                              <a:latin typeface="Cambria Math" panose="02040503050406030204" pitchFamily="18" charset="0"/>
                            </a:rPr>
                            <m:t>=</m:t>
                          </m:r>
                          <m:f>
                            <m:fPr>
                              <m:ctrlPr>
                                <a:rPr lang="it-IT" i="1">
                                  <a:latin typeface="Cambria Math" panose="02040503050406030204" pitchFamily="18" charset="0"/>
                                </a:rPr>
                              </m:ctrlPr>
                            </m:fPr>
                            <m:num>
                              <m:r>
                                <m:rPr>
                                  <m:sty m:val="p"/>
                                </m:rPr>
                                <a:rPr lang="it-IT" i="1">
                                  <a:latin typeface="Cambria Math" panose="02040503050406030204" pitchFamily="18" charset="0"/>
                                </a:rPr>
                                <m:t>α</m:t>
                              </m:r>
                            </m:num>
                            <m:den>
                              <m:r>
                                <a:rPr lang="it-IT" i="1">
                                  <a:latin typeface="Cambria Math" panose="02040503050406030204" pitchFamily="18" charset="0"/>
                                </a:rPr>
                                <m:t>𝑁</m:t>
                              </m:r>
                              <m:r>
                                <a:rPr lang="it-IT" i="1">
                                  <a:latin typeface="Cambria Math" panose="02040503050406030204" pitchFamily="18" charset="0"/>
                                </a:rPr>
                                <m:t>−</m:t>
                              </m:r>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𝛼</m:t>
                              </m:r>
                            </m:den>
                          </m:f>
                        </m:e>
                      </m:mr>
                    </m:m>
                  </m:oMath>
                </a14:m>
                <a:endParaRPr lang="it-IT" dirty="0"/>
              </a:p>
              <a:p>
                <a:pPr lvl="2"/>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𝐾</m:t>
                        </m:r>
                      </m:e>
                      <m:sup>
                        <m:r>
                          <a:rPr lang="it-IT" i="1">
                            <a:latin typeface="Cambria Math" panose="02040503050406030204" pitchFamily="18" charset="0"/>
                          </a:rPr>
                          <m:t>∗</m:t>
                        </m:r>
                      </m:sup>
                    </m:sSup>
                  </m:oMath>
                </a14:m>
                <a:r>
                  <a:rPr lang="it-IT" dirty="0"/>
                  <a:t> </a:t>
                </a:r>
                <a:r>
                  <a:rPr lang="en-US" dirty="0"/>
                  <a:t>denotes the number of occupied clusters, each containing at least one observation.</a:t>
                </a:r>
                <a:endParaRPr lang="it-IT" dirty="0"/>
              </a:p>
              <a:p>
                <a14:m>
                  <m:oMath xmlns:m="http://schemas.openxmlformats.org/officeDocument/2006/math">
                    <m:r>
                      <a:rPr lang="it-IT" i="1">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𝑘</m:t>
                        </m:r>
                      </m:e>
                      <m:e>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r>
                          <a:rPr lang="it-IT" i="1">
                            <a:latin typeface="Cambria Math" panose="02040503050406030204" pitchFamily="18" charset="0"/>
                          </a:rPr>
                          <m:t>𝛼</m:t>
                        </m:r>
                      </m:e>
                    </m:d>
                    <m:r>
                      <a:rPr lang="it-IT" i="1">
                        <a:latin typeface="Cambria Math" panose="02040503050406030204" pitchFamily="18" charset="0"/>
                      </a:rPr>
                      <m:t>=</m:t>
                    </m:r>
                    <m:f>
                      <m:fPr>
                        <m:ctrlPr>
                          <a:rPr lang="it-IT" i="1">
                            <a:latin typeface="Cambria Math" panose="02040503050406030204" pitchFamily="18" charset="0"/>
                          </a:rPr>
                        </m:ctrlPr>
                      </m:fPr>
                      <m:num>
                        <m:r>
                          <a:rPr lang="it-IT" b="0" i="1" smtClean="0">
                            <a:latin typeface="Cambria Math" panose="02040503050406030204" pitchFamily="18" charset="0"/>
                          </a:rPr>
                          <m:t>1</m:t>
                        </m:r>
                      </m:num>
                      <m:den>
                        <m:r>
                          <a:rPr lang="it-IT" i="1">
                            <a:latin typeface="Cambria Math" panose="02040503050406030204" pitchFamily="18" charset="0"/>
                          </a:rPr>
                          <m:t>𝑁</m:t>
                        </m:r>
                        <m:r>
                          <a:rPr lang="it-IT" i="1">
                            <a:latin typeface="Cambria Math" panose="02040503050406030204" pitchFamily="18" charset="0"/>
                          </a:rPr>
                          <m:t>−</m:t>
                        </m:r>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𝛼</m:t>
                        </m:r>
                      </m:den>
                    </m:f>
                    <m:r>
                      <a:rPr lang="it-IT" b="0" i="1" smtClean="0">
                        <a:latin typeface="Cambria Math" panose="02040503050406030204" pitchFamily="18" charset="0"/>
                      </a:rPr>
                      <m:t>⋅</m:t>
                    </m:r>
                    <m:d>
                      <m:dPr>
                        <m:begChr m:val="{"/>
                        <m:endChr m:val=""/>
                        <m:ctrlPr>
                          <a:rPr lang="it-IT" i="1" smtClean="0">
                            <a:latin typeface="Cambria Math" panose="02040503050406030204" pitchFamily="18" charset="0"/>
                          </a:rPr>
                        </m:ctrlPr>
                      </m:dPr>
                      <m:e>
                        <m:eqArr>
                          <m:eqArrPr>
                            <m:ctrlPr>
                              <a:rPr lang="it-IT" i="1" smtClean="0">
                                <a:latin typeface="Cambria Math" panose="02040503050406030204" pitchFamily="18" charset="0"/>
                              </a:rPr>
                            </m:ctrlPr>
                          </m:eqArrPr>
                          <m:e>
                            <m:sSub>
                              <m:sSubPr>
                                <m:ctrlPr>
                                  <a:rPr lang="it-IT" i="1" smtClean="0">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r>
                              <a:rPr lang="it-IT" b="0" i="1" smtClean="0">
                                <a:latin typeface="Cambria Math" panose="02040503050406030204" pitchFamily="18" charset="0"/>
                              </a:rPr>
                              <m:t> </m:t>
                            </m:r>
                            <m:r>
                              <a:rPr lang="it-IT" b="0" i="1" smtClean="0">
                                <a:latin typeface="Cambria Math" panose="02040503050406030204" pitchFamily="18" charset="0"/>
                              </a:rPr>
                              <m:t>𝑖𝑓</m:t>
                            </m:r>
                            <m:sSub>
                              <m:sSubPr>
                                <m:ctrlPr>
                                  <a:rPr lang="it-IT" i="1">
                                    <a:latin typeface="Cambria Math" panose="02040503050406030204" pitchFamily="18" charset="0"/>
                                  </a:rPr>
                                </m:ctrlPr>
                              </m:sSubPr>
                              <m:e>
                                <m:r>
                                  <a:rPr lang="it-IT" b="0" i="1" smtClean="0">
                                    <a:latin typeface="Cambria Math" panose="02040503050406030204" pitchFamily="18" charset="0"/>
                                  </a:rPr>
                                  <m:t> </m:t>
                                </m:r>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&gt;</m:t>
                            </m:r>
                            <m:r>
                              <a:rPr lang="it-IT" i="1">
                                <a:latin typeface="Cambria Math" panose="02040503050406030204" pitchFamily="18" charset="0"/>
                              </a:rPr>
                              <m:t>0</m:t>
                            </m:r>
                            <m:r>
                              <a:rPr lang="it-IT" i="1">
                                <a:latin typeface="Cambria Math" panose="02040503050406030204" pitchFamily="18" charset="0"/>
                              </a:rPr>
                              <m:t> </m:t>
                            </m:r>
                          </m:e>
                          <m:e>
                            <m:r>
                              <a:rPr lang="it-IT" b="0" i="1" smtClean="0">
                                <a:latin typeface="Cambria Math" panose="02040503050406030204" pitchFamily="18" charset="0"/>
                              </a:rPr>
                              <m:t>𝛼</m:t>
                            </m:r>
                            <m:r>
                              <a:rPr lang="it-IT" i="1">
                                <a:latin typeface="Cambria Math" panose="02040503050406030204" pitchFamily="18" charset="0"/>
                              </a:rPr>
                              <m:t> </m:t>
                            </m:r>
                            <m:r>
                              <a:rPr lang="it-IT" b="0" i="1" smtClean="0">
                                <a:latin typeface="Cambria Math" panose="02040503050406030204" pitchFamily="18" charset="0"/>
                              </a:rPr>
                              <m:t>      </m:t>
                            </m:r>
                            <m:r>
                              <a:rPr lang="it-IT" i="1">
                                <a:latin typeface="Cambria Math" panose="02040503050406030204" pitchFamily="18" charset="0"/>
                              </a:rPr>
                              <m:t>𝑖𝑓</m:t>
                            </m:r>
                            <m:sSub>
                              <m:sSubPr>
                                <m:ctrlPr>
                                  <a:rPr lang="it-IT" i="1">
                                    <a:latin typeface="Cambria Math" panose="02040503050406030204" pitchFamily="18" charset="0"/>
                                  </a:rPr>
                                </m:ctrlPr>
                              </m:sSubPr>
                              <m:e>
                                <m:r>
                                  <a:rPr lang="it-IT" i="1">
                                    <a:latin typeface="Cambria Math" panose="02040503050406030204" pitchFamily="18" charset="0"/>
                                  </a:rPr>
                                  <m:t> </m:t>
                                </m:r>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r>
                              <a:rPr lang="it-IT" b="0" i="1" smtClean="0">
                                <a:latin typeface="Cambria Math" panose="02040503050406030204" pitchFamily="18" charset="0"/>
                              </a:rPr>
                              <m:t>=</m:t>
                            </m:r>
                            <m:r>
                              <a:rPr lang="it-IT" i="1">
                                <a:latin typeface="Cambria Math" panose="02040503050406030204" pitchFamily="18" charset="0"/>
                              </a:rPr>
                              <m:t>0</m:t>
                            </m:r>
                            <m:r>
                              <a:rPr lang="it-IT" i="1">
                                <a:latin typeface="Cambria Math" panose="02040503050406030204" pitchFamily="18" charset="0"/>
                              </a:rPr>
                              <m:t> </m:t>
                            </m:r>
                          </m:e>
                        </m:eqArr>
                      </m:e>
                    </m:d>
                  </m:oMath>
                </a14:m>
                <a:r>
                  <a:rPr lang="it-IT" dirty="0"/>
                  <a:t> </a:t>
                </a:r>
                <a14:m>
                  <m:oMath xmlns:m="http://schemas.openxmlformats.org/officeDocument/2006/math">
                    <m:r>
                      <a:rPr lang="it-IT" b="0" i="1" dirty="0" smtClean="0">
                        <a:latin typeface="Cambria Math" panose="02040503050406030204" pitchFamily="18" charset="0"/>
                      </a:rPr>
                      <m:t>⟹</m:t>
                    </m:r>
                  </m:oMath>
                </a14:m>
                <a:r>
                  <a:rPr lang="it-IT" dirty="0"/>
                  <a:t>  </a:t>
                </a:r>
                <a:r>
                  <a:rPr lang="it-IT" b="1" dirty="0"/>
                  <a:t>Chinese restaurant process</a:t>
                </a:r>
              </a:p>
              <a:p>
                <a:pPr marL="914400" lvl="2" indent="0">
                  <a:buNone/>
                </a:pPr>
                <a:endParaRPr lang="it-IT" dirty="0"/>
              </a:p>
            </p:txBody>
          </p:sp>
        </mc:Choice>
        <mc:Fallback xmlns="">
          <p:sp>
            <p:nvSpPr>
              <p:cNvPr id="3" name="Content Placeholder 2">
                <a:extLst>
                  <a:ext uri="{FF2B5EF4-FFF2-40B4-BE49-F238E27FC236}">
                    <a16:creationId xmlns:a16="http://schemas.microsoft.com/office/drawing/2014/main" id="{B17F09EB-9E5E-5C56-B04D-565D4365EBBA}"/>
                  </a:ext>
                </a:extLst>
              </p:cNvPr>
              <p:cNvSpPr>
                <a:spLocks noGrp="1" noRot="1" noChangeAspect="1" noMove="1" noResize="1" noEditPoints="1" noAdjustHandles="1" noChangeArrowheads="1" noChangeShapeType="1" noTextEdit="1"/>
              </p:cNvSpPr>
              <p:nvPr>
                <p:ph idx="1"/>
              </p:nvPr>
            </p:nvSpPr>
            <p:spPr>
              <a:xfrm>
                <a:off x="700635" y="1563077"/>
                <a:ext cx="10790730" cy="4657969"/>
              </a:xfrm>
              <a:blipFill>
                <a:blip r:embed="rId3"/>
                <a:stretch>
                  <a:fillRect l="-395" t="-523"/>
                </a:stretch>
              </a:blipFill>
            </p:spPr>
            <p:txBody>
              <a:bodyPr/>
              <a:lstStyle/>
              <a:p>
                <a:r>
                  <a:rPr lang="it-IT">
                    <a:noFill/>
                  </a:rPr>
                  <a:t> </a:t>
                </a:r>
              </a:p>
            </p:txBody>
          </p:sp>
        </mc:Fallback>
      </mc:AlternateContent>
    </p:spTree>
    <p:extLst>
      <p:ext uri="{BB962C8B-B14F-4D97-AF65-F5344CB8AC3E}">
        <p14:creationId xmlns:p14="http://schemas.microsoft.com/office/powerpoint/2010/main" val="41124976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97A0C-331F-DFA1-55D2-5D7C7AC2AE5B}"/>
              </a:ext>
            </a:extLst>
          </p:cNvPr>
          <p:cNvSpPr>
            <a:spLocks noGrp="1"/>
          </p:cNvSpPr>
          <p:nvPr>
            <p:ph type="title"/>
          </p:nvPr>
        </p:nvSpPr>
        <p:spPr/>
        <p:txBody>
          <a:bodyPr/>
          <a:lstStyle/>
          <a:p>
            <a:r>
              <a:rPr lang="it-IT" dirty="0">
                <a:solidFill>
                  <a:srgbClr val="FF0000"/>
                </a:solidFill>
              </a:rPr>
              <a:t>Nonparametric algorithm</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ECFB235-2DDA-50E1-FCB2-725BC0E52964}"/>
                  </a:ext>
                </a:extLst>
              </p:cNvPr>
              <p:cNvSpPr>
                <a:spLocks noGrp="1"/>
              </p:cNvSpPr>
              <p:nvPr>
                <p:ph idx="1"/>
              </p:nvPr>
            </p:nvSpPr>
            <p:spPr>
              <a:xfrm>
                <a:off x="799553" y="1563077"/>
                <a:ext cx="10592347" cy="4532924"/>
              </a:xfrm>
            </p:spPr>
            <p:txBody>
              <a:bodyPr>
                <a:normAutofit/>
              </a:bodyPr>
              <a:lstStyle/>
              <a:p>
                <a:pPr marL="457200" indent="-457200">
                  <a:buFont typeface="+mj-lt"/>
                  <a:buAutoNum type="arabicPeriod"/>
                </a:pPr>
                <a:r>
                  <a:rPr lang="it-IT" dirty="0"/>
                  <a:t>Initialize </a:t>
                </a: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𝜽</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t>
                </a: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𝒘</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and </a:t>
                </a:r>
                <a14:m>
                  <m:oMath xmlns:m="http://schemas.openxmlformats.org/officeDocument/2006/math">
                    <m:sSup>
                      <m:sSupPr>
                        <m:ctrlPr>
                          <a:rPr lang="it-IT" i="1">
                            <a:latin typeface="Cambria Math" panose="02040503050406030204" pitchFamily="18" charset="0"/>
                          </a:rPr>
                        </m:ctrlPr>
                      </m:sSupPr>
                      <m:e>
                        <m:r>
                          <a:rPr lang="it-IT" b="1" i="1">
                            <a:latin typeface="Cambria Math" panose="02040503050406030204" pitchFamily="18" charset="0"/>
                          </a:rPr>
                          <m:t>𝒛</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and choose the hyperparameters: </a:t>
                </a:r>
                <a14:m>
                  <m:oMath xmlns:m="http://schemas.openxmlformats.org/officeDocument/2006/math">
                    <m:r>
                      <a:rPr lang="it-IT" b="0" i="1" smtClean="0">
                        <a:latin typeface="Cambria Math" panose="02040503050406030204" pitchFamily="18" charset="0"/>
                      </a:rPr>
                      <m:t>𝛼</m:t>
                    </m:r>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0</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𝜅</m:t>
                        </m:r>
                      </m:e>
                      <m:sub>
                        <m:r>
                          <a:rPr lang="it-IT" b="0" i="1" smtClean="0">
                            <a:latin typeface="Cambria Math" panose="02040503050406030204" pitchFamily="18" charset="0"/>
                          </a:rPr>
                          <m:t>0</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𝛼</m:t>
                        </m:r>
                      </m:e>
                      <m:sub>
                        <m:r>
                          <a:rPr lang="it-IT" b="0" i="1" smtClean="0">
                            <a:latin typeface="Cambria Math" panose="02040503050406030204" pitchFamily="18" charset="0"/>
                          </a:rPr>
                          <m:t>0</m:t>
                        </m:r>
                      </m:sub>
                    </m:sSub>
                    <m:r>
                      <m:rPr>
                        <m:nor/>
                      </m:rPr>
                      <a:rPr lang="it-IT" b="0" i="0" smtClean="0">
                        <a:latin typeface="Cambria Math" panose="02040503050406030204" pitchFamily="18" charset="0"/>
                      </a:rPr>
                      <m:t> </m:t>
                    </m:r>
                    <m:r>
                      <m:rPr>
                        <m:nor/>
                      </m:rPr>
                      <a:rPr lang="it-IT" b="0" i="0" smtClean="0">
                        <a:latin typeface="Cambria Math" panose="02040503050406030204" pitchFamily="18" charset="0"/>
                      </a:rPr>
                      <m:t>and</m:t>
                    </m:r>
                    <m:sSub>
                      <m:sSubPr>
                        <m:ctrlPr>
                          <a:rPr lang="it-IT" b="0" i="1" smtClean="0">
                            <a:latin typeface="Cambria Math" panose="02040503050406030204" pitchFamily="18" charset="0"/>
                          </a:rPr>
                        </m:ctrlPr>
                      </m:sSubPr>
                      <m:e>
                        <m:r>
                          <a:rPr lang="it-IT" b="0" i="1" smtClean="0">
                            <a:latin typeface="Cambria Math" panose="02040503050406030204" pitchFamily="18" charset="0"/>
                          </a:rPr>
                          <m:t> </m:t>
                        </m:r>
                        <m:r>
                          <a:rPr lang="it-IT" b="0" i="1" smtClean="0">
                            <a:latin typeface="Cambria Math" panose="02040503050406030204" pitchFamily="18" charset="0"/>
                          </a:rPr>
                          <m:t>𝛽</m:t>
                        </m:r>
                      </m:e>
                      <m:sub>
                        <m:r>
                          <a:rPr lang="it-IT" b="0" i="1" smtClean="0">
                            <a:latin typeface="Cambria Math" panose="02040503050406030204" pitchFamily="18" charset="0"/>
                          </a:rPr>
                          <m:t>0</m:t>
                        </m:r>
                      </m:sub>
                    </m:sSub>
                    <m:r>
                      <a:rPr lang="it-IT" b="0" i="1" smtClean="0">
                        <a:latin typeface="Cambria Math" panose="02040503050406030204" pitchFamily="18" charset="0"/>
                      </a:rPr>
                      <m:t>.</m:t>
                    </m:r>
                  </m:oMath>
                </a14:m>
                <a:endParaRPr lang="it-IT" dirty="0"/>
              </a:p>
              <a:p>
                <a:pPr marL="457200" indent="-457200">
                  <a:buFont typeface="+mj-lt"/>
                  <a:buAutoNum type="arabicPeriod"/>
                </a:pPr>
                <a:r>
                  <a:rPr lang="it-IT" dirty="0"/>
                  <a:t>For iterations </a:t>
                </a:r>
                <a14:m>
                  <m:oMath xmlns:m="http://schemas.openxmlformats.org/officeDocument/2006/math">
                    <m:r>
                      <m:rPr>
                        <m:sty m:val="p"/>
                      </m:rPr>
                      <a:rPr lang="it-IT" i="1">
                        <a:latin typeface="Cambria Math" panose="02040503050406030204" pitchFamily="18" charset="0"/>
                      </a:rPr>
                      <m:t>t</m:t>
                    </m:r>
                    <m:r>
                      <a:rPr lang="it-IT" i="1">
                        <a:latin typeface="Cambria Math" panose="02040503050406030204" pitchFamily="18" charset="0"/>
                      </a:rPr>
                      <m:t> = </m:t>
                    </m:r>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2</m:t>
                    </m:r>
                    <m:r>
                      <a:rPr lang="it-IT" i="1">
                        <a:latin typeface="Cambria Math" panose="02040503050406030204" pitchFamily="18" charset="0"/>
                      </a:rPr>
                      <m:t>,…, </m:t>
                    </m:r>
                    <m:r>
                      <m:rPr>
                        <m:sty m:val="p"/>
                      </m:rPr>
                      <a:rPr lang="it-IT" i="1">
                        <a:latin typeface="Cambria Math" panose="02040503050406030204" pitchFamily="18" charset="0"/>
                      </a:rPr>
                      <m:t>M</m:t>
                    </m:r>
                    <m:r>
                      <a:rPr lang="it-IT" i="1">
                        <a:latin typeface="Cambria Math" panose="02040503050406030204" pitchFamily="18" charset="0"/>
                      </a:rPr>
                      <m:t>:</m:t>
                    </m:r>
                  </m:oMath>
                </a14:m>
                <a:endParaRPr lang="it-IT" dirty="0"/>
              </a:p>
              <a:p>
                <a:pPr lvl="1"/>
                <a:r>
                  <a:rPr lang="it-IT" dirty="0"/>
                  <a:t>For each </a:t>
                </a:r>
                <a:r>
                  <a:rPr lang="it-IT" i="1" dirty="0"/>
                  <a:t>i</a:t>
                </a:r>
                <a:r>
                  <a:rPr lang="it-IT" dirty="0"/>
                  <a:t>: </a:t>
                </a:r>
              </a:p>
              <a:p>
                <a:pPr lvl="2"/>
                <a:r>
                  <a:rPr lang="it-IT" sz="1800" dirty="0"/>
                  <a:t>Remove point </a:t>
                </a:r>
                <a:r>
                  <a:rPr lang="it-IT" sz="1800" i="1" dirty="0"/>
                  <a:t>i</a:t>
                </a:r>
                <a:r>
                  <a:rPr lang="it-IT" sz="1800" dirty="0"/>
                  <a:t> from the cluster </a:t>
                </a:r>
                <a:r>
                  <a:rPr lang="en-US" sz="1800" dirty="0"/>
                  <a:t>it occupied in the previous iteration </a:t>
                </a:r>
                <a14:m>
                  <m:oMath xmlns:m="http://schemas.openxmlformats.org/officeDocument/2006/math">
                    <m:r>
                      <a:rPr lang="en-US" sz="1800" i="1" dirty="0">
                        <a:latin typeface="Cambria Math" panose="02040503050406030204" pitchFamily="18" charset="0"/>
                      </a:rPr>
                      <m:t>𝑡</m:t>
                    </m:r>
                    <m:r>
                      <a:rPr lang="en-US" sz="1800" i="1" dirty="0">
                        <a:latin typeface="Cambria Math" panose="02040503050406030204" pitchFamily="18" charset="0"/>
                      </a:rPr>
                      <m:t>−</m:t>
                    </m:r>
                    <m:r>
                      <a:rPr lang="en-US" sz="1800" i="1" dirty="0">
                        <a:latin typeface="Cambria Math" panose="02040503050406030204" pitchFamily="18" charset="0"/>
                      </a:rPr>
                      <m:t>1</m:t>
                    </m:r>
                  </m:oMath>
                </a14:m>
                <a:r>
                  <a:rPr lang="it-IT" sz="1800" dirty="0"/>
                  <a:t>.</a:t>
                </a:r>
              </a:p>
              <a:p>
                <a:pPr lvl="2"/>
                <a:r>
                  <a:rPr lang="it-IT" sz="1800" dirty="0"/>
                  <a:t>If the cluster becomes empty, remove it.</a:t>
                </a:r>
              </a:p>
              <a:p>
                <a:pPr lvl="2"/>
                <a:r>
                  <a:rPr lang="it-IT" sz="1800" dirty="0"/>
                  <a:t>For each </a:t>
                </a:r>
                <a14:m>
                  <m:oMath xmlns:m="http://schemas.openxmlformats.org/officeDocument/2006/math">
                    <m:r>
                      <a:rPr lang="it-IT" sz="1800" i="1" smtClean="0">
                        <a:latin typeface="Cambria Math" panose="02040503050406030204" pitchFamily="18" charset="0"/>
                      </a:rPr>
                      <m:t>𝑘</m:t>
                    </m:r>
                    <m:r>
                      <a:rPr lang="it-IT" sz="1800" b="0" i="1" smtClean="0">
                        <a:latin typeface="Cambria Math" panose="02040503050406030204" pitchFamily="18" charset="0"/>
                      </a:rPr>
                      <m:t>=</m:t>
                    </m:r>
                    <m:r>
                      <a:rPr lang="it-IT" sz="1800" b="0" i="1" smtClean="0">
                        <a:latin typeface="Cambria Math" panose="02040503050406030204" pitchFamily="18" charset="0"/>
                      </a:rPr>
                      <m:t>1</m:t>
                    </m:r>
                    <m:r>
                      <a:rPr lang="it-IT" sz="1800" b="0" i="1" smtClean="0">
                        <a:latin typeface="Cambria Math" panose="02040503050406030204" pitchFamily="18" charset="0"/>
                      </a:rPr>
                      <m:t>,…</m:t>
                    </m:r>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𝐾</m:t>
                        </m:r>
                      </m:e>
                      <m:sup>
                        <m:r>
                          <a:rPr lang="it-IT" sz="1800" b="0" i="1" smtClean="0">
                            <a:latin typeface="Cambria Math" panose="02040503050406030204" pitchFamily="18" charset="0"/>
                          </a:rPr>
                          <m:t>∗</m:t>
                        </m:r>
                      </m:sup>
                    </m:sSup>
                    <m:r>
                      <a:rPr lang="it-IT" sz="1800" b="0" i="1" smtClean="0">
                        <a:latin typeface="Cambria Math" panose="02040503050406030204" pitchFamily="18" charset="0"/>
                      </a:rPr>
                      <m:t>:</m:t>
                    </m:r>
                  </m:oMath>
                </a14:m>
                <a:r>
                  <a:rPr lang="it-IT" sz="1800" dirty="0"/>
                  <a:t>c</a:t>
                </a:r>
                <a14:m>
                  <m:oMath xmlns:m="http://schemas.openxmlformats.org/officeDocument/2006/math">
                    <m:r>
                      <m:rPr>
                        <m:sty m:val="p"/>
                      </m:rPr>
                      <a:rPr lang="it-IT" sz="1800" b="0" i="0" smtClean="0">
                        <a:latin typeface="Cambria Math" panose="02040503050406030204" pitchFamily="18" charset="0"/>
                      </a:rPr>
                      <m:t>ompute</m:t>
                    </m:r>
                    <m:r>
                      <a:rPr lang="it-IT" sz="1800" b="0" i="0" smtClean="0">
                        <a:latin typeface="Cambria Math" panose="02040503050406030204" pitchFamily="18" charset="0"/>
                      </a:rPr>
                      <m:t> </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𝒙</m:t>
                        </m:r>
                        <m:r>
                          <a:rPr lang="it-IT" sz="1800" i="1">
                            <a:latin typeface="Cambria Math" panose="02040503050406030204" pitchFamily="18" charset="0"/>
                          </a:rPr>
                          <m:t>,</m:t>
                        </m:r>
                        <m:r>
                          <a:rPr lang="it-IT" sz="1800" i="1">
                            <a:latin typeface="Cambria Math" panose="02040503050406030204" pitchFamily="18" charset="0"/>
                          </a:rPr>
                          <m:t>𝛼</m:t>
                        </m:r>
                      </m:e>
                    </m:d>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𝑡</m:t>
                        </m:r>
                      </m:e>
                      <m:sub>
                        <m:r>
                          <a:rPr lang="it-IT" sz="1800" i="1">
                            <a:latin typeface="Cambria Math" panose="02040503050406030204" pitchFamily="18" charset="0"/>
                          </a:rPr>
                          <m:t>𝜈</m:t>
                        </m:r>
                      </m:sub>
                    </m:sSub>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r>
                          <a:rPr lang="it-IT" sz="1800" i="1">
                            <a:latin typeface="Cambria Math" panose="02040503050406030204" pitchFamily="18" charset="0"/>
                          </a:rPr>
                          <m:t>𝑠</m:t>
                        </m:r>
                      </m:e>
                    </m:d>
                    <m:r>
                      <a:rPr lang="it-IT" sz="180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𝑞</m:t>
                        </m:r>
                      </m:e>
                      <m:sub>
                        <m:r>
                          <a:rPr lang="it-IT" sz="1800" b="0" i="1" smtClean="0">
                            <a:latin typeface="Cambria Math" panose="02040503050406030204" pitchFamily="18" charset="0"/>
                          </a:rPr>
                          <m:t>𝑘</m:t>
                        </m:r>
                      </m:sub>
                    </m:sSub>
                  </m:oMath>
                </a14:m>
                <a:r>
                  <a:rPr lang="it-IT" sz="1800" i="1" dirty="0"/>
                  <a:t>.</a:t>
                </a:r>
              </a:p>
              <a:p>
                <a:pPr lvl="2"/>
                <a:r>
                  <a:rPr lang="it-IT" sz="1800" dirty="0"/>
                  <a:t>C</a:t>
                </a:r>
                <a14:m>
                  <m:oMath xmlns:m="http://schemas.openxmlformats.org/officeDocument/2006/math">
                    <m:r>
                      <m:rPr>
                        <m:sty m:val="p"/>
                      </m:rPr>
                      <a:rPr lang="it-IT" sz="1800" b="0" i="0" smtClean="0">
                        <a:latin typeface="Cambria Math" panose="02040503050406030204" pitchFamily="18" charset="0"/>
                      </a:rPr>
                      <m:t>ompute</m:t>
                    </m:r>
                    <m:r>
                      <a:rPr lang="it-IT" sz="1800" b="0" i="0" smtClean="0">
                        <a:latin typeface="Cambria Math" panose="02040503050406030204" pitchFamily="18" charset="0"/>
                      </a:rPr>
                      <m:t> </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smtClean="0">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b="0" i="1" smtClean="0">
                            <a:latin typeface="Cambria Math" panose="02040503050406030204" pitchFamily="18" charset="0"/>
                          </a:rPr>
                          <m:t>𝑛𝑒𝑤</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𝒙</m:t>
                        </m:r>
                        <m:r>
                          <a:rPr lang="it-IT" sz="1800" i="1">
                            <a:latin typeface="Cambria Math" panose="02040503050406030204" pitchFamily="18" charset="0"/>
                          </a:rPr>
                          <m:t>,</m:t>
                        </m:r>
                        <m:r>
                          <a:rPr lang="it-IT" sz="1800" i="1">
                            <a:latin typeface="Cambria Math" panose="02040503050406030204" pitchFamily="18" charset="0"/>
                          </a:rPr>
                          <m:t>𝛼</m:t>
                        </m:r>
                      </m:e>
                    </m:d>
                    <m:r>
                      <a:rPr lang="it-IT" sz="1800" i="1">
                        <a:latin typeface="Cambria Math" panose="02040503050406030204" pitchFamily="18" charset="0"/>
                      </a:rPr>
                      <m:t>∝</m:t>
                    </m:r>
                    <m:r>
                      <a:rPr lang="it-IT" sz="1800" i="1">
                        <a:latin typeface="Cambria Math" panose="02040503050406030204" pitchFamily="18" charset="0"/>
                      </a:rPr>
                      <m:t>𝛼</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𝑡</m:t>
                        </m:r>
                      </m:e>
                      <m:sub>
                        <m:r>
                          <a:rPr lang="it-IT" sz="1800" i="1">
                            <a:latin typeface="Cambria Math" panose="02040503050406030204" pitchFamily="18" charset="0"/>
                          </a:rPr>
                          <m:t>𝜈</m:t>
                        </m:r>
                      </m:sub>
                    </m:sSub>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b="0" i="1" smtClean="0">
                                <a:latin typeface="Cambria Math" panose="02040503050406030204" pitchFamily="18" charset="0"/>
                              </a:rPr>
                              <m:t>0</m:t>
                            </m:r>
                          </m:sub>
                        </m:sSub>
                        <m:r>
                          <a:rPr lang="it-IT" sz="1800" i="1">
                            <a:latin typeface="Cambria Math" panose="02040503050406030204" pitchFamily="18" charset="0"/>
                          </a:rPr>
                          <m:t>,</m:t>
                        </m:r>
                        <m:r>
                          <a:rPr lang="it-IT" sz="1800" i="1">
                            <a:latin typeface="Cambria Math" panose="02040503050406030204" pitchFamily="18" charset="0"/>
                          </a:rPr>
                          <m:t>𝑠</m:t>
                        </m:r>
                      </m:e>
                    </m:d>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𝑞</m:t>
                        </m:r>
                      </m:e>
                      <m:sub>
                        <m:r>
                          <m:rPr>
                            <m:sty m:val="p"/>
                          </m:rPr>
                          <a:rPr lang="it-IT" sz="1800" b="0" i="1" smtClean="0">
                            <a:latin typeface="Cambria Math" panose="02040503050406030204" pitchFamily="18" charset="0"/>
                          </a:rPr>
                          <m:t>new</m:t>
                        </m:r>
                      </m:sub>
                    </m:sSub>
                  </m:oMath>
                </a14:m>
                <a:r>
                  <a:rPr lang="it-IT" sz="1800" i="1" dirty="0"/>
                  <a:t>.</a:t>
                </a:r>
              </a:p>
              <a:p>
                <a:pPr lvl="2"/>
                <a:r>
                  <a:rPr lang="it-IT" sz="1800" dirty="0"/>
                  <a:t>Normalize: </a:t>
                </a:r>
                <a14:m>
                  <m:oMath xmlns:m="http://schemas.openxmlformats.org/officeDocument/2006/math">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𝑝</m:t>
                        </m:r>
                      </m:e>
                      <m:sub>
                        <m:r>
                          <a:rPr lang="it-IT" sz="1800" b="0" i="1" smtClean="0">
                            <a:latin typeface="Cambria Math" panose="02040503050406030204" pitchFamily="18" charset="0"/>
                          </a:rPr>
                          <m:t>𝑘</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𝑞</m:t>
                        </m:r>
                      </m:e>
                      <m:sub>
                        <m:r>
                          <a:rPr lang="it-IT" sz="1800" b="0" i="1" smtClean="0">
                            <a:latin typeface="Cambria Math" panose="02040503050406030204" pitchFamily="18" charset="0"/>
                          </a:rPr>
                          <m:t>𝑘</m:t>
                        </m:r>
                      </m:sub>
                    </m:sSub>
                    <m:r>
                      <m:rPr>
                        <m:lit/>
                      </m:rP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𝑞</m:t>
                            </m:r>
                          </m:e>
                          <m:sub>
                            <m:r>
                              <a:rPr lang="it-IT" sz="1800" b="0" i="1" smtClean="0">
                                <a:latin typeface="Cambria Math" panose="02040503050406030204" pitchFamily="18" charset="0"/>
                              </a:rPr>
                              <m:t>𝑛𝑒𝑤</m:t>
                            </m:r>
                          </m:sub>
                        </m:sSub>
                        <m:r>
                          <a:rPr lang="it-IT" sz="1800" b="0" i="1" smtClean="0">
                            <a:latin typeface="Cambria Math" panose="02040503050406030204" pitchFamily="18" charset="0"/>
                          </a:rPr>
                          <m:t>+</m:t>
                        </m:r>
                        <m:nary>
                          <m:naryPr>
                            <m:chr m:val="∑"/>
                            <m:ctrlPr>
                              <a:rPr lang="it-IT" sz="1800" b="0" i="1" smtClean="0">
                                <a:latin typeface="Cambria Math" panose="02040503050406030204" pitchFamily="18" charset="0"/>
                              </a:rPr>
                            </m:ctrlPr>
                          </m:naryPr>
                          <m:sub>
                            <m:r>
                              <a:rPr lang="it-IT" sz="1800" b="0" i="1" smtClean="0">
                                <a:latin typeface="Cambria Math" panose="02040503050406030204" pitchFamily="18" charset="0"/>
                              </a:rPr>
                              <m:t>𝑘</m:t>
                            </m:r>
                            <m:r>
                              <a:rPr lang="it-IT" sz="1800" b="0" i="1" smtClean="0">
                                <a:latin typeface="Cambria Math" panose="02040503050406030204" pitchFamily="18" charset="0"/>
                              </a:rPr>
                              <m:t>=</m:t>
                            </m:r>
                            <m:r>
                              <a:rPr lang="it-IT" sz="1800" b="0" i="1" smtClean="0">
                                <a:latin typeface="Cambria Math" panose="02040503050406030204" pitchFamily="18" charset="0"/>
                              </a:rPr>
                              <m:t>1</m:t>
                            </m:r>
                          </m:sub>
                          <m:sup>
                            <m:sSup>
                              <m:sSupPr>
                                <m:ctrlPr>
                                  <a:rPr lang="it-IT" sz="1800" i="1">
                                    <a:latin typeface="Cambria Math" panose="02040503050406030204" pitchFamily="18" charset="0"/>
                                  </a:rPr>
                                </m:ctrlPr>
                              </m:sSupPr>
                              <m:e>
                                <m:r>
                                  <a:rPr lang="it-IT" sz="1800" i="1">
                                    <a:latin typeface="Cambria Math" panose="02040503050406030204" pitchFamily="18" charset="0"/>
                                  </a:rPr>
                                  <m:t>𝐾</m:t>
                                </m:r>
                              </m:e>
                              <m:sup>
                                <m:r>
                                  <a:rPr lang="it-IT" sz="1800" i="1">
                                    <a:latin typeface="Cambria Math" panose="02040503050406030204" pitchFamily="18" charset="0"/>
                                  </a:rPr>
                                  <m:t>∗</m:t>
                                </m:r>
                              </m:sup>
                            </m:sSup>
                          </m:sup>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𝑞</m:t>
                                </m:r>
                              </m:e>
                              <m:sub>
                                <m:r>
                                  <a:rPr lang="it-IT" sz="1800" b="0" i="1" smtClean="0">
                                    <a:latin typeface="Cambria Math" panose="02040503050406030204" pitchFamily="18" charset="0"/>
                                  </a:rPr>
                                  <m:t>𝑘</m:t>
                                </m:r>
                              </m:sub>
                            </m:sSub>
                          </m:e>
                        </m:nary>
                      </m:e>
                    </m:d>
                  </m:oMath>
                </a14:m>
                <a:r>
                  <a:rPr lang="it-IT" sz="1800" dirty="0"/>
                  <a:t> and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𝑝</m:t>
                        </m:r>
                      </m:e>
                      <m:sub>
                        <m:r>
                          <m:rPr>
                            <m:sty m:val="p"/>
                          </m:rPr>
                          <a:rPr lang="it-IT" sz="1800" b="0" i="1" smtClean="0">
                            <a:latin typeface="Cambria Math" panose="02040503050406030204" pitchFamily="18" charset="0"/>
                          </a:rPr>
                          <m:t>new</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𝑞</m:t>
                        </m:r>
                      </m:e>
                      <m:sub>
                        <m:r>
                          <m:rPr>
                            <m:sty m:val="p"/>
                          </m:rPr>
                          <a:rPr lang="it-IT" sz="1800" b="0" i="1" smtClean="0">
                            <a:latin typeface="Cambria Math" panose="02040503050406030204" pitchFamily="18" charset="0"/>
                          </a:rPr>
                          <m:t>new</m:t>
                        </m:r>
                      </m:sub>
                    </m:sSub>
                    <m:r>
                      <m:rPr>
                        <m:lit/>
                      </m:rPr>
                      <a:rPr lang="it-IT" sz="1800" i="1">
                        <a:latin typeface="Cambria Math" panose="02040503050406030204" pitchFamily="18" charset="0"/>
                      </a:rPr>
                      <m: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𝑞</m:t>
                            </m:r>
                          </m:e>
                          <m:sub>
                            <m:r>
                              <a:rPr lang="it-IT" sz="1800" i="1">
                                <a:latin typeface="Cambria Math" panose="02040503050406030204" pitchFamily="18" charset="0"/>
                              </a:rPr>
                              <m:t>𝑛𝑒𝑤</m:t>
                            </m:r>
                          </m:sub>
                        </m:sSub>
                        <m:r>
                          <a:rPr lang="it-IT" sz="1800" i="1">
                            <a:latin typeface="Cambria Math" panose="02040503050406030204" pitchFamily="18" charset="0"/>
                          </a:rPr>
                          <m:t>+</m:t>
                        </m:r>
                        <m:nary>
                          <m:naryPr>
                            <m:chr m:val="∑"/>
                            <m:ctrlPr>
                              <a:rPr lang="it-IT" sz="1800" i="1">
                                <a:latin typeface="Cambria Math" panose="02040503050406030204" pitchFamily="18" charset="0"/>
                              </a:rPr>
                            </m:ctrlPr>
                          </m:naryPr>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1</m:t>
                            </m:r>
                          </m:sub>
                          <m:sup>
                            <m:sSup>
                              <m:sSupPr>
                                <m:ctrlPr>
                                  <a:rPr lang="it-IT" sz="1800" i="1">
                                    <a:latin typeface="Cambria Math" panose="02040503050406030204" pitchFamily="18" charset="0"/>
                                  </a:rPr>
                                </m:ctrlPr>
                              </m:sSupPr>
                              <m:e>
                                <m:r>
                                  <a:rPr lang="it-IT" sz="1800" i="1">
                                    <a:latin typeface="Cambria Math" panose="02040503050406030204" pitchFamily="18" charset="0"/>
                                  </a:rPr>
                                  <m:t>𝐾</m:t>
                                </m:r>
                              </m:e>
                              <m:sup>
                                <m:r>
                                  <a:rPr lang="it-IT" sz="1800" i="1">
                                    <a:latin typeface="Cambria Math" panose="02040503050406030204" pitchFamily="18" charset="0"/>
                                  </a:rPr>
                                  <m:t>∗</m:t>
                                </m:r>
                              </m:sup>
                            </m:sSup>
                          </m:sup>
                          <m:e>
                            <m:sSub>
                              <m:sSubPr>
                                <m:ctrlPr>
                                  <a:rPr lang="it-IT" sz="1800" i="1">
                                    <a:latin typeface="Cambria Math" panose="02040503050406030204" pitchFamily="18" charset="0"/>
                                  </a:rPr>
                                </m:ctrlPr>
                              </m:sSubPr>
                              <m:e>
                                <m:r>
                                  <a:rPr lang="it-IT" sz="1800" i="1">
                                    <a:latin typeface="Cambria Math" panose="02040503050406030204" pitchFamily="18" charset="0"/>
                                  </a:rPr>
                                  <m:t>𝑞</m:t>
                                </m:r>
                              </m:e>
                              <m:sub>
                                <m:r>
                                  <a:rPr lang="it-IT" sz="1800" i="1">
                                    <a:latin typeface="Cambria Math" panose="02040503050406030204" pitchFamily="18" charset="0"/>
                                  </a:rPr>
                                  <m:t>𝑘</m:t>
                                </m:r>
                              </m:sub>
                            </m:sSub>
                          </m:e>
                        </m:nary>
                      </m:e>
                    </m:d>
                  </m:oMath>
                </a14:m>
                <a:endParaRPr lang="it-IT" sz="1800" dirty="0"/>
              </a:p>
              <a:p>
                <a:pPr lvl="2"/>
                <a:r>
                  <a:rPr lang="it-IT" sz="1800" dirty="0"/>
                  <a:t>Draw </a:t>
                </a:r>
                <a14:m>
                  <m:oMath xmlns:m="http://schemas.openxmlformats.org/officeDocument/2006/math">
                    <m:sSubSup>
                      <m:sSubSupPr>
                        <m:ctrlPr>
                          <a:rPr lang="it-IT" sz="1800" i="1">
                            <a:latin typeface="Cambria Math" panose="02040503050406030204" pitchFamily="18" charset="0"/>
                          </a:rPr>
                        </m:ctrlPr>
                      </m:sSubSupPr>
                      <m:e>
                        <m:r>
                          <a:rPr lang="it-IT" sz="1800">
                            <a:latin typeface="Cambria Math" panose="02040503050406030204" pitchFamily="18" charset="0"/>
                          </a:rPr>
                          <m:t>𝑧</m:t>
                        </m:r>
                      </m:e>
                      <m:sub>
                        <m:r>
                          <a:rPr lang="it-IT" sz="1800">
                            <a:latin typeface="Cambria Math" panose="02040503050406030204" pitchFamily="18" charset="0"/>
                          </a:rPr>
                          <m:t>𝑖</m:t>
                        </m:r>
                      </m:sub>
                      <m:sup>
                        <m:d>
                          <m:dPr>
                            <m:ctrlPr>
                              <a:rPr lang="it-IT" sz="1800" i="1">
                                <a:latin typeface="Cambria Math" panose="02040503050406030204" pitchFamily="18" charset="0"/>
                              </a:rPr>
                            </m:ctrlPr>
                          </m:dPr>
                          <m:e>
                            <m:r>
                              <a:rPr lang="it-IT" sz="1800">
                                <a:latin typeface="Cambria Math" panose="02040503050406030204" pitchFamily="18" charset="0"/>
                              </a:rPr>
                              <m:t>𝑡</m:t>
                            </m:r>
                          </m:e>
                        </m:d>
                      </m:sup>
                    </m:sSubSup>
                    <m:r>
                      <m:rPr>
                        <m:nor/>
                      </m:rPr>
                      <a:rPr lang="it-IT" sz="1800" b="0" i="0" smtClean="0">
                        <a:latin typeface="Cambria Math" panose="02040503050406030204" pitchFamily="18" charset="0"/>
                      </a:rPr>
                      <m:t> </m:t>
                    </m:r>
                    <m:r>
                      <m:rPr>
                        <m:nor/>
                      </m:rPr>
                      <a:rPr lang="it-IT" sz="1800" dirty="0"/>
                      <m:t>with</m:t>
                    </m:r>
                    <m:r>
                      <m:rPr>
                        <m:nor/>
                      </m:rPr>
                      <a:rPr lang="it-IT" sz="1800" dirty="0"/>
                      <m:t> </m:t>
                    </m:r>
                    <m:r>
                      <m:rPr>
                        <m:nor/>
                      </m:rPr>
                      <a:rPr lang="it-IT" sz="1800" dirty="0">
                        <a:latin typeface="Consolas" panose="020B0609020204030204" pitchFamily="49" charset="0"/>
                      </a:rPr>
                      <m:t>numpy</m:t>
                    </m:r>
                    <m:r>
                      <m:rPr>
                        <m:nor/>
                      </m:rPr>
                      <a:rPr lang="it-IT" sz="1800" dirty="0">
                        <a:latin typeface="Consolas" panose="020B0609020204030204" pitchFamily="49" charset="0"/>
                      </a:rPr>
                      <m:t>.</m:t>
                    </m:r>
                    <m:r>
                      <m:rPr>
                        <m:nor/>
                      </m:rPr>
                      <a:rPr lang="it-IT" sz="1800" dirty="0">
                        <a:latin typeface="Consolas" panose="020B0609020204030204" pitchFamily="49" charset="0"/>
                      </a:rPr>
                      <m:t>random</m:t>
                    </m:r>
                    <m:r>
                      <m:rPr>
                        <m:nor/>
                      </m:rPr>
                      <a:rPr lang="it-IT" sz="1800" dirty="0">
                        <a:latin typeface="Consolas" panose="020B0609020204030204" pitchFamily="49" charset="0"/>
                      </a:rPr>
                      <m:t>.</m:t>
                    </m:r>
                    <m:r>
                      <m:rPr>
                        <m:nor/>
                      </m:rPr>
                      <a:rPr lang="it-IT" sz="1800" dirty="0">
                        <a:latin typeface="Consolas" panose="020B0609020204030204" pitchFamily="49" charset="0"/>
                      </a:rPr>
                      <m:t>choice</m:t>
                    </m:r>
                    <m:r>
                      <m:rPr>
                        <m:nor/>
                      </m:rPr>
                      <a:rPr lang="it-IT" sz="1800" dirty="0">
                        <a:latin typeface="Consolas" panose="020B0609020204030204" pitchFamily="49" charset="0"/>
                      </a:rPr>
                      <m:t> </m:t>
                    </m:r>
                    <m:r>
                      <m:rPr>
                        <m:nor/>
                      </m:rPr>
                      <a:rPr lang="it-IT" sz="1800" dirty="0"/>
                      <m:t>using</m:t>
                    </m:r>
                    <m:r>
                      <m:rPr>
                        <m:nor/>
                      </m:rPr>
                      <a:rPr lang="it-IT" sz="1800" dirty="0"/>
                      <m:t> </m:t>
                    </m:r>
                    <m:r>
                      <m:rPr>
                        <m:nor/>
                      </m:rPr>
                      <a:rPr lang="it-IT" sz="1800" dirty="0"/>
                      <m:t>probabilities</m:t>
                    </m:r>
                    <m:r>
                      <m:rPr>
                        <m:nor/>
                      </m:rPr>
                      <a:rPr lang="it-IT" sz="1800" dirty="0"/>
                      <m:t> </m:t>
                    </m:r>
                    <m:r>
                      <a:rPr lang="it-IT" sz="1800" i="1">
                        <a:latin typeface="Cambria Math" panose="02040503050406030204" pitchFamily="18" charset="0"/>
                      </a:rPr>
                      <m:t>𝑝</m:t>
                    </m:r>
                    <m: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𝑝</m:t>
                            </m:r>
                          </m:e>
                          <m:sub>
                            <m:r>
                              <a:rPr lang="it-IT" sz="1800" b="0" i="1" smtClean="0">
                                <a:latin typeface="Cambria Math" panose="02040503050406030204" pitchFamily="18" charset="0"/>
                              </a:rPr>
                              <m:t>1</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𝑝</m:t>
                            </m:r>
                          </m:e>
                          <m:sub>
                            <m:sSup>
                              <m:sSupPr>
                                <m:ctrlPr>
                                  <a:rPr lang="it-IT" sz="1800" i="1">
                                    <a:latin typeface="Cambria Math" panose="02040503050406030204" pitchFamily="18" charset="0"/>
                                  </a:rPr>
                                </m:ctrlPr>
                              </m:sSupPr>
                              <m:e>
                                <m:r>
                                  <a:rPr lang="it-IT" sz="1800" i="1">
                                    <a:latin typeface="Cambria Math" panose="02040503050406030204" pitchFamily="18" charset="0"/>
                                  </a:rPr>
                                  <m:t>𝐾</m:t>
                                </m:r>
                              </m:e>
                              <m:sup>
                                <m:r>
                                  <a:rPr lang="it-IT" sz="1800" i="1">
                                    <a:latin typeface="Cambria Math" panose="02040503050406030204" pitchFamily="18" charset="0"/>
                                  </a:rPr>
                                  <m:t>∗</m:t>
                                </m:r>
                              </m:sup>
                            </m:sSup>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𝑝</m:t>
                            </m:r>
                          </m:e>
                          <m:sub>
                            <m:r>
                              <a:rPr lang="it-IT" sz="1800" b="0" i="1" smtClean="0">
                                <a:latin typeface="Cambria Math" panose="02040503050406030204" pitchFamily="18" charset="0"/>
                              </a:rPr>
                              <m:t>𝑛𝑒𝑤</m:t>
                            </m:r>
                          </m:sub>
                        </m:sSub>
                      </m:e>
                    </m:d>
                  </m:oMath>
                </a14:m>
                <a:endParaRPr lang="it-IT" dirty="0"/>
              </a:p>
              <a:p>
                <a:pPr lvl="2"/>
                <a:r>
                  <a:rPr lang="it-IT" sz="1800" dirty="0"/>
                  <a:t>If</a:t>
                </a:r>
                <a14:m>
                  <m:oMath xmlns:m="http://schemas.openxmlformats.org/officeDocument/2006/math">
                    <m:sSubSup>
                      <m:sSubSupPr>
                        <m:ctrlPr>
                          <a:rPr lang="it-IT" sz="1800" i="1" smtClean="0">
                            <a:latin typeface="Cambria Math" panose="02040503050406030204" pitchFamily="18" charset="0"/>
                          </a:rPr>
                        </m:ctrlPr>
                      </m:sSubSupPr>
                      <m:e>
                        <m:r>
                          <a:rPr lang="it-IT" sz="1800" b="0" i="0" smtClean="0">
                            <a:latin typeface="Cambria Math" panose="02040503050406030204" pitchFamily="18" charset="0"/>
                          </a:rPr>
                          <m:t> </m:t>
                        </m:r>
                        <m:r>
                          <a:rPr lang="it-IT" sz="1800">
                            <a:latin typeface="Cambria Math" panose="02040503050406030204" pitchFamily="18" charset="0"/>
                          </a:rPr>
                          <m:t>𝑧</m:t>
                        </m:r>
                      </m:e>
                      <m:sub>
                        <m:r>
                          <a:rPr lang="it-IT" sz="1800">
                            <a:latin typeface="Cambria Math" panose="02040503050406030204" pitchFamily="18" charset="0"/>
                          </a:rPr>
                          <m:t>𝑖</m:t>
                        </m:r>
                      </m:sub>
                      <m:sup>
                        <m:d>
                          <m:dPr>
                            <m:ctrlPr>
                              <a:rPr lang="it-IT" sz="1800" i="1">
                                <a:latin typeface="Cambria Math" panose="02040503050406030204" pitchFamily="18" charset="0"/>
                              </a:rPr>
                            </m:ctrlPr>
                          </m:dPr>
                          <m:e>
                            <m:r>
                              <a:rPr lang="it-IT" sz="1800">
                                <a:latin typeface="Cambria Math" panose="02040503050406030204" pitchFamily="18" charset="0"/>
                              </a:rPr>
                              <m:t>𝑡</m:t>
                            </m:r>
                          </m:e>
                        </m:d>
                      </m:sup>
                    </m:sSubSup>
                    <m:r>
                      <a:rPr lang="it-IT" sz="1800" i="1">
                        <a:latin typeface="Cambria Math" panose="02040503050406030204" pitchFamily="18" charset="0"/>
                      </a:rPr>
                      <m:t>=</m:t>
                    </m:r>
                    <m:r>
                      <a:rPr lang="it-IT" sz="1800" i="1">
                        <a:latin typeface="Cambria Math" panose="02040503050406030204" pitchFamily="18" charset="0"/>
                      </a:rPr>
                      <m:t>𝑛𝑒𝑤</m:t>
                    </m:r>
                  </m:oMath>
                </a14:m>
                <a:r>
                  <a:rPr lang="it-IT" sz="1800" dirty="0"/>
                  <a:t>, </a:t>
                </a:r>
                <a:r>
                  <a:rPr lang="en-US" sz="1800" dirty="0"/>
                  <a:t>create a new cluster and assign </a:t>
                </a:r>
                <a:r>
                  <a:rPr lang="it-IT" sz="1800" i="1" dirty="0"/>
                  <a:t>i </a:t>
                </a:r>
                <a:r>
                  <a:rPr lang="en-US" sz="1800" dirty="0"/>
                  <a:t>to it;                                                           otherwise assign </a:t>
                </a:r>
                <a:r>
                  <a:rPr lang="it-IT" sz="1800" i="1" dirty="0"/>
                  <a:t>i </a:t>
                </a:r>
                <a:r>
                  <a:rPr lang="en-US" sz="1800" dirty="0"/>
                  <a:t>to the selected existing cluster.</a:t>
                </a:r>
                <a:endParaRPr lang="it-IT" sz="1800" dirty="0"/>
              </a:p>
            </p:txBody>
          </p:sp>
        </mc:Choice>
        <mc:Fallback xmlns="">
          <p:sp>
            <p:nvSpPr>
              <p:cNvPr id="4" name="Content Placeholder 2">
                <a:extLst>
                  <a:ext uri="{FF2B5EF4-FFF2-40B4-BE49-F238E27FC236}">
                    <a16:creationId xmlns:a16="http://schemas.microsoft.com/office/drawing/2014/main" id="{9ECFB235-2DDA-50E1-FCB2-725BC0E52964}"/>
                  </a:ext>
                </a:extLst>
              </p:cNvPr>
              <p:cNvSpPr>
                <a:spLocks noGrp="1" noRot="1" noChangeAspect="1" noMove="1" noResize="1" noEditPoints="1" noAdjustHandles="1" noChangeArrowheads="1" noChangeShapeType="1" noTextEdit="1"/>
              </p:cNvSpPr>
              <p:nvPr>
                <p:ph idx="1"/>
              </p:nvPr>
            </p:nvSpPr>
            <p:spPr>
              <a:xfrm>
                <a:off x="799553" y="1563077"/>
                <a:ext cx="10592347" cy="4532924"/>
              </a:xfrm>
              <a:blipFill>
                <a:blip r:embed="rId2"/>
                <a:stretch>
                  <a:fillRect l="-575" t="-134"/>
                </a:stretch>
              </a:blipFill>
            </p:spPr>
            <p:txBody>
              <a:bodyPr/>
              <a:lstStyle/>
              <a:p>
                <a:r>
                  <a:rPr lang="it-IT">
                    <a:noFill/>
                  </a:rPr>
                  <a:t> </a:t>
                </a:r>
              </a:p>
            </p:txBody>
          </p:sp>
        </mc:Fallback>
      </mc:AlternateContent>
    </p:spTree>
    <p:extLst>
      <p:ext uri="{BB962C8B-B14F-4D97-AF65-F5344CB8AC3E}">
        <p14:creationId xmlns:p14="http://schemas.microsoft.com/office/powerpoint/2010/main" val="2462715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FB93B-BA2E-95B2-3498-89DB908AE08C}"/>
              </a:ext>
            </a:extLst>
          </p:cNvPr>
          <p:cNvSpPr>
            <a:spLocks noGrp="1"/>
          </p:cNvSpPr>
          <p:nvPr>
            <p:ph type="title"/>
          </p:nvPr>
        </p:nvSpPr>
        <p:spPr/>
        <p:txBody>
          <a:bodyPr/>
          <a:lstStyle/>
          <a:p>
            <a:r>
              <a:rPr lang="it-IT" dirty="0">
                <a:solidFill>
                  <a:srgbClr val="FF0000"/>
                </a:solidFill>
              </a:rPr>
              <a:t>Multidimensional generalization (1/3)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D9AA3D-7FF7-B04F-108E-40B7B1FE7844}"/>
                  </a:ext>
                </a:extLst>
              </p:cNvPr>
              <p:cNvSpPr>
                <a:spLocks noGrp="1"/>
              </p:cNvSpPr>
              <p:nvPr>
                <p:ph idx="1"/>
              </p:nvPr>
            </p:nvSpPr>
            <p:spPr>
              <a:xfrm>
                <a:off x="700635" y="1563077"/>
                <a:ext cx="10691265" cy="4697046"/>
              </a:xfrm>
            </p:spPr>
            <p:txBody>
              <a:bodyPr>
                <a:normAutofit/>
              </a:bodyPr>
              <a:lstStyle/>
              <a:p>
                <a:r>
                  <a:rPr lang="it-IT" sz="1800" dirty="0"/>
                  <a:t>The data-dependent term is </a:t>
                </a:r>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𝒌</m:t>
                            </m:r>
                            <m:r>
                              <a:rPr lang="it-IT" sz="1800" i="1">
                                <a:latin typeface="Cambria Math" panose="02040503050406030204" pitchFamily="18" charset="0"/>
                              </a:rPr>
                              <m:t>¬</m:t>
                            </m:r>
                            <m:r>
                              <a:rPr lang="it-IT" sz="1800" i="1">
                                <a:latin typeface="Cambria Math" panose="02040503050406030204" pitchFamily="18" charset="0"/>
                              </a:rPr>
                              <m:t>𝒊</m:t>
                            </m:r>
                          </m:sub>
                        </m:sSub>
                      </m:e>
                    </m:d>
                  </m:oMath>
                </a14:m>
                <a:r>
                  <a:rPr lang="it-IT" sz="1800" dirty="0"/>
                  <a:t>, where </a:t>
                </a:r>
                <a14:m>
                  <m:oMath xmlns:m="http://schemas.openxmlformats.org/officeDocument/2006/math">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𝑥</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𝑥</m:t>
                            </m:r>
                          </m:e>
                          <m:sub>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𝑖</m:t>
                                </m:r>
                              </m:e>
                              <m:sub>
                                <m:r>
                                  <a:rPr lang="it-IT" sz="1800" b="0" i="1" smtClean="0">
                                    <a:latin typeface="Cambria Math" panose="02040503050406030204" pitchFamily="18" charset="0"/>
                                  </a:rPr>
                                  <m:t>1</m:t>
                                </m:r>
                              </m:sub>
                            </m:sSub>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𝑥</m:t>
                            </m:r>
                          </m:e>
                          <m:sub>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𝑖</m:t>
                                </m:r>
                              </m:e>
                              <m:sub>
                                <m:r>
                                  <a:rPr lang="it-IT" sz="1800" b="0" i="1" smtClean="0">
                                    <a:latin typeface="Cambria Math" panose="02040503050406030204" pitchFamily="18" charset="0"/>
                                  </a:rPr>
                                  <m:t>𝑑</m:t>
                                </m:r>
                              </m:sub>
                            </m:sSub>
                          </m:sub>
                        </m:sSub>
                      </m:e>
                    </m:d>
                    <m:r>
                      <a:rPr lang="it-IT" sz="1800" b="0" i="0" smtClean="0">
                        <a:latin typeface="Cambria Math" panose="02040503050406030204" pitchFamily="18" charset="0"/>
                      </a:rPr>
                      <m:t>, </m:t>
                    </m:r>
                    <m:sSub>
                      <m:sSubPr>
                        <m:ctrlPr>
                          <a:rPr lang="it-IT" sz="1800" b="0" i="1" smtClean="0">
                            <a:latin typeface="Cambria Math" panose="02040503050406030204" pitchFamily="18" charset="0"/>
                          </a:rPr>
                        </m:ctrlPr>
                      </m:sSubPr>
                      <m:e>
                        <m:r>
                          <a:rPr lang="it-IT" sz="1800" b="0" i="0" smtClean="0">
                            <a:latin typeface="Cambria Math" panose="02040503050406030204" pitchFamily="18" charset="0"/>
                          </a:rPr>
                          <m:t>𝑥</m:t>
                        </m:r>
                      </m:e>
                      <m:sub>
                        <m:r>
                          <a:rPr lang="it-IT" sz="1800" b="0" i="0" smtClean="0">
                            <a:latin typeface="Cambria Math" panose="02040503050406030204" pitchFamily="18" charset="0"/>
                          </a:rPr>
                          <m:t>𝑖</m:t>
                        </m:r>
                      </m:sub>
                    </m:sSub>
                    <m:r>
                      <a:rPr lang="it-IT" sz="1800" b="0" i="1" smtClean="0">
                        <a:latin typeface="Cambria Math" panose="02040503050406030204" pitchFamily="18" charset="0"/>
                      </a:rPr>
                      <m:t>∈</m:t>
                    </m:r>
                    <m:sSup>
                      <m:sSupPr>
                        <m:ctrlPr>
                          <a:rPr lang="it-IT" sz="1800" b="0" i="1" smtClean="0">
                            <a:latin typeface="Cambria Math" panose="02040503050406030204" pitchFamily="18" charset="0"/>
                            <a:ea typeface="Cambria Math" panose="02040503050406030204" pitchFamily="18" charset="0"/>
                          </a:rPr>
                        </m:ctrlPr>
                      </m:sSupPr>
                      <m:e>
                        <m:r>
                          <a:rPr lang="it-IT" sz="1800" b="0" i="1" smtClean="0">
                            <a:latin typeface="Cambria Math" panose="02040503050406030204" pitchFamily="18" charset="0"/>
                            <a:ea typeface="Cambria Math" panose="02040503050406030204" pitchFamily="18" charset="0"/>
                          </a:rPr>
                          <m:t>ℝ</m:t>
                        </m:r>
                      </m:e>
                      <m:sup>
                        <m:r>
                          <a:rPr lang="it-IT" sz="1800" b="0" i="1" smtClean="0">
                            <a:latin typeface="Cambria Math" panose="02040503050406030204" pitchFamily="18" charset="0"/>
                            <a:ea typeface="Cambria Math" panose="02040503050406030204" pitchFamily="18" charset="0"/>
                          </a:rPr>
                          <m:t>𝑑</m:t>
                        </m:r>
                      </m:sup>
                    </m:sSup>
                  </m:oMath>
                </a14:m>
                <a:r>
                  <a:rPr lang="it-IT" sz="1800" dirty="0"/>
                  <a:t>.</a:t>
                </a:r>
              </a:p>
              <a:p>
                <a:pPr>
                  <a:lnSpc>
                    <a:spcPct val="100000"/>
                  </a:lnSpc>
                </a:pPr>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r>
                      <a:rPr lang="it-IT" sz="1800" i="1">
                        <a:latin typeface="Cambria Math" panose="02040503050406030204" pitchFamily="18" charset="0"/>
                      </a:rPr>
                      <m:t>=</m:t>
                    </m:r>
                    <m:nary>
                      <m:naryPr>
                        <m:chr m:val="∬"/>
                        <m:subHide m:val="on"/>
                        <m:supHide m:val="on"/>
                        <m:ctrlPr>
                          <a:rPr lang="it-IT" sz="1800" i="1">
                            <a:latin typeface="Cambria Math" panose="02040503050406030204" pitchFamily="18" charset="0"/>
                          </a:rPr>
                        </m:ctrlPr>
                      </m:naryPr>
                      <m:sub/>
                      <m:sup/>
                      <m:e>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b="0" i="1" smtClean="0">
                                    <a:latin typeface="Cambria Math" panose="02040503050406030204" pitchFamily="18" charset="0"/>
                                  </a:rPr>
                                </m:ctrlPr>
                              </m:sSubPr>
                              <m:e>
                                <m:r>
                                  <m:rPr>
                                    <m:sty m:val="p"/>
                                  </m:rPr>
                                  <a:rPr lang="it-IT" sz="1800" b="0" i="1" smtClean="0">
                                    <a:latin typeface="Cambria Math" panose="02040503050406030204" pitchFamily="18" charset="0"/>
                                  </a:rPr>
                                  <m:t>Σ</m:t>
                                </m:r>
                              </m:e>
                              <m:sub>
                                <m:r>
                                  <a:rPr lang="it-IT" sz="1800" b="0" i="1" smtClean="0">
                                    <a:latin typeface="Cambria Math" panose="02040503050406030204" pitchFamily="18" charset="0"/>
                                  </a:rPr>
                                  <m:t>𝑘</m:t>
                                </m:r>
                              </m:sub>
                            </m:sSub>
                          </m:e>
                        </m:d>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r>
                          <a:rPr lang="it-IT" sz="1800" i="1">
                            <a:latin typeface="Cambria Math" panose="02040503050406030204" pitchFamily="18" charset="0"/>
                          </a:rPr>
                          <m:t>𝑑</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nary>
                    <m:r>
                      <a:rPr lang="it-IT" sz="1800" i="1">
                        <a:latin typeface="Cambria Math" panose="02040503050406030204" pitchFamily="18" charset="0"/>
                      </a:rPr>
                      <m:t>𝑑</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oMath>
                </a14:m>
                <a:endParaRPr lang="it-IT" sz="1800" dirty="0"/>
              </a:p>
              <a:p>
                <a:pPr lvl="1">
                  <a:lnSpc>
                    <a:spcPct val="100000"/>
                  </a:lnSpc>
                </a:pPr>
                <a:r>
                  <a:rPr lang="it-IT" sz="1600" dirty="0"/>
                  <a:t>Here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𝜇</m:t>
                        </m:r>
                      </m:e>
                      <m:sub>
                        <m:r>
                          <a:rPr lang="it-IT" sz="1600" i="1">
                            <a:latin typeface="Cambria Math" panose="02040503050406030204" pitchFamily="18" charset="0"/>
                          </a:rPr>
                          <m:t>𝑘</m:t>
                        </m:r>
                      </m:sub>
                    </m:sSub>
                    <m:r>
                      <a:rPr lang="it-IT" sz="1600" b="0" i="1" smtClean="0">
                        <a:latin typeface="Cambria Math" panose="02040503050406030204" pitchFamily="18" charset="0"/>
                      </a:rPr>
                      <m:t> = </m:t>
                    </m:r>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m:rPr>
                                <m:sty m:val="p"/>
                              </m:rPr>
                              <a:rPr lang="it-IT" sz="1600" b="0" i="1" smtClean="0">
                                <a:latin typeface="Cambria Math" panose="02040503050406030204" pitchFamily="18" charset="0"/>
                              </a:rPr>
                              <m:t>μ</m:t>
                            </m:r>
                          </m:e>
                          <m:sub>
                            <m:sSub>
                              <m:sSubPr>
                                <m:ctrlPr>
                                  <a:rPr lang="it-IT" sz="1600" i="1">
                                    <a:latin typeface="Cambria Math" panose="02040503050406030204" pitchFamily="18" charset="0"/>
                                  </a:rPr>
                                </m:ctrlPr>
                              </m:sSubPr>
                              <m:e>
                                <m:r>
                                  <m:rPr>
                                    <m:sty m:val="p"/>
                                  </m:rPr>
                                  <a:rPr lang="it-IT" sz="1600" b="0" i="1" smtClean="0">
                                    <a:latin typeface="Cambria Math" panose="02040503050406030204" pitchFamily="18" charset="0"/>
                                  </a:rPr>
                                  <m:t>k</m:t>
                                </m:r>
                              </m:e>
                              <m:sub>
                                <m:r>
                                  <a:rPr lang="it-IT" sz="1600" i="1">
                                    <a:latin typeface="Cambria Math" panose="02040503050406030204" pitchFamily="18" charset="0"/>
                                  </a:rPr>
                                  <m:t>1</m:t>
                                </m:r>
                              </m:sub>
                            </m:sSub>
                          </m:sub>
                        </m:sSub>
                        <m:r>
                          <a:rPr lang="it-IT" sz="1600" i="1">
                            <a:latin typeface="Cambria Math" panose="02040503050406030204" pitchFamily="18" charset="0"/>
                          </a:rPr>
                          <m:t>,…,</m:t>
                        </m:r>
                        <m:sSub>
                          <m:sSubPr>
                            <m:ctrlPr>
                              <a:rPr lang="it-IT" sz="1600" i="1">
                                <a:latin typeface="Cambria Math" panose="02040503050406030204" pitchFamily="18" charset="0"/>
                              </a:rPr>
                            </m:ctrlPr>
                          </m:sSubPr>
                          <m:e>
                            <m:r>
                              <m:rPr>
                                <m:sty m:val="p"/>
                              </m:rPr>
                              <a:rPr lang="it-IT" sz="1600" b="0" i="1" smtClean="0">
                                <a:latin typeface="Cambria Math" panose="02040503050406030204" pitchFamily="18" charset="0"/>
                              </a:rPr>
                              <m:t>μ</m:t>
                            </m:r>
                          </m:e>
                          <m:sub>
                            <m:sSub>
                              <m:sSubPr>
                                <m:ctrlPr>
                                  <a:rPr lang="it-IT" sz="1600" i="1">
                                    <a:latin typeface="Cambria Math" panose="02040503050406030204" pitchFamily="18" charset="0"/>
                                  </a:rPr>
                                </m:ctrlPr>
                              </m:sSubPr>
                              <m:e>
                                <m:r>
                                  <m:rPr>
                                    <m:sty m:val="p"/>
                                  </m:rPr>
                                  <a:rPr lang="it-IT" sz="1600" b="0" i="1" smtClean="0">
                                    <a:latin typeface="Cambria Math" panose="02040503050406030204" pitchFamily="18" charset="0"/>
                                  </a:rPr>
                                  <m:t>k</m:t>
                                </m:r>
                              </m:e>
                              <m:sub>
                                <m:r>
                                  <a:rPr lang="it-IT" sz="1600" i="1">
                                    <a:latin typeface="Cambria Math" panose="02040503050406030204" pitchFamily="18" charset="0"/>
                                  </a:rPr>
                                  <m:t>𝑑</m:t>
                                </m:r>
                              </m:sub>
                            </m:sSub>
                          </m:sub>
                        </m:sSub>
                      </m:e>
                    </m:d>
                  </m:oMath>
                </a14:m>
                <a:r>
                  <a:rPr lang="it-IT" sz="1600" dirty="0"/>
                  <a:t> and </a:t>
                </a:r>
                <a14:m>
                  <m:oMath xmlns:m="http://schemas.openxmlformats.org/officeDocument/2006/math">
                    <m:sSub>
                      <m:sSubPr>
                        <m:ctrlPr>
                          <a:rPr lang="it-IT" sz="1600" i="1">
                            <a:latin typeface="Cambria Math" panose="02040503050406030204" pitchFamily="18" charset="0"/>
                          </a:rPr>
                        </m:ctrlPr>
                      </m:sSubPr>
                      <m:e>
                        <m:r>
                          <m:rPr>
                            <m:sty m:val="p"/>
                          </m:rPr>
                          <a:rPr lang="it-IT" sz="1600" i="1">
                            <a:latin typeface="Cambria Math" panose="02040503050406030204" pitchFamily="18" charset="0"/>
                          </a:rPr>
                          <m:t>Σ</m:t>
                        </m:r>
                      </m:e>
                      <m:sub>
                        <m:r>
                          <a:rPr lang="it-IT" sz="1600" i="1">
                            <a:latin typeface="Cambria Math" panose="02040503050406030204" pitchFamily="18" charset="0"/>
                          </a:rPr>
                          <m:t>𝑘</m:t>
                        </m:r>
                      </m:sub>
                    </m:sSub>
                    <m:r>
                      <a:rPr lang="it-IT" sz="1600" i="1">
                        <a:latin typeface="Cambria Math" panose="02040503050406030204" pitchFamily="18" charset="0"/>
                      </a:rPr>
                      <m:t> </m:t>
                    </m:r>
                  </m:oMath>
                </a14:m>
                <a:r>
                  <a:rPr lang="it-IT" sz="1600" dirty="0"/>
                  <a:t>is the </a:t>
                </a:r>
                <a14:m>
                  <m:oMath xmlns:m="http://schemas.openxmlformats.org/officeDocument/2006/math">
                    <m:r>
                      <a:rPr lang="it-IT" sz="1600" i="1">
                        <a:latin typeface="Cambria Math" panose="02040503050406030204" pitchFamily="18" charset="0"/>
                      </a:rPr>
                      <m:t>𝑑</m:t>
                    </m:r>
                    <m:r>
                      <a:rPr lang="it-IT" sz="1600" i="1">
                        <a:latin typeface="Cambria Math" panose="02040503050406030204" pitchFamily="18" charset="0"/>
                      </a:rPr>
                      <m:t>×</m:t>
                    </m:r>
                    <m:r>
                      <a:rPr lang="it-IT" sz="1600" i="1">
                        <a:latin typeface="Cambria Math" panose="02040503050406030204" pitchFamily="18" charset="0"/>
                      </a:rPr>
                      <m:t>𝑑</m:t>
                    </m:r>
                    <m:r>
                      <a:rPr lang="it-IT" sz="1600" i="1">
                        <a:latin typeface="Cambria Math" panose="02040503050406030204" pitchFamily="18" charset="0"/>
                      </a:rPr>
                      <m:t> </m:t>
                    </m:r>
                  </m:oMath>
                </a14:m>
                <a:r>
                  <a:rPr lang="it-IT" sz="1600" dirty="0"/>
                  <a:t>covariance matrix</a:t>
                </a:r>
                <a14:m>
                  <m:oMath xmlns:m="http://schemas.openxmlformats.org/officeDocument/2006/math">
                    <m:r>
                      <a:rPr lang="it-IT" sz="1600" b="0" i="1" smtClean="0">
                        <a:latin typeface="Cambria Math" panose="02040503050406030204" pitchFamily="18" charset="0"/>
                      </a:rPr>
                      <m:t>.</m:t>
                    </m:r>
                  </m:oMath>
                </a14:m>
                <a:endParaRPr lang="it-IT" sz="1600" dirty="0"/>
              </a:p>
              <a:p>
                <a:pPr marL="342900" indent="-342900">
                  <a:lnSpc>
                    <a:spcPct val="150000"/>
                  </a:lnSpc>
                  <a:buFont typeface="+mj-lt"/>
                  <a:buAutoNum type="arabicPeriod"/>
                </a:pPr>
                <a14:m>
                  <m:oMath xmlns:m="http://schemas.openxmlformats.org/officeDocument/2006/math">
                    <m:r>
                      <a:rPr lang="it-IT" sz="1800" i="1" smtClean="0">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r>
                      <a:rPr lang="it-IT" sz="1800" i="1">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r>
                      <a:rPr lang="it-IT" sz="1800" i="1">
                        <a:latin typeface="Cambria Math" panose="02040503050406030204" pitchFamily="18" charset="0"/>
                      </a:rPr>
                      <m:t> </m:t>
                    </m:r>
                  </m:oMath>
                </a14:m>
                <a:endParaRPr lang="it-IT" sz="1800" i="1" dirty="0">
                  <a:latin typeface="Cambria Math" panose="02040503050406030204" pitchFamily="18" charset="0"/>
                </a:endParaRPr>
              </a:p>
              <a:p>
                <a:pPr lvl="1">
                  <a:lnSpc>
                    <a:spcPct val="150000"/>
                  </a:lnSpc>
                </a:pPr>
                <a14:m>
                  <m:oMath xmlns:m="http://schemas.openxmlformats.org/officeDocument/2006/math">
                    <m:r>
                      <a:rPr lang="it-IT" i="1">
                        <a:latin typeface="Cambria Math" panose="02040503050406030204" pitchFamily="18" charset="0"/>
                      </a:rPr>
                      <m:t>  </m:t>
                    </m:r>
                    <m:r>
                      <m:rPr>
                        <m:sty m:val="p"/>
                      </m:rPr>
                      <a:rPr lang="it-IT" i="1">
                        <a:latin typeface="Cambria Math" panose="02040503050406030204" pitchFamily="18" charset="0"/>
                      </a:rPr>
                      <m:t>p</m:t>
                    </m:r>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𝒙</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𝑘</m:t>
                        </m:r>
                      </m:sub>
                    </m:sSub>
                    <m:r>
                      <a:rPr lang="it-IT" i="1">
                        <a:latin typeface="Cambria Math" panose="02040503050406030204" pitchFamily="18" charset="0"/>
                      </a:rPr>
                      <m:t>,</m:t>
                    </m:r>
                    <m:sSub>
                      <m:sSubPr>
                        <m:ctrlPr>
                          <a:rPr lang="it-IT" i="1">
                            <a:latin typeface="Cambria Math" panose="02040503050406030204" pitchFamily="18" charset="0"/>
                          </a:rPr>
                        </m:ctrlPr>
                      </m:sSubPr>
                      <m:e>
                        <m:r>
                          <m:rPr>
                            <m:sty m:val="p"/>
                          </m:rPr>
                          <a:rPr lang="it-IT" i="1">
                            <a:latin typeface="Cambria Math" panose="02040503050406030204" pitchFamily="18" charset="0"/>
                          </a:rPr>
                          <m:t>Σ</m:t>
                        </m:r>
                      </m:e>
                      <m:sub>
                        <m:r>
                          <a:rPr lang="it-IT" i="1">
                            <a:latin typeface="Cambria Math" panose="02040503050406030204" pitchFamily="18" charset="0"/>
                          </a:rPr>
                          <m:t>𝑘</m:t>
                        </m:r>
                      </m:sub>
                    </m:sSub>
                    <m:r>
                      <a:rPr lang="it-IT" i="1">
                        <a:latin typeface="Cambria Math" panose="02040503050406030204" pitchFamily="18" charset="0"/>
                      </a:rPr>
                      <m:t>)=</m:t>
                    </m:r>
                    <m:nary>
                      <m:naryPr>
                        <m:chr m:val="∏"/>
                        <m:ctrlPr>
                          <a:rPr lang="it-IT" i="1">
                            <a:latin typeface="Cambria Math" panose="02040503050406030204" pitchFamily="18" charset="0"/>
                          </a:rPr>
                        </m:ctrlPr>
                      </m:naryPr>
                      <m:sub>
                        <m:r>
                          <a:rPr lang="it-IT" i="1">
                            <a:latin typeface="Cambria Math" panose="02040503050406030204" pitchFamily="18" charset="0"/>
                          </a:rPr>
                          <m:t>𝑗</m:t>
                        </m:r>
                        <m:r>
                          <a:rPr lang="it-IT" i="1">
                            <a:latin typeface="Cambria Math" panose="02040503050406030204" pitchFamily="18" charset="0"/>
                          </a:rPr>
                          <m:t>=</m:t>
                        </m:r>
                        <m:r>
                          <a:rPr lang="it-IT" i="1">
                            <a:latin typeface="Cambria Math" panose="02040503050406030204" pitchFamily="18" charset="0"/>
                          </a:rPr>
                          <m:t>1</m:t>
                        </m:r>
                      </m:sub>
                      <m:sup>
                        <m:sSub>
                          <m:sSubPr>
                            <m:ctrlPr>
                              <a:rPr lang="it-IT" i="1">
                                <a:latin typeface="Cambria Math" panose="02040503050406030204" pitchFamily="18" charset="0"/>
                              </a:rPr>
                            </m:ctrlPr>
                          </m:sSubPr>
                          <m:e>
                            <m:r>
                              <a:rPr lang="it-IT" i="1">
                                <a:latin typeface="Cambria Math" panose="02040503050406030204" pitchFamily="18" charset="0"/>
                              </a:rPr>
                              <m:t>𝑛</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sub>
                        </m:sSub>
                      </m:sup>
                      <m:e>
                        <m:r>
                          <a:rPr lang="it-IT" i="1">
                            <a:latin typeface="Cambria Math" panose="02040503050406030204" pitchFamily="18" charset="0"/>
                          </a:rPr>
                          <m:t>𝒩</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𝑘</m:t>
                                </m:r>
                                <m:r>
                                  <a:rPr lang="it-IT" i="1">
                                    <a:latin typeface="Cambria Math" panose="02040503050406030204" pitchFamily="18" charset="0"/>
                                  </a:rPr>
                                  <m:t>¬</m:t>
                                </m:r>
                                <m:r>
                                  <a:rPr lang="it-IT" i="1">
                                    <a:latin typeface="Cambria Math" panose="02040503050406030204" pitchFamily="18" charset="0"/>
                                  </a:rPr>
                                  <m:t>𝑖</m:t>
                                </m:r>
                                <m:r>
                                  <a:rPr lang="it-IT" i="1">
                                    <a:latin typeface="Cambria Math" panose="02040503050406030204" pitchFamily="18" charset="0"/>
                                  </a:rPr>
                                  <m:t>,</m:t>
                                </m:r>
                                <m:r>
                                  <a:rPr lang="it-IT" i="1">
                                    <a:latin typeface="Cambria Math" panose="02040503050406030204" pitchFamily="18" charset="0"/>
                                  </a:rPr>
                                  <m:t>𝑗</m:t>
                                </m:r>
                              </m:sub>
                            </m:sSub>
                          </m:e>
                          <m:e>
                            <m:sSub>
                              <m:sSubPr>
                                <m:ctrlPr>
                                  <a:rPr lang="it-IT" i="1">
                                    <a:latin typeface="Cambria Math" panose="02040503050406030204" pitchFamily="18" charset="0"/>
                                  </a:rPr>
                                </m:ctrlPr>
                              </m:sSubPr>
                              <m:e>
                                <m:r>
                                  <a:rPr lang="it-IT" i="1">
                                    <a:latin typeface="Cambria Math" panose="02040503050406030204" pitchFamily="18" charset="0"/>
                                  </a:rPr>
                                  <m:t>𝜇</m:t>
                                </m:r>
                              </m:e>
                              <m:sub>
                                <m:r>
                                  <m:rPr>
                                    <m:sty m:val="p"/>
                                  </m:rPr>
                                  <a:rPr lang="it-IT" i="1">
                                    <a:latin typeface="Cambria Math" panose="02040503050406030204" pitchFamily="18" charset="0"/>
                                  </a:rPr>
                                  <m:t>k</m:t>
                                </m:r>
                              </m:sub>
                            </m:sSub>
                            <m:r>
                              <a:rPr lang="it-IT" i="1">
                                <a:latin typeface="Cambria Math" panose="02040503050406030204" pitchFamily="18" charset="0"/>
                              </a:rPr>
                              <m:t>,</m:t>
                            </m:r>
                            <m:sSub>
                              <m:sSubPr>
                                <m:ctrlPr>
                                  <a:rPr lang="it-IT" i="1">
                                    <a:latin typeface="Cambria Math" panose="02040503050406030204" pitchFamily="18" charset="0"/>
                                  </a:rPr>
                                </m:ctrlPr>
                              </m:sSubPr>
                              <m:e>
                                <m:r>
                                  <m:rPr>
                                    <m:sty m:val="p"/>
                                  </m:rPr>
                                  <a:rPr lang="it-IT" i="1">
                                    <a:latin typeface="Cambria Math" panose="02040503050406030204" pitchFamily="18" charset="0"/>
                                  </a:rPr>
                                  <m:t>Σ</m:t>
                                </m:r>
                              </m:e>
                              <m:sub>
                                <m:r>
                                  <a:rPr lang="it-IT" i="1">
                                    <a:latin typeface="Cambria Math" panose="02040503050406030204" pitchFamily="18" charset="0"/>
                                  </a:rPr>
                                  <m:t>𝑘</m:t>
                                </m:r>
                              </m:sub>
                            </m:sSub>
                          </m:e>
                        </m:d>
                      </m:e>
                    </m:nary>
                  </m:oMath>
                </a14:m>
                <a:r>
                  <a:rPr lang="it-IT" dirty="0"/>
                  <a:t>, the likelihood is a products of </a:t>
                </a:r>
                <a:r>
                  <a:rPr lang="it-IT" b="1" dirty="0"/>
                  <a:t>multivariate Gaussian</a:t>
                </a:r>
                <a:r>
                  <a:rPr lang="it-IT" dirty="0"/>
                  <a:t>.</a:t>
                </a:r>
              </a:p>
              <a:p>
                <a:pPr>
                  <a:lnSpc>
                    <a:spcPct val="150000"/>
                  </a:lnSpc>
                </a:pPr>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r>
                      <a:rPr lang="it-IT" sz="1800" i="1">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0</m:t>
                            </m:r>
                          </m:sub>
                        </m:sSub>
                      </m:e>
                    </m:d>
                    <m:r>
                      <a:rPr lang="it-IT" sz="1800" i="1">
                        <a:latin typeface="Cambria Math" panose="02040503050406030204" pitchFamily="18" charset="0"/>
                      </a:rPr>
                      <m:t>⋅</m:t>
                    </m:r>
                    <m:r>
                      <m:rPr>
                        <m:nor/>
                      </m:rPr>
                      <a:rPr lang="it-IT" sz="1800">
                        <a:latin typeface="Cambria Math" panose="02040503050406030204" pitchFamily="18" charset="0"/>
                      </a:rPr>
                      <m:t>Inv</m:t>
                    </m:r>
                    <m:r>
                      <m:rPr>
                        <m:nor/>
                      </m:rPr>
                      <a:rPr lang="it-IT" sz="1800">
                        <a:latin typeface="Cambria Math" panose="02040503050406030204" pitchFamily="18" charset="0"/>
                      </a:rPr>
                      <m:t>−</m:t>
                    </m:r>
                    <m:r>
                      <m:rPr>
                        <m:nor/>
                      </m:rPr>
                      <a:rPr lang="it-IT" sz="1800" b="0" i="0" smtClean="0">
                        <a:latin typeface="Cambria Math" panose="02040503050406030204" pitchFamily="18" charset="0"/>
                      </a:rPr>
                      <m:t>Wishart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b="0" i="1" smtClean="0">
                                <a:latin typeface="Cambria Math" panose="02040503050406030204" pitchFamily="18" charset="0"/>
                              </a:rPr>
                              <m:t>𝜈</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b="0" i="0" smtClean="0">
                                <a:latin typeface="Cambria Math" panose="02040503050406030204" pitchFamily="18" charset="0"/>
                              </a:rPr>
                              <m:t>Λ</m:t>
                            </m:r>
                          </m:e>
                          <m:sub>
                            <m:r>
                              <a:rPr lang="it-IT" sz="1800" i="1">
                                <a:latin typeface="Cambria Math" panose="02040503050406030204" pitchFamily="18" charset="0"/>
                              </a:rPr>
                              <m:t>0</m:t>
                            </m:r>
                          </m:sub>
                        </m:sSub>
                      </m:e>
                    </m:d>
                    <m:r>
                      <a:rPr lang="it-IT" sz="1800" i="1">
                        <a:latin typeface="Cambria Math" panose="02040503050406030204" pitchFamily="18" charset="0"/>
                      </a:rPr>
                      <m:t>≝</m:t>
                    </m:r>
                    <m:r>
                      <m:rPr>
                        <m:nor/>
                      </m:rPr>
                      <a:rPr lang="it-IT" sz="1800">
                        <a:latin typeface="Cambria Math" panose="02040503050406030204" pitchFamily="18" charset="0"/>
                      </a:rPr>
                      <m:t>NI</m:t>
                    </m:r>
                    <m:r>
                      <m:rPr>
                        <m:sty m:val="p"/>
                      </m:rPr>
                      <a:rPr lang="it-IT" sz="1800" b="0" i="1" smtClean="0">
                        <a:latin typeface="Cambria Math" panose="02040503050406030204" pitchFamily="18" charset="0"/>
                      </a:rPr>
                      <m:t>W</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0</m:t>
                            </m:r>
                          </m:sub>
                        </m:sSub>
                      </m:e>
                    </m:d>
                  </m:oMath>
                </a14:m>
                <a:endParaRPr lang="it-IT" sz="1800" dirty="0"/>
              </a:p>
              <a:p>
                <a:pPr lvl="1">
                  <a:lnSpc>
                    <a:spcPct val="100000"/>
                  </a:lnSpc>
                </a:pPr>
                <a14:m>
                  <m:oMath xmlns:m="http://schemas.openxmlformats.org/officeDocument/2006/math">
                    <m:r>
                      <m:rPr>
                        <m:nor/>
                      </m:rPr>
                      <a:rPr lang="it-IT" sz="1600" b="1">
                        <a:latin typeface="Cambria Math" panose="02040503050406030204" pitchFamily="18" charset="0"/>
                      </a:rPr>
                      <m:t>Inv</m:t>
                    </m:r>
                    <m:r>
                      <m:rPr>
                        <m:nor/>
                      </m:rPr>
                      <a:rPr lang="it-IT" sz="1600" b="1">
                        <a:latin typeface="Cambria Math" panose="02040503050406030204" pitchFamily="18" charset="0"/>
                      </a:rPr>
                      <m:t>−</m:t>
                    </m:r>
                    <m:r>
                      <m:rPr>
                        <m:nor/>
                      </m:rPr>
                      <a:rPr lang="it-IT" sz="1600" b="1">
                        <a:latin typeface="Cambria Math" panose="02040503050406030204" pitchFamily="18" charset="0"/>
                      </a:rPr>
                      <m:t>Wishart</m:t>
                    </m:r>
                    <m:d>
                      <m:dPr>
                        <m:ctrlPr>
                          <a:rPr lang="it-IT" sz="1600" b="1" i="1">
                            <a:latin typeface="Cambria Math" panose="02040503050406030204" pitchFamily="18" charset="0"/>
                          </a:rPr>
                        </m:ctrlPr>
                      </m:dPr>
                      <m:e>
                        <m:sSub>
                          <m:sSubPr>
                            <m:ctrlPr>
                              <a:rPr lang="it-IT" sz="1600" b="1" i="1">
                                <a:latin typeface="Cambria Math" panose="02040503050406030204" pitchFamily="18" charset="0"/>
                              </a:rPr>
                            </m:ctrlPr>
                          </m:sSubPr>
                          <m:e>
                            <m:r>
                              <a:rPr lang="it-IT" sz="1600" b="1" i="1">
                                <a:latin typeface="Cambria Math" panose="02040503050406030204" pitchFamily="18" charset="0"/>
                              </a:rPr>
                              <m:t>𝜮</m:t>
                            </m:r>
                          </m:e>
                          <m:sub>
                            <m:r>
                              <a:rPr lang="it-IT" sz="1600" b="1" i="1">
                                <a:latin typeface="Cambria Math" panose="02040503050406030204" pitchFamily="18" charset="0"/>
                              </a:rPr>
                              <m:t>𝒌</m:t>
                            </m:r>
                          </m:sub>
                        </m:sSub>
                      </m:e>
                      <m:e>
                        <m:sSub>
                          <m:sSubPr>
                            <m:ctrlPr>
                              <a:rPr lang="it-IT" sz="1600" b="1" i="1">
                                <a:latin typeface="Cambria Math" panose="02040503050406030204" pitchFamily="18" charset="0"/>
                              </a:rPr>
                            </m:ctrlPr>
                          </m:sSubPr>
                          <m:e>
                            <m:r>
                              <a:rPr lang="it-IT" sz="1600" b="1" i="1">
                                <a:latin typeface="Cambria Math" panose="02040503050406030204" pitchFamily="18" charset="0"/>
                              </a:rPr>
                              <m:t>𝝂</m:t>
                            </m:r>
                          </m:e>
                          <m:sub>
                            <m:r>
                              <a:rPr lang="it-IT" sz="1600" b="1" i="1">
                                <a:latin typeface="Cambria Math" panose="02040503050406030204" pitchFamily="18" charset="0"/>
                              </a:rPr>
                              <m:t>𝟎</m:t>
                            </m:r>
                          </m:sub>
                        </m:sSub>
                        <m:r>
                          <a:rPr lang="it-IT" sz="1600" b="1" i="1">
                            <a:latin typeface="Cambria Math" panose="02040503050406030204" pitchFamily="18" charset="0"/>
                          </a:rPr>
                          <m:t>,</m:t>
                        </m:r>
                        <m:sSub>
                          <m:sSubPr>
                            <m:ctrlPr>
                              <a:rPr lang="it-IT" sz="1600" b="1" i="1">
                                <a:latin typeface="Cambria Math" panose="02040503050406030204" pitchFamily="18" charset="0"/>
                              </a:rPr>
                            </m:ctrlPr>
                          </m:sSubPr>
                          <m:e>
                            <m:r>
                              <a:rPr lang="it-IT" sz="1600" b="1" i="1">
                                <a:latin typeface="Cambria Math" panose="02040503050406030204" pitchFamily="18" charset="0"/>
                              </a:rPr>
                              <m:t>𝜦</m:t>
                            </m:r>
                          </m:e>
                          <m:sub>
                            <m:r>
                              <a:rPr lang="it-IT" sz="1600" b="1" i="1">
                                <a:latin typeface="Cambria Math" panose="02040503050406030204" pitchFamily="18" charset="0"/>
                              </a:rPr>
                              <m:t>𝟎</m:t>
                            </m:r>
                          </m:sub>
                        </m:sSub>
                      </m:e>
                    </m:d>
                  </m:oMath>
                </a14:m>
                <a:r>
                  <a:rPr lang="it-IT" sz="1600" dirty="0"/>
                  <a:t> is the multivariate analogue of the Inv-Gamma </a:t>
                </a:r>
                <a14:m>
                  <m:oMath xmlns:m="http://schemas.openxmlformats.org/officeDocument/2006/math">
                    <m:d>
                      <m:dPr>
                        <m:ctrlPr>
                          <a:rPr lang="it-IT" sz="1600" i="1">
                            <a:latin typeface="Cambria Math" panose="02040503050406030204" pitchFamily="18" charset="0"/>
                          </a:rPr>
                        </m:ctrlPr>
                      </m:dPr>
                      <m:e>
                        <m:sSubSup>
                          <m:sSubSupPr>
                            <m:ctrlPr>
                              <a:rPr lang="it-IT" sz="1600" i="1">
                                <a:latin typeface="Cambria Math" panose="02040503050406030204" pitchFamily="18" charset="0"/>
                              </a:rPr>
                            </m:ctrlPr>
                          </m:sSubSupPr>
                          <m:e>
                            <m:r>
                              <a:rPr lang="it-IT" sz="1600" i="1">
                                <a:latin typeface="Cambria Math" panose="02040503050406030204" pitchFamily="18" charset="0"/>
                              </a:rPr>
                              <m:t>𝜎</m:t>
                            </m:r>
                          </m:e>
                          <m:sub>
                            <m:r>
                              <a:rPr lang="it-IT" sz="1600" i="1">
                                <a:latin typeface="Cambria Math" panose="02040503050406030204" pitchFamily="18" charset="0"/>
                              </a:rPr>
                              <m:t>𝑘</m:t>
                            </m:r>
                          </m:sub>
                          <m:sup>
                            <m:r>
                              <a:rPr lang="it-IT" sz="1600" i="1">
                                <a:latin typeface="Cambria Math" panose="02040503050406030204" pitchFamily="18" charset="0"/>
                              </a:rPr>
                              <m:t>2</m:t>
                            </m:r>
                          </m:sup>
                        </m:sSubSup>
                      </m:e>
                      <m:e>
                        <m:sSub>
                          <m:sSubPr>
                            <m:ctrlPr>
                              <a:rPr lang="it-IT" sz="1600" i="1">
                                <a:latin typeface="Cambria Math" panose="02040503050406030204" pitchFamily="18" charset="0"/>
                              </a:rPr>
                            </m:ctrlPr>
                          </m:sSubPr>
                          <m:e>
                            <m:r>
                              <a:rPr lang="it-IT" sz="1600" i="1">
                                <a:latin typeface="Cambria Math" panose="02040503050406030204" pitchFamily="18" charset="0"/>
                              </a:rPr>
                              <m:t>𝛼</m:t>
                            </m:r>
                          </m:e>
                          <m:sub>
                            <m:r>
                              <a:rPr lang="it-IT" sz="1600" i="1">
                                <a:latin typeface="Cambria Math" panose="02040503050406030204" pitchFamily="18" charset="0"/>
                              </a:rPr>
                              <m:t>0</m:t>
                            </m:r>
                          </m:sub>
                        </m:sSub>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𝛽</m:t>
                            </m:r>
                          </m:e>
                          <m:sub>
                            <m:r>
                              <a:rPr lang="it-IT" sz="1600" i="1">
                                <a:latin typeface="Cambria Math" panose="02040503050406030204" pitchFamily="18" charset="0"/>
                              </a:rPr>
                              <m:t>0</m:t>
                            </m:r>
                          </m:sub>
                        </m:sSub>
                      </m:e>
                    </m:d>
                  </m:oMath>
                </a14:m>
                <a:r>
                  <a:rPr lang="it-IT" sz="1600" dirty="0"/>
                  <a:t>.</a:t>
                </a:r>
              </a:p>
              <a:p>
                <a:pPr lvl="1">
                  <a:lnSpc>
                    <a:spcPct val="100000"/>
                  </a:lnSpc>
                </a:pPr>
                <a:r>
                  <a:rPr lang="it-IT" sz="1600" dirty="0"/>
                  <a:t>If </a:t>
                </a:r>
                <a14:m>
                  <m:oMath xmlns:m="http://schemas.openxmlformats.org/officeDocument/2006/math">
                    <m:r>
                      <a:rPr lang="it-IT" sz="1600" b="0" i="1" smtClean="0">
                        <a:latin typeface="Cambria Math" panose="02040503050406030204" pitchFamily="18" charset="0"/>
                      </a:rPr>
                      <m:t>𝑑</m:t>
                    </m:r>
                    <m:r>
                      <a:rPr lang="it-IT" sz="1600" b="0" i="1" smtClean="0">
                        <a:latin typeface="Cambria Math" panose="02040503050406030204" pitchFamily="18" charset="0"/>
                      </a:rPr>
                      <m:t>=</m:t>
                    </m:r>
                    <m:r>
                      <a:rPr lang="it-IT" sz="1600" b="0" i="1" smtClean="0">
                        <a:latin typeface="Cambria Math" panose="02040503050406030204" pitchFamily="18" charset="0"/>
                      </a:rPr>
                      <m:t>1</m:t>
                    </m:r>
                    <m:r>
                      <a:rPr lang="it-IT" sz="1600" b="0" i="1" smtClean="0">
                        <a:latin typeface="Cambria Math" panose="02040503050406030204" pitchFamily="18" charset="0"/>
                      </a:rPr>
                      <m:t> ⇒</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  </m:t>
                        </m:r>
                        <m:r>
                          <a:rPr lang="it-IT" sz="1600" b="0" i="1" smtClean="0">
                            <a:latin typeface="Cambria Math" panose="02040503050406030204" pitchFamily="18" charset="0"/>
                          </a:rPr>
                          <m:t>𝜈</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r>
                      <a:rPr lang="it-IT" sz="1600" b="0" i="1" smtClean="0">
                        <a:latin typeface="Cambria Math" panose="02040503050406030204" pitchFamily="18" charset="0"/>
                      </a:rPr>
                      <m:t>2</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𝛼</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, </m:t>
                    </m:r>
                    <m:r>
                      <m:rPr>
                        <m:nor/>
                      </m:rPr>
                      <a:rPr lang="it-IT" sz="1600" b="0" i="0" smtClean="0">
                        <a:latin typeface="Cambria Math" panose="02040503050406030204" pitchFamily="18" charset="0"/>
                      </a:rPr>
                      <m:t>and</m:t>
                    </m:r>
                    <m:sSub>
                      <m:sSubPr>
                        <m:ctrlPr>
                          <a:rPr lang="it-IT" sz="1600" b="0" i="1" smtClean="0">
                            <a:latin typeface="Cambria Math" panose="02040503050406030204" pitchFamily="18" charset="0"/>
                          </a:rPr>
                        </m:ctrlPr>
                      </m:sSubPr>
                      <m:e>
                        <m:r>
                          <a:rPr lang="it-IT" sz="1600" b="0" i="0" smtClean="0">
                            <a:latin typeface="Cambria Math" panose="02040503050406030204" pitchFamily="18" charset="0"/>
                          </a:rPr>
                          <m:t> </m:t>
                        </m:r>
                        <m:r>
                          <m:rPr>
                            <m:sty m:val="p"/>
                          </m:rPr>
                          <a:rPr lang="it-IT" sz="1600" b="0" i="0" smtClean="0">
                            <a:latin typeface="Cambria Math" panose="02040503050406030204" pitchFamily="18" charset="0"/>
                          </a:rPr>
                          <m:t>Λ</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r>
                      <a:rPr lang="it-IT" sz="1600" b="0" i="1" smtClean="0">
                        <a:latin typeface="Cambria Math" panose="02040503050406030204" pitchFamily="18" charset="0"/>
                      </a:rPr>
                      <m:t>2</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𝛽</m:t>
                        </m:r>
                      </m:e>
                      <m:sub>
                        <m:r>
                          <a:rPr lang="it-IT" sz="1600" b="0" i="1" smtClean="0">
                            <a:latin typeface="Cambria Math" panose="02040503050406030204" pitchFamily="18" charset="0"/>
                          </a:rPr>
                          <m:t>0</m:t>
                        </m:r>
                      </m:sub>
                    </m:sSub>
                  </m:oMath>
                </a14:m>
                <a:r>
                  <a:rPr lang="it-IT" sz="1600" dirty="0"/>
                  <a:t>. For consistency, we choose</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  </m:t>
                        </m:r>
                        <m:r>
                          <a:rPr lang="it-IT" sz="1600" i="1">
                            <a:latin typeface="Cambria Math" panose="02040503050406030204" pitchFamily="18" charset="0"/>
                          </a:rPr>
                          <m:t>𝜈</m:t>
                        </m:r>
                      </m:e>
                      <m:sub>
                        <m:r>
                          <a:rPr lang="it-IT" sz="1600" i="1">
                            <a:latin typeface="Cambria Math" panose="02040503050406030204" pitchFamily="18" charset="0"/>
                          </a:rPr>
                          <m:t>0</m:t>
                        </m:r>
                      </m:sub>
                    </m:sSub>
                    <m:r>
                      <a:rPr lang="it-IT" sz="1600" i="1">
                        <a:latin typeface="Cambria Math" panose="02040503050406030204" pitchFamily="18" charset="0"/>
                      </a:rPr>
                      <m:t>=</m:t>
                    </m:r>
                    <m:r>
                      <a:rPr lang="it-IT" sz="1600" i="1">
                        <a:latin typeface="Cambria Math" panose="02040503050406030204" pitchFamily="18" charset="0"/>
                      </a:rPr>
                      <m:t>4</m:t>
                    </m:r>
                    <m:r>
                      <a:rPr lang="it-IT" sz="1600" i="1">
                        <a:latin typeface="Cambria Math" panose="02040503050406030204" pitchFamily="18" charset="0"/>
                      </a:rPr>
                      <m:t>, </m:t>
                    </m:r>
                    <m:r>
                      <m:rPr>
                        <m:nor/>
                      </m:rPr>
                      <a:rPr lang="it-IT" sz="1600">
                        <a:latin typeface="Cambria Math" panose="02040503050406030204" pitchFamily="18" charset="0"/>
                      </a:rPr>
                      <m:t>and</m:t>
                    </m:r>
                    <m:sSub>
                      <m:sSubPr>
                        <m:ctrlPr>
                          <a:rPr lang="it-IT" sz="1600" i="1">
                            <a:latin typeface="Cambria Math" panose="02040503050406030204" pitchFamily="18" charset="0"/>
                          </a:rPr>
                        </m:ctrlPr>
                      </m:sSubPr>
                      <m:e>
                        <m:r>
                          <a:rPr lang="it-IT" sz="1600">
                            <a:latin typeface="Cambria Math" panose="02040503050406030204" pitchFamily="18" charset="0"/>
                          </a:rPr>
                          <m:t> </m:t>
                        </m:r>
                        <m:r>
                          <m:rPr>
                            <m:sty m:val="p"/>
                          </m:rPr>
                          <a:rPr lang="it-IT" sz="1600">
                            <a:latin typeface="Cambria Math" panose="02040503050406030204" pitchFamily="18" charset="0"/>
                          </a:rPr>
                          <m:t>Λ</m:t>
                        </m:r>
                      </m:e>
                      <m:sub>
                        <m:r>
                          <a:rPr lang="it-IT" sz="1600" i="1">
                            <a:latin typeface="Cambria Math" panose="02040503050406030204" pitchFamily="18" charset="0"/>
                          </a:rPr>
                          <m:t>0</m:t>
                        </m:r>
                      </m:sub>
                    </m:sSub>
                    <m:r>
                      <a:rPr lang="it-IT" sz="1600" i="1">
                        <a:latin typeface="Cambria Math" panose="02040503050406030204" pitchFamily="18" charset="0"/>
                      </a:rPr>
                      <m:t>=</m:t>
                    </m:r>
                    <m:r>
                      <a:rPr lang="it-IT" sz="1600" i="1">
                        <a:latin typeface="Cambria Math" panose="02040503050406030204" pitchFamily="18" charset="0"/>
                      </a:rPr>
                      <m:t>8</m:t>
                    </m:r>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𝐼</m:t>
                        </m:r>
                      </m:e>
                      <m:sub>
                        <m:r>
                          <a:rPr lang="it-IT" sz="1600" i="1">
                            <a:latin typeface="Cambria Math" panose="02040503050406030204" pitchFamily="18" charset="0"/>
                          </a:rPr>
                          <m:t>𝑑</m:t>
                        </m:r>
                        <m:r>
                          <a:rPr lang="it-IT" sz="1600" i="1">
                            <a:latin typeface="Cambria Math" panose="02040503050406030204" pitchFamily="18" charset="0"/>
                          </a:rPr>
                          <m:t>×</m:t>
                        </m:r>
                        <m:r>
                          <a:rPr lang="it-IT" sz="1600" i="1">
                            <a:latin typeface="Cambria Math" panose="02040503050406030204" pitchFamily="18" charset="0"/>
                          </a:rPr>
                          <m:t>𝑑</m:t>
                        </m:r>
                      </m:sub>
                    </m:sSub>
                  </m:oMath>
                </a14:m>
                <a:r>
                  <a:rPr lang="it-IT" dirty="0"/>
                  <a:t>.</a:t>
                </a:r>
              </a:p>
              <a:p>
                <a:pPr lvl="1"/>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𝜅</m:t>
                        </m:r>
                      </m:e>
                      <m:sub>
                        <m:r>
                          <a:rPr lang="it-IT" sz="1600" i="1">
                            <a:latin typeface="Cambria Math" panose="02040503050406030204" pitchFamily="18" charset="0"/>
                          </a:rPr>
                          <m:t>0</m:t>
                        </m:r>
                      </m:sub>
                    </m:sSub>
                    <m:r>
                      <a:rPr lang="it-IT" sz="1600" i="1">
                        <a:latin typeface="Cambria Math" panose="02040503050406030204" pitchFamily="18" charset="0"/>
                      </a:rPr>
                      <m:t>=</m:t>
                    </m:r>
                    <m:r>
                      <a:rPr lang="it-IT" sz="1600" i="1">
                        <a:latin typeface="Cambria Math" panose="02040503050406030204" pitchFamily="18" charset="0"/>
                      </a:rPr>
                      <m:t>0</m:t>
                    </m:r>
                    <m:r>
                      <a:rPr lang="it-IT" sz="1600" i="1">
                        <a:latin typeface="Cambria Math" panose="02040503050406030204" pitchFamily="18" charset="0"/>
                      </a:rPr>
                      <m:t>.</m:t>
                    </m:r>
                    <m:r>
                      <a:rPr lang="it-IT" sz="1600" b="0" i="1" smtClean="0">
                        <a:latin typeface="Cambria Math" panose="02040503050406030204" pitchFamily="18" charset="0"/>
                      </a:rPr>
                      <m:t>0</m:t>
                    </m:r>
                    <m:r>
                      <a:rPr lang="it-IT" sz="1600" i="1">
                        <a:latin typeface="Cambria Math" panose="02040503050406030204" pitchFamily="18" charset="0"/>
                      </a:rPr>
                      <m:t>1</m:t>
                    </m:r>
                    <m:r>
                      <a:rPr lang="it-IT" sz="1600" i="1">
                        <a:latin typeface="Cambria Math" panose="02040503050406030204" pitchFamily="18" charset="0"/>
                      </a:rPr>
                      <m:t> →</m:t>
                    </m:r>
                  </m:oMath>
                </a14:m>
                <a:r>
                  <a:rPr lang="it-IT" sz="1600" dirty="0"/>
                  <a:t> small value to increase the prior covariance (uninformative prior).</a:t>
                </a:r>
              </a:p>
              <a:p>
                <a:pPr lvl="1">
                  <a:lnSpc>
                    <a:spcPct val="100000"/>
                  </a:lnSpc>
                </a:pPr>
                <a14:m>
                  <m:oMath xmlns:m="http://schemas.openxmlformats.org/officeDocument/2006/math">
                    <m:sSub>
                      <m:sSubPr>
                        <m:ctrlPr>
                          <a:rPr lang="it-IT" sz="1600" i="1" smtClean="0">
                            <a:latin typeface="Cambria Math" panose="02040503050406030204" pitchFamily="18" charset="0"/>
                          </a:rPr>
                        </m:ctrlPr>
                      </m:sSubPr>
                      <m:e>
                        <m:r>
                          <a:rPr lang="it-IT" sz="1600" i="1">
                            <a:latin typeface="Cambria Math" panose="02040503050406030204" pitchFamily="18" charset="0"/>
                          </a:rPr>
                          <m:t>𝜇</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sSubSup>
                      <m:sSubSupPr>
                        <m:ctrlPr>
                          <a:rPr lang="it-IT" sz="1600" b="0" i="1" smtClean="0">
                            <a:latin typeface="Cambria Math" panose="02040503050406030204" pitchFamily="18" charset="0"/>
                          </a:rPr>
                        </m:ctrlPr>
                      </m:sSubSupPr>
                      <m:e>
                        <m:d>
                          <m:dPr>
                            <m:begChr m:val="{"/>
                            <m:endChr m:val="}"/>
                            <m:ctrlPr>
                              <a:rPr lang="it-IT" sz="1600" i="1">
                                <a:latin typeface="Cambria Math" panose="02040503050406030204" pitchFamily="18" charset="0"/>
                              </a:rPr>
                            </m:ctrlPr>
                          </m:dPr>
                          <m:e>
                            <m:d>
                              <m:dPr>
                                <m:ctrlPr>
                                  <a:rPr lang="it-IT" sz="1600" i="1">
                                    <a:latin typeface="Cambria Math" panose="02040503050406030204" pitchFamily="18" charset="0"/>
                                  </a:rPr>
                                </m:ctrlPr>
                              </m:dPr>
                              <m:e>
                                <m:r>
                                  <a:rPr lang="it-IT" sz="1600" i="1">
                                    <a:latin typeface="Cambria Math" panose="02040503050406030204" pitchFamily="18" charset="0"/>
                                  </a:rPr>
                                  <m:t>𝑚𝑎𝑥</m:t>
                                </m:r>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i="1">
                                            <a:latin typeface="Cambria Math" panose="02040503050406030204" pitchFamily="18" charset="0"/>
                                          </a:rPr>
                                          <m:t>𝑥</m:t>
                                        </m:r>
                                      </m:e>
                                      <m:sub>
                                        <m:sSub>
                                          <m:sSubPr>
                                            <m:ctrlPr>
                                              <a:rPr lang="it-IT" sz="1600" i="1">
                                                <a:latin typeface="Cambria Math" panose="02040503050406030204" pitchFamily="18" charset="0"/>
                                              </a:rPr>
                                            </m:ctrlPr>
                                          </m:sSubPr>
                                          <m:e>
                                            <m:r>
                                              <a:rPr lang="it-IT" sz="1600" i="1">
                                                <a:latin typeface="Cambria Math" panose="02040503050406030204" pitchFamily="18" charset="0"/>
                                              </a:rPr>
                                              <m:t>𝑖</m:t>
                                            </m:r>
                                          </m:e>
                                          <m:sub>
                                            <m:r>
                                              <a:rPr lang="it-IT" sz="1600" i="1">
                                                <a:latin typeface="Cambria Math" panose="02040503050406030204" pitchFamily="18" charset="0"/>
                                              </a:rPr>
                                              <m:t>h</m:t>
                                            </m:r>
                                          </m:sub>
                                        </m:sSub>
                                      </m:sub>
                                    </m:sSub>
                                  </m:e>
                                </m:d>
                                <m:r>
                                  <a:rPr lang="it-IT" sz="1600" b="0" i="1" smtClean="0">
                                    <a:latin typeface="Cambria Math" panose="02040503050406030204" pitchFamily="18" charset="0"/>
                                  </a:rPr>
                                  <m:t>+</m:t>
                                </m:r>
                                <m:r>
                                  <a:rPr lang="it-IT" sz="1600" i="1">
                                    <a:latin typeface="Cambria Math" panose="02040503050406030204" pitchFamily="18" charset="0"/>
                                  </a:rPr>
                                  <m:t>𝑚𝑖𝑛</m:t>
                                </m:r>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i="1">
                                            <a:latin typeface="Cambria Math" panose="02040503050406030204" pitchFamily="18" charset="0"/>
                                          </a:rPr>
                                          <m:t>𝑥</m:t>
                                        </m:r>
                                      </m:e>
                                      <m:sub>
                                        <m:sSub>
                                          <m:sSubPr>
                                            <m:ctrlPr>
                                              <a:rPr lang="it-IT" sz="1600" i="1">
                                                <a:latin typeface="Cambria Math" panose="02040503050406030204" pitchFamily="18" charset="0"/>
                                              </a:rPr>
                                            </m:ctrlPr>
                                          </m:sSubPr>
                                          <m:e>
                                            <m:r>
                                              <a:rPr lang="it-IT" sz="1600" i="1">
                                                <a:latin typeface="Cambria Math" panose="02040503050406030204" pitchFamily="18" charset="0"/>
                                              </a:rPr>
                                              <m:t>𝑖</m:t>
                                            </m:r>
                                          </m:e>
                                          <m:sub>
                                            <m:r>
                                              <a:rPr lang="it-IT" sz="1600" i="1">
                                                <a:latin typeface="Cambria Math" panose="02040503050406030204" pitchFamily="18" charset="0"/>
                                              </a:rPr>
                                              <m:t>h</m:t>
                                            </m:r>
                                          </m:sub>
                                        </m:sSub>
                                      </m:sub>
                                    </m:sSub>
                                  </m:e>
                                </m:d>
                              </m:e>
                            </m:d>
                            <m:r>
                              <m:rPr>
                                <m:lit/>
                              </m:rPr>
                              <a:rPr lang="it-IT" sz="1600" i="1">
                                <a:latin typeface="Cambria Math" panose="02040503050406030204" pitchFamily="18" charset="0"/>
                              </a:rPr>
                              <m:t>/</m:t>
                            </m:r>
                            <m:r>
                              <a:rPr lang="it-IT" sz="1600" i="1">
                                <a:latin typeface="Cambria Math" panose="02040503050406030204" pitchFamily="18" charset="0"/>
                              </a:rPr>
                              <m:t>2</m:t>
                            </m:r>
                          </m:e>
                        </m:d>
                      </m:e>
                      <m:sub>
                        <m:r>
                          <a:rPr lang="it-IT" sz="1600" b="0" i="1" smtClean="0">
                            <a:latin typeface="Cambria Math" panose="02040503050406030204" pitchFamily="18" charset="0"/>
                          </a:rPr>
                          <m:t>h</m:t>
                        </m:r>
                        <m:r>
                          <a:rPr lang="it-IT" sz="1600" b="0" i="1" smtClean="0">
                            <a:latin typeface="Cambria Math" panose="02040503050406030204" pitchFamily="18" charset="0"/>
                          </a:rPr>
                          <m:t>=</m:t>
                        </m:r>
                        <m:r>
                          <a:rPr lang="it-IT" sz="1600" b="0" i="1" smtClean="0">
                            <a:latin typeface="Cambria Math" panose="02040503050406030204" pitchFamily="18" charset="0"/>
                          </a:rPr>
                          <m:t>1</m:t>
                        </m:r>
                      </m:sub>
                      <m:sup>
                        <m:r>
                          <a:rPr lang="it-IT" sz="1600" b="0" i="1" smtClean="0">
                            <a:latin typeface="Cambria Math" panose="02040503050406030204" pitchFamily="18" charset="0"/>
                          </a:rPr>
                          <m:t>𝑑</m:t>
                        </m:r>
                      </m:sup>
                    </m:sSubSup>
                    <m:r>
                      <a:rPr lang="it-IT" sz="1600" i="1">
                        <a:latin typeface="Cambria Math" panose="02040503050406030204" pitchFamily="18" charset="0"/>
                      </a:rPr>
                      <m:t>→</m:t>
                    </m:r>
                  </m:oMath>
                </a14:m>
                <a:r>
                  <a:rPr lang="it-IT" sz="1600" dirty="0"/>
                  <a:t> middle range. </a:t>
                </a:r>
              </a:p>
            </p:txBody>
          </p:sp>
        </mc:Choice>
        <mc:Fallback xmlns="">
          <p:sp>
            <p:nvSpPr>
              <p:cNvPr id="3" name="Content Placeholder 2">
                <a:extLst>
                  <a:ext uri="{FF2B5EF4-FFF2-40B4-BE49-F238E27FC236}">
                    <a16:creationId xmlns:a16="http://schemas.microsoft.com/office/drawing/2014/main" id="{5ED9AA3D-7FF7-B04F-108E-40B7B1FE7844}"/>
                  </a:ext>
                </a:extLst>
              </p:cNvPr>
              <p:cNvSpPr>
                <a:spLocks noGrp="1" noRot="1" noChangeAspect="1" noMove="1" noResize="1" noEditPoints="1" noAdjustHandles="1" noChangeArrowheads="1" noChangeShapeType="1" noTextEdit="1"/>
              </p:cNvSpPr>
              <p:nvPr>
                <p:ph idx="1"/>
              </p:nvPr>
            </p:nvSpPr>
            <p:spPr>
              <a:xfrm>
                <a:off x="700635" y="1563077"/>
                <a:ext cx="10691265" cy="4697046"/>
              </a:xfrm>
              <a:blipFill>
                <a:blip r:embed="rId2"/>
                <a:stretch>
                  <a:fillRect l="-456" t="-1427"/>
                </a:stretch>
              </a:blipFill>
            </p:spPr>
            <p:txBody>
              <a:bodyPr/>
              <a:lstStyle/>
              <a:p>
                <a:r>
                  <a:rPr lang="it-IT">
                    <a:noFill/>
                  </a:rPr>
                  <a:t> </a:t>
                </a:r>
              </a:p>
            </p:txBody>
          </p:sp>
        </mc:Fallback>
      </mc:AlternateContent>
    </p:spTree>
    <p:extLst>
      <p:ext uri="{BB962C8B-B14F-4D97-AF65-F5344CB8AC3E}">
        <p14:creationId xmlns:p14="http://schemas.microsoft.com/office/powerpoint/2010/main" val="32583699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2B86F-E840-B2EE-1136-EDAC0AD96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5664C-1083-72A0-19FD-F3203CA1EAA5}"/>
              </a:ext>
            </a:extLst>
          </p:cNvPr>
          <p:cNvSpPr>
            <a:spLocks noGrp="1"/>
          </p:cNvSpPr>
          <p:nvPr>
            <p:ph type="title"/>
          </p:nvPr>
        </p:nvSpPr>
        <p:spPr/>
        <p:txBody>
          <a:bodyPr/>
          <a:lstStyle/>
          <a:p>
            <a:r>
              <a:rPr lang="it-IT" dirty="0">
                <a:solidFill>
                  <a:srgbClr val="FF0000"/>
                </a:solidFill>
              </a:rPr>
              <a:t>Multidimensional generalization (2/3)</a:t>
            </a:r>
            <a:endParaRPr lang="it-I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DB4076-AA53-FCE3-2A67-2C7CCB81F6E7}"/>
                  </a:ext>
                </a:extLst>
              </p:cNvPr>
              <p:cNvSpPr>
                <a:spLocks noGrp="1"/>
              </p:cNvSpPr>
              <p:nvPr>
                <p:ph idx="1"/>
              </p:nvPr>
            </p:nvSpPr>
            <p:spPr>
              <a:xfrm>
                <a:off x="700635" y="1563077"/>
                <a:ext cx="10790730" cy="4743938"/>
              </a:xfrm>
            </p:spPr>
            <p:txBody>
              <a:bodyPr>
                <a:normAutofit/>
              </a:bodyPr>
              <a:lstStyle/>
              <a:p>
                <a14:m>
                  <m:oMath xmlns:m="http://schemas.openxmlformats.org/officeDocument/2006/math">
                    <m:r>
                      <m:rPr>
                        <m:nor/>
                      </m:rPr>
                      <a:rPr lang="it-IT" sz="1800" smtClean="0">
                        <a:latin typeface="Cambria Math" panose="02040503050406030204" pitchFamily="18" charset="0"/>
                      </a:rPr>
                      <m:t>NI</m:t>
                    </m:r>
                    <m:r>
                      <m:rPr>
                        <m:sty m:val="p"/>
                      </m:rPr>
                      <a:rPr lang="it-IT" sz="1800" b="0" i="1" smtClean="0">
                        <a:latin typeface="Cambria Math" panose="02040503050406030204" pitchFamily="18" charset="0"/>
                      </a:rPr>
                      <m:t>W</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0</m:t>
                            </m:r>
                          </m:sub>
                        </m:sSub>
                      </m:e>
                    </m:d>
                  </m:oMath>
                </a14:m>
                <a:r>
                  <a:rPr lang="it-IT" sz="1800" dirty="0"/>
                  <a:t> is a </a:t>
                </a:r>
                <a:r>
                  <a:rPr lang="it-IT" sz="1800" b="1" dirty="0"/>
                  <a:t>conjugate prior </a:t>
                </a:r>
                <a:r>
                  <a:rPr lang="it-IT" sz="1800" dirty="0"/>
                  <a:t>of </a:t>
                </a:r>
                <a14:m>
                  <m:oMath xmlns:m="http://schemas.openxmlformats.org/officeDocument/2006/math">
                    <m:r>
                      <m:rPr>
                        <m:sty m:val="p"/>
                      </m:rPr>
                      <a:rPr lang="it-IT" sz="1800" i="1">
                        <a:latin typeface="Cambria Math" panose="02040503050406030204" pitchFamily="18" charset="0"/>
                      </a:rPr>
                      <m:t>p</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b="0" i="1">
                            <a:latin typeface="Cambria Math" panose="02040503050406030204" pitchFamily="18" charset="0"/>
                          </a:rPr>
                          <m:t>𝑥</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r>
                      <a:rPr lang="it-IT" sz="1800" i="1">
                        <a:latin typeface="Cambria Math" panose="02040503050406030204" pitchFamily="18" charset="0"/>
                      </a:rPr>
                      <m:t>)</m:t>
                    </m:r>
                  </m:oMath>
                </a14:m>
                <a:r>
                  <a:rPr lang="it-IT" sz="1800" dirty="0"/>
                  <a:t>.</a:t>
                </a:r>
                <a:endParaRPr lang="it-IT" sz="1800" i="1" dirty="0">
                  <a:latin typeface="Cambria Math" panose="02040503050406030204" pitchFamily="18" charset="0"/>
                </a:endParaRPr>
              </a:p>
              <a:p>
                <a14:m>
                  <m:oMath xmlns:m="http://schemas.openxmlformats.org/officeDocument/2006/math">
                    <m:r>
                      <a:rPr lang="it-IT" sz="1800" b="0" i="1" smtClean="0">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r>
                      <a:rPr lang="it-IT" sz="1800" i="1">
                        <a:latin typeface="Cambria Math" panose="02040503050406030204" pitchFamily="18" charset="0"/>
                      </a:rPr>
                      <m:t>∝</m:t>
                    </m:r>
                    <m:d>
                      <m:dPr>
                        <m:ctrlPr>
                          <a:rPr lang="it-IT" sz="1800" i="1">
                            <a:latin typeface="Cambria Math" panose="02040503050406030204" pitchFamily="18" charset="0"/>
                          </a:rPr>
                        </m:ctrlPr>
                      </m:dPr>
                      <m:e>
                        <m:nary>
                          <m:naryPr>
                            <m:chr m:val="∏"/>
                            <m:ctrlPr>
                              <a:rPr lang="it-IT" sz="1800" i="1">
                                <a:latin typeface="Cambria Math" panose="02040503050406030204" pitchFamily="18" charset="0"/>
                              </a:rPr>
                            </m:ctrlPr>
                          </m:naryPr>
                          <m:sub>
                            <m:r>
                              <a:rPr lang="it-IT" sz="1800" i="1">
                                <a:latin typeface="Cambria Math" panose="02040503050406030204" pitchFamily="18" charset="0"/>
                              </a:rPr>
                              <m:t>𝑗</m:t>
                            </m:r>
                            <m:r>
                              <a:rPr lang="it-IT" sz="1800" i="1">
                                <a:latin typeface="Cambria Math" panose="02040503050406030204" pitchFamily="18" charset="0"/>
                              </a:rPr>
                              <m:t>=1</m:t>
                            </m:r>
                          </m:sub>
                          <m:sup>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sup>
                          <m:e>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b="0" i="1">
                                        <a:latin typeface="Cambria Math" panose="02040503050406030204" pitchFamily="18" charset="0"/>
                                      </a:rPr>
                                      <m:t>𝑥</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r>
                                      <a:rPr lang="it-IT" sz="1800" i="1">
                                        <a:latin typeface="Cambria Math" panose="02040503050406030204" pitchFamily="18" charset="0"/>
                                      </a:rPr>
                                      <m:t>,</m:t>
                                    </m:r>
                                    <m:r>
                                      <a:rPr lang="it-IT" sz="1800" i="1">
                                        <a:latin typeface="Cambria Math" panose="02040503050406030204" pitchFamily="18" charset="0"/>
                                      </a:rPr>
                                      <m:t>𝑗</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m:rPr>
                                        <m:sty m:val="p"/>
                                      </m:rPr>
                                      <a:rPr lang="it-IT" sz="1800" i="1">
                                        <a:latin typeface="Cambria Math" panose="02040503050406030204" pitchFamily="18" charset="0"/>
                                      </a:rPr>
                                      <m:t>k</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e>
                        </m:nary>
                      </m:e>
                    </m:d>
                    <m:r>
                      <a:rPr lang="it-IT" sz="1800" i="1">
                        <a:latin typeface="Cambria Math" panose="02040503050406030204" pitchFamily="18" charset="0"/>
                      </a:rPr>
                      <m:t>⋅</m:t>
                    </m:r>
                    <m:r>
                      <m:rPr>
                        <m:nor/>
                      </m:rPr>
                      <a:rPr lang="it-IT" sz="1800">
                        <a:latin typeface="Cambria Math" panose="02040503050406030204" pitchFamily="18" charset="0"/>
                      </a:rPr>
                      <m:t>NIG</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0</m:t>
                            </m:r>
                          </m:sub>
                        </m:sSub>
                      </m:e>
                    </m:d>
                    <m:r>
                      <a:rPr lang="it-IT" sz="1800" i="1">
                        <a:latin typeface="Cambria Math" panose="02040503050406030204" pitchFamily="18" charset="0"/>
                      </a:rPr>
                      <m:t> </m:t>
                    </m:r>
                    <m:r>
                      <m:rPr>
                        <m:nor/>
                      </m:rPr>
                      <a:rPr lang="it-IT" sz="1800" dirty="0"/>
                      <m:t>= </m:t>
                    </m:r>
                    <m:r>
                      <m:rPr>
                        <m:nor/>
                      </m:rPr>
                      <a:rPr lang="it-IT" sz="1800">
                        <a:latin typeface="Cambria Math" panose="02040503050406030204" pitchFamily="18" charset="0"/>
                      </a:rPr>
                      <m:t>NIG</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b="0" i="1" smtClean="0">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b="0" i="1" smtClean="0">
                                <a:latin typeface="Cambria Math" panose="02040503050406030204" pitchFamily="18" charset="0"/>
                              </a:rPr>
                              <m:t>𝑛</m:t>
                            </m:r>
                          </m:sub>
                        </m:sSub>
                      </m:e>
                    </m:d>
                  </m:oMath>
                </a14:m>
                <a:endParaRPr lang="it-IT" sz="1800" dirty="0"/>
              </a:p>
              <a:p>
                <a:pPr lvl="1"/>
                <a14:m>
                  <m:oMath xmlns:m="http://schemas.openxmlformats.org/officeDocument/2006/math">
                    <m:d>
                      <m:dPr>
                        <m:begChr m:val="{"/>
                        <m:endChr m:val=""/>
                        <m:ctrlPr>
                          <a:rPr lang="it-IT" sz="1600" i="1" smtClean="0">
                            <a:latin typeface="Cambria Math" panose="02040503050406030204" pitchFamily="18" charset="0"/>
                          </a:rPr>
                        </m:ctrlPr>
                      </m:dPr>
                      <m:e>
                        <m:eqArr>
                          <m:eqArrPr>
                            <m:ctrlPr>
                              <a:rPr lang="it-IT" sz="1600" i="1" smtClean="0">
                                <a:latin typeface="Cambria Math" panose="02040503050406030204" pitchFamily="18" charset="0"/>
                              </a:rPr>
                            </m:ctrlPr>
                          </m:eqArrPr>
                          <m:e>
                            <m:sSub>
                              <m:sSubPr>
                                <m:ctrlPr>
                                  <a:rPr lang="it-IT" sz="1600" i="1">
                                    <a:latin typeface="Cambria Math" panose="02040503050406030204" pitchFamily="18" charset="0"/>
                                  </a:rPr>
                                </m:ctrlPr>
                              </m:sSubPr>
                              <m:e>
                                <m:r>
                                  <a:rPr lang="it-IT" sz="1600" i="1">
                                    <a:latin typeface="Cambria Math" panose="02040503050406030204" pitchFamily="18" charset="0"/>
                                  </a:rPr>
                                  <m:t>𝜈</m:t>
                                </m:r>
                              </m:e>
                              <m:sub>
                                <m:r>
                                  <a:rPr lang="it-IT" sz="1600" i="1">
                                    <a:latin typeface="Cambria Math" panose="02040503050406030204" pitchFamily="18" charset="0"/>
                                  </a:rPr>
                                  <m:t>𝑛</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m:rPr>
                                    <m:sty m:val="p"/>
                                  </m:rPr>
                                  <a:rPr lang="it-IT" sz="1600" b="0" i="1" smtClean="0">
                                    <a:latin typeface="Cambria Math" panose="02040503050406030204" pitchFamily="18" charset="0"/>
                                  </a:rPr>
                                  <m:t>ν</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box>
                              <m:boxPr>
                                <m:ctrlPr>
                                  <a:rPr lang="it-IT" sz="1600" b="0" i="1" smtClean="0">
                                    <a:latin typeface="Cambria Math" panose="02040503050406030204" pitchFamily="18" charset="0"/>
                                  </a:rPr>
                                </m:ctrlPr>
                              </m:boxPr>
                              <m:e>
                                <m:argPr>
                                  <m:argSz m:val="-1"/>
                                </m:argPr>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e>
                            </m:box>
                            <m:r>
                              <a:rPr lang="it-IT" sz="1600" i="1" smtClean="0">
                                <a:latin typeface="Cambria Math" panose="02040503050406030204" pitchFamily="18" charset="0"/>
                              </a:rPr>
                              <m:t> </m:t>
                            </m:r>
                            <m:r>
                              <a:rPr lang="it-IT" sz="1600" b="0" i="1" smtClean="0">
                                <a:latin typeface="Cambria Math" panose="02040503050406030204" pitchFamily="18" charset="0"/>
                              </a:rPr>
                              <m:t>,  </m:t>
                            </m:r>
                            <m:sSub>
                              <m:sSubPr>
                                <m:ctrlPr>
                                  <a:rPr lang="it-IT" sz="1600" i="1">
                                    <a:latin typeface="Cambria Math" panose="02040503050406030204" pitchFamily="18" charset="0"/>
                                  </a:rPr>
                                </m:ctrlPr>
                              </m:sSubPr>
                              <m:e>
                                <m:r>
                                  <m:rPr>
                                    <m:sty m:val="p"/>
                                  </m:rPr>
                                  <a:rPr lang="it-IT" sz="1600">
                                    <a:latin typeface="Cambria Math" panose="02040503050406030204" pitchFamily="18" charset="0"/>
                                  </a:rPr>
                                  <m:t>Λ</m:t>
                                </m:r>
                              </m:e>
                              <m:sub>
                                <m:r>
                                  <a:rPr lang="it-IT" sz="1600" i="1">
                                    <a:latin typeface="Cambria Math" panose="02040503050406030204" pitchFamily="18" charset="0"/>
                                  </a:rPr>
                                  <m:t>𝑛</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m:rPr>
                                    <m:sty m:val="p"/>
                                  </m:rPr>
                                  <a:rPr lang="it-IT" sz="1600" b="0" i="1" smtClean="0">
                                    <a:latin typeface="Cambria Math" panose="02040503050406030204" pitchFamily="18" charset="0"/>
                                  </a:rPr>
                                  <m:t>Λ</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𝑆</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r>
                              <a:rPr lang="it-IT" sz="1600" b="0" i="1" smtClean="0">
                                <a:latin typeface="Cambria Math" panose="02040503050406030204" pitchFamily="18" charset="0"/>
                              </a:rPr>
                              <m:t>+</m:t>
                            </m:r>
                            <m:box>
                              <m:boxPr>
                                <m:ctrlPr>
                                  <a:rPr lang="it-IT" sz="1600" b="0" i="1" smtClean="0">
                                    <a:latin typeface="Cambria Math" panose="02040503050406030204" pitchFamily="18" charset="0"/>
                                  </a:rPr>
                                </m:ctrlPr>
                              </m:boxPr>
                              <m:e>
                                <m:argPr>
                                  <m:argSz m:val="-1"/>
                                </m:argPr>
                                <m:f>
                                  <m:fPr>
                                    <m:ctrlPr>
                                      <a:rPr lang="it-IT" sz="1600" b="0" i="1" smtClean="0">
                                        <a:latin typeface="Cambria Math" panose="02040503050406030204" pitchFamily="18" charset="0"/>
                                      </a:rPr>
                                    </m:ctrlPr>
                                  </m:fPr>
                                  <m:num>
                                    <m:sSub>
                                      <m:sSubPr>
                                        <m:ctrlPr>
                                          <a:rPr lang="it-IT" sz="1600" i="1" smtClean="0">
                                            <a:latin typeface="Cambria Math" panose="02040503050406030204" pitchFamily="18" charset="0"/>
                                          </a:rPr>
                                        </m:ctrlPr>
                                      </m:sSubPr>
                                      <m:e>
                                        <m:r>
                                          <a:rPr lang="it-IT" sz="1600" i="1">
                                            <a:latin typeface="Cambria Math" panose="02040503050406030204" pitchFamily="18" charset="0"/>
                                          </a:rPr>
                                          <m:t>𝜅</m:t>
                                        </m:r>
                                      </m:e>
                                      <m:sub>
                                        <m:r>
                                          <a:rPr lang="it-IT" sz="1600" i="1">
                                            <a:latin typeface="Cambria Math" panose="02040503050406030204" pitchFamily="18" charset="0"/>
                                          </a:rPr>
                                          <m:t>0</m:t>
                                        </m:r>
                                      </m:sub>
                                    </m:sSub>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num>
                                  <m:den>
                                    <m:sSub>
                                      <m:sSubPr>
                                        <m:ctrlPr>
                                          <a:rPr lang="it-IT" sz="1600" i="1">
                                            <a:latin typeface="Cambria Math" panose="02040503050406030204" pitchFamily="18" charset="0"/>
                                          </a:rPr>
                                        </m:ctrlPr>
                                      </m:sSubPr>
                                      <m:e>
                                        <m:r>
                                          <a:rPr lang="it-IT" sz="1600" i="1">
                                            <a:latin typeface="Cambria Math" panose="02040503050406030204" pitchFamily="18" charset="0"/>
                                          </a:rPr>
                                          <m:t>𝜅</m:t>
                                        </m:r>
                                      </m:e>
                                      <m:sub>
                                        <m:r>
                                          <a:rPr lang="it-IT" sz="1600" i="1">
                                            <a:latin typeface="Cambria Math" panose="02040503050406030204" pitchFamily="18" charset="0"/>
                                          </a:rPr>
                                          <m:t>𝑛</m:t>
                                        </m:r>
                                      </m:sub>
                                    </m:sSub>
                                  </m:den>
                                </m:f>
                              </m:e>
                            </m:box>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bar>
                                      <m:barPr>
                                        <m:pos m:val="top"/>
                                        <m:ctrlPr>
                                          <a:rPr lang="it-IT" sz="1600" i="1">
                                            <a:latin typeface="Cambria Math" panose="02040503050406030204" pitchFamily="18" charset="0"/>
                                          </a:rPr>
                                        </m:ctrlPr>
                                      </m:barPr>
                                      <m:e>
                                        <m:r>
                                          <a:rPr lang="it-IT" sz="1600" i="1">
                                            <a:latin typeface="Cambria Math" panose="02040503050406030204" pitchFamily="18" charset="0"/>
                                          </a:rPr>
                                          <m:t>𝑥</m:t>
                                        </m:r>
                                      </m:e>
                                    </m:bar>
                                  </m:e>
                                  <m:sub>
                                    <m:r>
                                      <a:rPr lang="it-IT" sz="1600" i="1">
                                        <a:latin typeface="Cambria Math" panose="02040503050406030204" pitchFamily="18" charset="0"/>
                                      </a:rPr>
                                      <m:t>𝑘</m:t>
                                    </m:r>
                                    <m:r>
                                      <a:rPr lang="it-IT" sz="1600" i="1">
                                        <a:latin typeface="Cambria Math" panose="02040503050406030204" pitchFamily="18" charset="0"/>
                                      </a:rPr>
                                      <m:t>¬</m:t>
                                    </m:r>
                                    <m:r>
                                      <m:rPr>
                                        <m:sty m:val="p"/>
                                      </m:rPr>
                                      <a:rPr lang="it-IT" sz="1600" i="1">
                                        <a:latin typeface="Cambria Math" panose="02040503050406030204" pitchFamily="18" charset="0"/>
                                      </a:rPr>
                                      <m:t>i</m:t>
                                    </m:r>
                                  </m:sub>
                                </m:sSub>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𝜇</m:t>
                                    </m:r>
                                  </m:e>
                                  <m:sub>
                                    <m:r>
                                      <a:rPr lang="it-IT" sz="1600" i="1">
                                        <a:latin typeface="Cambria Math" panose="02040503050406030204" pitchFamily="18" charset="0"/>
                                      </a:rPr>
                                      <m:t>0</m:t>
                                    </m:r>
                                  </m:sub>
                                </m:sSub>
                              </m:e>
                            </m:d>
                            <m:sSup>
                              <m:sSupPr>
                                <m:ctrlPr>
                                  <a:rPr lang="it-IT" sz="1600" b="0" i="1" smtClean="0">
                                    <a:latin typeface="Cambria Math" panose="02040503050406030204" pitchFamily="18" charset="0"/>
                                  </a:rPr>
                                </m:ctrlPr>
                              </m:sSupPr>
                              <m:e>
                                <m:d>
                                  <m:dPr>
                                    <m:ctrlPr>
                                      <a:rPr lang="it-IT" sz="1600" i="1" smtClean="0">
                                        <a:latin typeface="Cambria Math" panose="02040503050406030204" pitchFamily="18" charset="0"/>
                                      </a:rPr>
                                    </m:ctrlPr>
                                  </m:dPr>
                                  <m:e>
                                    <m:sSub>
                                      <m:sSubPr>
                                        <m:ctrlPr>
                                          <a:rPr lang="it-IT" sz="1600" i="1">
                                            <a:latin typeface="Cambria Math" panose="02040503050406030204" pitchFamily="18" charset="0"/>
                                          </a:rPr>
                                        </m:ctrlPr>
                                      </m:sSubPr>
                                      <m:e>
                                        <m:bar>
                                          <m:barPr>
                                            <m:pos m:val="top"/>
                                            <m:ctrlPr>
                                              <a:rPr lang="it-IT" sz="1600" i="1">
                                                <a:latin typeface="Cambria Math" panose="02040503050406030204" pitchFamily="18" charset="0"/>
                                              </a:rPr>
                                            </m:ctrlPr>
                                          </m:barPr>
                                          <m:e>
                                            <m:r>
                                              <a:rPr lang="it-IT" sz="1600" i="1">
                                                <a:latin typeface="Cambria Math" panose="02040503050406030204" pitchFamily="18" charset="0"/>
                                              </a:rPr>
                                              <m:t>𝑥</m:t>
                                            </m:r>
                                          </m:e>
                                        </m:bar>
                                      </m:e>
                                      <m:sub>
                                        <m:r>
                                          <a:rPr lang="it-IT" sz="1600" i="1">
                                            <a:latin typeface="Cambria Math" panose="02040503050406030204" pitchFamily="18" charset="0"/>
                                          </a:rPr>
                                          <m:t>𝑘</m:t>
                                        </m:r>
                                        <m:r>
                                          <a:rPr lang="it-IT" sz="1600" i="1">
                                            <a:latin typeface="Cambria Math" panose="02040503050406030204" pitchFamily="18" charset="0"/>
                                          </a:rPr>
                                          <m:t>¬</m:t>
                                        </m:r>
                                        <m:r>
                                          <m:rPr>
                                            <m:sty m:val="p"/>
                                          </m:rPr>
                                          <a:rPr lang="it-IT" sz="1600" i="1">
                                            <a:latin typeface="Cambria Math" panose="02040503050406030204" pitchFamily="18" charset="0"/>
                                          </a:rPr>
                                          <m:t>i</m:t>
                                        </m:r>
                                      </m:sub>
                                    </m:sSub>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𝜇</m:t>
                                        </m:r>
                                      </m:e>
                                      <m:sub>
                                        <m:r>
                                          <a:rPr lang="it-IT" sz="1600" i="1">
                                            <a:latin typeface="Cambria Math" panose="02040503050406030204" pitchFamily="18" charset="0"/>
                                          </a:rPr>
                                          <m:t>0</m:t>
                                        </m:r>
                                      </m:sub>
                                    </m:sSub>
                                  </m:e>
                                </m:d>
                              </m:e>
                              <m:sup>
                                <m:r>
                                  <a:rPr lang="it-IT" sz="1600" b="0" i="1" smtClean="0">
                                    <a:latin typeface="Cambria Math" panose="02040503050406030204" pitchFamily="18" charset="0"/>
                                  </a:rPr>
                                  <m:t>⊺</m:t>
                                </m:r>
                              </m:sup>
                            </m:sSup>
                          </m:e>
                          <m:e>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𝑛</m:t>
                                </m:r>
                              </m:sub>
                            </m:sSub>
                            <m:r>
                              <a:rPr lang="it-IT" sz="1600" b="0" i="1" smtClean="0">
                                <a:latin typeface="Cambria Math" panose="02040503050406030204" pitchFamily="18" charset="0"/>
                              </a:rPr>
                              <m:t>=</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r>
                              <a:rPr lang="it-IT" sz="1600" b="0" i="1" smtClean="0">
                                <a:latin typeface="Cambria Math" panose="02040503050406030204" pitchFamily="18" charset="0"/>
                              </a:rPr>
                              <m:t>,  </m:t>
                            </m:r>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𝜇</m:t>
                                </m:r>
                              </m:e>
                              <m:sub>
                                <m:r>
                                  <a:rPr lang="it-IT" sz="1600" b="0" i="1" smtClean="0">
                                    <a:latin typeface="Cambria Math" panose="02040503050406030204" pitchFamily="18" charset="0"/>
                                  </a:rPr>
                                  <m:t>𝑛</m:t>
                                </m:r>
                              </m:sub>
                            </m:sSub>
                            <m:r>
                              <a:rPr lang="it-IT" sz="1600" b="0" i="1" smtClean="0">
                                <a:latin typeface="Cambria Math" panose="02040503050406030204" pitchFamily="18" charset="0"/>
                              </a:rPr>
                              <m:t>=</m:t>
                            </m:r>
                            <m:box>
                              <m:boxPr>
                                <m:ctrlPr>
                                  <a:rPr lang="it-IT" sz="1600" b="0" i="1" smtClean="0">
                                    <a:latin typeface="Cambria Math" panose="02040503050406030204" pitchFamily="18" charset="0"/>
                                  </a:rPr>
                                </m:ctrlPr>
                              </m:boxPr>
                              <m:e>
                                <m:argPr>
                                  <m:argSz m:val="-1"/>
                                </m:argPr>
                                <m:f>
                                  <m:fPr>
                                    <m:ctrlPr>
                                      <a:rPr lang="it-IT" sz="1600" b="0" i="1" smtClean="0">
                                        <a:latin typeface="Cambria Math" panose="02040503050406030204" pitchFamily="18" charset="0"/>
                                      </a:rPr>
                                    </m:ctrlPr>
                                  </m:fPr>
                                  <m:num>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0</m:t>
                                        </m:r>
                                      </m:sub>
                                    </m:sSub>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𝜇</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sSub>
                                      <m:sSubPr>
                                        <m:ctrlPr>
                                          <a:rPr lang="it-IT" sz="1600" i="1">
                                            <a:latin typeface="Cambria Math" panose="02040503050406030204" pitchFamily="18" charset="0"/>
                                          </a:rPr>
                                        </m:ctrlPr>
                                      </m:sSubPr>
                                      <m:e>
                                        <m:bar>
                                          <m:barPr>
                                            <m:pos m:val="top"/>
                                            <m:ctrlPr>
                                              <a:rPr lang="it-IT" sz="1600" i="1">
                                                <a:latin typeface="Cambria Math" panose="02040503050406030204" pitchFamily="18" charset="0"/>
                                              </a:rPr>
                                            </m:ctrlPr>
                                          </m:barPr>
                                          <m:e>
                                            <m:r>
                                              <a:rPr lang="it-IT" sz="1600" i="1">
                                                <a:latin typeface="Cambria Math" panose="02040503050406030204" pitchFamily="18" charset="0"/>
                                              </a:rPr>
                                              <m:t>𝑥</m:t>
                                            </m:r>
                                          </m:e>
                                        </m:bar>
                                      </m:e>
                                      <m:sub>
                                        <m:r>
                                          <a:rPr lang="it-IT" sz="1600" i="1">
                                            <a:latin typeface="Cambria Math" panose="02040503050406030204" pitchFamily="18" charset="0"/>
                                          </a:rPr>
                                          <m:t>𝑘</m:t>
                                        </m:r>
                                        <m:r>
                                          <a:rPr lang="it-IT" sz="1600" i="1">
                                            <a:latin typeface="Cambria Math" panose="02040503050406030204" pitchFamily="18" charset="0"/>
                                          </a:rPr>
                                          <m:t>¬</m:t>
                                        </m:r>
                                        <m:r>
                                          <m:rPr>
                                            <m:sty m:val="p"/>
                                          </m:rPr>
                                          <a:rPr lang="it-IT" sz="1600" i="1">
                                            <a:latin typeface="Cambria Math" panose="02040503050406030204" pitchFamily="18" charset="0"/>
                                          </a:rPr>
                                          <m:t>i</m:t>
                                        </m:r>
                                      </m:sub>
                                    </m:sSub>
                                  </m:num>
                                  <m:den>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𝜅</m:t>
                                        </m:r>
                                      </m:e>
                                      <m:sub>
                                        <m:r>
                                          <a:rPr lang="it-IT" sz="1600" b="0" i="1" smtClean="0">
                                            <a:latin typeface="Cambria Math" panose="02040503050406030204" pitchFamily="18" charset="0"/>
                                          </a:rPr>
                                          <m:t>0</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𝑛</m:t>
                                        </m:r>
                                      </m:e>
                                      <m:sub>
                                        <m:r>
                                          <a:rPr lang="it-IT" sz="1600" i="1">
                                            <a:latin typeface="Cambria Math" panose="02040503050406030204" pitchFamily="18" charset="0"/>
                                          </a:rPr>
                                          <m:t>𝑘</m:t>
                                        </m:r>
                                        <m:r>
                                          <a:rPr lang="it-IT" sz="1600" i="1">
                                            <a:latin typeface="Cambria Math" panose="02040503050406030204" pitchFamily="18" charset="0"/>
                                          </a:rPr>
                                          <m:t>¬</m:t>
                                        </m:r>
                                        <m:r>
                                          <a:rPr lang="it-IT" sz="1600" i="1">
                                            <a:latin typeface="Cambria Math" panose="02040503050406030204" pitchFamily="18" charset="0"/>
                                          </a:rPr>
                                          <m:t>𝑖</m:t>
                                        </m:r>
                                      </m:sub>
                                    </m:sSub>
                                  </m:den>
                                </m:f>
                              </m:e>
                            </m:box>
                          </m:e>
                        </m:eqArr>
                      </m:e>
                    </m:d>
                  </m:oMath>
                </a14:m>
                <a:endParaRPr lang="it-IT" sz="1600" dirty="0"/>
              </a:p>
              <a:p>
                <a:pPr marL="342900" indent="-342900">
                  <a:lnSpc>
                    <a:spcPct val="200000"/>
                  </a:lnSpc>
                  <a:buFont typeface="+mj-lt"/>
                  <a:buAutoNum type="arabicPeriod" startAt="2"/>
                </a:pPr>
                <a14:m>
                  <m:oMath xmlns:m="http://schemas.openxmlformats.org/officeDocument/2006/math">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r>
                      <a:rPr lang="it-IT" sz="1800" b="0" i="1" smtClean="0">
                        <a:latin typeface="Cambria Math" panose="02040503050406030204" pitchFamily="18" charset="0"/>
                      </a:rPr>
                      <m:t>=</m:t>
                    </m:r>
                  </m:oMath>
                </a14:m>
                <a:r>
                  <a:rPr lang="it-IT" sz="1800" dirty="0"/>
                  <a:t> </a:t>
                </a:r>
                <a14:m>
                  <m:oMath xmlns:m="http://schemas.openxmlformats.org/officeDocument/2006/math">
                    <m:r>
                      <a:rPr lang="it-IT" sz="1800" i="1" smtClean="0">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m:rPr>
                                <m:sty m:val="p"/>
                              </m:rPr>
                              <a:rPr lang="it-IT" sz="1800" i="1">
                                <a:latin typeface="Cambria Math" panose="02040503050406030204" pitchFamily="18" charset="0"/>
                              </a:rPr>
                              <m:t>k</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r>
                      <a:rPr lang="it-IT" sz="1800" b="0" i="0" smtClean="0">
                        <a:latin typeface="Cambria Math" panose="02040503050406030204" pitchFamily="18" charset="0"/>
                      </a:rPr>
                      <m:t>,  </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r>
                      <a:rPr lang="it-IT" sz="1800" b="0" i="1" smtClean="0">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b="0" i="1" smtClean="0">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b="0" i="1" smtClean="0">
                                <a:latin typeface="Cambria Math" panose="02040503050406030204" pitchFamily="18" charset="0"/>
                              </a:rPr>
                              <m:t>𝑛</m:t>
                            </m:r>
                          </m:sub>
                        </m:sSub>
                      </m:e>
                    </m:d>
                    <m:r>
                      <a:rPr lang="it-IT" sz="1800" i="1">
                        <a:latin typeface="Cambria Math" panose="02040503050406030204" pitchFamily="18" charset="0"/>
                      </a:rPr>
                      <m:t>⋅</m:t>
                    </m:r>
                    <m:r>
                      <m:rPr>
                        <m:nor/>
                      </m:rPr>
                      <a:rPr lang="it-IT" sz="1800">
                        <a:latin typeface="Cambria Math" panose="02040503050406030204" pitchFamily="18" charset="0"/>
                      </a:rPr>
                      <m:t>Inv</m:t>
                    </m:r>
                    <m:r>
                      <m:rPr>
                        <m:nor/>
                      </m:rPr>
                      <a:rPr lang="it-IT" sz="1800">
                        <a:latin typeface="Cambria Math" panose="02040503050406030204" pitchFamily="18" charset="0"/>
                      </a:rPr>
                      <m:t>−</m:t>
                    </m:r>
                    <m:r>
                      <m:rPr>
                        <m:nor/>
                      </m:rPr>
                      <a:rPr lang="it-IT" sz="1800">
                        <a:latin typeface="Cambria Math" panose="02040503050406030204" pitchFamily="18" charset="0"/>
                      </a:rPr>
                      <m:t>Wishart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𝑛</m:t>
                            </m:r>
                          </m:sub>
                        </m:sSub>
                      </m:e>
                    </m:d>
                  </m:oMath>
                </a14:m>
                <a:endParaRPr lang="it-IT" sz="1800" dirty="0"/>
              </a:p>
              <a:p>
                <a:pPr>
                  <a:lnSpc>
                    <a:spcPct val="100000"/>
                  </a:lnSpc>
                </a:pPr>
                <a:r>
                  <a:rPr lang="en-US" sz="1800" dirty="0"/>
                  <a:t>Let's put the pieces together, isolate the components dependent on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oMath>
                </a14:m>
                <a:r>
                  <a:rPr lang="en-US" sz="1800" dirty="0"/>
                  <a:t>, and apply the convolution of two Gaussians.</a:t>
                </a:r>
              </a:p>
              <a:p>
                <a:pPr>
                  <a:lnSpc>
                    <a:spcPct val="100000"/>
                  </a:lnSpc>
                </a:pPr>
                <a14:m>
                  <m:oMath xmlns:m="http://schemas.openxmlformats.org/officeDocument/2006/math">
                    <m:m>
                      <m:mPr>
                        <m:plcHide m:val="on"/>
                        <m:mcs>
                          <m:mc>
                            <m:mcPr>
                              <m:count m:val="3"/>
                              <m:mcJc m:val="center"/>
                            </m:mcPr>
                          </m:mc>
                        </m:mcs>
                        <m:ctrlPr>
                          <a:rPr lang="it-IT" sz="1800" i="1" smtClean="0">
                            <a:latin typeface="Cambria Math" panose="02040503050406030204" pitchFamily="18" charset="0"/>
                          </a:rPr>
                        </m:ctrlPr>
                      </m:mPr>
                      <m:mr>
                        <m:e>
                          <m:r>
                            <a:rPr lang="it-IT" sz="1800" i="1">
                              <a:latin typeface="Cambria Math" panose="02040503050406030204" pitchFamily="18" charset="0"/>
                            </a:rPr>
                            <m:t>⇒</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𝒙</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e>
                        <m:e>
                          <m:r>
                            <a:rPr lang="it-IT" sz="1800" b="0" i="1" smtClean="0">
                              <a:latin typeface="Cambria Math" panose="02040503050406030204" pitchFamily="18" charset="0"/>
                            </a:rPr>
                            <m:t>=</m:t>
                          </m:r>
                        </m:e>
                        <m:e>
                          <m:r>
                            <a:rPr lang="it-IT" sz="1800" i="1">
                              <a:latin typeface="Cambria Math" panose="02040503050406030204" pitchFamily="18" charset="0"/>
                            </a:rPr>
                            <m:t>∫</m:t>
                          </m:r>
                          <m:d>
                            <m:dPr>
                              <m:ctrlPr>
                                <a:rPr lang="it-IT" sz="1800" i="1">
                                  <a:latin typeface="Cambria Math" panose="02040503050406030204" pitchFamily="18" charset="0"/>
                                </a:rPr>
                              </m:ctrlPr>
                            </m:dPr>
                            <m:e>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m:rPr>
                                          <m:sty m:val="p"/>
                                        </m:rPr>
                                        <a:rPr lang="it-IT" sz="1800" i="1">
                                          <a:latin typeface="Cambria Math" panose="02040503050406030204" pitchFamily="18" charset="0"/>
                                        </a:rPr>
                                        <m:t>k</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d>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e>
                              </m:d>
                              <m:r>
                                <a:rPr lang="it-IT" sz="1800" i="1">
                                  <a:latin typeface="Cambria Math" panose="02040503050406030204" pitchFamily="18" charset="0"/>
                                </a:rPr>
                                <m:t>𝑑</m:t>
                              </m:r>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𝑘</m:t>
                                  </m:r>
                                </m:sub>
                              </m:sSub>
                            </m:e>
                          </m:d>
                          <m:r>
                            <m:rPr>
                              <m:nor/>
                            </m:rPr>
                            <a:rPr lang="it-IT" sz="1800" dirty="0"/>
                            <m:t> </m:t>
                          </m:r>
                          <m:r>
                            <m:rPr>
                              <m:nor/>
                            </m:rPr>
                            <a:rPr lang="it-IT" sz="1800">
                              <a:latin typeface="Cambria Math" panose="02040503050406030204" pitchFamily="18" charset="0"/>
                            </a:rPr>
                            <m:t>Inv</m:t>
                          </m:r>
                          <m:r>
                            <m:rPr>
                              <m:nor/>
                            </m:rPr>
                            <a:rPr lang="it-IT" sz="1800">
                              <a:latin typeface="Cambria Math" panose="02040503050406030204" pitchFamily="18" charset="0"/>
                            </a:rPr>
                            <m:t>−</m:t>
                          </m:r>
                          <m:r>
                            <m:rPr>
                              <m:nor/>
                            </m:rPr>
                            <a:rPr lang="it-IT" sz="1800">
                              <a:latin typeface="Cambria Math" panose="02040503050406030204" pitchFamily="18" charset="0"/>
                            </a:rPr>
                            <m:t>Wishart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𝑛</m:t>
                                  </m:r>
                                </m:sub>
                              </m:sSub>
                            </m:e>
                          </m:d>
                          <m:r>
                            <a:rPr lang="it-IT" sz="1800" i="1">
                              <a:latin typeface="Cambria Math" panose="02040503050406030204" pitchFamily="18" charset="0"/>
                            </a:rPr>
                            <m:t>𝑑</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r>
                            <a:rPr lang="it-IT" sz="1800" i="1">
                              <a:latin typeface="Cambria Math" panose="02040503050406030204" pitchFamily="18" charset="0"/>
                            </a:rPr>
                            <m:t>=</m:t>
                          </m:r>
                        </m:e>
                      </m:mr>
                      <m:mr>
                        <m:e/>
                        <m:e>
                          <m:r>
                            <a:rPr lang="it-IT" sz="1800" b="0" i="1" smtClean="0">
                              <a:latin typeface="Cambria Math" panose="02040503050406030204" pitchFamily="18" charset="0"/>
                            </a:rPr>
                            <m:t>=</m:t>
                          </m:r>
                        </m:e>
                        <m:e>
                          <m:r>
                            <a:rPr lang="it-IT" sz="1800" i="1">
                              <a:latin typeface="Cambria Math" panose="02040503050406030204" pitchFamily="18" charset="0"/>
                            </a:rPr>
                            <m:t>∫</m:t>
                          </m:r>
                          <m:r>
                            <a:rPr lang="it-IT" sz="1800" i="1">
                              <a:latin typeface="Cambria Math" panose="02040503050406030204" pitchFamily="18" charset="0"/>
                            </a:rPr>
                            <m:t>𝒩</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r>
                                <a:rPr lang="it-IT" sz="1800" b="0" i="1" smtClean="0">
                                  <a:latin typeface="Cambria Math" panose="02040503050406030204" pitchFamily="18" charset="0"/>
                                </a:rPr>
                                <m:t>(1+1</m:t>
                              </m:r>
                              <m:r>
                                <m:rPr>
                                  <m:lit/>
                                </m:rP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𝜅</m:t>
                                  </m:r>
                                </m:e>
                                <m:sub>
                                  <m:r>
                                    <a:rPr lang="it-IT" sz="1800" i="1">
                                      <a:latin typeface="Cambria Math" panose="02040503050406030204" pitchFamily="18" charset="0"/>
                                    </a:rPr>
                                    <m:t>𝑛</m:t>
                                  </m:r>
                                </m:sub>
                              </m:sSub>
                              <m:r>
                                <a:rPr lang="it-IT" sz="1800" b="0" i="1" smtClean="0">
                                  <a:latin typeface="Cambria Math" panose="02040503050406030204" pitchFamily="18" charset="0"/>
                                </a:rPr>
                                <m:t>)</m:t>
                              </m:r>
                            </m:e>
                          </m:d>
                          <m:r>
                            <a:rPr lang="it-IT" sz="1800" b="0" i="1" smtClean="0">
                              <a:latin typeface="Cambria Math" panose="02040503050406030204" pitchFamily="18" charset="0"/>
                            </a:rPr>
                            <m:t>⋅</m:t>
                          </m:r>
                          <m:r>
                            <m:rPr>
                              <m:nor/>
                            </m:rPr>
                            <a:rPr lang="it-IT" sz="1800">
                              <a:latin typeface="Cambria Math" panose="02040503050406030204" pitchFamily="18" charset="0"/>
                            </a:rPr>
                            <m:t>Inv</m:t>
                          </m:r>
                          <m:r>
                            <m:rPr>
                              <m:nor/>
                            </m:rPr>
                            <a:rPr lang="it-IT" sz="1800">
                              <a:latin typeface="Cambria Math" panose="02040503050406030204" pitchFamily="18" charset="0"/>
                            </a:rPr>
                            <m:t>−</m:t>
                          </m:r>
                          <m:r>
                            <m:rPr>
                              <m:nor/>
                            </m:rPr>
                            <a:rPr lang="it-IT" sz="1800">
                              <a:latin typeface="Cambria Math" panose="02040503050406030204" pitchFamily="18" charset="0"/>
                            </a:rPr>
                            <m:t>Wishart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𝑛</m:t>
                                  </m:r>
                                </m:sub>
                              </m:sSub>
                            </m:e>
                          </m:d>
                          <m:r>
                            <a:rPr lang="it-IT" sz="1800" i="1">
                              <a:latin typeface="Cambria Math" panose="02040503050406030204" pitchFamily="18" charset="0"/>
                            </a:rPr>
                            <m:t>𝑑</m:t>
                          </m:r>
                          <m:sSub>
                            <m:sSubPr>
                              <m:ctrlPr>
                                <a:rPr lang="it-IT" sz="1800" i="1">
                                  <a:latin typeface="Cambria Math" panose="02040503050406030204" pitchFamily="18" charset="0"/>
                                </a:rPr>
                              </m:ctrlPr>
                            </m:sSubPr>
                            <m:e>
                              <m:r>
                                <m:rPr>
                                  <m:sty m:val="p"/>
                                </m:rPr>
                                <a:rPr lang="it-IT" sz="1800" i="1">
                                  <a:latin typeface="Cambria Math" panose="02040503050406030204" pitchFamily="18" charset="0"/>
                                </a:rPr>
                                <m:t>Σ</m:t>
                              </m:r>
                            </m:e>
                            <m:sub>
                              <m:r>
                                <a:rPr lang="it-IT" sz="1800" i="1">
                                  <a:latin typeface="Cambria Math" panose="02040503050406030204" pitchFamily="18" charset="0"/>
                                </a:rPr>
                                <m:t>𝑘</m:t>
                              </m:r>
                            </m:sub>
                          </m:sSub>
                        </m:e>
                      </m:mr>
                    </m:m>
                  </m:oMath>
                </a14:m>
                <a:endParaRPr lang="it-IT" sz="1800" dirty="0"/>
              </a:p>
            </p:txBody>
          </p:sp>
        </mc:Choice>
        <mc:Fallback xmlns="">
          <p:sp>
            <p:nvSpPr>
              <p:cNvPr id="3" name="Content Placeholder 2">
                <a:extLst>
                  <a:ext uri="{FF2B5EF4-FFF2-40B4-BE49-F238E27FC236}">
                    <a16:creationId xmlns:a16="http://schemas.microsoft.com/office/drawing/2014/main" id="{FBDB4076-AA53-FCE3-2A67-2C7CCB81F6E7}"/>
                  </a:ext>
                </a:extLst>
              </p:cNvPr>
              <p:cNvSpPr>
                <a:spLocks noGrp="1" noRot="1" noChangeAspect="1" noMove="1" noResize="1" noEditPoints="1" noAdjustHandles="1" noChangeArrowheads="1" noChangeShapeType="1" noTextEdit="1"/>
              </p:cNvSpPr>
              <p:nvPr>
                <p:ph idx="1"/>
              </p:nvPr>
            </p:nvSpPr>
            <p:spPr>
              <a:xfrm>
                <a:off x="700635" y="1563077"/>
                <a:ext cx="10790730" cy="4743938"/>
              </a:xfrm>
              <a:blipFill>
                <a:blip r:embed="rId3"/>
                <a:stretch>
                  <a:fillRect l="-452" t="-513"/>
                </a:stretch>
              </a:blipFill>
            </p:spPr>
            <p:txBody>
              <a:bodyPr/>
              <a:lstStyle/>
              <a:p>
                <a:r>
                  <a:rPr lang="it-IT">
                    <a:noFill/>
                  </a:rPr>
                  <a:t> </a:t>
                </a:r>
              </a:p>
            </p:txBody>
          </p:sp>
        </mc:Fallback>
      </mc:AlternateContent>
    </p:spTree>
    <p:extLst>
      <p:ext uri="{BB962C8B-B14F-4D97-AF65-F5344CB8AC3E}">
        <p14:creationId xmlns:p14="http://schemas.microsoft.com/office/powerpoint/2010/main" val="37145464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64524-9AA4-DCA9-B4A6-EC75DABD1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2AA4C-B42B-DE9D-0A1F-5F6AB20F1419}"/>
              </a:ext>
            </a:extLst>
          </p:cNvPr>
          <p:cNvSpPr>
            <a:spLocks noGrp="1"/>
          </p:cNvSpPr>
          <p:nvPr>
            <p:ph type="title"/>
          </p:nvPr>
        </p:nvSpPr>
        <p:spPr/>
        <p:txBody>
          <a:bodyPr/>
          <a:lstStyle/>
          <a:p>
            <a:r>
              <a:rPr lang="it-IT" dirty="0">
                <a:solidFill>
                  <a:srgbClr val="FF0000"/>
                </a:solidFill>
              </a:rPr>
              <a:t>Multidimensional generalization</a:t>
            </a:r>
            <a:r>
              <a:rPr lang="it-IT" dirty="0"/>
              <a:t> </a:t>
            </a:r>
            <a:r>
              <a:rPr lang="it-IT" dirty="0">
                <a:solidFill>
                  <a:srgbClr val="FF0000"/>
                </a:solidFill>
              </a:rPr>
              <a:t>(3/3)</a:t>
            </a:r>
            <a:endParaRPr lang="it-I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99E668-3316-6535-E647-60D884C95C42}"/>
                  </a:ext>
                </a:extLst>
              </p:cNvPr>
              <p:cNvSpPr>
                <a:spLocks noGrp="1"/>
              </p:cNvSpPr>
              <p:nvPr>
                <p:ph idx="1"/>
              </p:nvPr>
            </p:nvSpPr>
            <p:spPr>
              <a:xfrm>
                <a:off x="700635" y="1563077"/>
                <a:ext cx="10790730" cy="4650154"/>
              </a:xfrm>
            </p:spPr>
            <p:txBody>
              <a:bodyPr>
                <a:normAutofit/>
              </a:bodyPr>
              <a:lstStyle/>
              <a:p>
                <a:pPr marL="342900" indent="-342900">
                  <a:lnSpc>
                    <a:spcPct val="100000"/>
                  </a:lnSpc>
                  <a:buFont typeface="+mj-lt"/>
                  <a:buAutoNum type="arabicPeriod" startAt="3"/>
                </a:pPr>
                <a:r>
                  <a:rPr lang="en-US" sz="1800" dirty="0"/>
                  <a:t>The Inverse-Wishart normalizing constant is</a:t>
                </a:r>
                <a:r>
                  <a:rPr lang="it-IT" sz="1800" dirty="0"/>
                  <a:t>:</a:t>
                </a:r>
                <a:r>
                  <a:rPr lang="en-US" sz="1800" dirty="0"/>
                  <a:t> </a:t>
                </a:r>
                <a14:m>
                  <m:oMath xmlns:m="http://schemas.openxmlformats.org/officeDocument/2006/math">
                    <m:nary>
                      <m:naryPr>
                        <m:subHide m:val="on"/>
                        <m:supHide m:val="on"/>
                        <m:ctrlPr>
                          <a:rPr lang="it-IT" sz="1800" b="0" i="1" dirty="0" smtClean="0">
                            <a:latin typeface="Cambria Math" panose="02040503050406030204" pitchFamily="18" charset="0"/>
                          </a:rPr>
                        </m:ctrlPr>
                      </m:naryPr>
                      <m:sub/>
                      <m:sup/>
                      <m:e>
                        <m:sSup>
                          <m:sSupPr>
                            <m:ctrlPr>
                              <a:rPr lang="it-IT" sz="1800" b="0" i="1" dirty="0" smtClean="0">
                                <a:latin typeface="Cambria Math" panose="02040503050406030204" pitchFamily="18" charset="0"/>
                              </a:rPr>
                            </m:ctrlPr>
                          </m:sSupPr>
                          <m:e>
                            <m:r>
                              <a:rPr lang="it-IT" sz="1800" b="0" i="1" dirty="0" smtClean="0">
                                <a:latin typeface="Cambria Math" panose="02040503050406030204" pitchFamily="18" charset="0"/>
                              </a:rPr>
                              <m:t>|</m:t>
                            </m:r>
                            <m:r>
                              <m:rPr>
                                <m:sty m:val="p"/>
                              </m:rPr>
                              <a:rPr lang="it-IT" sz="1800" i="1">
                                <a:latin typeface="Cambria Math" panose="02040503050406030204" pitchFamily="18" charset="0"/>
                              </a:rPr>
                              <m:t>Σ</m:t>
                            </m:r>
                            <m:r>
                              <a:rPr lang="it-IT" sz="1800" b="0" i="1" smtClean="0">
                                <a:latin typeface="Cambria Math" panose="02040503050406030204" pitchFamily="18" charset="0"/>
                              </a:rPr>
                              <m:t>|</m:t>
                            </m:r>
                          </m:e>
                          <m:sup>
                            <m:r>
                              <a:rPr lang="it-IT" sz="1800" b="0" i="1" dirty="0" smtClean="0">
                                <a:latin typeface="Cambria Math" panose="02040503050406030204" pitchFamily="18" charset="0"/>
                              </a:rPr>
                              <m:t>−</m:t>
                            </m:r>
                            <m:d>
                              <m:dPr>
                                <m:ctrlPr>
                                  <a:rPr lang="it-IT" sz="1800" b="0" i="1" dirty="0" smtClean="0">
                                    <a:latin typeface="Cambria Math" panose="02040503050406030204" pitchFamily="18" charset="0"/>
                                  </a:rPr>
                                </m:ctrlPr>
                              </m:dPr>
                              <m:e>
                                <m:r>
                                  <m:rPr>
                                    <m:sty m:val="p"/>
                                  </m:rPr>
                                  <a:rPr lang="it-IT" sz="1800" b="0" i="1" dirty="0" smtClean="0">
                                    <a:latin typeface="Cambria Math" panose="02040503050406030204" pitchFamily="18" charset="0"/>
                                  </a:rPr>
                                  <m:t>ν</m:t>
                                </m:r>
                                <m:r>
                                  <a:rPr lang="it-IT" sz="1800" b="0" i="1" dirty="0" smtClean="0">
                                    <a:latin typeface="Cambria Math" panose="02040503050406030204" pitchFamily="18" charset="0"/>
                                  </a:rPr>
                                  <m:t>+</m:t>
                                </m:r>
                                <m:r>
                                  <m:rPr>
                                    <m:sty m:val="p"/>
                                  </m:rPr>
                                  <a:rPr lang="it-IT" sz="1800" b="0" i="1" dirty="0" smtClean="0">
                                    <a:latin typeface="Cambria Math" panose="02040503050406030204" pitchFamily="18" charset="0"/>
                                  </a:rPr>
                                  <m:t>d</m:t>
                                </m:r>
                                <m:r>
                                  <a:rPr lang="it-IT" sz="1800" b="0" i="1" dirty="0" smtClean="0">
                                    <a:latin typeface="Cambria Math" panose="02040503050406030204" pitchFamily="18" charset="0"/>
                                  </a:rPr>
                                  <m:t>+1</m:t>
                                </m:r>
                              </m:e>
                            </m:d>
                            <m:r>
                              <a:rPr lang="it-IT" sz="1800" b="0" i="1" dirty="0" smtClean="0">
                                <a:latin typeface="Cambria Math" panose="02040503050406030204" pitchFamily="18" charset="0"/>
                              </a:rPr>
                              <m:t>/2</m:t>
                            </m:r>
                          </m:sup>
                        </m:sSup>
                      </m:e>
                    </m:nary>
                    <m:sSup>
                      <m:sSupPr>
                        <m:ctrlPr>
                          <a:rPr lang="it-IT" sz="1800" b="0" i="1" dirty="0" smtClean="0">
                            <a:latin typeface="Cambria Math" panose="02040503050406030204" pitchFamily="18" charset="0"/>
                          </a:rPr>
                        </m:ctrlPr>
                      </m:sSupPr>
                      <m:e>
                        <m:r>
                          <a:rPr lang="it-IT" sz="1800" b="0" i="1" dirty="0" smtClean="0">
                            <a:latin typeface="Cambria Math" panose="02040503050406030204" pitchFamily="18" charset="0"/>
                          </a:rPr>
                          <m:t>𝑒</m:t>
                        </m:r>
                      </m:e>
                      <m:sup>
                        <m:r>
                          <a:rPr lang="it-IT" sz="1800" b="0" i="1" dirty="0" smtClean="0">
                            <a:latin typeface="Cambria Math" panose="02040503050406030204" pitchFamily="18" charset="0"/>
                          </a:rPr>
                          <m:t>−</m:t>
                        </m:r>
                        <m:r>
                          <a:rPr lang="it-IT" sz="1800" b="0" i="1" dirty="0" smtClean="0">
                            <a:latin typeface="Cambria Math" panose="02040503050406030204" pitchFamily="18" charset="0"/>
                          </a:rPr>
                          <m:t>𝑡𝑟</m:t>
                        </m:r>
                        <m:d>
                          <m:dPr>
                            <m:ctrlPr>
                              <a:rPr lang="it-IT" sz="1800" b="0" i="1" dirty="0" smtClean="0">
                                <a:latin typeface="Cambria Math" panose="02040503050406030204" pitchFamily="18" charset="0"/>
                              </a:rPr>
                            </m:ctrlPr>
                          </m:dPr>
                          <m:e>
                            <m:r>
                              <m:rPr>
                                <m:sty m:val="p"/>
                              </m:rPr>
                              <a:rPr lang="it-IT" sz="1800" b="0" i="0" dirty="0" smtClean="0">
                                <a:latin typeface="Cambria Math" panose="02040503050406030204" pitchFamily="18" charset="0"/>
                              </a:rPr>
                              <m:t>Λ</m:t>
                            </m:r>
                            <m:sSup>
                              <m:sSupPr>
                                <m:ctrlPr>
                                  <a:rPr lang="it-IT" sz="1800" b="0" i="1" dirty="0" smtClean="0">
                                    <a:latin typeface="Cambria Math" panose="02040503050406030204" pitchFamily="18" charset="0"/>
                                  </a:rPr>
                                </m:ctrlPr>
                              </m:sSupPr>
                              <m:e>
                                <m:r>
                                  <m:rPr>
                                    <m:sty m:val="p"/>
                                  </m:rPr>
                                  <a:rPr lang="it-IT" sz="1800" b="0" i="0" dirty="0" smtClean="0">
                                    <a:latin typeface="Cambria Math" panose="02040503050406030204" pitchFamily="18" charset="0"/>
                                  </a:rPr>
                                  <m:t>Σ</m:t>
                                </m:r>
                              </m:e>
                              <m:sup>
                                <m:r>
                                  <a:rPr lang="it-IT" sz="1800" b="0" i="1" dirty="0" smtClean="0">
                                    <a:latin typeface="Cambria Math" panose="02040503050406030204" pitchFamily="18" charset="0"/>
                                  </a:rPr>
                                  <m:t>−1</m:t>
                                </m:r>
                              </m:sup>
                            </m:sSup>
                          </m:e>
                        </m:d>
                        <m:r>
                          <m:rPr>
                            <m:lit/>
                          </m:rPr>
                          <a:rPr lang="it-IT" sz="1800" b="0" i="1" dirty="0" smtClean="0">
                            <a:latin typeface="Cambria Math" panose="02040503050406030204" pitchFamily="18" charset="0"/>
                          </a:rPr>
                          <m:t>/</m:t>
                        </m:r>
                        <m:r>
                          <a:rPr lang="it-IT" sz="1800" b="0" i="1" dirty="0" smtClean="0">
                            <a:latin typeface="Cambria Math" panose="02040503050406030204" pitchFamily="18" charset="0"/>
                          </a:rPr>
                          <m:t>2</m:t>
                        </m:r>
                      </m:sup>
                    </m:sSup>
                    <m:r>
                      <a:rPr lang="it-IT" sz="1800" b="0" i="1" dirty="0" smtClean="0">
                        <a:latin typeface="Cambria Math" panose="02040503050406030204" pitchFamily="18" charset="0"/>
                      </a:rPr>
                      <m:t>𝑑</m:t>
                    </m:r>
                    <m:r>
                      <m:rPr>
                        <m:sty m:val="p"/>
                      </m:rPr>
                      <a:rPr lang="it-IT" sz="1800" b="0" i="1" dirty="0" smtClean="0">
                        <a:latin typeface="Cambria Math" panose="02040503050406030204" pitchFamily="18" charset="0"/>
                      </a:rPr>
                      <m:t>Σ</m:t>
                    </m:r>
                    <m:r>
                      <a:rPr lang="en-US" sz="1800" i="1" dirty="0">
                        <a:latin typeface="Cambria Math" panose="02040503050406030204" pitchFamily="18" charset="0"/>
                      </a:rPr>
                      <m:t>=</m:t>
                    </m:r>
                    <m:d>
                      <m:dPr>
                        <m:ctrlPr>
                          <a:rPr lang="it-IT" sz="1800" b="0" i="1" dirty="0" smtClean="0">
                            <a:latin typeface="Cambria Math" panose="02040503050406030204" pitchFamily="18" charset="0"/>
                          </a:rPr>
                        </m:ctrlPr>
                      </m:dPr>
                      <m:e>
                        <m:sSup>
                          <m:sSupPr>
                            <m:ctrlPr>
                              <a:rPr lang="it-IT" sz="1800" b="0" i="1" dirty="0" smtClean="0">
                                <a:latin typeface="Cambria Math" panose="02040503050406030204" pitchFamily="18" charset="0"/>
                              </a:rPr>
                            </m:ctrlPr>
                          </m:sSupPr>
                          <m:e>
                            <m:r>
                              <a:rPr lang="it-IT" sz="1800" b="0" i="1" dirty="0" smtClean="0">
                                <a:latin typeface="Cambria Math" panose="02040503050406030204" pitchFamily="18" charset="0"/>
                              </a:rPr>
                              <m:t>2</m:t>
                            </m:r>
                          </m:e>
                          <m:sup>
                            <m:r>
                              <a:rPr lang="it-IT" sz="1800" b="0" i="1" dirty="0" smtClean="0">
                                <a:latin typeface="Cambria Math" panose="02040503050406030204" pitchFamily="18" charset="0"/>
                              </a:rPr>
                              <m:t>𝜈</m:t>
                            </m:r>
                            <m:r>
                              <a:rPr lang="it-IT" sz="1800" b="0" i="1" dirty="0" smtClean="0">
                                <a:latin typeface="Cambria Math" panose="02040503050406030204" pitchFamily="18" charset="0"/>
                              </a:rPr>
                              <m:t>𝑑</m:t>
                            </m:r>
                            <m:r>
                              <m:rPr>
                                <m:lit/>
                              </m:rPr>
                              <a:rPr lang="it-IT" sz="1800" b="0" i="1" dirty="0" smtClean="0">
                                <a:latin typeface="Cambria Math" panose="02040503050406030204" pitchFamily="18" charset="0"/>
                              </a:rPr>
                              <m:t>/</m:t>
                            </m:r>
                            <m:r>
                              <a:rPr lang="it-IT" sz="1800" b="0" i="1" dirty="0" smtClean="0">
                                <a:latin typeface="Cambria Math" panose="02040503050406030204" pitchFamily="18" charset="0"/>
                              </a:rPr>
                              <m:t>2</m:t>
                            </m:r>
                          </m:sup>
                        </m:sSup>
                        <m:sSub>
                          <m:sSubPr>
                            <m:ctrlPr>
                              <a:rPr lang="it-IT" sz="1800" b="0" i="1" dirty="0" smtClean="0">
                                <a:latin typeface="Cambria Math" panose="02040503050406030204" pitchFamily="18" charset="0"/>
                              </a:rPr>
                            </m:ctrlPr>
                          </m:sSubPr>
                          <m:e>
                            <m:r>
                              <m:rPr>
                                <m:sty m:val="p"/>
                              </m:rPr>
                              <a:rPr lang="it-IT" sz="1800" b="0" i="0" dirty="0" smtClean="0">
                                <a:latin typeface="Cambria Math" panose="02040503050406030204" pitchFamily="18" charset="0"/>
                              </a:rPr>
                              <m:t>Γ</m:t>
                            </m:r>
                          </m:e>
                          <m:sub>
                            <m:r>
                              <a:rPr lang="it-IT" sz="1800" b="0" i="1" dirty="0" smtClean="0">
                                <a:latin typeface="Cambria Math" panose="02040503050406030204" pitchFamily="18" charset="0"/>
                              </a:rPr>
                              <m:t>𝑑</m:t>
                            </m:r>
                          </m:sub>
                        </m:sSub>
                        <m:d>
                          <m:dPr>
                            <m:ctrlPr>
                              <a:rPr lang="it-IT" sz="1800" b="0" i="1" dirty="0" smtClean="0">
                                <a:latin typeface="Cambria Math" panose="02040503050406030204" pitchFamily="18" charset="0"/>
                              </a:rPr>
                            </m:ctrlPr>
                          </m:dPr>
                          <m:e>
                            <m:r>
                              <a:rPr lang="it-IT" sz="1800" b="0" i="1" dirty="0" smtClean="0">
                                <a:latin typeface="Cambria Math" panose="02040503050406030204" pitchFamily="18" charset="0"/>
                              </a:rPr>
                              <m:t>𝜈</m:t>
                            </m:r>
                            <m:r>
                              <m:rPr>
                                <m:lit/>
                              </m:rPr>
                              <a:rPr lang="it-IT" sz="1800" b="0" i="1" dirty="0" smtClean="0">
                                <a:latin typeface="Cambria Math" panose="02040503050406030204" pitchFamily="18" charset="0"/>
                              </a:rPr>
                              <m:t>/</m:t>
                            </m:r>
                            <m:r>
                              <a:rPr lang="it-IT" sz="1800" b="0" i="1" dirty="0" smtClean="0">
                                <a:latin typeface="Cambria Math" panose="02040503050406030204" pitchFamily="18" charset="0"/>
                              </a:rPr>
                              <m:t>2</m:t>
                            </m:r>
                          </m:e>
                        </m:d>
                      </m:e>
                    </m:d>
                    <m:r>
                      <m:rPr>
                        <m:lit/>
                      </m:rPr>
                      <a:rPr lang="it-IT" sz="1800" b="0" i="1" dirty="0" smtClean="0">
                        <a:latin typeface="Cambria Math" panose="02040503050406030204" pitchFamily="18" charset="0"/>
                      </a:rPr>
                      <m:t>/</m:t>
                    </m:r>
                    <m:sSup>
                      <m:sSupPr>
                        <m:ctrlPr>
                          <a:rPr lang="it-IT" sz="1800" i="1" dirty="0">
                            <a:latin typeface="Cambria Math" panose="02040503050406030204" pitchFamily="18" charset="0"/>
                          </a:rPr>
                        </m:ctrlPr>
                      </m:sSupPr>
                      <m:e>
                        <m:r>
                          <m:rPr>
                            <m:lit/>
                          </m:rPr>
                          <a:rPr lang="it-IT" sz="1800" i="1" dirty="0">
                            <a:latin typeface="Cambria Math" panose="02040503050406030204" pitchFamily="18" charset="0"/>
                          </a:rPr>
                          <m:t>|</m:t>
                        </m:r>
                        <m:r>
                          <m:rPr>
                            <m:lit/>
                            <m:sty m:val="p"/>
                          </m:rPr>
                          <a:rPr lang="it-IT" sz="1800" i="1" dirty="0">
                            <a:latin typeface="Cambria Math" panose="02040503050406030204" pitchFamily="18" charset="0"/>
                          </a:rPr>
                          <m:t>Λ</m:t>
                        </m:r>
                        <m:r>
                          <m:rPr>
                            <m:lit/>
                          </m:rPr>
                          <a:rPr lang="it-IT" sz="1800" i="1" dirty="0">
                            <a:latin typeface="Cambria Math" panose="02040503050406030204" pitchFamily="18" charset="0"/>
                          </a:rPr>
                          <m:t>|</m:t>
                        </m:r>
                      </m:e>
                      <m:sup>
                        <m:r>
                          <a:rPr lang="it-IT" sz="1800" i="1" dirty="0">
                            <a:latin typeface="Cambria Math" panose="02040503050406030204" pitchFamily="18" charset="0"/>
                          </a:rPr>
                          <m:t>𝜈</m:t>
                        </m:r>
                        <m:r>
                          <m:rPr>
                            <m:lit/>
                          </m:rPr>
                          <a:rPr lang="it-IT" sz="1800" i="1" dirty="0">
                            <a:latin typeface="Cambria Math" panose="02040503050406030204" pitchFamily="18" charset="0"/>
                          </a:rPr>
                          <m:t>/</m:t>
                        </m:r>
                        <m:r>
                          <a:rPr lang="it-IT" sz="1800" i="1" dirty="0">
                            <a:latin typeface="Cambria Math" panose="02040503050406030204" pitchFamily="18" charset="0"/>
                          </a:rPr>
                          <m:t>2</m:t>
                        </m:r>
                      </m:sup>
                    </m:sSup>
                    <m:r>
                      <a:rPr lang="it-IT" sz="1800" b="0" i="1" dirty="0" smtClean="0">
                        <a:latin typeface="Cambria Math" panose="02040503050406030204" pitchFamily="18" charset="0"/>
                      </a:rPr>
                      <m:t>.</m:t>
                    </m:r>
                  </m:oMath>
                </a14:m>
                <a:endParaRPr lang="it-IT" sz="1800" dirty="0"/>
              </a:p>
              <a:p>
                <a:pPr>
                  <a:lnSpc>
                    <a:spcPct val="100000"/>
                  </a:lnSpc>
                </a:pPr>
                <a:r>
                  <a:rPr lang="it-IT" sz="1800" dirty="0"/>
                  <a:t>Let’s write explicitly the distrubition inside and define </a:t>
                </a:r>
                <a14:m>
                  <m:oMath xmlns:m="http://schemas.openxmlformats.org/officeDocument/2006/math">
                    <m:r>
                      <a:rPr lang="it-IT" sz="1800" b="0" i="1" smtClean="0">
                        <a:latin typeface="Cambria Math" panose="02040503050406030204" pitchFamily="18" charset="0"/>
                      </a:rPr>
                      <m:t>𝑐</m:t>
                    </m:r>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𝜅</m:t>
                        </m:r>
                      </m:e>
                      <m:sub>
                        <m:r>
                          <a:rPr lang="it-IT" sz="1800" b="0" i="1" smtClean="0">
                            <a:latin typeface="Cambria Math" panose="02040503050406030204" pitchFamily="18" charset="0"/>
                          </a:rPr>
                          <m:t>𝑛</m:t>
                        </m:r>
                      </m:sub>
                    </m:sSub>
                    <m:r>
                      <m:rPr>
                        <m:lit/>
                      </m:rP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𝜅</m:t>
                            </m:r>
                          </m:e>
                          <m:sub>
                            <m:r>
                              <a:rPr lang="it-IT" sz="1800" b="0" i="1" smtClean="0">
                                <a:latin typeface="Cambria Math" panose="02040503050406030204" pitchFamily="18" charset="0"/>
                              </a:rPr>
                              <m:t>𝑛</m:t>
                            </m:r>
                          </m:sub>
                        </m:sSub>
                        <m:r>
                          <a:rPr lang="it-IT" sz="1800" b="0" i="1" smtClean="0">
                            <a:latin typeface="Cambria Math" panose="02040503050406030204" pitchFamily="18" charset="0"/>
                          </a:rPr>
                          <m:t>+1</m:t>
                        </m:r>
                      </m:e>
                    </m:d>
                  </m:oMath>
                </a14:m>
                <a:r>
                  <a:rPr lang="it-IT" sz="1800" dirty="0"/>
                  <a:t> and </a:t>
                </a:r>
                <a14:m>
                  <m:oMath xmlns:m="http://schemas.openxmlformats.org/officeDocument/2006/math">
                    <m:r>
                      <a:rPr lang="it-IT" sz="1800" i="1" smtClean="0">
                        <a:latin typeface="Cambria Math" panose="02040503050406030204" pitchFamily="18" charset="0"/>
                      </a:rPr>
                      <m:t>𝑢</m:t>
                    </m:r>
                    <m:r>
                      <a:rPr lang="it-IT" sz="180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𝑥</m:t>
                        </m:r>
                      </m:e>
                      <m:sub>
                        <m:r>
                          <a:rPr lang="it-IT" sz="1800" b="0" i="1" smtClean="0">
                            <a:latin typeface="Cambria Math" panose="02040503050406030204" pitchFamily="18" charset="0"/>
                          </a:rPr>
                          <m:t>𝑖</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𝜇</m:t>
                        </m:r>
                      </m:e>
                      <m:sub>
                        <m:r>
                          <a:rPr lang="it-IT" sz="1800" b="0" i="1" smtClean="0">
                            <a:latin typeface="Cambria Math" panose="02040503050406030204" pitchFamily="18" charset="0"/>
                          </a:rPr>
                          <m:t>𝑛</m:t>
                        </m:r>
                      </m:sub>
                    </m:sSub>
                  </m:oMath>
                </a14:m>
                <a:r>
                  <a:rPr lang="it-IT" sz="1800" dirty="0"/>
                  <a:t>.</a:t>
                </a:r>
              </a:p>
              <a:p>
                <a:pPr>
                  <a:lnSpc>
                    <a:spcPct val="100000"/>
                  </a:lnSpc>
                </a:pPr>
                <a14:m>
                  <m:oMath xmlns:m="http://schemas.openxmlformats.org/officeDocument/2006/math">
                    <m:m>
                      <m:mPr>
                        <m:plcHide m:val="on"/>
                        <m:mcs>
                          <m:mc>
                            <m:mcPr>
                              <m:count m:val="3"/>
                              <m:mcJc m:val="center"/>
                            </m:mcPr>
                          </m:mc>
                        </m:mcs>
                        <m:ctrlPr>
                          <a:rPr lang="it-IT" sz="1800" i="1" smtClean="0">
                            <a:latin typeface="Cambria Math" panose="02040503050406030204" pitchFamily="18" charset="0"/>
                          </a:rPr>
                        </m:ctrlPr>
                      </m:mPr>
                      <m:mr>
                        <m:e/>
                        <m:e/>
                        <m:e>
                          <m:m>
                            <m:mPr>
                              <m:plcHide m:val="on"/>
                              <m:mcs>
                                <m:mc>
                                  <m:mcPr>
                                    <m:count m:val="3"/>
                                    <m:mcJc m:val="center"/>
                                  </m:mcPr>
                                </m:mc>
                              </m:mcs>
                              <m:ctrlPr>
                                <a:rPr lang="it-IT" sz="1800" b="0" i="1" smtClean="0">
                                  <a:latin typeface="Cambria Math" panose="02040503050406030204" pitchFamily="18" charset="0"/>
                                </a:rPr>
                              </m:ctrlPr>
                            </m:mPr>
                            <m:mr>
                              <m:e>
                                <m:r>
                                  <m:rPr>
                                    <m:brk m:alnAt="7"/>
                                  </m:rP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brk m:alnAt="7"/>
                                          </m:rPr>
                                          <a:rPr lang="it-IT" sz="1800" i="1">
                                            <a:latin typeface="Cambria Math" panose="02040503050406030204" pitchFamily="18" charset="0"/>
                                          </a:rPr>
                                          <m:t>𝑥</m:t>
                                        </m:r>
                                      </m:e>
                                      <m:sub>
                                        <m:r>
                                          <m:rPr>
                                            <m:brk m:alnAt="7"/>
                                          </m:rP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m:rPr>
                                            <m:brk m:alnAt="7"/>
                                          </m:rPr>
                                          <a:rPr lang="it-IT" sz="1800" i="1">
                                            <a:latin typeface="Cambria Math" panose="02040503050406030204" pitchFamily="18" charset="0"/>
                                          </a:rPr>
                                          <m:t>𝒙</m:t>
                                        </m:r>
                                      </m:e>
                                      <m:sub>
                                        <m:r>
                                          <m:rPr>
                                            <m:brk m:alnAt="7"/>
                                          </m:rP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e>
                                </m:d>
                              </m:e>
                              <m:e>
                                <m:r>
                                  <a:rPr lang="it-IT" sz="1800" b="0" i="1" smtClean="0">
                                    <a:latin typeface="Cambria Math" panose="02040503050406030204" pitchFamily="18" charset="0"/>
                                  </a:rPr>
                                  <m:t>=</m:t>
                                </m:r>
                              </m:e>
                              <m:e>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r>
                                          <a:rPr lang="it-IT" sz="1800" i="1">
                                            <a:latin typeface="Cambria Math" panose="02040503050406030204" pitchFamily="18" charset="0"/>
                                          </a:rPr>
                                          <m:t>2</m:t>
                                        </m:r>
                                        <m:r>
                                          <a:rPr lang="it-IT" sz="1800" i="1">
                                            <a:latin typeface="Cambria Math" panose="02040503050406030204" pitchFamily="18" charset="0"/>
                                          </a:rPr>
                                          <m:t>𝜋</m:t>
                                        </m:r>
                                      </m:e>
                                    </m:d>
                                  </m:e>
                                  <m:sup>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𝑑</m:t>
                                        </m:r>
                                      </m:num>
                                      <m:den>
                                        <m:r>
                                          <a:rPr lang="it-IT" sz="1800" i="1">
                                            <a:latin typeface="Cambria Math" panose="02040503050406030204" pitchFamily="18" charset="0"/>
                                          </a:rPr>
                                          <m:t>2</m:t>
                                        </m:r>
                                      </m:den>
                                    </m:f>
                                  </m:sup>
                                </m:sSup>
                                <m:sSup>
                                  <m:sSupPr>
                                    <m:ctrlPr>
                                      <a:rPr lang="it-IT" sz="1800" i="1">
                                        <a:latin typeface="Cambria Math" panose="02040503050406030204" pitchFamily="18" charset="0"/>
                                      </a:rPr>
                                    </m:ctrlPr>
                                  </m:sSupPr>
                                  <m:e>
                                    <m:r>
                                      <m:rPr>
                                        <m:sty m:val="p"/>
                                      </m:rPr>
                                      <a:rPr lang="it-IT" sz="1800" b="0" i="1" smtClean="0">
                                        <a:latin typeface="Cambria Math" panose="02040503050406030204" pitchFamily="18" charset="0"/>
                                      </a:rPr>
                                      <m:t>c</m:t>
                                    </m:r>
                                  </m:e>
                                  <m:sup>
                                    <m:f>
                                      <m:fPr>
                                        <m:ctrlPr>
                                          <a:rPr lang="it-IT" sz="1800" i="1">
                                            <a:latin typeface="Cambria Math" panose="02040503050406030204" pitchFamily="18" charset="0"/>
                                          </a:rPr>
                                        </m:ctrlPr>
                                      </m:fPr>
                                      <m:num>
                                        <m:r>
                                          <a:rPr lang="it-IT" sz="1800" i="1">
                                            <a:latin typeface="Cambria Math" panose="02040503050406030204" pitchFamily="18" charset="0"/>
                                          </a:rPr>
                                          <m:t>𝑑</m:t>
                                        </m:r>
                                      </m:num>
                                      <m:den>
                                        <m:r>
                                          <a:rPr lang="it-IT" sz="1800" i="1">
                                            <a:latin typeface="Cambria Math" panose="02040503050406030204" pitchFamily="18" charset="0"/>
                                          </a:rPr>
                                          <m:t>2</m:t>
                                        </m:r>
                                      </m:den>
                                    </m:f>
                                  </m:sup>
                                </m:sSup>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d>
                                          <m:dPr>
                                            <m:begChr m:val="|"/>
                                            <m:end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𝑛</m:t>
                                                </m:r>
                                              </m:sub>
                                            </m:sSub>
                                          </m:e>
                                        </m:d>
                                      </m:e>
                                      <m:sup>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m:rPr>
                                            <m:lit/>
                                          </m:rPr>
                                          <a:rPr lang="it-IT" sz="1800" i="1">
                                            <a:latin typeface="Cambria Math" panose="02040503050406030204" pitchFamily="18" charset="0"/>
                                          </a:rPr>
                                          <m:t>/</m:t>
                                        </m:r>
                                        <m:r>
                                          <a:rPr lang="it-IT" sz="1800" i="1">
                                            <a:latin typeface="Cambria Math" panose="02040503050406030204" pitchFamily="18" charset="0"/>
                                          </a:rPr>
                                          <m:t>2</m:t>
                                        </m:r>
                                      </m:sup>
                                    </m:sSup>
                                  </m:num>
                                  <m:den>
                                    <m:sSup>
                                      <m:sSupPr>
                                        <m:ctrlPr>
                                          <a:rPr lang="it-IT" sz="1800" i="1">
                                            <a:latin typeface="Cambria Math" panose="02040503050406030204" pitchFamily="18" charset="0"/>
                                          </a:rPr>
                                        </m:ctrlPr>
                                      </m:sSupPr>
                                      <m:e>
                                        <m:r>
                                          <a:rPr lang="it-IT" sz="1800" i="1">
                                            <a:latin typeface="Cambria Math" panose="02040503050406030204" pitchFamily="18" charset="0"/>
                                          </a:rPr>
                                          <m:t>2</m:t>
                                        </m:r>
                                      </m:e>
                                      <m:sup>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𝑑</m:t>
                                        </m:r>
                                        <m:r>
                                          <m:rPr>
                                            <m:lit/>
                                          </m:rPr>
                                          <a:rPr lang="it-IT" sz="1800" i="1">
                                            <a:latin typeface="Cambria Math" panose="02040503050406030204" pitchFamily="18" charset="0"/>
                                          </a:rPr>
                                          <m:t>/</m:t>
                                        </m:r>
                                        <m:r>
                                          <a:rPr lang="it-IT" sz="1800" i="1">
                                            <a:latin typeface="Cambria Math" panose="02040503050406030204" pitchFamily="18" charset="0"/>
                                          </a:rPr>
                                          <m:t>2</m:t>
                                        </m:r>
                                      </m:sup>
                                    </m:sSup>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Γ</m:t>
                                        </m:r>
                                      </m:e>
                                      <m:sub>
                                        <m:r>
                                          <a:rPr lang="it-IT" sz="1800" i="1">
                                            <a:latin typeface="Cambria Math" panose="02040503050406030204" pitchFamily="18" charset="0"/>
                                          </a:rPr>
                                          <m:t>𝑑</m:t>
                                        </m:r>
                                      </m:sub>
                                    </m:sSub>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m:rPr>
                                            <m:lit/>
                                          </m:rPr>
                                          <a:rPr lang="it-IT" sz="1800" i="1">
                                            <a:latin typeface="Cambria Math" panose="02040503050406030204" pitchFamily="18" charset="0"/>
                                          </a:rPr>
                                          <m:t>/</m:t>
                                        </m:r>
                                        <m:r>
                                          <a:rPr lang="it-IT" sz="1800" i="1">
                                            <a:latin typeface="Cambria Math" panose="02040503050406030204" pitchFamily="18" charset="0"/>
                                          </a:rPr>
                                          <m:t>2</m:t>
                                        </m:r>
                                      </m:e>
                                    </m:d>
                                  </m:den>
                                </m:f>
                                <m:sSup>
                                  <m:sSupPr>
                                    <m:ctrlPr>
                                      <a:rPr lang="it-IT" sz="1800" i="1">
                                        <a:latin typeface="Cambria Math" panose="02040503050406030204" pitchFamily="18" charset="0"/>
                                      </a:rPr>
                                    </m:ctrlPr>
                                  </m:sSupPr>
                                  <m:e>
                                    <m:sSup>
                                      <m:sSupPr>
                                        <m:ctrlPr>
                                          <a:rPr lang="it-IT" sz="1800" i="1">
                                            <a:latin typeface="Cambria Math" panose="02040503050406030204" pitchFamily="18" charset="0"/>
                                          </a:rPr>
                                        </m:ctrlPr>
                                      </m:sSupPr>
                                      <m:e>
                                        <m:r>
                                          <a:rPr lang="it-IT" sz="1800" i="1">
                                            <a:latin typeface="Cambria Math" panose="02040503050406030204" pitchFamily="18" charset="0"/>
                                          </a:rPr>
                                          <m:t>∫</m:t>
                                        </m:r>
                                        <m:d>
                                          <m:dPr>
                                            <m:begChr m:val="|"/>
                                            <m:end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a:latin typeface="Cambria Math" panose="02040503050406030204" pitchFamily="18" charset="0"/>
                                                  </a:rPr>
                                                  <m:t>Σ</m:t>
                                                </m:r>
                                              </m:e>
                                              <m:sub>
                                                <m:r>
                                                  <a:rPr lang="it-IT" sz="1800" i="1">
                                                    <a:latin typeface="Cambria Math" panose="02040503050406030204" pitchFamily="18" charset="0"/>
                                                  </a:rPr>
                                                  <m:t>𝑘</m:t>
                                                </m:r>
                                              </m:sub>
                                            </m:sSub>
                                          </m:e>
                                        </m:d>
                                      </m:e>
                                      <m:sup>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2</m:t>
                                            </m:r>
                                          </m:den>
                                        </m:f>
                                      </m:sup>
                                    </m:sSup>
                                    <m:d>
                                      <m:dPr>
                                        <m:begChr m:val="|"/>
                                        <m:end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a:latin typeface="Cambria Math" panose="02040503050406030204" pitchFamily="18" charset="0"/>
                                              </a:rPr>
                                              <m:t>Σ</m:t>
                                            </m:r>
                                          </m:e>
                                          <m:sub>
                                            <m:r>
                                              <a:rPr lang="it-IT" sz="1800" i="1">
                                                <a:latin typeface="Cambria Math" panose="02040503050406030204" pitchFamily="18" charset="0"/>
                                              </a:rPr>
                                              <m:t>𝑘</m:t>
                                            </m:r>
                                          </m:sub>
                                        </m:sSub>
                                      </m:e>
                                    </m:d>
                                  </m:e>
                                  <m:sup>
                                    <m:r>
                                      <a:rPr lang="it-IT" sz="1800" i="1">
                                        <a:latin typeface="Cambria Math" panose="02040503050406030204" pitchFamily="18" charset="0"/>
                                      </a:rPr>
                                      <m:t>−</m:t>
                                    </m:r>
                                    <m:f>
                                      <m:fPr>
                                        <m:ctrlPr>
                                          <a:rPr lang="it-IT" sz="1800" i="1">
                                            <a:latin typeface="Cambria Math" panose="02040503050406030204" pitchFamily="18" charset="0"/>
                                          </a:rPr>
                                        </m:ctrlPr>
                                      </m:fPr>
                                      <m:num>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m:t>
                                        </m:r>
                                        <m:r>
                                          <a:rPr lang="it-IT" sz="1800" i="1">
                                            <a:latin typeface="Cambria Math" panose="02040503050406030204" pitchFamily="18" charset="0"/>
                                          </a:rPr>
                                          <m:t>𝑑</m:t>
                                        </m:r>
                                        <m:r>
                                          <a:rPr lang="it-IT" sz="1800" i="1">
                                            <a:latin typeface="Cambria Math" panose="02040503050406030204" pitchFamily="18" charset="0"/>
                                          </a:rPr>
                                          <m:t>+1</m:t>
                                        </m:r>
                                      </m:num>
                                      <m:den>
                                        <m:r>
                                          <a:rPr lang="it-IT" sz="1800" i="1">
                                            <a:latin typeface="Cambria Math" panose="02040503050406030204" pitchFamily="18" charset="0"/>
                                          </a:rPr>
                                          <m:t>2</m:t>
                                        </m:r>
                                      </m:den>
                                    </m:f>
                                  </m:sup>
                                </m:sSup>
                                <m:sSup>
                                  <m:sSupPr>
                                    <m:ctrlPr>
                                      <a:rPr lang="it-IT" sz="1800" i="1">
                                        <a:latin typeface="Cambria Math" panose="02040503050406030204" pitchFamily="18" charset="0"/>
                                      </a:rPr>
                                    </m:ctrlPr>
                                  </m:sSupPr>
                                  <m:e>
                                    <m:r>
                                      <a:rPr lang="it-IT" sz="1800" i="1">
                                        <a:latin typeface="Cambria Math" panose="02040503050406030204" pitchFamily="18" charset="0"/>
                                      </a:rPr>
                                      <m:t>𝑒</m:t>
                                    </m:r>
                                  </m:e>
                                  <m:sup>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2</m:t>
                                        </m:r>
                                      </m:den>
                                    </m:f>
                                    <m:sSup>
                                      <m:sSupPr>
                                        <m:ctrlPr>
                                          <a:rPr lang="it-IT" sz="1800" i="1">
                                            <a:latin typeface="Cambria Math" panose="02040503050406030204" pitchFamily="18" charset="0"/>
                                          </a:rPr>
                                        </m:ctrlPr>
                                      </m:sSupPr>
                                      <m:e>
                                        <m:r>
                                          <a:rPr lang="it-IT" sz="1800" i="1">
                                            <a:latin typeface="Cambria Math" panose="02040503050406030204" pitchFamily="18" charset="0"/>
                                          </a:rPr>
                                          <m:t>𝑢</m:t>
                                        </m:r>
                                      </m:e>
                                      <m:sup>
                                        <m:r>
                                          <a:rPr lang="it-IT" sz="1800" i="1">
                                            <a:latin typeface="Cambria Math" panose="02040503050406030204" pitchFamily="18" charset="0"/>
                                          </a:rPr>
                                          <m:t>⊺</m:t>
                                        </m:r>
                                      </m:sup>
                                    </m:sSup>
                                    <m:sSubSup>
                                      <m:sSubSupPr>
                                        <m:ctrlPr>
                                          <a:rPr lang="it-IT" sz="1800" i="1">
                                            <a:latin typeface="Cambria Math" panose="02040503050406030204" pitchFamily="18" charset="0"/>
                                          </a:rPr>
                                        </m:ctrlPr>
                                      </m:sSubSupPr>
                                      <m:e>
                                        <m:r>
                                          <m:rPr>
                                            <m:sty m:val="p"/>
                                          </m:rPr>
                                          <a:rPr lang="it-IT" sz="1800">
                                            <a:latin typeface="Cambria Math" panose="02040503050406030204" pitchFamily="18" charset="0"/>
                                          </a:rPr>
                                          <m:t>Σ</m:t>
                                        </m:r>
                                      </m:e>
                                      <m:sub>
                                        <m:r>
                                          <a:rPr lang="it-IT" sz="1800" i="1">
                                            <a:latin typeface="Cambria Math" panose="02040503050406030204" pitchFamily="18" charset="0"/>
                                          </a:rPr>
                                          <m:t>𝑘</m:t>
                                        </m:r>
                                      </m:sub>
                                      <m:sup>
                                        <m:r>
                                          <a:rPr lang="it-IT" sz="1800" i="1">
                                            <a:latin typeface="Cambria Math" panose="02040503050406030204" pitchFamily="18" charset="0"/>
                                          </a:rPr>
                                          <m:t>−1</m:t>
                                        </m:r>
                                      </m:sup>
                                    </m:sSubSup>
                                    <m:r>
                                      <a:rPr lang="it-IT" sz="1800" i="1">
                                        <a:latin typeface="Cambria Math" panose="02040503050406030204" pitchFamily="18" charset="0"/>
                                      </a:rPr>
                                      <m:t>𝑢</m:t>
                                    </m:r>
                                  </m:sup>
                                </m:sSup>
                                <m:sSup>
                                  <m:sSupPr>
                                    <m:ctrlPr>
                                      <a:rPr lang="it-IT" sz="1800" i="1">
                                        <a:latin typeface="Cambria Math" panose="02040503050406030204" pitchFamily="18" charset="0"/>
                                      </a:rPr>
                                    </m:ctrlPr>
                                  </m:sSupPr>
                                  <m:e>
                                    <m:r>
                                      <a:rPr lang="it-IT" sz="1800" i="1">
                                        <a:latin typeface="Cambria Math" panose="02040503050406030204" pitchFamily="18" charset="0"/>
                                      </a:rPr>
                                      <m:t>𝑒</m:t>
                                    </m:r>
                                  </m:e>
                                  <m:sup>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2</m:t>
                                        </m:r>
                                      </m:den>
                                    </m:f>
                                    <m:r>
                                      <a:rPr lang="it-IT" sz="1800" i="1">
                                        <a:latin typeface="Cambria Math" panose="02040503050406030204" pitchFamily="18" charset="0"/>
                                      </a:rPr>
                                      <m:t>𝑡𝑟</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𝑛</m:t>
                                            </m:r>
                                          </m:sub>
                                        </m:sSub>
                                        <m:sSubSup>
                                          <m:sSubSupPr>
                                            <m:ctrlPr>
                                              <a:rPr lang="it-IT" sz="1800" i="1">
                                                <a:latin typeface="Cambria Math" panose="02040503050406030204" pitchFamily="18" charset="0"/>
                                              </a:rPr>
                                            </m:ctrlPr>
                                          </m:sSubSupPr>
                                          <m:e>
                                            <m:r>
                                              <m:rPr>
                                                <m:sty m:val="p"/>
                                              </m:rPr>
                                              <a:rPr lang="it-IT" sz="1800">
                                                <a:latin typeface="Cambria Math" panose="02040503050406030204" pitchFamily="18" charset="0"/>
                                              </a:rPr>
                                              <m:t>Σ</m:t>
                                            </m:r>
                                          </m:e>
                                          <m:sub>
                                            <m:r>
                                              <a:rPr lang="it-IT" sz="1800" i="1">
                                                <a:latin typeface="Cambria Math" panose="02040503050406030204" pitchFamily="18" charset="0"/>
                                              </a:rPr>
                                              <m:t>𝑘</m:t>
                                            </m:r>
                                          </m:sub>
                                          <m:sup>
                                            <m:r>
                                              <a:rPr lang="it-IT" sz="1800" i="1">
                                                <a:latin typeface="Cambria Math" panose="02040503050406030204" pitchFamily="18" charset="0"/>
                                              </a:rPr>
                                              <m:t>−1</m:t>
                                            </m:r>
                                          </m:sup>
                                        </m:sSubSup>
                                      </m:e>
                                    </m:d>
                                  </m:sup>
                                </m:sSup>
                                <m:r>
                                  <a:rPr lang="it-IT" sz="1800" i="1">
                                    <a:latin typeface="Cambria Math" panose="02040503050406030204" pitchFamily="18" charset="0"/>
                                  </a:rPr>
                                  <m:t>𝑑</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Σ</m:t>
                                    </m:r>
                                  </m:e>
                                  <m:sub>
                                    <m:r>
                                      <a:rPr lang="it-IT" sz="1800" i="1">
                                        <a:latin typeface="Cambria Math" panose="02040503050406030204" pitchFamily="18" charset="0"/>
                                      </a:rPr>
                                      <m:t>𝑘</m:t>
                                    </m:r>
                                  </m:sub>
                                </m:sSub>
                                <m:r>
                                  <a:rPr lang="it-IT" sz="1800" i="1">
                                    <a:latin typeface="Cambria Math" panose="02040503050406030204" pitchFamily="18" charset="0"/>
                                  </a:rPr>
                                  <m:t>=</m:t>
                                </m:r>
                              </m:e>
                            </m:mr>
                            <m:mr>
                              <m:e/>
                              <m:e>
                                <m:r>
                                  <a:rPr lang="it-IT" sz="1800" b="0" i="1" smtClean="0">
                                    <a:latin typeface="Cambria Math" panose="02040503050406030204" pitchFamily="18" charset="0"/>
                                  </a:rPr>
                                  <m:t>=</m:t>
                                </m:r>
                              </m:e>
                              <m:e>
                                <m:sSup>
                                  <m:sSupPr>
                                    <m:ctrlPr>
                                      <a:rPr lang="it-IT" sz="1800" i="1" smtClean="0">
                                        <a:latin typeface="Cambria Math" panose="02040503050406030204" pitchFamily="18" charset="0"/>
                                      </a:rPr>
                                    </m:ctrlPr>
                                  </m:sSupPr>
                                  <m:e>
                                    <m:d>
                                      <m:dPr>
                                        <m:ctrlPr>
                                          <a:rPr lang="it-IT" sz="1800" i="1">
                                            <a:latin typeface="Cambria Math" panose="02040503050406030204" pitchFamily="18" charset="0"/>
                                          </a:rPr>
                                        </m:ctrlPr>
                                      </m:dPr>
                                      <m:e>
                                        <m:r>
                                          <a:rPr lang="it-IT" sz="1800" i="1">
                                            <a:latin typeface="Cambria Math" panose="02040503050406030204" pitchFamily="18" charset="0"/>
                                          </a:rPr>
                                          <m:t>2</m:t>
                                        </m:r>
                                        <m:r>
                                          <a:rPr lang="it-IT" sz="1800" i="1">
                                            <a:latin typeface="Cambria Math" panose="02040503050406030204" pitchFamily="18" charset="0"/>
                                          </a:rPr>
                                          <m:t>𝜋</m:t>
                                        </m:r>
                                      </m:e>
                                    </m:d>
                                  </m:e>
                                  <m:sup>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𝑑</m:t>
                                        </m:r>
                                      </m:num>
                                      <m:den>
                                        <m:r>
                                          <a:rPr lang="it-IT" sz="1800" i="1">
                                            <a:latin typeface="Cambria Math" panose="02040503050406030204" pitchFamily="18" charset="0"/>
                                          </a:rPr>
                                          <m:t>2</m:t>
                                        </m:r>
                                      </m:den>
                                    </m:f>
                                  </m:sup>
                                </m:sSup>
                                <m:sSup>
                                  <m:sSupPr>
                                    <m:ctrlPr>
                                      <a:rPr lang="it-IT" sz="1800" i="1">
                                        <a:latin typeface="Cambria Math" panose="02040503050406030204" pitchFamily="18" charset="0"/>
                                      </a:rPr>
                                    </m:ctrlPr>
                                  </m:sSupPr>
                                  <m:e>
                                    <m:r>
                                      <m:rPr>
                                        <m:sty m:val="p"/>
                                      </m:rPr>
                                      <a:rPr lang="it-IT" sz="1800" i="1">
                                        <a:latin typeface="Cambria Math" panose="02040503050406030204" pitchFamily="18" charset="0"/>
                                      </a:rPr>
                                      <m:t>c</m:t>
                                    </m:r>
                                  </m:e>
                                  <m:sup>
                                    <m:f>
                                      <m:fPr>
                                        <m:ctrlPr>
                                          <a:rPr lang="it-IT" sz="1800" i="1">
                                            <a:latin typeface="Cambria Math" panose="02040503050406030204" pitchFamily="18" charset="0"/>
                                          </a:rPr>
                                        </m:ctrlPr>
                                      </m:fPr>
                                      <m:num>
                                        <m:r>
                                          <a:rPr lang="it-IT" sz="1800" i="1">
                                            <a:latin typeface="Cambria Math" panose="02040503050406030204" pitchFamily="18" charset="0"/>
                                          </a:rPr>
                                          <m:t>𝑑</m:t>
                                        </m:r>
                                      </m:num>
                                      <m:den>
                                        <m:r>
                                          <a:rPr lang="it-IT" sz="1800" i="1">
                                            <a:latin typeface="Cambria Math" panose="02040503050406030204" pitchFamily="18" charset="0"/>
                                          </a:rPr>
                                          <m:t>2</m:t>
                                        </m:r>
                                      </m:den>
                                    </m:f>
                                  </m:sup>
                                </m:sSup>
                                <m:f>
                                  <m:fPr>
                                    <m:ctrlPr>
                                      <a:rPr lang="it-IT" sz="1800" i="1">
                                        <a:latin typeface="Cambria Math" panose="02040503050406030204" pitchFamily="18" charset="0"/>
                                      </a:rPr>
                                    </m:ctrlPr>
                                  </m:fPr>
                                  <m:num>
                                    <m:sSup>
                                      <m:sSupPr>
                                        <m:ctrlPr>
                                          <a:rPr lang="it-IT" sz="1800" i="1">
                                            <a:latin typeface="Cambria Math" panose="02040503050406030204" pitchFamily="18" charset="0"/>
                                          </a:rPr>
                                        </m:ctrlPr>
                                      </m:sSupPr>
                                      <m:e>
                                        <m:d>
                                          <m:dPr>
                                            <m:begChr m:val="|"/>
                                            <m:end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i="0">
                                                    <a:latin typeface="Cambria Math" panose="02040503050406030204" pitchFamily="18" charset="0"/>
                                                  </a:rPr>
                                                  <m:t>Λ</m:t>
                                                </m:r>
                                              </m:e>
                                              <m:sub>
                                                <m:r>
                                                  <a:rPr lang="it-IT" sz="1800" i="1">
                                                    <a:latin typeface="Cambria Math" panose="02040503050406030204" pitchFamily="18" charset="0"/>
                                                  </a:rPr>
                                                  <m:t>𝑛</m:t>
                                                </m:r>
                                              </m:sub>
                                            </m:sSub>
                                          </m:e>
                                        </m:d>
                                      </m:e>
                                      <m:sup>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m:rPr>
                                            <m:lit/>
                                          </m:rPr>
                                          <a:rPr lang="it-IT" sz="1800" i="1">
                                            <a:latin typeface="Cambria Math" panose="02040503050406030204" pitchFamily="18" charset="0"/>
                                          </a:rPr>
                                          <m:t>/</m:t>
                                        </m:r>
                                        <m:r>
                                          <a:rPr lang="it-IT" sz="1800" i="1">
                                            <a:latin typeface="Cambria Math" panose="02040503050406030204" pitchFamily="18" charset="0"/>
                                          </a:rPr>
                                          <m:t>2</m:t>
                                        </m:r>
                                      </m:sup>
                                    </m:sSup>
                                  </m:num>
                                  <m:den>
                                    <m:sSup>
                                      <m:sSupPr>
                                        <m:ctrlPr>
                                          <a:rPr lang="it-IT" sz="1800" i="1">
                                            <a:latin typeface="Cambria Math" panose="02040503050406030204" pitchFamily="18" charset="0"/>
                                          </a:rPr>
                                        </m:ctrlPr>
                                      </m:sSupPr>
                                      <m:e>
                                        <m:r>
                                          <a:rPr lang="it-IT" sz="1800" i="1">
                                            <a:latin typeface="Cambria Math" panose="02040503050406030204" pitchFamily="18" charset="0"/>
                                          </a:rPr>
                                          <m:t>2</m:t>
                                        </m:r>
                                      </m:e>
                                      <m:sup>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𝑑</m:t>
                                        </m:r>
                                        <m:r>
                                          <m:rPr>
                                            <m:lit/>
                                          </m:rPr>
                                          <a:rPr lang="it-IT" sz="1800" i="1">
                                            <a:latin typeface="Cambria Math" panose="02040503050406030204" pitchFamily="18" charset="0"/>
                                          </a:rPr>
                                          <m:t>/</m:t>
                                        </m:r>
                                        <m:r>
                                          <a:rPr lang="it-IT" sz="1800" i="1">
                                            <a:latin typeface="Cambria Math" panose="02040503050406030204" pitchFamily="18" charset="0"/>
                                          </a:rPr>
                                          <m:t>2</m:t>
                                        </m:r>
                                      </m:sup>
                                    </m:sSup>
                                    <m:sSub>
                                      <m:sSubPr>
                                        <m:ctrlPr>
                                          <a:rPr lang="it-IT" sz="1800" i="1">
                                            <a:latin typeface="Cambria Math" panose="02040503050406030204" pitchFamily="18" charset="0"/>
                                          </a:rPr>
                                        </m:ctrlPr>
                                      </m:sSubPr>
                                      <m:e>
                                        <m:r>
                                          <m:rPr>
                                            <m:sty m:val="p"/>
                                          </m:rPr>
                                          <a:rPr lang="it-IT" sz="1800" i="0">
                                            <a:latin typeface="Cambria Math" panose="02040503050406030204" pitchFamily="18" charset="0"/>
                                          </a:rPr>
                                          <m:t>Γ</m:t>
                                        </m:r>
                                      </m:e>
                                      <m:sub>
                                        <m:r>
                                          <a:rPr lang="it-IT" sz="1800" i="1">
                                            <a:latin typeface="Cambria Math" panose="02040503050406030204" pitchFamily="18" charset="0"/>
                                          </a:rPr>
                                          <m:t>𝑑</m:t>
                                        </m:r>
                                      </m:sub>
                                    </m:sSub>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m:rPr>
                                            <m:lit/>
                                          </m:rPr>
                                          <a:rPr lang="it-IT" sz="1800" i="1">
                                            <a:latin typeface="Cambria Math" panose="02040503050406030204" pitchFamily="18" charset="0"/>
                                          </a:rPr>
                                          <m:t>/</m:t>
                                        </m:r>
                                        <m:r>
                                          <a:rPr lang="it-IT" sz="1800" i="1">
                                            <a:latin typeface="Cambria Math" panose="02040503050406030204" pitchFamily="18" charset="0"/>
                                          </a:rPr>
                                          <m:t>2</m:t>
                                        </m:r>
                                      </m:e>
                                    </m:d>
                                  </m:den>
                                </m:f>
                                <m:r>
                                  <a:rPr lang="it-IT" sz="1800" i="1" smtClean="0">
                                    <a:latin typeface="Cambria Math" panose="02040503050406030204" pitchFamily="18" charset="0"/>
                                  </a:rPr>
                                  <m:t>∫</m:t>
                                </m:r>
                                <m:sSup>
                                  <m:sSupPr>
                                    <m:ctrlPr>
                                      <a:rPr lang="it-IT" sz="1800" i="1">
                                        <a:latin typeface="Cambria Math" panose="02040503050406030204" pitchFamily="18" charset="0"/>
                                      </a:rPr>
                                    </m:ctrlPr>
                                  </m:sSupPr>
                                  <m:e>
                                    <m:d>
                                      <m:dPr>
                                        <m:begChr m:val="|"/>
                                        <m:end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a:latin typeface="Cambria Math" panose="02040503050406030204" pitchFamily="18" charset="0"/>
                                              </a:rPr>
                                              <m:t>Σ</m:t>
                                            </m:r>
                                          </m:e>
                                          <m:sub>
                                            <m:r>
                                              <a:rPr lang="it-IT" sz="1800" i="1">
                                                <a:latin typeface="Cambria Math" panose="02040503050406030204" pitchFamily="18" charset="0"/>
                                              </a:rPr>
                                              <m:t>𝑘</m:t>
                                            </m:r>
                                          </m:sub>
                                        </m:sSub>
                                      </m:e>
                                    </m:d>
                                  </m:e>
                                  <m:sup>
                                    <m:r>
                                      <a:rPr lang="it-IT" sz="1800" i="1">
                                        <a:latin typeface="Cambria Math" panose="02040503050406030204" pitchFamily="18" charset="0"/>
                                      </a:rPr>
                                      <m:t>−</m:t>
                                    </m:r>
                                    <m:f>
                                      <m:fPr>
                                        <m:ctrlPr>
                                          <a:rPr lang="it-IT" sz="1800" i="1">
                                            <a:latin typeface="Cambria Math" panose="02040503050406030204" pitchFamily="18" charset="0"/>
                                          </a:rPr>
                                        </m:ctrlPr>
                                      </m:fPr>
                                      <m:num>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+1</m:t>
                                            </m:r>
                                          </m:e>
                                        </m:d>
                                        <m:r>
                                          <a:rPr lang="it-IT" sz="1800" i="1">
                                            <a:latin typeface="Cambria Math" panose="02040503050406030204" pitchFamily="18" charset="0"/>
                                          </a:rPr>
                                          <m:t>+</m:t>
                                        </m:r>
                                        <m:r>
                                          <a:rPr lang="it-IT" sz="1800" i="1">
                                            <a:latin typeface="Cambria Math" panose="02040503050406030204" pitchFamily="18" charset="0"/>
                                          </a:rPr>
                                          <m:t>𝑑</m:t>
                                        </m:r>
                                        <m:r>
                                          <a:rPr lang="it-IT" sz="1800" i="1">
                                            <a:latin typeface="Cambria Math" panose="02040503050406030204" pitchFamily="18" charset="0"/>
                                          </a:rPr>
                                          <m:t>+1</m:t>
                                        </m:r>
                                      </m:num>
                                      <m:den>
                                        <m:r>
                                          <a:rPr lang="it-IT" sz="1800" i="1">
                                            <a:latin typeface="Cambria Math" panose="02040503050406030204" pitchFamily="18" charset="0"/>
                                          </a:rPr>
                                          <m:t>2</m:t>
                                        </m:r>
                                      </m:den>
                                    </m:f>
                                  </m:sup>
                                </m:sSup>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𝑒</m:t>
                                    </m:r>
                                  </m:e>
                                  <m:sup>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1</m:t>
                                        </m:r>
                                      </m:num>
                                      <m:den>
                                        <m:r>
                                          <a:rPr lang="it-IT" sz="1800" i="1">
                                            <a:latin typeface="Cambria Math" panose="02040503050406030204" pitchFamily="18" charset="0"/>
                                          </a:rPr>
                                          <m:t>2</m:t>
                                        </m:r>
                                      </m:den>
                                    </m:f>
                                    <m:r>
                                      <a:rPr lang="it-IT" sz="1800" i="1">
                                        <a:latin typeface="Cambria Math" panose="02040503050406030204" pitchFamily="18" charset="0"/>
                                      </a:rPr>
                                      <m:t>𝑡𝑟</m:t>
                                    </m:r>
                                    <m:d>
                                      <m:dPr>
                                        <m:ctrlPr>
                                          <a:rPr lang="it-IT" sz="1800" i="1">
                                            <a:latin typeface="Cambria Math" panose="02040503050406030204" pitchFamily="18" charset="0"/>
                                          </a:rPr>
                                        </m:ctrlPr>
                                      </m:dPr>
                                      <m:e>
                                        <m:d>
                                          <m:dPr>
                                            <m:ctrlPr>
                                              <a:rPr lang="it-IT" sz="1800" i="1">
                                                <a:latin typeface="Cambria Math" panose="02040503050406030204" pitchFamily="18" charset="0"/>
                                              </a:rPr>
                                            </m:ctrlPr>
                                          </m:dPr>
                                          <m:e>
                                            <m:r>
                                              <a:rPr lang="it-IT" sz="1800" i="1">
                                                <a:latin typeface="Cambria Math" panose="02040503050406030204" pitchFamily="18" charset="0"/>
                                              </a:rPr>
                                              <m:t>𝑐𝑢</m:t>
                                            </m:r>
                                            <m:sSup>
                                              <m:sSupPr>
                                                <m:ctrlPr>
                                                  <a:rPr lang="it-IT" sz="1800" i="1">
                                                    <a:latin typeface="Cambria Math" panose="02040503050406030204" pitchFamily="18" charset="0"/>
                                                  </a:rPr>
                                                </m:ctrlPr>
                                              </m:sSupPr>
                                              <m:e>
                                                <m:r>
                                                  <a:rPr lang="it-IT" sz="1800" i="1">
                                                    <a:latin typeface="Cambria Math" panose="02040503050406030204" pitchFamily="18" charset="0"/>
                                                  </a:rPr>
                                                  <m:t>𝑢</m:t>
                                                </m:r>
                                              </m:e>
                                              <m:sup>
                                                <m:r>
                                                  <a:rPr lang="it-IT" sz="1800" i="1">
                                                    <a:latin typeface="Cambria Math" panose="02040503050406030204" pitchFamily="18" charset="0"/>
                                                  </a:rPr>
                                                  <m:t>⊺</m:t>
                                                </m:r>
                                              </m:sup>
                                            </m:sSup>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Λ</m:t>
                                                </m:r>
                                              </m:e>
                                              <m:sub>
                                                <m:r>
                                                  <a:rPr lang="it-IT" sz="1800" i="1">
                                                    <a:latin typeface="Cambria Math" panose="02040503050406030204" pitchFamily="18" charset="0"/>
                                                  </a:rPr>
                                                  <m:t>𝑛</m:t>
                                                </m:r>
                                              </m:sub>
                                            </m:sSub>
                                          </m:e>
                                        </m:d>
                                        <m:sSubSup>
                                          <m:sSubSupPr>
                                            <m:ctrlPr>
                                              <a:rPr lang="it-IT" sz="1800" i="1">
                                                <a:latin typeface="Cambria Math" panose="02040503050406030204" pitchFamily="18" charset="0"/>
                                              </a:rPr>
                                            </m:ctrlPr>
                                          </m:sSubSupPr>
                                          <m:e>
                                            <m:r>
                                              <m:rPr>
                                                <m:sty m:val="p"/>
                                              </m:rPr>
                                              <a:rPr lang="it-IT" sz="1800">
                                                <a:latin typeface="Cambria Math" panose="02040503050406030204" pitchFamily="18" charset="0"/>
                                              </a:rPr>
                                              <m:t>Σ</m:t>
                                            </m:r>
                                          </m:e>
                                          <m:sub>
                                            <m:r>
                                              <a:rPr lang="it-IT" sz="1800" i="1">
                                                <a:latin typeface="Cambria Math" panose="02040503050406030204" pitchFamily="18" charset="0"/>
                                              </a:rPr>
                                              <m:t>𝑘</m:t>
                                            </m:r>
                                          </m:sub>
                                          <m:sup>
                                            <m:r>
                                              <a:rPr lang="it-IT" sz="1800" i="1">
                                                <a:latin typeface="Cambria Math" panose="02040503050406030204" pitchFamily="18" charset="0"/>
                                              </a:rPr>
                                              <m:t>−1</m:t>
                                            </m:r>
                                          </m:sup>
                                        </m:sSubSup>
                                      </m:e>
                                    </m:d>
                                  </m:sup>
                                </m:sSup>
                                <m:r>
                                  <a:rPr lang="it-IT" sz="1800" i="1">
                                    <a:latin typeface="Cambria Math" panose="02040503050406030204" pitchFamily="18" charset="0"/>
                                  </a:rPr>
                                  <m:t>𝑑</m:t>
                                </m:r>
                                <m:sSub>
                                  <m:sSubPr>
                                    <m:ctrlPr>
                                      <a:rPr lang="it-IT" sz="1800" i="1">
                                        <a:latin typeface="Cambria Math" panose="02040503050406030204" pitchFamily="18" charset="0"/>
                                      </a:rPr>
                                    </m:ctrlPr>
                                  </m:sSubPr>
                                  <m:e>
                                    <m:r>
                                      <m:rPr>
                                        <m:sty m:val="p"/>
                                      </m:rPr>
                                      <a:rPr lang="it-IT" sz="1800" i="0">
                                        <a:latin typeface="Cambria Math" panose="02040503050406030204" pitchFamily="18" charset="0"/>
                                      </a:rPr>
                                      <m:t>Σ</m:t>
                                    </m:r>
                                  </m:e>
                                  <m:sub>
                                    <m:r>
                                      <a:rPr lang="it-IT" sz="1800" i="1">
                                        <a:latin typeface="Cambria Math" panose="02040503050406030204" pitchFamily="18" charset="0"/>
                                      </a:rPr>
                                      <m:t>𝑘</m:t>
                                    </m:r>
                                  </m:sub>
                                </m:sSub>
                              </m:e>
                            </m:mr>
                            <m:mr>
                              <m:e/>
                              <m:e>
                                <m:r>
                                  <a:rPr lang="it-IT" sz="1800" b="0" i="1" smtClean="0">
                                    <a:latin typeface="Cambria Math" panose="02040503050406030204" pitchFamily="18" charset="0"/>
                                  </a:rPr>
                                  <m:t>=</m:t>
                                </m:r>
                              </m:e>
                              <m:e>
                                <m:sSup>
                                  <m:sSupPr>
                                    <m:ctrlPr>
                                      <a:rPr lang="it-IT" sz="1800" i="1" smtClean="0">
                                        <a:latin typeface="Cambria Math" panose="02040503050406030204" pitchFamily="18" charset="0"/>
                                      </a:rPr>
                                    </m:ctrlPr>
                                  </m:sSupPr>
                                  <m:e>
                                    <m:r>
                                      <a:rPr lang="it-IT" sz="1800" i="1">
                                        <a:latin typeface="Cambria Math" panose="02040503050406030204" pitchFamily="18" charset="0"/>
                                      </a:rPr>
                                      <m:t>𝜋</m:t>
                                    </m:r>
                                  </m:e>
                                  <m:sup>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𝑑</m:t>
                                        </m:r>
                                      </m:num>
                                      <m:den>
                                        <m:r>
                                          <a:rPr lang="it-IT" sz="1800" i="1">
                                            <a:latin typeface="Cambria Math" panose="02040503050406030204" pitchFamily="18" charset="0"/>
                                          </a:rPr>
                                          <m:t>2</m:t>
                                        </m:r>
                                      </m:den>
                                    </m:f>
                                  </m:sup>
                                </m:sSup>
                                <m:sSup>
                                  <m:sSupPr>
                                    <m:ctrlPr>
                                      <a:rPr lang="it-IT" sz="1800" i="1">
                                        <a:latin typeface="Cambria Math" panose="02040503050406030204" pitchFamily="18" charset="0"/>
                                      </a:rPr>
                                    </m:ctrlPr>
                                  </m:sSupPr>
                                  <m:e>
                                    <m:r>
                                      <a:rPr lang="it-IT" sz="1800" i="1">
                                        <a:latin typeface="Cambria Math" panose="02040503050406030204" pitchFamily="18" charset="0"/>
                                      </a:rPr>
                                      <m:t>𝑐</m:t>
                                    </m:r>
                                  </m:e>
                                  <m:sup>
                                    <m:f>
                                      <m:fPr>
                                        <m:ctrlPr>
                                          <a:rPr lang="it-IT" sz="1800" i="1">
                                            <a:latin typeface="Cambria Math" panose="02040503050406030204" pitchFamily="18" charset="0"/>
                                          </a:rPr>
                                        </m:ctrlPr>
                                      </m:fPr>
                                      <m:num>
                                        <m:r>
                                          <a:rPr lang="it-IT" sz="1800" i="1">
                                            <a:latin typeface="Cambria Math" panose="02040503050406030204" pitchFamily="18" charset="0"/>
                                          </a:rPr>
                                          <m:t>𝑑</m:t>
                                        </m:r>
                                      </m:num>
                                      <m:den>
                                        <m:r>
                                          <a:rPr lang="it-IT" sz="1800" i="1">
                                            <a:latin typeface="Cambria Math" panose="02040503050406030204" pitchFamily="18" charset="0"/>
                                          </a:rPr>
                                          <m:t>2</m:t>
                                        </m:r>
                                      </m:den>
                                    </m:f>
                                  </m:sup>
                                </m:sSup>
                                <m:f>
                                  <m:fPr>
                                    <m:ctrlPr>
                                      <a:rPr lang="it-IT" sz="1800" i="1">
                                        <a:latin typeface="Cambria Math" panose="02040503050406030204" pitchFamily="18" charset="0"/>
                                      </a:rPr>
                                    </m:ctrlPr>
                                  </m:fPr>
                                  <m:num>
                                    <m:sSub>
                                      <m:sSubPr>
                                        <m:ctrlPr>
                                          <a:rPr lang="it-IT" sz="1800" i="1">
                                            <a:latin typeface="Cambria Math" panose="02040503050406030204" pitchFamily="18" charset="0"/>
                                          </a:rPr>
                                        </m:ctrlPr>
                                      </m:sSubPr>
                                      <m:e>
                                        <m:r>
                                          <m:rPr>
                                            <m:sty m:val="p"/>
                                          </m:rPr>
                                          <a:rPr lang="it-IT" sz="1800" i="0">
                                            <a:latin typeface="Cambria Math" panose="02040503050406030204" pitchFamily="18" charset="0"/>
                                          </a:rPr>
                                          <m:t>Γ</m:t>
                                        </m:r>
                                      </m:e>
                                      <m:sub>
                                        <m:r>
                                          <a:rPr lang="it-IT" sz="1800" i="1">
                                            <a:latin typeface="Cambria Math" panose="02040503050406030204" pitchFamily="18" charset="0"/>
                                          </a:rPr>
                                          <m:t>𝑑</m:t>
                                        </m:r>
                                      </m:sub>
                                    </m:sSub>
                                    <m:d>
                                      <m:dPr>
                                        <m:ctrlPr>
                                          <a:rPr lang="it-IT" sz="1800" i="1">
                                            <a:latin typeface="Cambria Math" panose="02040503050406030204" pitchFamily="18" charset="0"/>
                                          </a:rPr>
                                        </m:ctrlPr>
                                      </m:dPr>
                                      <m:e>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+1</m:t>
                                            </m:r>
                                          </m:e>
                                        </m:d>
                                        <m:r>
                                          <m:rPr>
                                            <m:lit/>
                                          </m:rPr>
                                          <a:rPr lang="it-IT" sz="1800" i="1">
                                            <a:latin typeface="Cambria Math" panose="02040503050406030204" pitchFamily="18" charset="0"/>
                                          </a:rPr>
                                          <m:t>/</m:t>
                                        </m:r>
                                        <m:r>
                                          <a:rPr lang="it-IT" sz="1800" i="1">
                                            <a:latin typeface="Cambria Math" panose="02040503050406030204" pitchFamily="18" charset="0"/>
                                          </a:rPr>
                                          <m:t>2</m:t>
                                        </m:r>
                                      </m:e>
                                    </m:d>
                                  </m:num>
                                  <m:den>
                                    <m:sSub>
                                      <m:sSubPr>
                                        <m:ctrlPr>
                                          <a:rPr lang="it-IT" sz="1800" i="1">
                                            <a:latin typeface="Cambria Math" panose="02040503050406030204" pitchFamily="18" charset="0"/>
                                          </a:rPr>
                                        </m:ctrlPr>
                                      </m:sSubPr>
                                      <m:e>
                                        <m:r>
                                          <m:rPr>
                                            <m:sty m:val="p"/>
                                          </m:rPr>
                                          <a:rPr lang="it-IT" sz="1800" i="0">
                                            <a:latin typeface="Cambria Math" panose="02040503050406030204" pitchFamily="18" charset="0"/>
                                          </a:rPr>
                                          <m:t>Γ</m:t>
                                        </m:r>
                                      </m:e>
                                      <m:sub>
                                        <m:r>
                                          <a:rPr lang="it-IT" sz="1800" i="1">
                                            <a:latin typeface="Cambria Math" panose="02040503050406030204" pitchFamily="18" charset="0"/>
                                          </a:rPr>
                                          <m:t>𝑑</m:t>
                                        </m:r>
                                      </m:sub>
                                    </m:sSub>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m:rPr>
                                            <m:lit/>
                                          </m:rPr>
                                          <a:rPr lang="it-IT" sz="1800" i="1">
                                            <a:latin typeface="Cambria Math" panose="02040503050406030204" pitchFamily="18" charset="0"/>
                                          </a:rPr>
                                          <m:t>/</m:t>
                                        </m:r>
                                        <m:r>
                                          <a:rPr lang="it-IT" sz="1800" i="1">
                                            <a:latin typeface="Cambria Math" panose="02040503050406030204" pitchFamily="18" charset="0"/>
                                          </a:rPr>
                                          <m:t>2</m:t>
                                        </m:r>
                                      </m:e>
                                    </m:d>
                                  </m:den>
                                </m:f>
                                <m:sSup>
                                  <m:sSupPr>
                                    <m:ctrlPr>
                                      <a:rPr lang="it-IT" sz="1800" i="1">
                                        <a:latin typeface="Cambria Math" panose="02040503050406030204" pitchFamily="18" charset="0"/>
                                      </a:rPr>
                                    </m:ctrlPr>
                                  </m:sSupPr>
                                  <m:e>
                                    <m:d>
                                      <m:dPr>
                                        <m:begChr m:val="|"/>
                                        <m:endChr m:val="|"/>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m:rPr>
                                                <m:sty m:val="p"/>
                                              </m:rPr>
                                              <a:rPr lang="it-IT" sz="1800" i="0">
                                                <a:latin typeface="Cambria Math" panose="02040503050406030204" pitchFamily="18" charset="0"/>
                                              </a:rPr>
                                              <m:t>Λ</m:t>
                                            </m:r>
                                          </m:e>
                                          <m:sub>
                                            <m:r>
                                              <a:rPr lang="it-IT" sz="1800" i="1">
                                                <a:latin typeface="Cambria Math" panose="02040503050406030204" pitchFamily="18" charset="0"/>
                                              </a:rPr>
                                              <m:t>𝑛</m:t>
                                            </m:r>
                                          </m:sub>
                                        </m:sSub>
                                      </m:e>
                                    </m:d>
                                  </m:e>
                                  <m:sup>
                                    <m:r>
                                      <a:rPr lang="it-IT" sz="1800" i="1">
                                        <a:latin typeface="Cambria Math" panose="02040503050406030204" pitchFamily="18" charset="0"/>
                                      </a:rPr>
                                      <m:t>−1</m:t>
                                    </m:r>
                                    <m:r>
                                      <m:rPr>
                                        <m:lit/>
                                      </m:rPr>
                                      <a:rPr lang="it-IT" sz="1800" i="1">
                                        <a:latin typeface="Cambria Math" panose="02040503050406030204" pitchFamily="18" charset="0"/>
                                      </a:rPr>
                                      <m:t>/</m:t>
                                    </m:r>
                                    <m:r>
                                      <a:rPr lang="it-IT" sz="1800" i="1">
                                        <a:latin typeface="Cambria Math" panose="02040503050406030204" pitchFamily="18" charset="0"/>
                                      </a:rPr>
                                      <m:t>2</m:t>
                                    </m:r>
                                  </m:sup>
                                </m:sSup>
                                <m:sSup>
                                  <m:sSupPr>
                                    <m:ctrlPr>
                                      <a:rPr lang="it-IT" sz="1800" i="1">
                                        <a:latin typeface="Cambria Math" panose="02040503050406030204" pitchFamily="18" charset="0"/>
                                      </a:rPr>
                                    </m:ctrlPr>
                                  </m:sSupPr>
                                  <m:e>
                                    <m:d>
                                      <m:dPr>
                                        <m:ctrlPr>
                                          <a:rPr lang="it-IT" sz="1800" i="1">
                                            <a:latin typeface="Cambria Math" panose="02040503050406030204" pitchFamily="18" charset="0"/>
                                          </a:rPr>
                                        </m:ctrlPr>
                                      </m:dPr>
                                      <m:e>
                                        <m:r>
                                          <a:rPr lang="it-IT" sz="1800" i="1">
                                            <a:latin typeface="Cambria Math" panose="02040503050406030204" pitchFamily="18" charset="0"/>
                                          </a:rPr>
                                          <m:t>1+</m:t>
                                        </m:r>
                                        <m:r>
                                          <a:rPr lang="it-IT" sz="1800" i="1">
                                            <a:latin typeface="Cambria Math" panose="02040503050406030204" pitchFamily="18" charset="0"/>
                                          </a:rPr>
                                          <m:t>𝑐</m:t>
                                        </m:r>
                                        <m:sSup>
                                          <m:sSupPr>
                                            <m:ctrlPr>
                                              <a:rPr lang="it-IT" sz="1800" i="1">
                                                <a:latin typeface="Cambria Math" panose="02040503050406030204" pitchFamily="18" charset="0"/>
                                              </a:rPr>
                                            </m:ctrlPr>
                                          </m:sSupPr>
                                          <m:e>
                                            <m:r>
                                              <a:rPr lang="it-IT" sz="1800" i="1">
                                                <a:latin typeface="Cambria Math" panose="02040503050406030204" pitchFamily="18" charset="0"/>
                                              </a:rPr>
                                              <m:t>𝑢</m:t>
                                            </m:r>
                                          </m:e>
                                          <m:sup>
                                            <m:r>
                                              <a:rPr lang="it-IT" sz="1800" i="1">
                                                <a:latin typeface="Cambria Math" panose="02040503050406030204" pitchFamily="18" charset="0"/>
                                              </a:rPr>
                                              <m:t>⊺</m:t>
                                            </m:r>
                                          </m:sup>
                                        </m:sSup>
                                        <m:sSubSup>
                                          <m:sSubSupPr>
                                            <m:ctrlPr>
                                              <a:rPr lang="it-IT" sz="1800" i="1">
                                                <a:latin typeface="Cambria Math" panose="02040503050406030204" pitchFamily="18" charset="0"/>
                                              </a:rPr>
                                            </m:ctrlPr>
                                          </m:sSubSupPr>
                                          <m:e>
                                            <m:r>
                                              <m:rPr>
                                                <m:sty m:val="p"/>
                                              </m:rPr>
                                              <a:rPr lang="it-IT" sz="1800" i="0">
                                                <a:latin typeface="Cambria Math" panose="02040503050406030204" pitchFamily="18" charset="0"/>
                                              </a:rPr>
                                              <m:t>Λ</m:t>
                                            </m:r>
                                          </m:e>
                                          <m:sub>
                                            <m:r>
                                              <a:rPr lang="it-IT" sz="1800" i="1">
                                                <a:latin typeface="Cambria Math" panose="02040503050406030204" pitchFamily="18" charset="0"/>
                                              </a:rPr>
                                              <m:t>𝑛</m:t>
                                            </m:r>
                                          </m:sub>
                                          <m:sup>
                                            <m:r>
                                              <a:rPr lang="it-IT" sz="1800" i="1">
                                                <a:latin typeface="Cambria Math" panose="02040503050406030204" pitchFamily="18" charset="0"/>
                                              </a:rPr>
                                              <m:t>−1</m:t>
                                            </m:r>
                                          </m:sup>
                                        </m:sSubSup>
                                        <m:r>
                                          <a:rPr lang="it-IT" sz="1800" i="1">
                                            <a:latin typeface="Cambria Math" panose="02040503050406030204" pitchFamily="18" charset="0"/>
                                          </a:rPr>
                                          <m:t>𝑢</m:t>
                                        </m:r>
                                      </m:e>
                                    </m:d>
                                  </m:e>
                                  <m:sup>
                                    <m:r>
                                      <a:rPr lang="it-IT" sz="1800" i="1">
                                        <a:latin typeface="Cambria Math" panose="02040503050406030204" pitchFamily="18" charset="0"/>
                                      </a:rPr>
                                      <m: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𝑛</m:t>
                                            </m:r>
                                          </m:sub>
                                        </m:sSub>
                                        <m:r>
                                          <a:rPr lang="it-IT" sz="1800" i="1">
                                            <a:latin typeface="Cambria Math" panose="02040503050406030204" pitchFamily="18" charset="0"/>
                                          </a:rPr>
                                          <m:t>+</m:t>
                                        </m:r>
                                        <m:r>
                                          <a:rPr lang="it-IT" sz="1800" i="1">
                                            <a:latin typeface="Cambria Math" panose="02040503050406030204" pitchFamily="18" charset="0"/>
                                          </a:rPr>
                                          <m:t>𝑑</m:t>
                                        </m:r>
                                      </m:e>
                                    </m:d>
                                    <m:r>
                                      <m:rPr>
                                        <m:lit/>
                                      </m:rPr>
                                      <a:rPr lang="it-IT" sz="1800" i="1">
                                        <a:latin typeface="Cambria Math" panose="02040503050406030204" pitchFamily="18" charset="0"/>
                                      </a:rPr>
                                      <m:t>/</m:t>
                                    </m:r>
                                    <m:r>
                                      <a:rPr lang="it-IT" sz="1800" i="1">
                                        <a:latin typeface="Cambria Math" panose="02040503050406030204" pitchFamily="18" charset="0"/>
                                      </a:rPr>
                                      <m:t>2</m:t>
                                    </m:r>
                                  </m:sup>
                                </m:sSup>
                              </m:e>
                            </m:mr>
                          </m:m>
                        </m:e>
                      </m:mr>
                      <m:mr>
                        <m:e/>
                        <m:e/>
                        <m:e/>
                      </m:mr>
                    </m:m>
                  </m:oMath>
                </a14:m>
                <a:endParaRPr lang="it-IT" sz="1800" dirty="0"/>
              </a:p>
              <a:p>
                <a:pPr>
                  <a:lnSpc>
                    <a:spcPct val="150000"/>
                  </a:lnSpc>
                </a:pPr>
                <a:r>
                  <a:rPr lang="it-IT" sz="1800" dirty="0"/>
                  <a:t>Let’s define </a:t>
                </a:r>
                <a14:m>
                  <m:oMath xmlns:m="http://schemas.openxmlformats.org/officeDocument/2006/math">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𝜈</m:t>
                        </m:r>
                      </m:e>
                      <m:sub>
                        <m:r>
                          <a:rPr lang="it-IT" sz="1800" b="0" i="1" smtClean="0">
                            <a:latin typeface="Cambria Math" panose="02040503050406030204" pitchFamily="18" charset="0"/>
                          </a:rPr>
                          <m:t>𝑡</m:t>
                        </m:r>
                      </m:sub>
                    </m:sSub>
                    <m:r>
                      <a:rPr lang="it-IT" sz="1800" i="1">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𝜈</m:t>
                        </m:r>
                      </m:e>
                      <m:sub>
                        <m:r>
                          <a:rPr lang="it-IT" sz="1800" b="0" i="1" smtClean="0">
                            <a:latin typeface="Cambria Math" panose="02040503050406030204" pitchFamily="18" charset="0"/>
                          </a:rPr>
                          <m:t>𝑛</m:t>
                        </m:r>
                      </m:sub>
                    </m:sSub>
                    <m:r>
                      <a:rPr lang="it-IT" sz="1800" b="0" i="1" smtClean="0">
                        <a:latin typeface="Cambria Math" panose="02040503050406030204" pitchFamily="18" charset="0"/>
                      </a:rPr>
                      <m:t>−</m:t>
                    </m:r>
                    <m:r>
                      <a:rPr lang="it-IT" sz="1800" b="0" i="1" smtClean="0">
                        <a:latin typeface="Cambria Math" panose="02040503050406030204" pitchFamily="18" charset="0"/>
                      </a:rPr>
                      <m:t>𝑑</m:t>
                    </m:r>
                    <m:r>
                      <a:rPr lang="it-IT" sz="1800" b="0" i="1" smtClean="0">
                        <a:latin typeface="Cambria Math" panose="02040503050406030204" pitchFamily="18" charset="0"/>
                      </a:rPr>
                      <m:t>+1</m:t>
                    </m:r>
                  </m:oMath>
                </a14:m>
                <a:r>
                  <a:rPr lang="it-IT" sz="1800" dirty="0"/>
                  <a:t>   and   </a:t>
                </a:r>
                <a14:m>
                  <m:oMath xmlns:m="http://schemas.openxmlformats.org/officeDocument/2006/math">
                    <m:sSub>
                      <m:sSubPr>
                        <m:ctrlPr>
                          <a:rPr lang="it-IT" sz="1800" b="0" i="1" smtClean="0">
                            <a:latin typeface="Cambria Math" panose="02040503050406030204" pitchFamily="18" charset="0"/>
                          </a:rPr>
                        </m:ctrlPr>
                      </m:sSubPr>
                      <m:e>
                        <m:r>
                          <m:rPr>
                            <m:sty m:val="p"/>
                          </m:rPr>
                          <a:rPr lang="it-IT" sz="1800" b="0" i="0" smtClean="0">
                            <a:latin typeface="Cambria Math" panose="02040503050406030204" pitchFamily="18" charset="0"/>
                          </a:rPr>
                          <m:t>Σ</m:t>
                        </m:r>
                      </m:e>
                      <m:sub>
                        <m:r>
                          <a:rPr lang="it-IT" sz="1800" b="0" i="1" smtClean="0">
                            <a:latin typeface="Cambria Math" panose="02040503050406030204" pitchFamily="18" charset="0"/>
                          </a:rPr>
                          <m:t>𝑡</m:t>
                        </m:r>
                      </m:sub>
                    </m:sSub>
                    <m:r>
                      <a:rPr lang="it-IT" sz="1800" i="1">
                        <a:latin typeface="Cambria Math" panose="02040503050406030204" pitchFamily="18" charset="0"/>
                      </a:rPr>
                      <m:t>≝</m:t>
                    </m:r>
                    <m:box>
                      <m:boxPr>
                        <m:ctrlPr>
                          <a:rPr lang="it-IT" sz="1800" b="0" i="1" smtClean="0">
                            <a:latin typeface="Cambria Math" panose="02040503050406030204" pitchFamily="18" charset="0"/>
                          </a:rPr>
                        </m:ctrlPr>
                      </m:boxPr>
                      <m:e>
                        <m:argPr>
                          <m:argSz m:val="-1"/>
                        </m:argPr>
                        <m:f>
                          <m:fPr>
                            <m:ctrlPr>
                              <a:rPr lang="it-IT" sz="1800" b="0" i="1" smtClean="0">
                                <a:latin typeface="Cambria Math" panose="02040503050406030204" pitchFamily="18" charset="0"/>
                              </a:rPr>
                            </m:ctrlPr>
                          </m:fPr>
                          <m:num>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𝜅</m:t>
                                </m:r>
                              </m:e>
                              <m:sub>
                                <m:r>
                                  <a:rPr lang="it-IT" sz="1800" b="0" i="1" smtClean="0">
                                    <a:latin typeface="Cambria Math" panose="02040503050406030204" pitchFamily="18" charset="0"/>
                                  </a:rPr>
                                  <m:t>𝑛</m:t>
                                </m:r>
                              </m:sub>
                            </m:sSub>
                            <m:r>
                              <a:rPr lang="it-IT" sz="1800" b="0" i="1" smtClean="0">
                                <a:latin typeface="Cambria Math" panose="02040503050406030204" pitchFamily="18" charset="0"/>
                              </a:rPr>
                              <m:t>+1</m:t>
                            </m:r>
                          </m:num>
                          <m:den>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𝜅</m:t>
                                </m:r>
                              </m:e>
                              <m:sub>
                                <m:r>
                                  <a:rPr lang="it-IT" sz="1800" b="0" i="1" smtClean="0">
                                    <a:latin typeface="Cambria Math" panose="02040503050406030204" pitchFamily="18" charset="0"/>
                                  </a:rPr>
                                  <m:t>𝑛</m:t>
                                </m:r>
                              </m:sub>
                            </m:sSub>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𝜈</m:t>
                                </m:r>
                              </m:e>
                              <m:sub>
                                <m:r>
                                  <a:rPr lang="it-IT" sz="1800" b="0" i="1" smtClean="0">
                                    <a:latin typeface="Cambria Math" panose="02040503050406030204" pitchFamily="18" charset="0"/>
                                  </a:rPr>
                                  <m:t>𝑡</m:t>
                                </m:r>
                              </m:sub>
                            </m:sSub>
                          </m:den>
                        </m:f>
                      </m:e>
                    </m:box>
                    <m:sSub>
                      <m:sSubPr>
                        <m:ctrlPr>
                          <a:rPr lang="it-IT" sz="1800" b="0" i="1" smtClean="0">
                            <a:latin typeface="Cambria Math" panose="02040503050406030204" pitchFamily="18" charset="0"/>
                          </a:rPr>
                        </m:ctrlPr>
                      </m:sSubPr>
                      <m:e>
                        <m:r>
                          <m:rPr>
                            <m:sty m:val="p"/>
                          </m:rPr>
                          <a:rPr lang="it-IT" sz="1800" b="0" i="0" smtClean="0">
                            <a:latin typeface="Cambria Math" panose="02040503050406030204" pitchFamily="18" charset="0"/>
                          </a:rPr>
                          <m:t>Λ</m:t>
                        </m:r>
                      </m:e>
                      <m:sub>
                        <m:r>
                          <a:rPr lang="it-IT" sz="1800" b="0" i="1" smtClean="0">
                            <a:latin typeface="Cambria Math" panose="02040503050406030204" pitchFamily="18" charset="0"/>
                          </a:rPr>
                          <m:t>𝑛</m:t>
                        </m:r>
                      </m:sub>
                    </m:sSub>
                  </m:oMath>
                </a14:m>
                <a:r>
                  <a:rPr lang="it-IT" sz="1800" dirty="0"/>
                  <a:t>:</a:t>
                </a:r>
              </a:p>
              <a:p>
                <a:pPr marL="0" indent="0">
                  <a:lnSpc>
                    <a:spcPct val="100000"/>
                  </a:lnSpc>
                  <a:buNone/>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m:t>
                      </m:r>
                      <m:r>
                        <a:rPr lang="it-IT" i="1" smtClean="0">
                          <a:latin typeface="Cambria Math" panose="02040503050406030204" pitchFamily="18" charset="0"/>
                        </a:rPr>
                        <m:t>𝑝</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e>
                        <m:e>
                          <m:sSub>
                            <m:sSubPr>
                              <m:ctrlPr>
                                <a:rPr lang="it-IT" i="1">
                                  <a:latin typeface="Cambria Math" panose="02040503050406030204" pitchFamily="18" charset="0"/>
                                </a:rPr>
                              </m:ctrlPr>
                            </m:sSubPr>
                            <m:e>
                              <m:r>
                                <a:rPr lang="it-IT" i="1">
                                  <a:latin typeface="Cambria Math" panose="02040503050406030204" pitchFamily="18" charset="0"/>
                                </a:rPr>
                                <m:t>𝒙</m:t>
                              </m:r>
                            </m:e>
                            <m:sub>
                              <m:r>
                                <a:rPr lang="it-IT" b="0" i="1">
                                  <a:latin typeface="Cambria Math" panose="02040503050406030204" pitchFamily="18" charset="0"/>
                                </a:rPr>
                                <m:t>𝑘</m:t>
                              </m:r>
                              <m:r>
                                <a:rPr lang="it-IT" b="0" i="1">
                                  <a:latin typeface="Cambria Math" panose="02040503050406030204" pitchFamily="18" charset="0"/>
                                </a:rPr>
                                <m:t>¬</m:t>
                              </m:r>
                              <m:r>
                                <a:rPr lang="it-IT" b="0" i="1">
                                  <a:latin typeface="Cambria Math" panose="02040503050406030204" pitchFamily="18" charset="0"/>
                                </a:rPr>
                                <m:t>𝑖</m:t>
                              </m:r>
                            </m:sub>
                          </m:sSub>
                        </m:e>
                      </m:d>
                      <m:r>
                        <a:rPr lang="it-IT" i="1">
                          <a:latin typeface="Cambria Math" panose="02040503050406030204" pitchFamily="18" charset="0"/>
                        </a:rPr>
                        <m:t>=</m:t>
                      </m:r>
                      <m:f>
                        <m:fPr>
                          <m:ctrlPr>
                            <a:rPr lang="it-IT" b="0" i="1">
                              <a:latin typeface="Cambria Math" panose="02040503050406030204" pitchFamily="18" charset="0"/>
                            </a:rPr>
                          </m:ctrlPr>
                        </m:fPr>
                        <m:num>
                          <m:r>
                            <m:rPr>
                              <m:sty m:val="p"/>
                            </m:rPr>
                            <a:rPr lang="it-IT" i="0">
                              <a:latin typeface="Cambria Math" panose="02040503050406030204" pitchFamily="18" charset="0"/>
                            </a:rPr>
                            <m:t>Γ</m:t>
                          </m:r>
                          <m:d>
                            <m:dPr>
                              <m:ctrlPr>
                                <a:rPr lang="it-IT" i="1">
                                  <a:latin typeface="Cambria Math" panose="02040503050406030204" pitchFamily="18" charset="0"/>
                                </a:rPr>
                              </m:ctrlPr>
                            </m:dPr>
                            <m:e>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𝜈</m:t>
                                      </m:r>
                                    </m:e>
                                    <m:sub>
                                      <m:r>
                                        <a:rPr lang="it-IT" i="1">
                                          <a:latin typeface="Cambria Math" panose="02040503050406030204" pitchFamily="18" charset="0"/>
                                        </a:rPr>
                                        <m:t>𝑡</m:t>
                                      </m:r>
                                    </m:sub>
                                  </m:sSub>
                                  <m:r>
                                    <a:rPr lang="it-IT" i="1">
                                      <a:latin typeface="Cambria Math" panose="02040503050406030204" pitchFamily="18" charset="0"/>
                                    </a:rPr>
                                    <m:t>+1</m:t>
                                  </m:r>
                                </m:num>
                                <m:den>
                                  <m:r>
                                    <a:rPr lang="it-IT" i="1">
                                      <a:latin typeface="Cambria Math" panose="02040503050406030204" pitchFamily="18" charset="0"/>
                                    </a:rPr>
                                    <m:t>2</m:t>
                                  </m:r>
                                </m:den>
                              </m:f>
                            </m:e>
                          </m:d>
                        </m:num>
                        <m:den>
                          <m:r>
                            <m:rPr>
                              <m:sty m:val="p"/>
                            </m:rPr>
                            <a:rPr lang="it-IT" i="0">
                              <a:latin typeface="Cambria Math" panose="02040503050406030204" pitchFamily="18" charset="0"/>
                            </a:rPr>
                            <m:t>Γ</m:t>
                          </m:r>
                          <m:d>
                            <m:dPr>
                              <m:ctrlPr>
                                <a:rPr lang="it-IT" i="1">
                                  <a:latin typeface="Cambria Math" panose="02040503050406030204" pitchFamily="18" charset="0"/>
                                </a:rPr>
                              </m:ctrlPr>
                            </m:dPr>
                            <m:e>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𝜈</m:t>
                                      </m:r>
                                    </m:e>
                                    <m:sub>
                                      <m:r>
                                        <a:rPr lang="it-IT" i="1">
                                          <a:latin typeface="Cambria Math" panose="02040503050406030204" pitchFamily="18" charset="0"/>
                                        </a:rPr>
                                        <m:t>𝑡</m:t>
                                      </m:r>
                                    </m:sub>
                                  </m:sSub>
                                </m:num>
                                <m:den>
                                  <m:r>
                                    <a:rPr lang="it-IT" i="1">
                                      <a:latin typeface="Cambria Math" panose="02040503050406030204" pitchFamily="18" charset="0"/>
                                    </a:rPr>
                                    <m:t>2</m:t>
                                  </m:r>
                                </m:den>
                              </m:f>
                            </m:e>
                          </m:d>
                          <m:sSup>
                            <m:sSupPr>
                              <m:ctrlPr>
                                <a:rPr lang="it-IT" i="1">
                                  <a:latin typeface="Cambria Math" panose="02040503050406030204" pitchFamily="18" charset="0"/>
                                </a:rPr>
                              </m:ctrlPr>
                            </m:sSupPr>
                            <m:e>
                              <m:d>
                                <m:dPr>
                                  <m:ctrlPr>
                                    <a:rPr lang="it-IT" i="1">
                                      <a:latin typeface="Cambria Math" panose="02040503050406030204" pitchFamily="18" charset="0"/>
                                    </a:rPr>
                                  </m:ctrlPr>
                                </m:dPr>
                                <m:e>
                                  <m:r>
                                    <a:rPr lang="it-IT" i="1">
                                      <a:latin typeface="Cambria Math" panose="02040503050406030204" pitchFamily="18" charset="0"/>
                                    </a:rPr>
                                    <m:t>𝜋</m:t>
                                  </m:r>
                                  <m:sSub>
                                    <m:sSubPr>
                                      <m:ctrlPr>
                                        <a:rPr lang="it-IT" i="1">
                                          <a:latin typeface="Cambria Math" panose="02040503050406030204" pitchFamily="18" charset="0"/>
                                        </a:rPr>
                                      </m:ctrlPr>
                                    </m:sSubPr>
                                    <m:e>
                                      <m:r>
                                        <a:rPr lang="it-IT" i="1">
                                          <a:latin typeface="Cambria Math" panose="02040503050406030204" pitchFamily="18" charset="0"/>
                                        </a:rPr>
                                        <m:t>𝜈</m:t>
                                      </m:r>
                                    </m:e>
                                    <m:sub>
                                      <m:r>
                                        <a:rPr lang="it-IT" i="1">
                                          <a:latin typeface="Cambria Math" panose="02040503050406030204" pitchFamily="18" charset="0"/>
                                        </a:rPr>
                                        <m:t>𝑡</m:t>
                                      </m:r>
                                    </m:sub>
                                  </m:sSub>
                                </m:e>
                              </m:d>
                            </m:e>
                            <m:sup>
                              <m:r>
                                <a:rPr lang="it-IT" i="1">
                                  <a:latin typeface="Cambria Math" panose="02040503050406030204" pitchFamily="18" charset="0"/>
                                </a:rPr>
                                <m:t>𝑑</m:t>
                              </m:r>
                              <m:r>
                                <m:rPr>
                                  <m:lit/>
                                </m:rPr>
                                <a:rPr lang="it-IT" i="1">
                                  <a:latin typeface="Cambria Math" panose="02040503050406030204" pitchFamily="18" charset="0"/>
                                </a:rPr>
                                <m:t>/</m:t>
                              </m:r>
                              <m:r>
                                <a:rPr lang="it-IT" i="1">
                                  <a:latin typeface="Cambria Math" panose="02040503050406030204" pitchFamily="18" charset="0"/>
                                </a:rPr>
                                <m:t>2</m:t>
                              </m:r>
                            </m:sup>
                          </m:sSup>
                          <m:sSup>
                            <m:sSupPr>
                              <m:ctrlPr>
                                <a:rPr lang="it-IT" i="1">
                                  <a:latin typeface="Cambria Math" panose="02040503050406030204" pitchFamily="18" charset="0"/>
                                </a:rPr>
                              </m:ctrlPr>
                            </m:sSupPr>
                            <m:e>
                              <m:d>
                                <m:dPr>
                                  <m:begChr m:val="|"/>
                                  <m:endChr m:val="|"/>
                                  <m:ctrlPr>
                                    <a:rPr lang="it-IT" i="1">
                                      <a:latin typeface="Cambria Math" panose="02040503050406030204" pitchFamily="18" charset="0"/>
                                    </a:rPr>
                                  </m:ctrlPr>
                                </m:dPr>
                                <m:e>
                                  <m:sSub>
                                    <m:sSubPr>
                                      <m:ctrlPr>
                                        <a:rPr lang="it-IT" i="1">
                                          <a:latin typeface="Cambria Math" panose="02040503050406030204" pitchFamily="18" charset="0"/>
                                        </a:rPr>
                                      </m:ctrlPr>
                                    </m:sSubPr>
                                    <m:e>
                                      <m:r>
                                        <m:rPr>
                                          <m:sty m:val="p"/>
                                        </m:rPr>
                                        <a:rPr lang="it-IT" i="0">
                                          <a:latin typeface="Cambria Math" panose="02040503050406030204" pitchFamily="18" charset="0"/>
                                        </a:rPr>
                                        <m:t>Σ</m:t>
                                      </m:r>
                                    </m:e>
                                    <m:sub>
                                      <m:r>
                                        <a:rPr lang="it-IT" i="1">
                                          <a:latin typeface="Cambria Math" panose="02040503050406030204" pitchFamily="18" charset="0"/>
                                        </a:rPr>
                                        <m:t>𝑡</m:t>
                                      </m:r>
                                    </m:sub>
                                  </m:sSub>
                                </m:e>
                              </m:d>
                            </m:e>
                            <m:sup>
                              <m:r>
                                <a:rPr lang="it-IT" i="1">
                                  <a:latin typeface="Cambria Math" panose="02040503050406030204" pitchFamily="18" charset="0"/>
                                </a:rPr>
                                <m:t>1</m:t>
                              </m:r>
                              <m:r>
                                <m:rPr>
                                  <m:lit/>
                                </m:rPr>
                                <a:rPr lang="it-IT" i="1">
                                  <a:latin typeface="Cambria Math" panose="02040503050406030204" pitchFamily="18" charset="0"/>
                                </a:rPr>
                                <m:t>/</m:t>
                              </m:r>
                              <m:r>
                                <a:rPr lang="it-IT" i="1">
                                  <a:latin typeface="Cambria Math" panose="02040503050406030204" pitchFamily="18" charset="0"/>
                                </a:rPr>
                                <m:t>2</m:t>
                              </m:r>
                            </m:sup>
                          </m:sSup>
                        </m:den>
                      </m:f>
                      <m:sSup>
                        <m:sSupPr>
                          <m:ctrlPr>
                            <a:rPr lang="it-IT" i="1">
                              <a:latin typeface="Cambria Math" panose="02040503050406030204" pitchFamily="18" charset="0"/>
                            </a:rPr>
                          </m:ctrlPr>
                        </m:sSupPr>
                        <m:e>
                          <m:d>
                            <m:dPr>
                              <m:ctrlPr>
                                <a:rPr lang="it-IT" i="1">
                                  <a:latin typeface="Cambria Math" panose="02040503050406030204" pitchFamily="18" charset="0"/>
                                </a:rPr>
                              </m:ctrlPr>
                            </m:dPr>
                            <m:e>
                              <m:r>
                                <a:rPr lang="it-IT" i="1">
                                  <a:latin typeface="Cambria Math" panose="02040503050406030204" pitchFamily="18" charset="0"/>
                                </a:rPr>
                                <m:t>1+</m:t>
                              </m:r>
                              <m:f>
                                <m:fPr>
                                  <m:ctrlPr>
                                    <a:rPr lang="it-IT" i="1">
                                      <a:latin typeface="Cambria Math" panose="02040503050406030204" pitchFamily="18" charset="0"/>
                                    </a:rPr>
                                  </m:ctrlPr>
                                </m:fPr>
                                <m:num>
                                  <m:r>
                                    <a:rPr lang="it-IT" i="1">
                                      <a:latin typeface="Cambria Math" panose="02040503050406030204" pitchFamily="18" charset="0"/>
                                    </a:rPr>
                                    <m:t>1</m:t>
                                  </m:r>
                                </m:num>
                                <m:den>
                                  <m:sSub>
                                    <m:sSubPr>
                                      <m:ctrlPr>
                                        <a:rPr lang="it-IT" i="1">
                                          <a:latin typeface="Cambria Math" panose="02040503050406030204" pitchFamily="18" charset="0"/>
                                        </a:rPr>
                                      </m:ctrlPr>
                                    </m:sSubPr>
                                    <m:e>
                                      <m:r>
                                        <a:rPr lang="it-IT" i="1">
                                          <a:latin typeface="Cambria Math" panose="02040503050406030204" pitchFamily="18" charset="0"/>
                                        </a:rPr>
                                        <m:t>𝜈</m:t>
                                      </m:r>
                                    </m:e>
                                    <m:sub>
                                      <m:r>
                                        <a:rPr lang="it-IT" i="1">
                                          <a:latin typeface="Cambria Math" panose="02040503050406030204" pitchFamily="18" charset="0"/>
                                        </a:rPr>
                                        <m:t>𝑡</m:t>
                                      </m:r>
                                    </m:sub>
                                  </m:sSub>
                                </m:den>
                              </m:f>
                              <m:sSup>
                                <m:sSupPr>
                                  <m:ctrlPr>
                                    <a:rPr lang="it-IT" i="1">
                                      <a:latin typeface="Cambria Math" panose="02040503050406030204" pitchFamily="18" charset="0"/>
                                    </a:rPr>
                                  </m:ctrlPr>
                                </m:sSupPr>
                                <m:e>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𝑛</m:t>
                                          </m:r>
                                        </m:sub>
                                      </m:sSub>
                                    </m:e>
                                  </m:d>
                                </m:e>
                                <m:sup>
                                  <m:r>
                                    <a:rPr lang="it-IT" i="1">
                                      <a:latin typeface="Cambria Math" panose="02040503050406030204" pitchFamily="18" charset="0"/>
                                    </a:rPr>
                                    <m:t>⊺</m:t>
                                  </m:r>
                                </m:sup>
                              </m:sSup>
                              <m:sSubSup>
                                <m:sSubSupPr>
                                  <m:ctrlPr>
                                    <a:rPr lang="it-IT" i="1">
                                      <a:latin typeface="Cambria Math" panose="02040503050406030204" pitchFamily="18" charset="0"/>
                                    </a:rPr>
                                  </m:ctrlPr>
                                </m:sSubSupPr>
                                <m:e>
                                  <m:r>
                                    <m:rPr>
                                      <m:sty m:val="p"/>
                                    </m:rPr>
                                    <a:rPr lang="it-IT" i="0">
                                      <a:latin typeface="Cambria Math" panose="02040503050406030204" pitchFamily="18" charset="0"/>
                                    </a:rPr>
                                    <m:t>Σ</m:t>
                                  </m:r>
                                </m:e>
                                <m:sub>
                                  <m:r>
                                    <a:rPr lang="it-IT" i="1">
                                      <a:latin typeface="Cambria Math" panose="02040503050406030204" pitchFamily="18" charset="0"/>
                                    </a:rPr>
                                    <m:t>𝑡</m:t>
                                  </m:r>
                                </m:sub>
                                <m:sup>
                                  <m:r>
                                    <a:rPr lang="it-IT" i="1">
                                      <a:latin typeface="Cambria Math" panose="02040503050406030204" pitchFamily="18" charset="0"/>
                                    </a:rPr>
                                    <m:t>−1</m:t>
                                  </m:r>
                                </m:sup>
                              </m:sSubSup>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𝑛</m:t>
                                      </m:r>
                                    </m:sub>
                                  </m:sSub>
                                </m:e>
                              </m:d>
                            </m:e>
                          </m:d>
                        </m:e>
                        <m:sup>
                          <m:r>
                            <a:rPr lang="it-IT" i="1">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𝜈</m:t>
                                  </m:r>
                                </m:e>
                                <m:sub>
                                  <m:r>
                                    <a:rPr lang="it-IT" i="1">
                                      <a:latin typeface="Cambria Math" panose="02040503050406030204" pitchFamily="18" charset="0"/>
                                    </a:rPr>
                                    <m:t>𝑡</m:t>
                                  </m:r>
                                </m:sub>
                              </m:sSub>
                              <m:r>
                                <a:rPr lang="it-IT" i="1">
                                  <a:latin typeface="Cambria Math" panose="02040503050406030204" pitchFamily="18" charset="0"/>
                                </a:rPr>
                                <m:t>+</m:t>
                              </m:r>
                              <m:r>
                                <a:rPr lang="it-IT" i="1">
                                  <a:latin typeface="Cambria Math" panose="02040503050406030204" pitchFamily="18" charset="0"/>
                                </a:rPr>
                                <m:t>𝑑</m:t>
                              </m:r>
                            </m:num>
                            <m:den>
                              <m:r>
                                <a:rPr lang="it-IT" i="1">
                                  <a:latin typeface="Cambria Math" panose="02040503050406030204" pitchFamily="18" charset="0"/>
                                </a:rPr>
                                <m:t>2</m:t>
                              </m:r>
                            </m:den>
                          </m:f>
                        </m:sup>
                      </m:sSup>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𝑡</m:t>
                          </m:r>
                        </m:e>
                        <m:sub>
                          <m:sSub>
                            <m:sSubPr>
                              <m:ctrlPr>
                                <a:rPr lang="it-IT" i="1">
                                  <a:latin typeface="Cambria Math" panose="02040503050406030204" pitchFamily="18" charset="0"/>
                                </a:rPr>
                              </m:ctrlPr>
                            </m:sSubPr>
                            <m:e>
                              <m:r>
                                <a:rPr lang="it-IT" i="1">
                                  <a:latin typeface="Cambria Math" panose="02040503050406030204" pitchFamily="18" charset="0"/>
                                </a:rPr>
                                <m:t>𝜈</m:t>
                              </m:r>
                            </m:e>
                            <m:sub>
                              <m:r>
                                <a:rPr lang="it-IT" i="1">
                                  <a:latin typeface="Cambria Math" panose="02040503050406030204" pitchFamily="18" charset="0"/>
                                </a:rPr>
                                <m:t>𝑡</m:t>
                              </m:r>
                            </m:sub>
                          </m:sSub>
                        </m:sub>
                      </m:sSub>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𝑖</m:t>
                              </m:r>
                            </m:sub>
                          </m:sSub>
                        </m:e>
                        <m:e>
                          <m:sSub>
                            <m:sSubPr>
                              <m:ctrlPr>
                                <a:rPr lang="it-IT" i="1">
                                  <a:latin typeface="Cambria Math" panose="02040503050406030204" pitchFamily="18" charset="0"/>
                                </a:rPr>
                              </m:ctrlPr>
                            </m:sSubPr>
                            <m:e>
                              <m:r>
                                <a:rPr lang="it-IT" i="1">
                                  <a:latin typeface="Cambria Math" panose="02040503050406030204" pitchFamily="18" charset="0"/>
                                </a:rPr>
                                <m:t>𝜇</m:t>
                              </m:r>
                            </m:e>
                            <m:sub>
                              <m:r>
                                <a:rPr lang="it-IT" i="1">
                                  <a:latin typeface="Cambria Math" panose="02040503050406030204" pitchFamily="18" charset="0"/>
                                </a:rPr>
                                <m:t>𝑛</m:t>
                              </m:r>
                            </m:sub>
                          </m:sSub>
                          <m:r>
                            <a:rPr lang="it-IT" i="1">
                              <a:latin typeface="Cambria Math" panose="02040503050406030204" pitchFamily="18" charset="0"/>
                            </a:rPr>
                            <m:t>,</m:t>
                          </m:r>
                          <m:sSub>
                            <m:sSubPr>
                              <m:ctrlPr>
                                <a:rPr lang="it-IT" i="1">
                                  <a:latin typeface="Cambria Math" panose="02040503050406030204" pitchFamily="18" charset="0"/>
                                </a:rPr>
                              </m:ctrlPr>
                            </m:sSubPr>
                            <m:e>
                              <m:r>
                                <m:rPr>
                                  <m:sty m:val="p"/>
                                </m:rPr>
                                <a:rPr lang="it-IT" i="0">
                                  <a:latin typeface="Cambria Math" panose="02040503050406030204" pitchFamily="18" charset="0"/>
                                </a:rPr>
                                <m:t>Σ</m:t>
                              </m:r>
                            </m:e>
                            <m:sub>
                              <m:r>
                                <a:rPr lang="it-IT" i="1">
                                  <a:latin typeface="Cambria Math" panose="02040503050406030204" pitchFamily="18" charset="0"/>
                                </a:rPr>
                                <m:t>𝑡</m:t>
                              </m:r>
                            </m:sub>
                          </m:sSub>
                        </m:e>
                      </m:d>
                    </m:oMath>
                  </m:oMathPara>
                </a14:m>
                <a:endParaRPr lang="it-IT" dirty="0"/>
              </a:p>
            </p:txBody>
          </p:sp>
        </mc:Choice>
        <mc:Fallback xmlns="">
          <p:sp>
            <p:nvSpPr>
              <p:cNvPr id="3" name="Content Placeholder 2">
                <a:extLst>
                  <a:ext uri="{FF2B5EF4-FFF2-40B4-BE49-F238E27FC236}">
                    <a16:creationId xmlns:a16="http://schemas.microsoft.com/office/drawing/2014/main" id="{7B99E668-3316-6535-E647-60D884C95C42}"/>
                  </a:ext>
                </a:extLst>
              </p:cNvPr>
              <p:cNvSpPr>
                <a:spLocks noGrp="1" noRot="1" noChangeAspect="1" noMove="1" noResize="1" noEditPoints="1" noAdjustHandles="1" noChangeArrowheads="1" noChangeShapeType="1" noTextEdit="1"/>
              </p:cNvSpPr>
              <p:nvPr>
                <p:ph idx="1"/>
              </p:nvPr>
            </p:nvSpPr>
            <p:spPr>
              <a:xfrm>
                <a:off x="700635" y="1563077"/>
                <a:ext cx="10790730" cy="4650154"/>
              </a:xfrm>
              <a:blipFill>
                <a:blip r:embed="rId3"/>
                <a:stretch>
                  <a:fillRect l="-452" t="-10354"/>
                </a:stretch>
              </a:blipFill>
            </p:spPr>
            <p:txBody>
              <a:bodyPr/>
              <a:lstStyle/>
              <a:p>
                <a:r>
                  <a:rPr lang="it-IT">
                    <a:noFill/>
                  </a:rPr>
                  <a:t> </a:t>
                </a:r>
              </a:p>
            </p:txBody>
          </p:sp>
        </mc:Fallback>
      </mc:AlternateContent>
      <p:sp>
        <p:nvSpPr>
          <p:cNvPr id="7" name="TextBox 6">
            <a:extLst>
              <a:ext uri="{FF2B5EF4-FFF2-40B4-BE49-F238E27FC236}">
                <a16:creationId xmlns:a16="http://schemas.microsoft.com/office/drawing/2014/main" id="{8CB0A0BA-216E-7339-F7F5-486C3A92F4C0}"/>
              </a:ext>
            </a:extLst>
          </p:cNvPr>
          <p:cNvSpPr txBox="1"/>
          <p:nvPr/>
        </p:nvSpPr>
        <p:spPr>
          <a:xfrm>
            <a:off x="8255000" y="5813121"/>
            <a:ext cx="3136900" cy="400110"/>
          </a:xfrm>
          <a:prstGeom prst="rect">
            <a:avLst/>
          </a:prstGeom>
          <a:noFill/>
        </p:spPr>
        <p:txBody>
          <a:bodyPr wrap="square" rtlCol="0">
            <a:spAutoFit/>
          </a:bodyPr>
          <a:lstStyle/>
          <a:p>
            <a:pPr algn="ctr"/>
            <a:r>
              <a:rPr lang="it-IT" sz="2000" b="1" dirty="0"/>
              <a:t>Multivariate t-distribution</a:t>
            </a:r>
          </a:p>
        </p:txBody>
      </p:sp>
    </p:spTree>
    <p:extLst>
      <p:ext uri="{BB962C8B-B14F-4D97-AF65-F5344CB8AC3E}">
        <p14:creationId xmlns:p14="http://schemas.microsoft.com/office/powerpoint/2010/main" val="40744842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5FD18-9F2B-ACCE-F12B-81F22124C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E5791-EAB0-35CD-2481-9D9CA8D327EA}"/>
              </a:ext>
            </a:extLst>
          </p:cNvPr>
          <p:cNvSpPr>
            <a:spLocks noGrp="1"/>
          </p:cNvSpPr>
          <p:nvPr>
            <p:ph type="title"/>
          </p:nvPr>
        </p:nvSpPr>
        <p:spPr/>
        <p:txBody>
          <a:bodyPr/>
          <a:lstStyle/>
          <a:p>
            <a:r>
              <a:rPr lang="it-IT" dirty="0">
                <a:solidFill>
                  <a:srgbClr val="FF0000"/>
                </a:solidFill>
              </a:rPr>
              <a:t>Multidimensional algorithm</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5C6132D-9A0E-E061-1C73-2061BBE22AB3}"/>
                  </a:ext>
                </a:extLst>
              </p:cNvPr>
              <p:cNvSpPr>
                <a:spLocks noGrp="1"/>
              </p:cNvSpPr>
              <p:nvPr>
                <p:ph idx="1"/>
              </p:nvPr>
            </p:nvSpPr>
            <p:spPr>
              <a:xfrm>
                <a:off x="799553" y="1563077"/>
                <a:ext cx="10592347" cy="4532924"/>
              </a:xfrm>
            </p:spPr>
            <p:txBody>
              <a:bodyPr>
                <a:normAutofit/>
              </a:bodyPr>
              <a:lstStyle/>
              <a:p>
                <a:pPr marL="457200" indent="-457200">
                  <a:buFont typeface="+mj-lt"/>
                  <a:buAutoNum type="arabicPeriod"/>
                </a:pPr>
                <a:r>
                  <a:rPr lang="it-IT" dirty="0"/>
                  <a:t>Initialize </a:t>
                </a: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𝜽</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t>
                </a: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𝒘</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and </a:t>
                </a:r>
                <a14:m>
                  <m:oMath xmlns:m="http://schemas.openxmlformats.org/officeDocument/2006/math">
                    <m:sSup>
                      <m:sSupPr>
                        <m:ctrlPr>
                          <a:rPr lang="it-IT" i="1">
                            <a:latin typeface="Cambria Math" panose="02040503050406030204" pitchFamily="18" charset="0"/>
                          </a:rPr>
                        </m:ctrlPr>
                      </m:sSupPr>
                      <m:e>
                        <m:r>
                          <a:rPr lang="it-IT" b="1" i="1">
                            <a:latin typeface="Cambria Math" panose="02040503050406030204" pitchFamily="18" charset="0"/>
                          </a:rPr>
                          <m:t>𝒛</m:t>
                        </m:r>
                      </m:e>
                      <m:sup>
                        <m:d>
                          <m:dPr>
                            <m:ctrlPr>
                              <a:rPr lang="it-IT" i="1">
                                <a:latin typeface="Cambria Math" panose="02040503050406030204" pitchFamily="18" charset="0"/>
                              </a:rPr>
                            </m:ctrlPr>
                          </m:dPr>
                          <m:e>
                            <m:r>
                              <a:rPr lang="it-IT" i="1">
                                <a:latin typeface="Cambria Math" panose="02040503050406030204" pitchFamily="18" charset="0"/>
                              </a:rPr>
                              <m:t>0</m:t>
                            </m:r>
                          </m:e>
                        </m:d>
                      </m:sup>
                    </m:sSup>
                  </m:oMath>
                </a14:m>
                <a:r>
                  <a:rPr lang="it-IT" dirty="0"/>
                  <a:t> and choose the hyperparameters: </a:t>
                </a:r>
                <a14:m>
                  <m:oMath xmlns:m="http://schemas.openxmlformats.org/officeDocument/2006/math">
                    <m:r>
                      <a:rPr lang="it-IT" b="0" i="1" smtClean="0">
                        <a:latin typeface="Cambria Math" panose="02040503050406030204" pitchFamily="18" charset="0"/>
                      </a:rPr>
                      <m:t>𝛼</m:t>
                    </m:r>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𝜇</m:t>
                        </m:r>
                      </m:e>
                      <m:sub>
                        <m:r>
                          <a:rPr lang="it-IT" b="0" i="1" smtClean="0">
                            <a:latin typeface="Cambria Math" panose="02040503050406030204" pitchFamily="18" charset="0"/>
                          </a:rPr>
                          <m:t>0</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𝜅</m:t>
                        </m:r>
                      </m:e>
                      <m:sub>
                        <m:r>
                          <a:rPr lang="it-IT" b="0" i="1" smtClean="0">
                            <a:latin typeface="Cambria Math" panose="02040503050406030204" pitchFamily="18" charset="0"/>
                          </a:rPr>
                          <m:t>0</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𝜈</m:t>
                        </m:r>
                      </m:e>
                      <m:sub>
                        <m:r>
                          <a:rPr lang="it-IT" b="0" i="1" smtClean="0">
                            <a:latin typeface="Cambria Math" panose="02040503050406030204" pitchFamily="18" charset="0"/>
                          </a:rPr>
                          <m:t>0</m:t>
                        </m:r>
                      </m:sub>
                    </m:sSub>
                    <m:r>
                      <m:rPr>
                        <m:nor/>
                      </m:rPr>
                      <a:rPr lang="it-IT" b="0" i="0" smtClean="0">
                        <a:latin typeface="Cambria Math" panose="02040503050406030204" pitchFamily="18" charset="0"/>
                      </a:rPr>
                      <m:t> </m:t>
                    </m:r>
                    <m:r>
                      <m:rPr>
                        <m:nor/>
                      </m:rPr>
                      <a:rPr lang="it-IT" b="0" i="0" smtClean="0">
                        <a:latin typeface="Cambria Math" panose="02040503050406030204" pitchFamily="18" charset="0"/>
                      </a:rPr>
                      <m:t>and</m:t>
                    </m:r>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m:rPr>
                            <m:sty m:val="p"/>
                          </m:rPr>
                          <a:rPr lang="it-IT" b="0" i="0" smtClean="0">
                            <a:latin typeface="Cambria Math" panose="02040503050406030204" pitchFamily="18" charset="0"/>
                          </a:rPr>
                          <m:t>Σ</m:t>
                        </m:r>
                      </m:e>
                      <m:sub>
                        <m:r>
                          <a:rPr lang="it-IT" b="0" i="1" smtClean="0">
                            <a:latin typeface="Cambria Math" panose="02040503050406030204" pitchFamily="18" charset="0"/>
                          </a:rPr>
                          <m:t>0</m:t>
                        </m:r>
                      </m:sub>
                    </m:sSub>
                    <m:r>
                      <a:rPr lang="it-IT" b="0" i="1" smtClean="0">
                        <a:latin typeface="Cambria Math" panose="02040503050406030204" pitchFamily="18" charset="0"/>
                      </a:rPr>
                      <m:t>.</m:t>
                    </m:r>
                  </m:oMath>
                </a14:m>
                <a:endParaRPr lang="it-IT" dirty="0"/>
              </a:p>
              <a:p>
                <a:pPr marL="457200" indent="-457200">
                  <a:buFont typeface="+mj-lt"/>
                  <a:buAutoNum type="arabicPeriod"/>
                </a:pPr>
                <a:r>
                  <a:rPr lang="it-IT" dirty="0"/>
                  <a:t>For iterations </a:t>
                </a:r>
                <a14:m>
                  <m:oMath xmlns:m="http://schemas.openxmlformats.org/officeDocument/2006/math">
                    <m:r>
                      <m:rPr>
                        <m:sty m:val="p"/>
                      </m:rPr>
                      <a:rPr lang="it-IT" i="1">
                        <a:latin typeface="Cambria Math" panose="02040503050406030204" pitchFamily="18" charset="0"/>
                      </a:rPr>
                      <m:t>t</m:t>
                    </m:r>
                    <m:r>
                      <a:rPr lang="it-IT" i="1">
                        <a:latin typeface="Cambria Math" panose="02040503050406030204" pitchFamily="18" charset="0"/>
                      </a:rPr>
                      <m:t> = </m:t>
                    </m:r>
                    <m:r>
                      <a:rPr lang="it-IT" i="1">
                        <a:latin typeface="Cambria Math" panose="02040503050406030204" pitchFamily="18" charset="0"/>
                      </a:rPr>
                      <m:t>1</m:t>
                    </m:r>
                    <m:r>
                      <a:rPr lang="it-IT" i="1">
                        <a:latin typeface="Cambria Math" panose="02040503050406030204" pitchFamily="18" charset="0"/>
                      </a:rPr>
                      <m:t>,</m:t>
                    </m:r>
                    <m:r>
                      <a:rPr lang="it-IT" i="1">
                        <a:latin typeface="Cambria Math" panose="02040503050406030204" pitchFamily="18" charset="0"/>
                      </a:rPr>
                      <m:t>2</m:t>
                    </m:r>
                    <m:r>
                      <a:rPr lang="it-IT" i="1">
                        <a:latin typeface="Cambria Math" panose="02040503050406030204" pitchFamily="18" charset="0"/>
                      </a:rPr>
                      <m:t>,…, </m:t>
                    </m:r>
                    <m:r>
                      <m:rPr>
                        <m:sty m:val="p"/>
                      </m:rPr>
                      <a:rPr lang="it-IT" i="1">
                        <a:latin typeface="Cambria Math" panose="02040503050406030204" pitchFamily="18" charset="0"/>
                      </a:rPr>
                      <m:t>M</m:t>
                    </m:r>
                    <m:r>
                      <a:rPr lang="it-IT" i="1">
                        <a:latin typeface="Cambria Math" panose="02040503050406030204" pitchFamily="18" charset="0"/>
                      </a:rPr>
                      <m:t>:</m:t>
                    </m:r>
                  </m:oMath>
                </a14:m>
                <a:endParaRPr lang="it-IT" dirty="0"/>
              </a:p>
              <a:p>
                <a:pPr lvl="1"/>
                <a:r>
                  <a:rPr lang="it-IT" dirty="0"/>
                  <a:t>For each </a:t>
                </a:r>
                <a:r>
                  <a:rPr lang="it-IT" i="1" dirty="0"/>
                  <a:t>i</a:t>
                </a:r>
                <a:r>
                  <a:rPr lang="it-IT" dirty="0"/>
                  <a:t>: </a:t>
                </a:r>
              </a:p>
              <a:p>
                <a:pPr lvl="2"/>
                <a:r>
                  <a:rPr lang="it-IT" sz="1800" dirty="0"/>
                  <a:t>Remove point </a:t>
                </a:r>
                <a:r>
                  <a:rPr lang="it-IT" sz="1800" i="1" dirty="0"/>
                  <a:t>i</a:t>
                </a:r>
                <a:r>
                  <a:rPr lang="it-IT" sz="1800" dirty="0"/>
                  <a:t> from the cluster </a:t>
                </a:r>
                <a:r>
                  <a:rPr lang="en-US" sz="1800" dirty="0"/>
                  <a:t>it occupied in the previous iteration </a:t>
                </a:r>
                <a14:m>
                  <m:oMath xmlns:m="http://schemas.openxmlformats.org/officeDocument/2006/math">
                    <m:r>
                      <a:rPr lang="en-US" sz="1800" i="1" dirty="0">
                        <a:latin typeface="Cambria Math" panose="02040503050406030204" pitchFamily="18" charset="0"/>
                      </a:rPr>
                      <m:t>𝑡</m:t>
                    </m:r>
                    <m:r>
                      <a:rPr lang="en-US" sz="1800" i="1" dirty="0">
                        <a:latin typeface="Cambria Math" panose="02040503050406030204" pitchFamily="18" charset="0"/>
                      </a:rPr>
                      <m:t>−</m:t>
                    </m:r>
                    <m:r>
                      <a:rPr lang="en-US" sz="1800" i="1" dirty="0">
                        <a:latin typeface="Cambria Math" panose="02040503050406030204" pitchFamily="18" charset="0"/>
                      </a:rPr>
                      <m:t>1</m:t>
                    </m:r>
                  </m:oMath>
                </a14:m>
                <a:r>
                  <a:rPr lang="it-IT" sz="1800" dirty="0"/>
                  <a:t>.</a:t>
                </a:r>
              </a:p>
              <a:p>
                <a:pPr lvl="2"/>
                <a:r>
                  <a:rPr lang="it-IT" sz="1800" dirty="0"/>
                  <a:t>If the cluster becomes empty, remove it.</a:t>
                </a:r>
              </a:p>
              <a:p>
                <a:pPr lvl="2"/>
                <a:r>
                  <a:rPr lang="it-IT" sz="1800" dirty="0"/>
                  <a:t>For each </a:t>
                </a:r>
                <a14:m>
                  <m:oMath xmlns:m="http://schemas.openxmlformats.org/officeDocument/2006/math">
                    <m:r>
                      <a:rPr lang="it-IT" sz="1800" i="1" smtClean="0">
                        <a:latin typeface="Cambria Math" panose="02040503050406030204" pitchFamily="18" charset="0"/>
                      </a:rPr>
                      <m:t>𝑘</m:t>
                    </m:r>
                    <m:r>
                      <a:rPr lang="it-IT" sz="1800" b="0" i="1" smtClean="0">
                        <a:latin typeface="Cambria Math" panose="02040503050406030204" pitchFamily="18" charset="0"/>
                      </a:rPr>
                      <m:t>=</m:t>
                    </m:r>
                    <m:r>
                      <a:rPr lang="it-IT" sz="1800" b="0" i="1" smtClean="0">
                        <a:latin typeface="Cambria Math" panose="02040503050406030204" pitchFamily="18" charset="0"/>
                      </a:rPr>
                      <m:t>1</m:t>
                    </m:r>
                    <m:r>
                      <a:rPr lang="it-IT" sz="1800" b="0" i="1" smtClean="0">
                        <a:latin typeface="Cambria Math" panose="02040503050406030204" pitchFamily="18" charset="0"/>
                      </a:rPr>
                      <m:t>,…</m:t>
                    </m:r>
                    <m:sSup>
                      <m:sSupPr>
                        <m:ctrlPr>
                          <a:rPr lang="it-IT" sz="1800" i="1">
                            <a:latin typeface="Cambria Math" panose="02040503050406030204" pitchFamily="18" charset="0"/>
                          </a:rPr>
                        </m:ctrlPr>
                      </m:sSupPr>
                      <m:e>
                        <m:r>
                          <a:rPr lang="it-IT" sz="1800" i="1">
                            <a:latin typeface="Cambria Math" panose="02040503050406030204" pitchFamily="18" charset="0"/>
                          </a:rPr>
                          <m:t>𝐾</m:t>
                        </m:r>
                      </m:e>
                      <m:sup>
                        <m:r>
                          <a:rPr lang="it-IT" sz="1800" i="1">
                            <a:latin typeface="Cambria Math" panose="02040503050406030204" pitchFamily="18" charset="0"/>
                          </a:rPr>
                          <m:t>∗</m:t>
                        </m:r>
                      </m:sup>
                    </m:sSup>
                    <m:r>
                      <a:rPr lang="it-IT" sz="1800" b="0" i="1" smtClean="0">
                        <a:latin typeface="Cambria Math" panose="02040503050406030204" pitchFamily="18" charset="0"/>
                      </a:rPr>
                      <m:t>: </m:t>
                    </m:r>
                  </m:oMath>
                </a14:m>
                <a:r>
                  <a:rPr lang="it-IT" sz="1800" dirty="0"/>
                  <a:t>c</a:t>
                </a:r>
                <a14:m>
                  <m:oMath xmlns:m="http://schemas.openxmlformats.org/officeDocument/2006/math">
                    <m:r>
                      <m:rPr>
                        <m:sty m:val="p"/>
                      </m:rPr>
                      <a:rPr lang="it-IT" sz="1800" b="0" i="0" smtClean="0">
                        <a:latin typeface="Cambria Math" panose="02040503050406030204" pitchFamily="18" charset="0"/>
                      </a:rPr>
                      <m:t>ompute</m:t>
                    </m:r>
                    <m:r>
                      <a:rPr lang="it-IT" sz="1800" b="0" i="0" smtClean="0">
                        <a:latin typeface="Cambria Math" panose="02040503050406030204" pitchFamily="18" charset="0"/>
                      </a:rPr>
                      <m:t> </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𝑘</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𝒙</m:t>
                        </m:r>
                        <m:r>
                          <a:rPr lang="it-IT" sz="1800" i="1">
                            <a:latin typeface="Cambria Math" panose="02040503050406030204" pitchFamily="18" charset="0"/>
                          </a:rPr>
                          <m:t>,</m:t>
                        </m:r>
                        <m:r>
                          <a:rPr lang="it-IT" sz="1800" i="1">
                            <a:latin typeface="Cambria Math" panose="02040503050406030204" pitchFamily="18" charset="0"/>
                          </a:rPr>
                          <m:t>𝛼</m:t>
                        </m:r>
                      </m:e>
                    </m:d>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𝑛</m:t>
                        </m:r>
                      </m:e>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𝑖</m:t>
                        </m:r>
                      </m:sub>
                    </m:sSub>
                    <m:r>
                      <a:rPr lang="it-IT" sz="1800" b="0" i="1" smtClean="0">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𝑡</m:t>
                        </m:r>
                      </m:e>
                      <m:sub>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𝑡</m:t>
                            </m:r>
                          </m:sub>
                        </m:sSub>
                      </m:sub>
                    </m:sSub>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i="1">
                                <a:latin typeface="Cambria Math" panose="02040503050406030204" pitchFamily="18" charset="0"/>
                              </a:rPr>
                              <m:t>𝑛</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Σ</m:t>
                            </m:r>
                          </m:e>
                          <m:sub>
                            <m:r>
                              <a:rPr lang="it-IT" sz="1800" i="1">
                                <a:latin typeface="Cambria Math" panose="02040503050406030204" pitchFamily="18" charset="0"/>
                              </a:rPr>
                              <m:t>𝑡</m:t>
                            </m:r>
                          </m:sub>
                        </m:sSub>
                      </m:e>
                    </m:d>
                    <m:r>
                      <a:rPr lang="it-IT" sz="180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𝑞</m:t>
                        </m:r>
                      </m:e>
                      <m:sub>
                        <m:r>
                          <a:rPr lang="it-IT" sz="1800" b="0" i="1" smtClean="0">
                            <a:latin typeface="Cambria Math" panose="02040503050406030204" pitchFamily="18" charset="0"/>
                          </a:rPr>
                          <m:t>𝑘</m:t>
                        </m:r>
                      </m:sub>
                    </m:sSub>
                  </m:oMath>
                </a14:m>
                <a:r>
                  <a:rPr lang="it-IT" sz="1800" i="1" dirty="0"/>
                  <a:t>.</a:t>
                </a:r>
              </a:p>
              <a:p>
                <a:pPr lvl="2"/>
                <a:r>
                  <a:rPr lang="it-IT" sz="1800" dirty="0"/>
                  <a:t>C</a:t>
                </a:r>
                <a14:m>
                  <m:oMath xmlns:m="http://schemas.openxmlformats.org/officeDocument/2006/math">
                    <m:r>
                      <m:rPr>
                        <m:sty m:val="p"/>
                      </m:rPr>
                      <a:rPr lang="it-IT" sz="1800" b="0" i="0" smtClean="0">
                        <a:latin typeface="Cambria Math" panose="02040503050406030204" pitchFamily="18" charset="0"/>
                      </a:rPr>
                      <m:t>ompute</m:t>
                    </m:r>
                    <m:r>
                      <a:rPr lang="it-IT" sz="1800" b="0" i="0" smtClean="0">
                        <a:latin typeface="Cambria Math" panose="02040503050406030204" pitchFamily="18" charset="0"/>
                      </a:rPr>
                      <m:t> </m:t>
                    </m:r>
                    <m:r>
                      <a:rPr lang="it-IT" sz="1800" i="1">
                        <a:latin typeface="Cambria Math" panose="02040503050406030204" pitchFamily="18" charset="0"/>
                      </a:rPr>
                      <m:t>𝑝</m:t>
                    </m:r>
                    <m:d>
                      <m:dPr>
                        <m:ctrlPr>
                          <a:rPr lang="it-IT" sz="1800" i="1">
                            <a:latin typeface="Cambria Math" panose="02040503050406030204" pitchFamily="18" charset="0"/>
                          </a:rPr>
                        </m:ctrlPr>
                      </m:dPr>
                      <m:e>
                        <m:sSub>
                          <m:sSubPr>
                            <m:ctrlPr>
                              <a:rPr lang="it-IT" sz="1800" i="1" smtClean="0">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𝑖</m:t>
                            </m:r>
                          </m:sub>
                        </m:sSub>
                        <m:r>
                          <a:rPr lang="it-IT" sz="1800" i="1">
                            <a:latin typeface="Cambria Math" panose="02040503050406030204" pitchFamily="18" charset="0"/>
                          </a:rPr>
                          <m:t>=</m:t>
                        </m:r>
                        <m:r>
                          <a:rPr lang="it-IT" sz="1800" b="0" i="1" smtClean="0">
                            <a:latin typeface="Cambria Math" panose="02040503050406030204" pitchFamily="18" charset="0"/>
                          </a:rPr>
                          <m:t>𝑛𝑒𝑤</m:t>
                        </m:r>
                      </m:e>
                      <m:e>
                        <m:sSub>
                          <m:sSubPr>
                            <m:ctrlPr>
                              <a:rPr lang="it-IT" sz="1800" i="1">
                                <a:latin typeface="Cambria Math" panose="02040503050406030204" pitchFamily="18" charset="0"/>
                              </a:rPr>
                            </m:ctrlPr>
                          </m:sSubPr>
                          <m:e>
                            <m:r>
                              <a:rPr lang="it-IT" sz="1800" i="1">
                                <a:latin typeface="Cambria Math" panose="02040503050406030204" pitchFamily="18" charset="0"/>
                              </a:rPr>
                              <m:t>𝑧</m:t>
                            </m:r>
                          </m:e>
                          <m:sub>
                            <m:r>
                              <a:rPr lang="it-IT" sz="1800" i="1">
                                <a:latin typeface="Cambria Math" panose="02040503050406030204" pitchFamily="18" charset="0"/>
                              </a:rPr>
                              <m:t>¬</m:t>
                            </m:r>
                            <m:r>
                              <a:rPr lang="it-IT" sz="1800" i="1">
                                <a:latin typeface="Cambria Math" panose="02040503050406030204" pitchFamily="18" charset="0"/>
                              </a:rPr>
                              <m:t>𝑖</m:t>
                            </m:r>
                          </m:sub>
                        </m:sSub>
                        <m:r>
                          <a:rPr lang="it-IT" sz="1800" i="1">
                            <a:latin typeface="Cambria Math" panose="02040503050406030204" pitchFamily="18" charset="0"/>
                          </a:rPr>
                          <m:t>,</m:t>
                        </m:r>
                        <m:r>
                          <a:rPr lang="it-IT" sz="1800" i="1">
                            <a:latin typeface="Cambria Math" panose="02040503050406030204" pitchFamily="18" charset="0"/>
                          </a:rPr>
                          <m:t>𝒙</m:t>
                        </m:r>
                        <m:r>
                          <a:rPr lang="it-IT" sz="1800" i="1">
                            <a:latin typeface="Cambria Math" panose="02040503050406030204" pitchFamily="18" charset="0"/>
                          </a:rPr>
                          <m:t>,</m:t>
                        </m:r>
                        <m:r>
                          <a:rPr lang="it-IT" sz="1800" i="1">
                            <a:latin typeface="Cambria Math" panose="02040503050406030204" pitchFamily="18" charset="0"/>
                          </a:rPr>
                          <m:t>𝛼</m:t>
                        </m:r>
                      </m:e>
                    </m:d>
                    <m:r>
                      <a:rPr lang="it-IT" sz="1800" i="1">
                        <a:latin typeface="Cambria Math" panose="02040503050406030204" pitchFamily="18" charset="0"/>
                      </a:rPr>
                      <m:t>∝</m:t>
                    </m:r>
                    <m:r>
                      <a:rPr lang="it-IT" sz="1800" i="1">
                        <a:latin typeface="Cambria Math" panose="02040503050406030204" pitchFamily="18" charset="0"/>
                      </a:rPr>
                      <m:t>𝛼</m:t>
                    </m:r>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𝑡</m:t>
                        </m:r>
                      </m:e>
                      <m:sub>
                        <m:sSub>
                          <m:sSubPr>
                            <m:ctrlPr>
                              <a:rPr lang="it-IT" sz="1800" i="1">
                                <a:latin typeface="Cambria Math" panose="02040503050406030204" pitchFamily="18" charset="0"/>
                              </a:rPr>
                            </m:ctrlPr>
                          </m:sSubPr>
                          <m:e>
                            <m:r>
                              <a:rPr lang="it-IT" sz="1800" i="1">
                                <a:latin typeface="Cambria Math" panose="02040503050406030204" pitchFamily="18" charset="0"/>
                              </a:rPr>
                              <m:t>𝜈</m:t>
                            </m:r>
                          </m:e>
                          <m:sub>
                            <m:r>
                              <a:rPr lang="it-IT" sz="1800" i="1">
                                <a:latin typeface="Cambria Math" panose="02040503050406030204" pitchFamily="18" charset="0"/>
                              </a:rPr>
                              <m:t>𝑡</m:t>
                            </m:r>
                          </m:sub>
                        </m:sSub>
                      </m:sub>
                    </m:sSub>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𝑥</m:t>
                            </m:r>
                          </m:e>
                          <m:sub>
                            <m:r>
                              <a:rPr lang="it-IT" sz="1800" i="1">
                                <a:latin typeface="Cambria Math" panose="02040503050406030204" pitchFamily="18" charset="0"/>
                              </a:rPr>
                              <m:t>𝑖</m:t>
                            </m:r>
                          </m:sub>
                        </m:sSub>
                      </m:e>
                      <m:e>
                        <m:sSub>
                          <m:sSubPr>
                            <m:ctrlPr>
                              <a:rPr lang="it-IT" sz="1800" i="1">
                                <a:latin typeface="Cambria Math" panose="02040503050406030204" pitchFamily="18" charset="0"/>
                              </a:rPr>
                            </m:ctrlPr>
                          </m:sSubPr>
                          <m:e>
                            <m:r>
                              <a:rPr lang="it-IT" sz="1800" i="1">
                                <a:latin typeface="Cambria Math" panose="02040503050406030204" pitchFamily="18" charset="0"/>
                              </a:rPr>
                              <m:t>𝜇</m:t>
                            </m:r>
                          </m:e>
                          <m:sub>
                            <m:r>
                              <a:rPr lang="it-IT" sz="1800" b="0" i="1" smtClean="0">
                                <a:latin typeface="Cambria Math" panose="02040503050406030204" pitchFamily="18" charset="0"/>
                              </a:rPr>
                              <m:t>0</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m:rPr>
                                <m:sty m:val="p"/>
                              </m:rPr>
                              <a:rPr lang="it-IT" sz="1800">
                                <a:latin typeface="Cambria Math" panose="02040503050406030204" pitchFamily="18" charset="0"/>
                              </a:rPr>
                              <m:t>Σ</m:t>
                            </m:r>
                          </m:e>
                          <m:sub>
                            <m:r>
                              <a:rPr lang="it-IT" sz="1800" i="1">
                                <a:latin typeface="Cambria Math" panose="02040503050406030204" pitchFamily="18" charset="0"/>
                              </a:rPr>
                              <m:t>𝑡</m:t>
                            </m:r>
                          </m:sub>
                        </m:sSub>
                      </m:e>
                    </m:d>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𝑞</m:t>
                        </m:r>
                      </m:e>
                      <m:sub>
                        <m:r>
                          <m:rPr>
                            <m:sty m:val="p"/>
                          </m:rPr>
                          <a:rPr lang="it-IT" sz="1800" b="0" i="1" smtClean="0">
                            <a:latin typeface="Cambria Math" panose="02040503050406030204" pitchFamily="18" charset="0"/>
                          </a:rPr>
                          <m:t>new</m:t>
                        </m:r>
                      </m:sub>
                    </m:sSub>
                  </m:oMath>
                </a14:m>
                <a:r>
                  <a:rPr lang="it-IT" sz="1800" i="1" dirty="0"/>
                  <a:t>.</a:t>
                </a:r>
              </a:p>
              <a:p>
                <a:pPr lvl="2"/>
                <a:r>
                  <a:rPr lang="it-IT" sz="1800" dirty="0"/>
                  <a:t>Normalize: </a:t>
                </a:r>
                <a14:m>
                  <m:oMath xmlns:m="http://schemas.openxmlformats.org/officeDocument/2006/math">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𝑝</m:t>
                        </m:r>
                      </m:e>
                      <m:sub>
                        <m:r>
                          <a:rPr lang="it-IT" sz="1800" b="0" i="1" smtClean="0">
                            <a:latin typeface="Cambria Math" panose="02040503050406030204" pitchFamily="18" charset="0"/>
                          </a:rPr>
                          <m:t>𝑘</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𝑞</m:t>
                        </m:r>
                      </m:e>
                      <m:sub>
                        <m:r>
                          <a:rPr lang="it-IT" sz="1800" b="0" i="1" smtClean="0">
                            <a:latin typeface="Cambria Math" panose="02040503050406030204" pitchFamily="18" charset="0"/>
                          </a:rPr>
                          <m:t>𝑘</m:t>
                        </m:r>
                      </m:sub>
                    </m:sSub>
                    <m:r>
                      <m:rPr>
                        <m:lit/>
                      </m:rP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𝑞</m:t>
                            </m:r>
                          </m:e>
                          <m:sub>
                            <m:r>
                              <a:rPr lang="it-IT" sz="1800" b="0" i="1" smtClean="0">
                                <a:latin typeface="Cambria Math" panose="02040503050406030204" pitchFamily="18" charset="0"/>
                              </a:rPr>
                              <m:t>𝑛𝑒𝑤</m:t>
                            </m:r>
                          </m:sub>
                        </m:sSub>
                        <m:r>
                          <a:rPr lang="it-IT" sz="1800" b="0" i="1" smtClean="0">
                            <a:latin typeface="Cambria Math" panose="02040503050406030204" pitchFamily="18" charset="0"/>
                          </a:rPr>
                          <m:t>+</m:t>
                        </m:r>
                        <m:nary>
                          <m:naryPr>
                            <m:chr m:val="∑"/>
                            <m:ctrlPr>
                              <a:rPr lang="it-IT" sz="1800" b="0" i="1" smtClean="0">
                                <a:latin typeface="Cambria Math" panose="02040503050406030204" pitchFamily="18" charset="0"/>
                              </a:rPr>
                            </m:ctrlPr>
                          </m:naryPr>
                          <m:sub>
                            <m:r>
                              <a:rPr lang="it-IT" sz="1800" b="0" i="1" smtClean="0">
                                <a:latin typeface="Cambria Math" panose="02040503050406030204" pitchFamily="18" charset="0"/>
                              </a:rPr>
                              <m:t>𝑘</m:t>
                            </m:r>
                            <m:r>
                              <a:rPr lang="it-IT" sz="1800" b="0" i="1" smtClean="0">
                                <a:latin typeface="Cambria Math" panose="02040503050406030204" pitchFamily="18" charset="0"/>
                              </a:rPr>
                              <m:t>=</m:t>
                            </m:r>
                            <m:r>
                              <a:rPr lang="it-IT" sz="1800" b="0" i="1" smtClean="0">
                                <a:latin typeface="Cambria Math" panose="02040503050406030204" pitchFamily="18" charset="0"/>
                              </a:rPr>
                              <m:t>1</m:t>
                            </m:r>
                          </m:sub>
                          <m:sup>
                            <m:sSup>
                              <m:sSupPr>
                                <m:ctrlPr>
                                  <a:rPr lang="it-IT" sz="1800" i="1">
                                    <a:latin typeface="Cambria Math" panose="02040503050406030204" pitchFamily="18" charset="0"/>
                                  </a:rPr>
                                </m:ctrlPr>
                              </m:sSupPr>
                              <m:e>
                                <m:r>
                                  <a:rPr lang="it-IT" sz="1800" i="1">
                                    <a:latin typeface="Cambria Math" panose="02040503050406030204" pitchFamily="18" charset="0"/>
                                  </a:rPr>
                                  <m:t>𝐾</m:t>
                                </m:r>
                              </m:e>
                              <m:sup>
                                <m:r>
                                  <a:rPr lang="it-IT" sz="1800" i="1">
                                    <a:latin typeface="Cambria Math" panose="02040503050406030204" pitchFamily="18" charset="0"/>
                                  </a:rPr>
                                  <m:t>∗</m:t>
                                </m:r>
                              </m:sup>
                            </m:sSup>
                          </m:sup>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𝑞</m:t>
                                </m:r>
                              </m:e>
                              <m:sub>
                                <m:r>
                                  <a:rPr lang="it-IT" sz="1800" b="0" i="1" smtClean="0">
                                    <a:latin typeface="Cambria Math" panose="02040503050406030204" pitchFamily="18" charset="0"/>
                                  </a:rPr>
                                  <m:t>𝑘</m:t>
                                </m:r>
                              </m:sub>
                            </m:sSub>
                          </m:e>
                        </m:nary>
                      </m:e>
                    </m:d>
                  </m:oMath>
                </a14:m>
                <a:r>
                  <a:rPr lang="it-IT" sz="1800" dirty="0"/>
                  <a:t> and </a:t>
                </a:r>
                <a14:m>
                  <m:oMath xmlns:m="http://schemas.openxmlformats.org/officeDocument/2006/math">
                    <m:sSub>
                      <m:sSubPr>
                        <m:ctrlPr>
                          <a:rPr lang="it-IT" sz="1800" i="1">
                            <a:latin typeface="Cambria Math" panose="02040503050406030204" pitchFamily="18" charset="0"/>
                          </a:rPr>
                        </m:ctrlPr>
                      </m:sSubPr>
                      <m:e>
                        <m:r>
                          <a:rPr lang="it-IT" sz="1800" i="1">
                            <a:latin typeface="Cambria Math" panose="02040503050406030204" pitchFamily="18" charset="0"/>
                          </a:rPr>
                          <m:t>𝑝</m:t>
                        </m:r>
                      </m:e>
                      <m:sub>
                        <m:r>
                          <m:rPr>
                            <m:sty m:val="p"/>
                          </m:rPr>
                          <a:rPr lang="it-IT" sz="1800" b="0" i="1" smtClean="0">
                            <a:latin typeface="Cambria Math" panose="02040503050406030204" pitchFamily="18" charset="0"/>
                          </a:rPr>
                          <m:t>new</m:t>
                        </m:r>
                      </m:sub>
                    </m:sSub>
                    <m:r>
                      <a:rPr lang="it-IT" sz="1800" i="1">
                        <a:latin typeface="Cambria Math" panose="02040503050406030204" pitchFamily="18" charset="0"/>
                      </a:rPr>
                      <m:t>=</m:t>
                    </m:r>
                    <m:sSub>
                      <m:sSubPr>
                        <m:ctrlPr>
                          <a:rPr lang="it-IT" sz="1800" i="1">
                            <a:latin typeface="Cambria Math" panose="02040503050406030204" pitchFamily="18" charset="0"/>
                          </a:rPr>
                        </m:ctrlPr>
                      </m:sSubPr>
                      <m:e>
                        <m:r>
                          <a:rPr lang="it-IT" sz="1800" i="1">
                            <a:latin typeface="Cambria Math" panose="02040503050406030204" pitchFamily="18" charset="0"/>
                          </a:rPr>
                          <m:t>𝑞</m:t>
                        </m:r>
                      </m:e>
                      <m:sub>
                        <m:r>
                          <m:rPr>
                            <m:sty m:val="p"/>
                          </m:rPr>
                          <a:rPr lang="it-IT" sz="1800" b="0" i="1" smtClean="0">
                            <a:latin typeface="Cambria Math" panose="02040503050406030204" pitchFamily="18" charset="0"/>
                          </a:rPr>
                          <m:t>new</m:t>
                        </m:r>
                      </m:sub>
                    </m:sSub>
                    <m:r>
                      <m:rPr>
                        <m:lit/>
                      </m:rPr>
                      <a:rPr lang="it-IT" sz="1800" i="1">
                        <a:latin typeface="Cambria Math" panose="02040503050406030204" pitchFamily="18" charset="0"/>
                      </a:rPr>
                      <m:t>/</m:t>
                    </m:r>
                    <m:d>
                      <m:dPr>
                        <m:ctrlPr>
                          <a:rPr lang="it-IT" sz="1800" i="1">
                            <a:latin typeface="Cambria Math" panose="02040503050406030204" pitchFamily="18" charset="0"/>
                          </a:rPr>
                        </m:ctrlPr>
                      </m:dPr>
                      <m:e>
                        <m:sSub>
                          <m:sSubPr>
                            <m:ctrlPr>
                              <a:rPr lang="it-IT" sz="1800" i="1">
                                <a:latin typeface="Cambria Math" panose="02040503050406030204" pitchFamily="18" charset="0"/>
                              </a:rPr>
                            </m:ctrlPr>
                          </m:sSubPr>
                          <m:e>
                            <m:r>
                              <a:rPr lang="it-IT" sz="1800" i="1">
                                <a:latin typeface="Cambria Math" panose="02040503050406030204" pitchFamily="18" charset="0"/>
                              </a:rPr>
                              <m:t>𝑞</m:t>
                            </m:r>
                          </m:e>
                          <m:sub>
                            <m:r>
                              <a:rPr lang="it-IT" sz="1800" i="1">
                                <a:latin typeface="Cambria Math" panose="02040503050406030204" pitchFamily="18" charset="0"/>
                              </a:rPr>
                              <m:t>𝑛𝑒𝑤</m:t>
                            </m:r>
                          </m:sub>
                        </m:sSub>
                        <m:r>
                          <a:rPr lang="it-IT" sz="1800" i="1">
                            <a:latin typeface="Cambria Math" panose="02040503050406030204" pitchFamily="18" charset="0"/>
                          </a:rPr>
                          <m:t>+</m:t>
                        </m:r>
                        <m:nary>
                          <m:naryPr>
                            <m:chr m:val="∑"/>
                            <m:ctrlPr>
                              <a:rPr lang="it-IT" sz="1800" i="1">
                                <a:latin typeface="Cambria Math" panose="02040503050406030204" pitchFamily="18" charset="0"/>
                              </a:rPr>
                            </m:ctrlPr>
                          </m:naryPr>
                          <m:sub>
                            <m:r>
                              <a:rPr lang="it-IT" sz="1800" i="1">
                                <a:latin typeface="Cambria Math" panose="02040503050406030204" pitchFamily="18" charset="0"/>
                              </a:rPr>
                              <m:t>𝑘</m:t>
                            </m:r>
                            <m:r>
                              <a:rPr lang="it-IT" sz="1800" i="1">
                                <a:latin typeface="Cambria Math" panose="02040503050406030204" pitchFamily="18" charset="0"/>
                              </a:rPr>
                              <m:t>=</m:t>
                            </m:r>
                            <m:r>
                              <a:rPr lang="it-IT" sz="1800" i="1">
                                <a:latin typeface="Cambria Math" panose="02040503050406030204" pitchFamily="18" charset="0"/>
                              </a:rPr>
                              <m:t>1</m:t>
                            </m:r>
                          </m:sub>
                          <m:sup>
                            <m:sSup>
                              <m:sSupPr>
                                <m:ctrlPr>
                                  <a:rPr lang="it-IT" sz="1800" i="1">
                                    <a:latin typeface="Cambria Math" panose="02040503050406030204" pitchFamily="18" charset="0"/>
                                  </a:rPr>
                                </m:ctrlPr>
                              </m:sSupPr>
                              <m:e>
                                <m:r>
                                  <a:rPr lang="it-IT" sz="1800" i="1">
                                    <a:latin typeface="Cambria Math" panose="02040503050406030204" pitchFamily="18" charset="0"/>
                                  </a:rPr>
                                  <m:t>𝐾</m:t>
                                </m:r>
                              </m:e>
                              <m:sup>
                                <m:r>
                                  <a:rPr lang="it-IT" sz="1800" i="1">
                                    <a:latin typeface="Cambria Math" panose="02040503050406030204" pitchFamily="18" charset="0"/>
                                  </a:rPr>
                                  <m:t>∗</m:t>
                                </m:r>
                              </m:sup>
                            </m:sSup>
                          </m:sup>
                          <m:e>
                            <m:sSub>
                              <m:sSubPr>
                                <m:ctrlPr>
                                  <a:rPr lang="it-IT" sz="1800" i="1">
                                    <a:latin typeface="Cambria Math" panose="02040503050406030204" pitchFamily="18" charset="0"/>
                                  </a:rPr>
                                </m:ctrlPr>
                              </m:sSubPr>
                              <m:e>
                                <m:r>
                                  <a:rPr lang="it-IT" sz="1800" i="1">
                                    <a:latin typeface="Cambria Math" panose="02040503050406030204" pitchFamily="18" charset="0"/>
                                  </a:rPr>
                                  <m:t>𝑞</m:t>
                                </m:r>
                              </m:e>
                              <m:sub>
                                <m:r>
                                  <a:rPr lang="it-IT" sz="1800" i="1">
                                    <a:latin typeface="Cambria Math" panose="02040503050406030204" pitchFamily="18" charset="0"/>
                                  </a:rPr>
                                  <m:t>𝑘</m:t>
                                </m:r>
                              </m:sub>
                            </m:sSub>
                          </m:e>
                        </m:nary>
                      </m:e>
                    </m:d>
                  </m:oMath>
                </a14:m>
                <a:endParaRPr lang="it-IT" sz="1800" dirty="0"/>
              </a:p>
              <a:p>
                <a:pPr lvl="2"/>
                <a:r>
                  <a:rPr lang="it-IT" sz="1800" dirty="0"/>
                  <a:t>Draw </a:t>
                </a:r>
                <a14:m>
                  <m:oMath xmlns:m="http://schemas.openxmlformats.org/officeDocument/2006/math">
                    <m:sSubSup>
                      <m:sSubSupPr>
                        <m:ctrlPr>
                          <a:rPr lang="it-IT" sz="1800" i="1">
                            <a:latin typeface="Cambria Math" panose="02040503050406030204" pitchFamily="18" charset="0"/>
                          </a:rPr>
                        </m:ctrlPr>
                      </m:sSubSupPr>
                      <m:e>
                        <m:r>
                          <a:rPr lang="it-IT" sz="1800">
                            <a:latin typeface="Cambria Math" panose="02040503050406030204" pitchFamily="18" charset="0"/>
                          </a:rPr>
                          <m:t>𝑧</m:t>
                        </m:r>
                      </m:e>
                      <m:sub>
                        <m:r>
                          <a:rPr lang="it-IT" sz="1800">
                            <a:latin typeface="Cambria Math" panose="02040503050406030204" pitchFamily="18" charset="0"/>
                          </a:rPr>
                          <m:t>𝑖</m:t>
                        </m:r>
                      </m:sub>
                      <m:sup>
                        <m:d>
                          <m:dPr>
                            <m:ctrlPr>
                              <a:rPr lang="it-IT" sz="1800" i="1">
                                <a:latin typeface="Cambria Math" panose="02040503050406030204" pitchFamily="18" charset="0"/>
                              </a:rPr>
                            </m:ctrlPr>
                          </m:dPr>
                          <m:e>
                            <m:r>
                              <a:rPr lang="it-IT" sz="1800">
                                <a:latin typeface="Cambria Math" panose="02040503050406030204" pitchFamily="18" charset="0"/>
                              </a:rPr>
                              <m:t>𝑡</m:t>
                            </m:r>
                          </m:e>
                        </m:d>
                      </m:sup>
                    </m:sSubSup>
                    <m:r>
                      <m:rPr>
                        <m:nor/>
                      </m:rPr>
                      <a:rPr lang="it-IT" sz="1800" b="0" i="0" smtClean="0">
                        <a:latin typeface="Cambria Math" panose="02040503050406030204" pitchFamily="18" charset="0"/>
                      </a:rPr>
                      <m:t> </m:t>
                    </m:r>
                    <m:r>
                      <m:rPr>
                        <m:nor/>
                      </m:rPr>
                      <a:rPr lang="it-IT" sz="1800" dirty="0"/>
                      <m:t>with</m:t>
                    </m:r>
                    <m:r>
                      <m:rPr>
                        <m:nor/>
                      </m:rPr>
                      <a:rPr lang="it-IT" sz="1800" dirty="0"/>
                      <m:t> </m:t>
                    </m:r>
                    <m:r>
                      <m:rPr>
                        <m:nor/>
                      </m:rPr>
                      <a:rPr lang="it-IT" sz="1800" dirty="0">
                        <a:latin typeface="Consolas" panose="020B0609020204030204" pitchFamily="49" charset="0"/>
                      </a:rPr>
                      <m:t>numpy</m:t>
                    </m:r>
                    <m:r>
                      <m:rPr>
                        <m:nor/>
                      </m:rPr>
                      <a:rPr lang="it-IT" sz="1800" dirty="0">
                        <a:latin typeface="Consolas" panose="020B0609020204030204" pitchFamily="49" charset="0"/>
                      </a:rPr>
                      <m:t>.</m:t>
                    </m:r>
                    <m:r>
                      <m:rPr>
                        <m:nor/>
                      </m:rPr>
                      <a:rPr lang="it-IT" sz="1800" dirty="0">
                        <a:latin typeface="Consolas" panose="020B0609020204030204" pitchFamily="49" charset="0"/>
                      </a:rPr>
                      <m:t>random</m:t>
                    </m:r>
                    <m:r>
                      <m:rPr>
                        <m:nor/>
                      </m:rPr>
                      <a:rPr lang="it-IT" sz="1800" dirty="0">
                        <a:latin typeface="Consolas" panose="020B0609020204030204" pitchFamily="49" charset="0"/>
                      </a:rPr>
                      <m:t>.</m:t>
                    </m:r>
                    <m:r>
                      <m:rPr>
                        <m:nor/>
                      </m:rPr>
                      <a:rPr lang="it-IT" sz="1800" dirty="0">
                        <a:latin typeface="Consolas" panose="020B0609020204030204" pitchFamily="49" charset="0"/>
                      </a:rPr>
                      <m:t>choice</m:t>
                    </m:r>
                    <m:r>
                      <m:rPr>
                        <m:nor/>
                      </m:rPr>
                      <a:rPr lang="it-IT" sz="1800" dirty="0">
                        <a:latin typeface="Consolas" panose="020B0609020204030204" pitchFamily="49" charset="0"/>
                      </a:rPr>
                      <m:t> </m:t>
                    </m:r>
                    <m:r>
                      <m:rPr>
                        <m:nor/>
                      </m:rPr>
                      <a:rPr lang="it-IT" sz="1800" dirty="0"/>
                      <m:t>using</m:t>
                    </m:r>
                    <m:r>
                      <m:rPr>
                        <m:nor/>
                      </m:rPr>
                      <a:rPr lang="it-IT" sz="1800" dirty="0"/>
                      <m:t> </m:t>
                    </m:r>
                    <m:r>
                      <m:rPr>
                        <m:nor/>
                      </m:rPr>
                      <a:rPr lang="it-IT" sz="1800" dirty="0"/>
                      <m:t>probabilities</m:t>
                    </m:r>
                    <m:r>
                      <m:rPr>
                        <m:nor/>
                      </m:rPr>
                      <a:rPr lang="it-IT" sz="1800" dirty="0"/>
                      <m:t> </m:t>
                    </m:r>
                    <m:r>
                      <a:rPr lang="it-IT" sz="1800" i="1">
                        <a:latin typeface="Cambria Math" panose="02040503050406030204" pitchFamily="18" charset="0"/>
                      </a:rPr>
                      <m:t>𝑝</m:t>
                    </m:r>
                    <m:r>
                      <a:rPr lang="it-IT" sz="1800" b="0" i="1" smtClean="0">
                        <a:latin typeface="Cambria Math" panose="02040503050406030204" pitchFamily="18" charset="0"/>
                      </a:rPr>
                      <m:t>=</m:t>
                    </m:r>
                    <m:d>
                      <m:dPr>
                        <m:ctrlPr>
                          <a:rPr lang="it-IT" sz="1800" b="0" i="1" smtClean="0">
                            <a:latin typeface="Cambria Math" panose="02040503050406030204" pitchFamily="18" charset="0"/>
                          </a:rPr>
                        </m:ctrlPr>
                      </m:dPr>
                      <m:e>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𝑝</m:t>
                            </m:r>
                          </m:e>
                          <m:sub>
                            <m:r>
                              <a:rPr lang="it-IT" sz="1800" b="0" i="1" smtClean="0">
                                <a:latin typeface="Cambria Math" panose="02040503050406030204" pitchFamily="18" charset="0"/>
                              </a:rPr>
                              <m:t>1</m:t>
                            </m:r>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𝑝</m:t>
                            </m:r>
                          </m:e>
                          <m:sub>
                            <m:sSup>
                              <m:sSupPr>
                                <m:ctrlPr>
                                  <a:rPr lang="it-IT" sz="1800" i="1">
                                    <a:latin typeface="Cambria Math" panose="02040503050406030204" pitchFamily="18" charset="0"/>
                                  </a:rPr>
                                </m:ctrlPr>
                              </m:sSupPr>
                              <m:e>
                                <m:r>
                                  <a:rPr lang="it-IT" sz="1800" i="1">
                                    <a:latin typeface="Cambria Math" panose="02040503050406030204" pitchFamily="18" charset="0"/>
                                  </a:rPr>
                                  <m:t>𝐾</m:t>
                                </m:r>
                              </m:e>
                              <m:sup>
                                <m:r>
                                  <a:rPr lang="it-IT" sz="1800" i="1">
                                    <a:latin typeface="Cambria Math" panose="02040503050406030204" pitchFamily="18" charset="0"/>
                                  </a:rPr>
                                  <m:t>∗</m:t>
                                </m:r>
                              </m:sup>
                            </m:sSup>
                          </m:sub>
                        </m:sSub>
                        <m:r>
                          <a:rPr lang="it-IT" sz="1800" b="0" i="1" smtClean="0">
                            <a:latin typeface="Cambria Math" panose="02040503050406030204" pitchFamily="18" charset="0"/>
                          </a:rPr>
                          <m:t>,</m:t>
                        </m:r>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𝑝</m:t>
                            </m:r>
                          </m:e>
                          <m:sub>
                            <m:r>
                              <a:rPr lang="it-IT" sz="1800" b="0" i="1" smtClean="0">
                                <a:latin typeface="Cambria Math" panose="02040503050406030204" pitchFamily="18" charset="0"/>
                              </a:rPr>
                              <m:t>𝑛𝑒𝑤</m:t>
                            </m:r>
                          </m:sub>
                        </m:sSub>
                      </m:e>
                    </m:d>
                  </m:oMath>
                </a14:m>
                <a:endParaRPr lang="it-IT" dirty="0"/>
              </a:p>
              <a:p>
                <a:pPr lvl="2"/>
                <a:r>
                  <a:rPr lang="it-IT" sz="1800" dirty="0"/>
                  <a:t>If</a:t>
                </a:r>
                <a14:m>
                  <m:oMath xmlns:m="http://schemas.openxmlformats.org/officeDocument/2006/math">
                    <m:sSubSup>
                      <m:sSubSupPr>
                        <m:ctrlPr>
                          <a:rPr lang="it-IT" sz="1800" i="1" smtClean="0">
                            <a:latin typeface="Cambria Math" panose="02040503050406030204" pitchFamily="18" charset="0"/>
                          </a:rPr>
                        </m:ctrlPr>
                      </m:sSubSupPr>
                      <m:e>
                        <m:r>
                          <a:rPr lang="it-IT" sz="1800" b="0" i="0" smtClean="0">
                            <a:latin typeface="Cambria Math" panose="02040503050406030204" pitchFamily="18" charset="0"/>
                          </a:rPr>
                          <m:t> </m:t>
                        </m:r>
                        <m:r>
                          <a:rPr lang="it-IT" sz="1800">
                            <a:latin typeface="Cambria Math" panose="02040503050406030204" pitchFamily="18" charset="0"/>
                          </a:rPr>
                          <m:t>𝑧</m:t>
                        </m:r>
                      </m:e>
                      <m:sub>
                        <m:r>
                          <a:rPr lang="it-IT" sz="1800">
                            <a:latin typeface="Cambria Math" panose="02040503050406030204" pitchFamily="18" charset="0"/>
                          </a:rPr>
                          <m:t>𝑖</m:t>
                        </m:r>
                      </m:sub>
                      <m:sup>
                        <m:d>
                          <m:dPr>
                            <m:ctrlPr>
                              <a:rPr lang="it-IT" sz="1800" i="1">
                                <a:latin typeface="Cambria Math" panose="02040503050406030204" pitchFamily="18" charset="0"/>
                              </a:rPr>
                            </m:ctrlPr>
                          </m:dPr>
                          <m:e>
                            <m:r>
                              <a:rPr lang="it-IT" sz="1800">
                                <a:latin typeface="Cambria Math" panose="02040503050406030204" pitchFamily="18" charset="0"/>
                              </a:rPr>
                              <m:t>𝑡</m:t>
                            </m:r>
                          </m:e>
                        </m:d>
                      </m:sup>
                    </m:sSubSup>
                    <m:r>
                      <a:rPr lang="it-IT" sz="1800" i="1">
                        <a:latin typeface="Cambria Math" panose="02040503050406030204" pitchFamily="18" charset="0"/>
                      </a:rPr>
                      <m:t>=</m:t>
                    </m:r>
                    <m:r>
                      <a:rPr lang="it-IT" sz="1800" i="1">
                        <a:latin typeface="Cambria Math" panose="02040503050406030204" pitchFamily="18" charset="0"/>
                      </a:rPr>
                      <m:t>𝑛𝑒𝑤</m:t>
                    </m:r>
                  </m:oMath>
                </a14:m>
                <a:r>
                  <a:rPr lang="it-IT" sz="1800" dirty="0"/>
                  <a:t>, </a:t>
                </a:r>
                <a:r>
                  <a:rPr lang="en-US" sz="1800" dirty="0"/>
                  <a:t>create a new cluster and assign </a:t>
                </a:r>
                <a:r>
                  <a:rPr lang="it-IT" sz="1800" i="1" dirty="0"/>
                  <a:t>i </a:t>
                </a:r>
                <a:r>
                  <a:rPr lang="en-US" sz="1800" dirty="0"/>
                  <a:t>to it;                                                           otherwise assign </a:t>
                </a:r>
                <a:r>
                  <a:rPr lang="it-IT" sz="1800" i="1" dirty="0"/>
                  <a:t>i </a:t>
                </a:r>
                <a:r>
                  <a:rPr lang="en-US" sz="1800" dirty="0"/>
                  <a:t>to the selected existing cluster.</a:t>
                </a:r>
                <a:endParaRPr lang="it-IT" sz="1800" dirty="0"/>
              </a:p>
            </p:txBody>
          </p:sp>
        </mc:Choice>
        <mc:Fallback xmlns="">
          <p:sp>
            <p:nvSpPr>
              <p:cNvPr id="4" name="Content Placeholder 2">
                <a:extLst>
                  <a:ext uri="{FF2B5EF4-FFF2-40B4-BE49-F238E27FC236}">
                    <a16:creationId xmlns:a16="http://schemas.microsoft.com/office/drawing/2014/main" id="{15C6132D-9A0E-E061-1C73-2061BBE22AB3}"/>
                  </a:ext>
                </a:extLst>
              </p:cNvPr>
              <p:cNvSpPr>
                <a:spLocks noGrp="1" noRot="1" noChangeAspect="1" noMove="1" noResize="1" noEditPoints="1" noAdjustHandles="1" noChangeArrowheads="1" noChangeShapeType="1" noTextEdit="1"/>
              </p:cNvSpPr>
              <p:nvPr>
                <p:ph idx="1"/>
              </p:nvPr>
            </p:nvSpPr>
            <p:spPr>
              <a:xfrm>
                <a:off x="799553" y="1563077"/>
                <a:ext cx="10592347" cy="4532924"/>
              </a:xfrm>
              <a:blipFill>
                <a:blip r:embed="rId2"/>
                <a:stretch>
                  <a:fillRect l="-575" t="-134"/>
                </a:stretch>
              </a:blipFill>
            </p:spPr>
            <p:txBody>
              <a:bodyPr/>
              <a:lstStyle/>
              <a:p>
                <a:r>
                  <a:rPr lang="it-IT">
                    <a:noFill/>
                  </a:rPr>
                  <a:t> </a:t>
                </a:r>
              </a:p>
            </p:txBody>
          </p:sp>
        </mc:Fallback>
      </mc:AlternateContent>
    </p:spTree>
    <p:extLst>
      <p:ext uri="{BB962C8B-B14F-4D97-AF65-F5344CB8AC3E}">
        <p14:creationId xmlns:p14="http://schemas.microsoft.com/office/powerpoint/2010/main" val="1504330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f a number of dots&#10;&#10;AI-generated content may be incorrect.">
            <a:extLst>
              <a:ext uri="{FF2B5EF4-FFF2-40B4-BE49-F238E27FC236}">
                <a16:creationId xmlns:a16="http://schemas.microsoft.com/office/drawing/2014/main" id="{C8F7BF28-0BB2-EFB8-8778-7ECE99748C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35527" y="1906465"/>
            <a:ext cx="3667446" cy="2607408"/>
          </a:xfrm>
          <a:prstGeom prst="rect">
            <a:avLst/>
          </a:prstGeom>
        </p:spPr>
      </p:pic>
      <p:pic>
        <p:nvPicPr>
          <p:cNvPr id="5" name="Content Placeholder 4" descr="A graph showing a cluster of blue and orange dots&#10;&#10;AI-generated content may be incorrect.">
            <a:extLst>
              <a:ext uri="{FF2B5EF4-FFF2-40B4-BE49-F238E27FC236}">
                <a16:creationId xmlns:a16="http://schemas.microsoft.com/office/drawing/2014/main" id="{DA73BC02-9E1E-E956-3D05-CAB53BB10432}"/>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700635" y="1906465"/>
            <a:ext cx="3667446" cy="2607408"/>
          </a:xfrm>
        </p:spPr>
      </p:pic>
      <p:pic>
        <p:nvPicPr>
          <p:cNvPr id="7" name="Picture 6" descr="A graph of a cluster of small colored dots&#10;&#10;AI-generated content may be incorrect.">
            <a:extLst>
              <a:ext uri="{FF2B5EF4-FFF2-40B4-BE49-F238E27FC236}">
                <a16:creationId xmlns:a16="http://schemas.microsoft.com/office/drawing/2014/main" id="{B07EE5D1-AD4A-CF3A-591A-A1F7C74031D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68081" y="1906465"/>
            <a:ext cx="3667446" cy="2607408"/>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B78F61F-AB85-02A8-D4D1-FA5CDA563F4B}"/>
                  </a:ext>
                </a:extLst>
              </p:cNvPr>
              <p:cNvSpPr txBox="1"/>
              <p:nvPr/>
            </p:nvSpPr>
            <p:spPr>
              <a:xfrm>
                <a:off x="4368080" y="4693627"/>
                <a:ext cx="3553107" cy="1169551"/>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𝜇</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3.50, 0.216</m:t>
                        </m:r>
                      </m:e>
                    </m:d>
                    <m:r>
                      <a:rPr lang="it-IT" sz="1400" b="0" i="1" dirty="0" smtClean="0">
                        <a:latin typeface="Cambria Math" panose="02040503050406030204" pitchFamily="18" charset="0"/>
                      </a:rPr>
                      <m:t>, </m:t>
                    </m:r>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      </m:t>
                        </m:r>
                        <m:r>
                          <a:rPr lang="it-IT" sz="1400" b="0" i="1" dirty="0" smtClean="0">
                            <a:latin typeface="Cambria Math" panose="02040503050406030204" pitchFamily="18" charset="0"/>
                          </a:rPr>
                          <m:t>𝜎</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1.02, 0.399</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0.458</m:t>
                        </m:r>
                        <m:r>
                          <a:rPr lang="it-IT" sz="1400" i="1" dirty="0">
                            <a:latin typeface="Cambria Math" panose="02040503050406030204" pitchFamily="18" charset="0"/>
                          </a:rPr>
                          <m:t>, 0.</m:t>
                        </m:r>
                        <m:r>
                          <a:rPr lang="it-IT" sz="1400" b="0" i="1" dirty="0" smtClean="0">
                            <a:latin typeface="Cambria Math" panose="02040503050406030204" pitchFamily="18" charset="0"/>
                          </a:rPr>
                          <m:t>480</m:t>
                        </m:r>
                      </m:e>
                    </m:d>
                    <m:r>
                      <a:rPr lang="it-IT" sz="1400" i="1" dirty="0">
                        <a:latin typeface="Cambria Math" panose="02040503050406030204" pitchFamily="18" charset="0"/>
                      </a:rPr>
                      <m:t>, </m:t>
                    </m:r>
                    <m:sSub>
                      <m:sSubPr>
                        <m:ctrlPr>
                          <a:rPr lang="it-IT" sz="1400" i="1" dirty="0">
                            <a:latin typeface="Cambria Math" panose="02040503050406030204" pitchFamily="18" charset="0"/>
                          </a:rPr>
                        </m:ctrlPr>
                      </m:sSubPr>
                      <m:e>
                        <m:r>
                          <a:rPr lang="it-IT" sz="1400" b="0" i="1" dirty="0" smtClean="0">
                            <a:latin typeface="Cambria Math" panose="02040503050406030204" pitchFamily="18" charset="0"/>
                          </a:rPr>
                          <m:t>    </m:t>
                        </m:r>
                        <m:r>
                          <a:rPr lang="it-IT" sz="1400" i="1" dirty="0">
                            <a:latin typeface="Cambria Math" panose="02040503050406030204" pitchFamily="18" charset="0"/>
                          </a:rPr>
                          <m:t>𝜎</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2</m:t>
                        </m:r>
                        <m:r>
                          <a:rPr lang="it-IT" sz="1400" i="1" dirty="0">
                            <a:latin typeface="Cambria Math" panose="02040503050406030204" pitchFamily="18" charset="0"/>
                          </a:rPr>
                          <m:t>.06, </m:t>
                        </m:r>
                        <m:r>
                          <a:rPr lang="it-IT" sz="1400" b="0" i="1" dirty="0" smtClean="0">
                            <a:latin typeface="Cambria Math" panose="02040503050406030204" pitchFamily="18" charset="0"/>
                          </a:rPr>
                          <m:t>1.34</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2</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m:t>
                        </m:r>
                        <m:r>
                          <a:rPr lang="it-IT" sz="1400" i="1" dirty="0">
                            <a:latin typeface="Cambria Math" panose="02040503050406030204" pitchFamily="18" charset="0"/>
                          </a:rPr>
                          <m:t>0.</m:t>
                        </m:r>
                        <m:r>
                          <a:rPr lang="it-IT" sz="1400" b="0" i="1" dirty="0" smtClean="0">
                            <a:latin typeface="Cambria Math" panose="02040503050406030204" pitchFamily="18" charset="0"/>
                          </a:rPr>
                          <m:t>373</m:t>
                        </m:r>
                        <m:r>
                          <a:rPr lang="it-IT" sz="1400" i="1" dirty="0">
                            <a:latin typeface="Cambria Math" panose="02040503050406030204" pitchFamily="18" charset="0"/>
                          </a:rPr>
                          <m:t>, 0.</m:t>
                        </m:r>
                        <m:r>
                          <a:rPr lang="it-IT" sz="1400" b="0" i="1" dirty="0" smtClean="0">
                            <a:latin typeface="Cambria Math" panose="02040503050406030204" pitchFamily="18" charset="0"/>
                          </a:rPr>
                          <m:t>547</m:t>
                        </m:r>
                      </m:e>
                    </m:d>
                    <m:r>
                      <a:rPr lang="it-IT" sz="1400" i="1" dirty="0">
                        <a:latin typeface="Cambria Math" panose="02040503050406030204" pitchFamily="18" charset="0"/>
                      </a:rPr>
                      <m:t>, </m:t>
                    </m:r>
                    <m:sSub>
                      <m:sSubPr>
                        <m:ctrlPr>
                          <a:rPr lang="it-IT" sz="1400" i="1" dirty="0">
                            <a:latin typeface="Cambria Math" panose="02040503050406030204" pitchFamily="18" charset="0"/>
                          </a:rPr>
                        </m:ctrlPr>
                      </m:sSubPr>
                      <m:e>
                        <m:r>
                          <a:rPr lang="it-IT" sz="1400" i="1" dirty="0">
                            <a:latin typeface="Cambria Math" panose="02040503050406030204" pitchFamily="18" charset="0"/>
                          </a:rPr>
                          <m:t>𝜎</m:t>
                        </m:r>
                      </m:e>
                      <m:sub>
                        <m:r>
                          <a:rPr lang="it-IT" sz="1400" b="0" i="1" dirty="0" smtClean="0">
                            <a:latin typeface="Cambria Math" panose="02040503050406030204" pitchFamily="18" charset="0"/>
                          </a:rPr>
                          <m:t>2</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1</m:t>
                        </m:r>
                        <m:r>
                          <a:rPr lang="it-IT" sz="1400" i="1" dirty="0">
                            <a:latin typeface="Cambria Math" panose="02040503050406030204" pitchFamily="18" charset="0"/>
                          </a:rPr>
                          <m:t>.</m:t>
                        </m:r>
                        <m:r>
                          <a:rPr lang="it-IT" sz="1400" b="0" i="1" dirty="0" smtClean="0">
                            <a:latin typeface="Cambria Math" panose="02040503050406030204" pitchFamily="18" charset="0"/>
                          </a:rPr>
                          <m:t>27</m:t>
                        </m:r>
                        <m:r>
                          <a:rPr lang="it-IT" sz="1400" i="1" dirty="0">
                            <a:latin typeface="Cambria Math" panose="02040503050406030204" pitchFamily="18" charset="0"/>
                          </a:rPr>
                          <m:t>, </m:t>
                        </m:r>
                        <m:r>
                          <a:rPr lang="it-IT" sz="1400" b="0" i="1" dirty="0" smtClean="0">
                            <a:latin typeface="Cambria Math" panose="02040503050406030204" pitchFamily="18" charset="0"/>
                          </a:rPr>
                          <m:t>0.554</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endParaRPr lang="it-IT" sz="1400" b="0" i="1" dirty="0">
                  <a:latin typeface="Cambria Math" panose="02040503050406030204" pitchFamily="18" charset="0"/>
                </a:endParaRPr>
              </a:p>
              <a:p>
                <a:endParaRPr lang="it-IT" sz="1400" b="0" i="1" dirty="0">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3B78F61F-AB85-02A8-D4D1-FA5CDA563F4B}"/>
                  </a:ext>
                </a:extLst>
              </p:cNvPr>
              <p:cNvSpPr txBox="1">
                <a:spLocks noRot="1" noChangeAspect="1" noMove="1" noResize="1" noEditPoints="1" noAdjustHandles="1" noChangeArrowheads="1" noChangeShapeType="1" noTextEdit="1"/>
              </p:cNvSpPr>
              <p:nvPr/>
            </p:nvSpPr>
            <p:spPr>
              <a:xfrm>
                <a:off x="4368080" y="4693627"/>
                <a:ext cx="3553107" cy="1169551"/>
              </a:xfrm>
              <a:prstGeom prst="rect">
                <a:avLst/>
              </a:prstGeom>
              <a:blipFill>
                <a:blip r:embed="rId6"/>
                <a:stretch>
                  <a:fillRect l="-515" b="-364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A34274C-510D-74F2-B89D-B85B01B1947F}"/>
                  </a:ext>
                </a:extLst>
              </p:cNvPr>
              <p:cNvSpPr txBox="1"/>
              <p:nvPr/>
            </p:nvSpPr>
            <p:spPr>
              <a:xfrm>
                <a:off x="700635" y="4693626"/>
                <a:ext cx="3667446" cy="1169551"/>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𝜇</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3.51, 0.212</m:t>
                        </m:r>
                      </m:e>
                    </m:d>
                    <m:r>
                      <a:rPr lang="it-IT" sz="1400" b="0" i="1" dirty="0" smtClean="0">
                        <a:latin typeface="Cambria Math" panose="02040503050406030204" pitchFamily="18" charset="0"/>
                      </a:rPr>
                      <m:t>, </m:t>
                    </m:r>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        </m:t>
                        </m:r>
                        <m:r>
                          <a:rPr lang="it-IT" sz="1400" b="0" i="1" dirty="0" smtClean="0">
                            <a:latin typeface="Cambria Math" panose="02040503050406030204" pitchFamily="18" charset="0"/>
                          </a:rPr>
                          <m:t>𝜎</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1.02, 0.395</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−0.467</m:t>
                        </m:r>
                        <m:r>
                          <a:rPr lang="it-IT" sz="1400" i="1" dirty="0">
                            <a:latin typeface="Cambria Math" panose="02040503050406030204" pitchFamily="18" charset="0"/>
                          </a:rPr>
                          <m:t>, 0.</m:t>
                        </m:r>
                        <m:r>
                          <a:rPr lang="it-IT" sz="1400" b="0" i="1" dirty="0" smtClean="0">
                            <a:latin typeface="Cambria Math" panose="02040503050406030204" pitchFamily="18" charset="0"/>
                          </a:rPr>
                          <m:t>566</m:t>
                        </m:r>
                      </m:e>
                    </m:d>
                    <m:r>
                      <a:rPr lang="it-IT" sz="1400" i="1" dirty="0">
                        <a:latin typeface="Cambria Math" panose="02040503050406030204" pitchFamily="18" charset="0"/>
                      </a:rPr>
                      <m:t>, </m:t>
                    </m:r>
                    <m:sSub>
                      <m:sSubPr>
                        <m:ctrlPr>
                          <a:rPr lang="it-IT" sz="1400" i="1" dirty="0">
                            <a:latin typeface="Cambria Math" panose="02040503050406030204" pitchFamily="18" charset="0"/>
                          </a:rPr>
                        </m:ctrlPr>
                      </m:sSubPr>
                      <m:e>
                        <m:r>
                          <a:rPr lang="it-IT" sz="1400" b="0" i="1" dirty="0" smtClean="0">
                            <a:latin typeface="Cambria Math" panose="02040503050406030204" pitchFamily="18" charset="0"/>
                          </a:rPr>
                          <m:t>  </m:t>
                        </m:r>
                        <m:r>
                          <a:rPr lang="it-IT" sz="1400" i="1" dirty="0">
                            <a:latin typeface="Cambria Math" panose="02040503050406030204" pitchFamily="18" charset="0"/>
                          </a:rPr>
                          <m:t>𝜎</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1</m:t>
                        </m:r>
                        <m:r>
                          <a:rPr lang="it-IT" sz="1400" i="1" dirty="0">
                            <a:latin typeface="Cambria Math" panose="02040503050406030204" pitchFamily="18" charset="0"/>
                          </a:rPr>
                          <m:t>.</m:t>
                        </m:r>
                        <m:r>
                          <a:rPr lang="it-IT" sz="1400" b="0" i="1" dirty="0" smtClean="0">
                            <a:latin typeface="Cambria Math" panose="02040503050406030204" pitchFamily="18" charset="0"/>
                          </a:rPr>
                          <m:t>27</m:t>
                        </m:r>
                        <m:r>
                          <a:rPr lang="it-IT" sz="1400" i="1" dirty="0">
                            <a:latin typeface="Cambria Math" panose="02040503050406030204" pitchFamily="18" charset="0"/>
                          </a:rPr>
                          <m:t>, </m:t>
                        </m:r>
                        <m:r>
                          <a:rPr lang="it-IT" sz="1400" b="0" i="1" dirty="0" smtClean="0">
                            <a:latin typeface="Cambria Math" panose="02040503050406030204" pitchFamily="18" charset="0"/>
                          </a:rPr>
                          <m:t>0.482</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2</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m:t>
                        </m:r>
                        <m:r>
                          <a:rPr lang="it-IT" sz="1400" i="1" dirty="0">
                            <a:latin typeface="Cambria Math" panose="02040503050406030204" pitchFamily="18" charset="0"/>
                          </a:rPr>
                          <m:t>0.</m:t>
                        </m:r>
                        <m:r>
                          <a:rPr lang="it-IT" sz="1400" b="0" i="1" dirty="0" smtClean="0">
                            <a:latin typeface="Cambria Math" panose="02040503050406030204" pitchFamily="18" charset="0"/>
                          </a:rPr>
                          <m:t>541</m:t>
                        </m:r>
                        <m:r>
                          <a:rPr lang="it-IT" sz="1400" i="1" dirty="0">
                            <a:latin typeface="Cambria Math" panose="02040503050406030204" pitchFamily="18" charset="0"/>
                          </a:rPr>
                          <m:t>, 0.</m:t>
                        </m:r>
                        <m:r>
                          <a:rPr lang="it-IT" sz="1400" b="0" i="1" dirty="0" smtClean="0">
                            <a:latin typeface="Cambria Math" panose="02040503050406030204" pitchFamily="18" charset="0"/>
                          </a:rPr>
                          <m:t>465</m:t>
                        </m:r>
                      </m:e>
                    </m:d>
                    <m:r>
                      <a:rPr lang="it-IT" sz="1400" i="1" dirty="0">
                        <a:latin typeface="Cambria Math" panose="02040503050406030204" pitchFamily="18" charset="0"/>
                      </a:rPr>
                      <m:t>, </m:t>
                    </m:r>
                    <m:r>
                      <a:rPr lang="it-IT" sz="1400" b="0" i="1" dirty="0" smtClean="0">
                        <a:latin typeface="Cambria Math" panose="02040503050406030204" pitchFamily="18" charset="0"/>
                      </a:rPr>
                      <m:t>  </m:t>
                    </m:r>
                    <m:sSub>
                      <m:sSubPr>
                        <m:ctrlPr>
                          <a:rPr lang="it-IT" sz="1400" i="1" dirty="0">
                            <a:latin typeface="Cambria Math" panose="02040503050406030204" pitchFamily="18" charset="0"/>
                          </a:rPr>
                        </m:ctrlPr>
                      </m:sSubPr>
                      <m:e>
                        <m:r>
                          <a:rPr lang="it-IT" sz="1400" i="1" dirty="0">
                            <a:latin typeface="Cambria Math" panose="02040503050406030204" pitchFamily="18" charset="0"/>
                          </a:rPr>
                          <m:t>𝜎</m:t>
                        </m:r>
                      </m:e>
                      <m:sub>
                        <m:r>
                          <a:rPr lang="it-IT" sz="1400" b="0" i="1" dirty="0" smtClean="0">
                            <a:latin typeface="Cambria Math" panose="02040503050406030204" pitchFamily="18" charset="0"/>
                          </a:rPr>
                          <m:t>2</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1</m:t>
                        </m:r>
                        <m:r>
                          <a:rPr lang="it-IT" sz="1400" i="1" dirty="0">
                            <a:latin typeface="Cambria Math" panose="02040503050406030204" pitchFamily="18" charset="0"/>
                          </a:rPr>
                          <m:t>.</m:t>
                        </m:r>
                        <m:r>
                          <a:rPr lang="it-IT" sz="1400" b="0" i="1" dirty="0" smtClean="0">
                            <a:latin typeface="Cambria Math" panose="02040503050406030204" pitchFamily="18" charset="0"/>
                          </a:rPr>
                          <m:t>68, 1.16</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endParaRPr lang="it-IT" sz="1400" b="0" i="1" dirty="0">
                  <a:latin typeface="Cambria Math" panose="02040503050406030204" pitchFamily="18" charset="0"/>
                </a:endParaRPr>
              </a:p>
              <a:p>
                <a:endParaRPr lang="it-IT" sz="1400" b="0" i="1" dirty="0">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9A34274C-510D-74F2-B89D-B85B01B1947F}"/>
                  </a:ext>
                </a:extLst>
              </p:cNvPr>
              <p:cNvSpPr txBox="1">
                <a:spLocks noRot="1" noChangeAspect="1" noMove="1" noResize="1" noEditPoints="1" noAdjustHandles="1" noChangeArrowheads="1" noChangeShapeType="1" noTextEdit="1"/>
              </p:cNvSpPr>
              <p:nvPr/>
            </p:nvSpPr>
            <p:spPr>
              <a:xfrm>
                <a:off x="700635" y="4693626"/>
                <a:ext cx="3667446" cy="1169551"/>
              </a:xfrm>
              <a:prstGeom prst="rect">
                <a:avLst/>
              </a:prstGeom>
              <a:blipFill>
                <a:blip r:embed="rId7"/>
                <a:stretch>
                  <a:fillRect l="-498" b="-364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F43162A-DBCC-FBC3-D534-B5D44A286BE4}"/>
                  </a:ext>
                </a:extLst>
              </p:cNvPr>
              <p:cNvSpPr txBox="1"/>
              <p:nvPr/>
            </p:nvSpPr>
            <p:spPr>
              <a:xfrm>
                <a:off x="7955341" y="4693626"/>
                <a:ext cx="3553107" cy="1600438"/>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𝜇</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3.53, 0.216</m:t>
                        </m:r>
                      </m:e>
                    </m:d>
                    <m:r>
                      <a:rPr lang="it-IT" sz="1400" b="0" i="1" dirty="0" smtClean="0">
                        <a:latin typeface="Cambria Math" panose="02040503050406030204" pitchFamily="18" charset="0"/>
                      </a:rPr>
                      <m:t>, </m:t>
                    </m:r>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      </m:t>
                        </m:r>
                        <m:r>
                          <a:rPr lang="it-IT" sz="1400" b="0" i="1" dirty="0" smtClean="0">
                            <a:latin typeface="Cambria Math" panose="02040503050406030204" pitchFamily="18" charset="0"/>
                          </a:rPr>
                          <m:t>𝜎</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1.01, 0.38</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2.33</m:t>
                        </m:r>
                        <m:r>
                          <a:rPr lang="it-IT" sz="1400" i="1" dirty="0">
                            <a:latin typeface="Cambria Math" panose="02040503050406030204" pitchFamily="18" charset="0"/>
                          </a:rPr>
                          <m:t>, 0.</m:t>
                        </m:r>
                        <m:r>
                          <a:rPr lang="it-IT" sz="1400" b="0" i="1" dirty="0" smtClean="0">
                            <a:latin typeface="Cambria Math" panose="02040503050406030204" pitchFamily="18" charset="0"/>
                          </a:rPr>
                          <m:t>075</m:t>
                        </m:r>
                      </m:e>
                    </m:d>
                    <m:r>
                      <a:rPr lang="it-IT" sz="1400" i="1" dirty="0">
                        <a:latin typeface="Cambria Math" panose="02040503050406030204" pitchFamily="18" charset="0"/>
                      </a:rPr>
                      <m:t>, </m:t>
                    </m:r>
                    <m:sSub>
                      <m:sSubPr>
                        <m:ctrlPr>
                          <a:rPr lang="it-IT" sz="1400" i="1" dirty="0">
                            <a:latin typeface="Cambria Math" panose="02040503050406030204" pitchFamily="18" charset="0"/>
                          </a:rPr>
                        </m:ctrlPr>
                      </m:sSubPr>
                      <m:e>
                        <m:r>
                          <a:rPr lang="it-IT" sz="1400" b="0" i="1" dirty="0" smtClean="0">
                            <a:latin typeface="Cambria Math" panose="02040503050406030204" pitchFamily="18" charset="0"/>
                          </a:rPr>
                          <m:t>      </m:t>
                        </m:r>
                        <m:r>
                          <a:rPr lang="it-IT" sz="1400" i="1" dirty="0">
                            <a:latin typeface="Cambria Math" panose="02040503050406030204" pitchFamily="18" charset="0"/>
                          </a:rPr>
                          <m:t>𝜎</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1.19</m:t>
                        </m:r>
                        <m:r>
                          <a:rPr lang="it-IT" sz="1400" i="1" dirty="0">
                            <a:latin typeface="Cambria Math" panose="02040503050406030204" pitchFamily="18" charset="0"/>
                          </a:rPr>
                          <m:t>, </m:t>
                        </m:r>
                        <m:r>
                          <a:rPr lang="it-IT" sz="1400" b="0" i="1" dirty="0" smtClean="0">
                            <a:latin typeface="Cambria Math" panose="02040503050406030204" pitchFamily="18" charset="0"/>
                          </a:rPr>
                          <m:t>1.00</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3</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m:t>
                        </m:r>
                        <m:r>
                          <a:rPr lang="it-IT" sz="1400" i="1" dirty="0">
                            <a:latin typeface="Cambria Math" panose="02040503050406030204" pitchFamily="18" charset="0"/>
                          </a:rPr>
                          <m:t>0.</m:t>
                        </m:r>
                        <m:r>
                          <a:rPr lang="it-IT" sz="1400" b="0" i="1" dirty="0" smtClean="0">
                            <a:latin typeface="Cambria Math" panose="02040503050406030204" pitchFamily="18" charset="0"/>
                          </a:rPr>
                          <m:t>395</m:t>
                        </m:r>
                        <m:r>
                          <a:rPr lang="it-IT" sz="1400" i="1" dirty="0">
                            <a:latin typeface="Cambria Math" panose="02040503050406030204" pitchFamily="18" charset="0"/>
                          </a:rPr>
                          <m:t>, 0.</m:t>
                        </m:r>
                        <m:r>
                          <a:rPr lang="it-IT" sz="1400" b="0" i="1" dirty="0" smtClean="0">
                            <a:latin typeface="Cambria Math" panose="02040503050406030204" pitchFamily="18" charset="0"/>
                          </a:rPr>
                          <m:t>544</m:t>
                        </m:r>
                      </m:e>
                    </m:d>
                    <m:r>
                      <a:rPr lang="it-IT" sz="1400" i="1" dirty="0">
                        <a:latin typeface="Cambria Math" panose="02040503050406030204" pitchFamily="18" charset="0"/>
                      </a:rPr>
                      <m:t>, </m:t>
                    </m:r>
                    <m:sSub>
                      <m:sSubPr>
                        <m:ctrlPr>
                          <a:rPr lang="it-IT" sz="1400" i="1" dirty="0">
                            <a:latin typeface="Cambria Math" panose="02040503050406030204" pitchFamily="18" charset="0"/>
                          </a:rPr>
                        </m:ctrlPr>
                      </m:sSubPr>
                      <m:e>
                        <m:r>
                          <a:rPr lang="it-IT" sz="1400" i="1" dirty="0">
                            <a:latin typeface="Cambria Math" panose="02040503050406030204" pitchFamily="18" charset="0"/>
                          </a:rPr>
                          <m:t>𝜎</m:t>
                        </m:r>
                      </m:e>
                      <m:sub>
                        <m:r>
                          <a:rPr lang="it-IT" sz="1400" b="0" i="1" dirty="0" smtClean="0">
                            <a:latin typeface="Cambria Math" panose="02040503050406030204" pitchFamily="18" charset="0"/>
                          </a:rPr>
                          <m:t>3</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1</m:t>
                        </m:r>
                        <m:r>
                          <a:rPr lang="it-IT" sz="1400" i="1" dirty="0">
                            <a:latin typeface="Cambria Math" panose="02040503050406030204" pitchFamily="18" charset="0"/>
                          </a:rPr>
                          <m:t>.</m:t>
                        </m:r>
                        <m:r>
                          <a:rPr lang="it-IT" sz="1400" b="0" i="1" dirty="0" smtClean="0">
                            <a:latin typeface="Cambria Math" panose="02040503050406030204" pitchFamily="18" charset="0"/>
                          </a:rPr>
                          <m:t>28</m:t>
                        </m:r>
                        <m:r>
                          <a:rPr lang="it-IT" sz="1400" i="1" dirty="0">
                            <a:latin typeface="Cambria Math" panose="02040503050406030204" pitchFamily="18" charset="0"/>
                          </a:rPr>
                          <m:t>, </m:t>
                        </m:r>
                        <m:r>
                          <a:rPr lang="it-IT" sz="1400" b="0" i="1" dirty="0" smtClean="0">
                            <a:latin typeface="Cambria Math" panose="02040503050406030204" pitchFamily="18" charset="0"/>
                          </a:rPr>
                          <m:t>0.551</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5</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i="1" dirty="0">
                            <a:latin typeface="Cambria Math" panose="02040503050406030204" pitchFamily="18" charset="0"/>
                          </a:rPr>
                          <m:t>−</m:t>
                        </m:r>
                        <m:r>
                          <a:rPr lang="it-IT" sz="1400" b="0" i="1" dirty="0" smtClean="0">
                            <a:latin typeface="Cambria Math" panose="02040503050406030204" pitchFamily="18" charset="0"/>
                          </a:rPr>
                          <m:t>1</m:t>
                        </m:r>
                        <m:r>
                          <a:rPr lang="it-IT" sz="1400" i="1" dirty="0">
                            <a:latin typeface="Cambria Math" panose="02040503050406030204" pitchFamily="18" charset="0"/>
                          </a:rPr>
                          <m:t>.</m:t>
                        </m:r>
                        <m:r>
                          <a:rPr lang="it-IT" sz="1400" b="0" i="1" dirty="0" smtClean="0">
                            <a:latin typeface="Cambria Math" panose="02040503050406030204" pitchFamily="18" charset="0"/>
                          </a:rPr>
                          <m:t>51</m:t>
                        </m:r>
                        <m:r>
                          <a:rPr lang="it-IT" sz="1400" i="1" dirty="0">
                            <a:latin typeface="Cambria Math" panose="02040503050406030204" pitchFamily="18" charset="0"/>
                          </a:rPr>
                          <m:t>, </m:t>
                        </m:r>
                        <m:r>
                          <a:rPr lang="it-IT" sz="1400" b="0" i="1" dirty="0" smtClean="0">
                            <a:latin typeface="Cambria Math" panose="02040503050406030204" pitchFamily="18" charset="0"/>
                          </a:rPr>
                          <m:t>1.20</m:t>
                        </m:r>
                      </m:e>
                    </m:d>
                    <m:r>
                      <a:rPr lang="it-IT" sz="1400" i="1" dirty="0">
                        <a:latin typeface="Cambria Math" panose="02040503050406030204" pitchFamily="18" charset="0"/>
                      </a:rPr>
                      <m:t>, </m:t>
                    </m:r>
                    <m:r>
                      <a:rPr lang="it-IT" sz="1400" b="0" i="1" dirty="0" smtClean="0">
                        <a:latin typeface="Cambria Math" panose="02040503050406030204" pitchFamily="18" charset="0"/>
                      </a:rPr>
                      <m:t>     </m:t>
                    </m:r>
                    <m:sSub>
                      <m:sSubPr>
                        <m:ctrlPr>
                          <a:rPr lang="it-IT" sz="1400" i="1" dirty="0">
                            <a:latin typeface="Cambria Math" panose="02040503050406030204" pitchFamily="18" charset="0"/>
                          </a:rPr>
                        </m:ctrlPr>
                      </m:sSubPr>
                      <m:e>
                        <m:r>
                          <a:rPr lang="it-IT" sz="1400" i="1" dirty="0">
                            <a:latin typeface="Cambria Math" panose="02040503050406030204" pitchFamily="18" charset="0"/>
                          </a:rPr>
                          <m:t>𝜎</m:t>
                        </m:r>
                      </m:e>
                      <m:sub>
                        <m:r>
                          <a:rPr lang="it-IT" sz="1400" b="0" i="1" dirty="0" smtClean="0">
                            <a:latin typeface="Cambria Math" panose="02040503050406030204" pitchFamily="18" charset="0"/>
                          </a:rPr>
                          <m:t>5</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i="1" dirty="0">
                            <a:latin typeface="Cambria Math" panose="02040503050406030204" pitchFamily="18" charset="0"/>
                          </a:rPr>
                          <m:t>1.</m:t>
                        </m:r>
                        <m:r>
                          <a:rPr lang="it-IT" sz="1400" b="0" i="1" dirty="0" smtClean="0">
                            <a:latin typeface="Cambria Math" panose="02040503050406030204" pitchFamily="18" charset="0"/>
                          </a:rPr>
                          <m:t>16</m:t>
                        </m:r>
                        <m:r>
                          <a:rPr lang="it-IT" sz="1400" i="1" dirty="0">
                            <a:latin typeface="Cambria Math" panose="02040503050406030204" pitchFamily="18" charset="0"/>
                          </a:rPr>
                          <m:t>, 0.</m:t>
                        </m:r>
                        <m:r>
                          <a:rPr lang="it-IT" sz="1400" b="0" i="1" dirty="0" smtClean="0">
                            <a:latin typeface="Cambria Math" panose="02040503050406030204" pitchFamily="18" charset="0"/>
                          </a:rPr>
                          <m:t>986</m:t>
                        </m:r>
                      </m:e>
                    </m:d>
                  </m:oMath>
                </a14:m>
                <a:endParaRPr lang="it-IT" sz="1400" i="1" dirty="0">
                  <a:latin typeface="Cambria Math" panose="02040503050406030204" pitchFamily="18" charset="0"/>
                </a:endParaRPr>
              </a:p>
              <a:p>
                <a:pPr marL="285750" indent="-285750">
                  <a:buFont typeface="Arial" panose="020B0604020202020204" pitchFamily="34" charset="0"/>
                  <a:buChar char="•"/>
                </a:pPr>
                <a:endParaRPr lang="it-IT" sz="1400" b="0" i="1" dirty="0">
                  <a:latin typeface="Cambria Math" panose="02040503050406030204" pitchFamily="18" charset="0"/>
                </a:endParaRPr>
              </a:p>
              <a:p>
                <a:pPr marL="285750" indent="-285750">
                  <a:buFont typeface="Arial" panose="020B0604020202020204" pitchFamily="34" charset="0"/>
                  <a:buChar char="•"/>
                </a:pPr>
                <a:endParaRPr lang="it-IT" sz="1400" b="0" i="1" dirty="0">
                  <a:latin typeface="Cambria Math" panose="02040503050406030204" pitchFamily="18" charset="0"/>
                </a:endParaRPr>
              </a:p>
              <a:p>
                <a:endParaRPr lang="it-IT" sz="1400" b="0" i="1" dirty="0">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BF43162A-DBCC-FBC3-D534-B5D44A286BE4}"/>
                  </a:ext>
                </a:extLst>
              </p:cNvPr>
              <p:cNvSpPr txBox="1">
                <a:spLocks noRot="1" noChangeAspect="1" noMove="1" noResize="1" noEditPoints="1" noAdjustHandles="1" noChangeArrowheads="1" noChangeShapeType="1" noTextEdit="1"/>
              </p:cNvSpPr>
              <p:nvPr/>
            </p:nvSpPr>
            <p:spPr>
              <a:xfrm>
                <a:off x="7955341" y="4693626"/>
                <a:ext cx="3553107" cy="1600438"/>
              </a:xfrm>
              <a:prstGeom prst="rect">
                <a:avLst/>
              </a:prstGeom>
              <a:blipFill>
                <a:blip r:embed="rId8"/>
                <a:stretch>
                  <a:fillRect l="-515" b="-267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08B1A7F5-2BB9-7381-2BB2-B24ECAE2618A}"/>
                  </a:ext>
                </a:extLst>
              </p:cNvPr>
              <p:cNvSpPr>
                <a:spLocks noGrp="1"/>
              </p:cNvSpPr>
              <p:nvPr>
                <p:ph type="title"/>
              </p:nvPr>
            </p:nvSpPr>
            <p:spPr>
              <a:xfrm>
                <a:off x="700635" y="914400"/>
                <a:ext cx="10691265" cy="1307592"/>
              </a:xfrm>
            </p:spPr>
            <p:txBody>
              <a:bodyPr/>
              <a:lstStyle/>
              <a:p>
                <a:r>
                  <a:rPr lang="it-IT" dirty="0">
                    <a:solidFill>
                      <a:srgbClr val="FF0000"/>
                    </a:solidFill>
                  </a:rPr>
                  <a:t>variable </a:t>
                </a:r>
                <a14:m>
                  <m:oMath xmlns:m="http://schemas.openxmlformats.org/officeDocument/2006/math">
                    <m:r>
                      <a:rPr lang="it-IT" i="1">
                        <a:solidFill>
                          <a:srgbClr val="FF0000"/>
                        </a:solidFill>
                        <a:latin typeface="Cambria Math" panose="02040503050406030204" pitchFamily="18" charset="0"/>
                      </a:rPr>
                      <m:t>𝛼</m:t>
                    </m:r>
                  </m:oMath>
                </a14:m>
                <a:r>
                  <a:rPr lang="it-IT" dirty="0">
                    <a:solidFill>
                      <a:srgbClr val="FF0000"/>
                    </a:solidFill>
                  </a:rPr>
                  <a:t> results. </a:t>
                </a:r>
              </a:p>
            </p:txBody>
          </p:sp>
        </mc:Choice>
        <mc:Fallback xmlns="">
          <p:sp>
            <p:nvSpPr>
              <p:cNvPr id="17" name="Title 1">
                <a:extLst>
                  <a:ext uri="{FF2B5EF4-FFF2-40B4-BE49-F238E27FC236}">
                    <a16:creationId xmlns:a16="http://schemas.microsoft.com/office/drawing/2014/main" id="{08B1A7F5-2BB9-7381-2BB2-B24ECAE2618A}"/>
                  </a:ext>
                </a:extLst>
              </p:cNvPr>
              <p:cNvSpPr>
                <a:spLocks noGrp="1" noRot="1" noChangeAspect="1" noMove="1" noResize="1" noEditPoints="1" noAdjustHandles="1" noChangeArrowheads="1" noChangeShapeType="1" noTextEdit="1"/>
              </p:cNvSpPr>
              <p:nvPr>
                <p:ph type="title"/>
              </p:nvPr>
            </p:nvSpPr>
            <p:spPr>
              <a:xfrm>
                <a:off x="700635" y="914400"/>
                <a:ext cx="10691265" cy="1307592"/>
              </a:xfrm>
              <a:blipFill>
                <a:blip r:embed="rId9"/>
                <a:stretch>
                  <a:fillRect l="-2052" t="-8372"/>
                </a:stretch>
              </a:blipFill>
            </p:spPr>
            <p:txBody>
              <a:bodyPr/>
              <a:lstStyle/>
              <a:p>
                <a:r>
                  <a:rPr lang="it-IT">
                    <a:noFill/>
                  </a:rPr>
                  <a:t> </a:t>
                </a:r>
              </a:p>
            </p:txBody>
          </p:sp>
        </mc:Fallback>
      </mc:AlternateContent>
      <p:sp>
        <p:nvSpPr>
          <p:cNvPr id="18" name="TextBox 17">
            <a:extLst>
              <a:ext uri="{FF2B5EF4-FFF2-40B4-BE49-F238E27FC236}">
                <a16:creationId xmlns:a16="http://schemas.microsoft.com/office/drawing/2014/main" id="{DC2183D7-0BD0-D3D1-45C7-99809772BAC2}"/>
              </a:ext>
            </a:extLst>
          </p:cNvPr>
          <p:cNvSpPr txBox="1"/>
          <p:nvPr/>
        </p:nvSpPr>
        <p:spPr>
          <a:xfrm>
            <a:off x="7129804" y="1198864"/>
            <a:ext cx="4044697" cy="369332"/>
          </a:xfrm>
          <a:prstGeom prst="rect">
            <a:avLst/>
          </a:prstGeom>
          <a:noFill/>
        </p:spPr>
        <p:txBody>
          <a:bodyPr wrap="none" rtlCol="0">
            <a:spAutoFit/>
          </a:bodyPr>
          <a:lstStyle/>
          <a:p>
            <a:r>
              <a:rPr lang="it-IT" dirty="0"/>
              <a:t>#Iterations = 1000,   #Initial clusters=2</a:t>
            </a:r>
          </a:p>
        </p:txBody>
      </p:sp>
    </p:spTree>
    <p:extLst>
      <p:ext uri="{BB962C8B-B14F-4D97-AF65-F5344CB8AC3E}">
        <p14:creationId xmlns:p14="http://schemas.microsoft.com/office/powerpoint/2010/main" val="13443683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77DE3-E421-5C8B-4857-E35B59DA473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FDFE80E-75E6-600D-D5A5-CE5795B3E1DC}"/>
                  </a:ext>
                </a:extLst>
              </p:cNvPr>
              <p:cNvSpPr txBox="1"/>
              <p:nvPr/>
            </p:nvSpPr>
            <p:spPr>
              <a:xfrm>
                <a:off x="5338910" y="4826483"/>
                <a:ext cx="3553107" cy="1523494"/>
              </a:xfrm>
              <a:prstGeom prst="rect">
                <a:avLst/>
              </a:prstGeom>
              <a:noFill/>
            </p:spPr>
            <p:txBody>
              <a:bodyPr wrap="square" rtlCol="0">
                <a:spAutoFit/>
              </a:bodyPr>
              <a:lstStyle/>
              <a:p>
                <a:pPr marL="285750" indent="-285750">
                  <a:buFont typeface="Arial" panose="020B0604020202020204" pitchFamily="34" charset="0"/>
                  <a:buChar char="•"/>
                </a:pPr>
                <a:r>
                  <a:rPr lang="it-IT" sz="1600" dirty="0">
                    <a:latin typeface="Cambria Math" panose="02040503050406030204" pitchFamily="18" charset="0"/>
                  </a:rPr>
                  <a:t>#Initial clusters = 3</a:t>
                </a:r>
                <a:endParaRPr lang="it-IT" sz="1400" i="1" dirty="0">
                  <a:latin typeface="Cambria Math" panose="02040503050406030204" pitchFamily="18" charset="0"/>
                </a:endParaRPr>
              </a:p>
              <a:p>
                <a:pPr marL="285750" indent="-285750">
                  <a:lnSpc>
                    <a:spcPct val="150000"/>
                  </a:lnSpc>
                  <a:buFont typeface="Arial" panose="020B0604020202020204" pitchFamily="34" charset="0"/>
                  <a:buChar char="•"/>
                </a:pPr>
                <a14:m>
                  <m:oMath xmlns:m="http://schemas.openxmlformats.org/officeDocument/2006/math">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𝜇</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3</m:t>
                        </m:r>
                        <m:r>
                          <a:rPr lang="it-IT" sz="1400" b="0" i="1" dirty="0" smtClean="0">
                            <a:latin typeface="Cambria Math" panose="02040503050406030204" pitchFamily="18" charset="0"/>
                          </a:rPr>
                          <m:t>.</m:t>
                        </m:r>
                        <m:r>
                          <a:rPr lang="it-IT" sz="1400" b="0" i="1" dirty="0" smtClean="0">
                            <a:latin typeface="Cambria Math" panose="02040503050406030204" pitchFamily="18" charset="0"/>
                          </a:rPr>
                          <m:t>50</m:t>
                        </m:r>
                        <m:r>
                          <a:rPr lang="it-IT" sz="1400" b="0" i="1" dirty="0" smtClean="0">
                            <a:latin typeface="Cambria Math" panose="02040503050406030204" pitchFamily="18" charset="0"/>
                          </a:rPr>
                          <m:t>, </m:t>
                        </m:r>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216</m:t>
                        </m:r>
                      </m:e>
                    </m:d>
                    <m:r>
                      <a:rPr lang="it-IT" sz="1400" b="0" i="1" dirty="0" smtClean="0">
                        <a:latin typeface="Cambria Math" panose="02040503050406030204" pitchFamily="18" charset="0"/>
                      </a:rPr>
                      <m:t>, </m:t>
                    </m:r>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      </m:t>
                        </m:r>
                        <m:r>
                          <a:rPr lang="it-IT" sz="1400" b="0" i="1" dirty="0" smtClean="0">
                            <a:latin typeface="Cambria Math" panose="02040503050406030204" pitchFamily="18" charset="0"/>
                          </a:rPr>
                          <m:t>𝜎</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1</m:t>
                        </m:r>
                        <m:r>
                          <a:rPr lang="it-IT" sz="1400" b="0" i="1" dirty="0" smtClean="0">
                            <a:latin typeface="Cambria Math" panose="02040503050406030204" pitchFamily="18" charset="0"/>
                          </a:rPr>
                          <m:t>.</m:t>
                        </m:r>
                        <m:r>
                          <a:rPr lang="it-IT" sz="1400" b="0" i="1" dirty="0" smtClean="0">
                            <a:latin typeface="Cambria Math" panose="02040503050406030204" pitchFamily="18" charset="0"/>
                          </a:rPr>
                          <m:t>02</m:t>
                        </m:r>
                        <m:r>
                          <a:rPr lang="it-IT" sz="1400" b="0" i="1" dirty="0" smtClean="0">
                            <a:latin typeface="Cambria Math" panose="02040503050406030204" pitchFamily="18" charset="0"/>
                          </a:rPr>
                          <m:t>, </m:t>
                        </m:r>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399</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458</m:t>
                        </m:r>
                        <m:r>
                          <a:rPr lang="it-IT" sz="1400" i="1" dirty="0">
                            <a:latin typeface="Cambria Math" panose="02040503050406030204" pitchFamily="18" charset="0"/>
                          </a:rPr>
                          <m:t>, </m:t>
                        </m:r>
                        <m:r>
                          <a:rPr lang="it-IT" sz="1400" i="1" dirty="0">
                            <a:latin typeface="Cambria Math" panose="02040503050406030204" pitchFamily="18" charset="0"/>
                          </a:rPr>
                          <m:t>0</m:t>
                        </m:r>
                        <m:r>
                          <a:rPr lang="it-IT" sz="1400" i="1" dirty="0">
                            <a:latin typeface="Cambria Math" panose="02040503050406030204" pitchFamily="18" charset="0"/>
                          </a:rPr>
                          <m:t>.</m:t>
                        </m:r>
                        <m:r>
                          <a:rPr lang="it-IT" sz="1400" b="0" i="1" dirty="0" smtClean="0">
                            <a:latin typeface="Cambria Math" panose="02040503050406030204" pitchFamily="18" charset="0"/>
                          </a:rPr>
                          <m:t>480</m:t>
                        </m:r>
                      </m:e>
                    </m:d>
                    <m:r>
                      <a:rPr lang="it-IT" sz="1400" i="1" dirty="0">
                        <a:latin typeface="Cambria Math" panose="02040503050406030204" pitchFamily="18" charset="0"/>
                      </a:rPr>
                      <m:t>, </m:t>
                    </m:r>
                    <m:sSub>
                      <m:sSubPr>
                        <m:ctrlPr>
                          <a:rPr lang="it-IT" sz="1400" i="1" dirty="0">
                            <a:latin typeface="Cambria Math" panose="02040503050406030204" pitchFamily="18" charset="0"/>
                          </a:rPr>
                        </m:ctrlPr>
                      </m:sSubPr>
                      <m:e>
                        <m:r>
                          <a:rPr lang="it-IT" sz="1400" b="0" i="1" dirty="0" smtClean="0">
                            <a:latin typeface="Cambria Math" panose="02040503050406030204" pitchFamily="18" charset="0"/>
                          </a:rPr>
                          <m:t>    </m:t>
                        </m:r>
                        <m:r>
                          <a:rPr lang="it-IT" sz="1400" i="1" dirty="0">
                            <a:latin typeface="Cambria Math" panose="02040503050406030204" pitchFamily="18" charset="0"/>
                          </a:rPr>
                          <m:t>𝜎</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2</m:t>
                        </m:r>
                        <m:r>
                          <a:rPr lang="it-IT" sz="1400" i="1" dirty="0">
                            <a:latin typeface="Cambria Math" panose="02040503050406030204" pitchFamily="18" charset="0"/>
                          </a:rPr>
                          <m:t>.</m:t>
                        </m:r>
                        <m:r>
                          <a:rPr lang="it-IT" sz="1400" i="1" dirty="0">
                            <a:latin typeface="Cambria Math" panose="02040503050406030204" pitchFamily="18" charset="0"/>
                          </a:rPr>
                          <m:t>06</m:t>
                        </m:r>
                        <m:r>
                          <a:rPr lang="it-IT" sz="1400" i="1" dirty="0">
                            <a:latin typeface="Cambria Math" panose="02040503050406030204" pitchFamily="18" charset="0"/>
                          </a:rPr>
                          <m:t>, </m:t>
                        </m:r>
                        <m:r>
                          <a:rPr lang="it-IT" sz="1400" b="0" i="1" dirty="0" smtClean="0">
                            <a:latin typeface="Cambria Math" panose="02040503050406030204" pitchFamily="18" charset="0"/>
                          </a:rPr>
                          <m:t>1</m:t>
                        </m:r>
                        <m:r>
                          <a:rPr lang="it-IT" sz="1400" b="0" i="1" dirty="0" smtClean="0">
                            <a:latin typeface="Cambria Math" panose="02040503050406030204" pitchFamily="18" charset="0"/>
                          </a:rPr>
                          <m:t>.</m:t>
                        </m:r>
                        <m:r>
                          <a:rPr lang="it-IT" sz="1400" b="0" i="1" dirty="0" smtClean="0">
                            <a:latin typeface="Cambria Math" panose="02040503050406030204" pitchFamily="18" charset="0"/>
                          </a:rPr>
                          <m:t>34</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2</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m:t>
                        </m:r>
                        <m:r>
                          <a:rPr lang="it-IT" sz="1400" i="1" dirty="0">
                            <a:latin typeface="Cambria Math" panose="02040503050406030204" pitchFamily="18" charset="0"/>
                          </a:rPr>
                          <m:t>0</m:t>
                        </m:r>
                        <m:r>
                          <a:rPr lang="it-IT" sz="1400" i="1" dirty="0">
                            <a:latin typeface="Cambria Math" panose="02040503050406030204" pitchFamily="18" charset="0"/>
                          </a:rPr>
                          <m:t>.</m:t>
                        </m:r>
                        <m:r>
                          <a:rPr lang="it-IT" sz="1400" b="0" i="1" dirty="0" smtClean="0">
                            <a:latin typeface="Cambria Math" panose="02040503050406030204" pitchFamily="18" charset="0"/>
                          </a:rPr>
                          <m:t>373</m:t>
                        </m:r>
                        <m:r>
                          <a:rPr lang="it-IT" sz="1400" i="1" dirty="0">
                            <a:latin typeface="Cambria Math" panose="02040503050406030204" pitchFamily="18" charset="0"/>
                          </a:rPr>
                          <m:t>, </m:t>
                        </m:r>
                        <m:r>
                          <a:rPr lang="it-IT" sz="1400" i="1" dirty="0">
                            <a:latin typeface="Cambria Math" panose="02040503050406030204" pitchFamily="18" charset="0"/>
                          </a:rPr>
                          <m:t>0</m:t>
                        </m:r>
                        <m:r>
                          <a:rPr lang="it-IT" sz="1400" i="1" dirty="0">
                            <a:latin typeface="Cambria Math" panose="02040503050406030204" pitchFamily="18" charset="0"/>
                          </a:rPr>
                          <m:t>.</m:t>
                        </m:r>
                        <m:r>
                          <a:rPr lang="it-IT" sz="1400" b="0" i="1" dirty="0" smtClean="0">
                            <a:latin typeface="Cambria Math" panose="02040503050406030204" pitchFamily="18" charset="0"/>
                          </a:rPr>
                          <m:t>547</m:t>
                        </m:r>
                      </m:e>
                    </m:d>
                    <m:r>
                      <a:rPr lang="it-IT" sz="1400" i="1" dirty="0">
                        <a:latin typeface="Cambria Math" panose="02040503050406030204" pitchFamily="18" charset="0"/>
                      </a:rPr>
                      <m:t>, </m:t>
                    </m:r>
                    <m:sSub>
                      <m:sSubPr>
                        <m:ctrlPr>
                          <a:rPr lang="it-IT" sz="1400" i="1" dirty="0">
                            <a:latin typeface="Cambria Math" panose="02040503050406030204" pitchFamily="18" charset="0"/>
                          </a:rPr>
                        </m:ctrlPr>
                      </m:sSubPr>
                      <m:e>
                        <m:r>
                          <a:rPr lang="it-IT" sz="1400" i="1" dirty="0">
                            <a:latin typeface="Cambria Math" panose="02040503050406030204" pitchFamily="18" charset="0"/>
                          </a:rPr>
                          <m:t>𝜎</m:t>
                        </m:r>
                      </m:e>
                      <m:sub>
                        <m:r>
                          <a:rPr lang="it-IT" sz="1400" b="0" i="1" dirty="0" smtClean="0">
                            <a:latin typeface="Cambria Math" panose="02040503050406030204" pitchFamily="18" charset="0"/>
                          </a:rPr>
                          <m:t>2</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1</m:t>
                        </m:r>
                        <m:r>
                          <a:rPr lang="it-IT" sz="1400" i="1" dirty="0">
                            <a:latin typeface="Cambria Math" panose="02040503050406030204" pitchFamily="18" charset="0"/>
                          </a:rPr>
                          <m:t>.</m:t>
                        </m:r>
                        <m:r>
                          <a:rPr lang="it-IT" sz="1400" b="0" i="1" dirty="0" smtClean="0">
                            <a:latin typeface="Cambria Math" panose="02040503050406030204" pitchFamily="18" charset="0"/>
                          </a:rPr>
                          <m:t>27</m:t>
                        </m:r>
                        <m:r>
                          <a:rPr lang="it-IT" sz="1400" i="1" dirty="0">
                            <a:latin typeface="Cambria Math" panose="02040503050406030204" pitchFamily="18" charset="0"/>
                          </a:rPr>
                          <m:t>, </m:t>
                        </m:r>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554</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endParaRPr lang="it-IT" sz="1400" b="0" i="1" dirty="0">
                  <a:latin typeface="Cambria Math" panose="02040503050406030204" pitchFamily="18" charset="0"/>
                </a:endParaRPr>
              </a:p>
              <a:p>
                <a:endParaRPr lang="it-IT" sz="1400" b="0" i="1" dirty="0">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DFDFE80E-75E6-600D-D5A5-CE5795B3E1DC}"/>
                  </a:ext>
                </a:extLst>
              </p:cNvPr>
              <p:cNvSpPr txBox="1">
                <a:spLocks noRot="1" noChangeAspect="1" noMove="1" noResize="1" noEditPoints="1" noAdjustHandles="1" noChangeArrowheads="1" noChangeShapeType="1" noTextEdit="1"/>
              </p:cNvSpPr>
              <p:nvPr/>
            </p:nvSpPr>
            <p:spPr>
              <a:xfrm>
                <a:off x="5338910" y="4826483"/>
                <a:ext cx="3553107" cy="1523494"/>
              </a:xfrm>
              <a:prstGeom prst="rect">
                <a:avLst/>
              </a:prstGeom>
              <a:blipFill>
                <a:blip r:embed="rId3"/>
                <a:stretch>
                  <a:fillRect l="-686" t="-16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4257B81-E847-8C39-A24F-11F27A170E69}"/>
                  </a:ext>
                </a:extLst>
              </p:cNvPr>
              <p:cNvSpPr txBox="1"/>
              <p:nvPr/>
            </p:nvSpPr>
            <p:spPr>
              <a:xfrm>
                <a:off x="1021766" y="4807428"/>
                <a:ext cx="3746300" cy="1523494"/>
              </a:xfrm>
              <a:prstGeom prst="rect">
                <a:avLst/>
              </a:prstGeom>
              <a:noFill/>
            </p:spPr>
            <p:txBody>
              <a:bodyPr wrap="square" rtlCol="0">
                <a:spAutoFit/>
              </a:bodyPr>
              <a:lstStyle/>
              <a:p>
                <a:pPr marL="285750" indent="-285750">
                  <a:buFont typeface="Arial" panose="020B0604020202020204" pitchFamily="34" charset="0"/>
                  <a:buChar char="•"/>
                </a:pPr>
                <a:r>
                  <a:rPr lang="it-IT" sz="1600" dirty="0">
                    <a:latin typeface="Cambria Math" panose="02040503050406030204" pitchFamily="18" charset="0"/>
                  </a:rPr>
                  <a:t>#Initial clusters = 2</a:t>
                </a:r>
                <a:endParaRPr lang="it-IT" sz="1400" i="1" dirty="0">
                  <a:latin typeface="Cambria Math" panose="02040503050406030204" pitchFamily="18" charset="0"/>
                </a:endParaRPr>
              </a:p>
              <a:p>
                <a:pPr marL="285750" indent="-285750">
                  <a:lnSpc>
                    <a:spcPct val="150000"/>
                  </a:lnSpc>
                  <a:buFont typeface="Arial" panose="020B0604020202020204" pitchFamily="34" charset="0"/>
                  <a:buChar char="•"/>
                </a:pPr>
                <a14:m>
                  <m:oMath xmlns:m="http://schemas.openxmlformats.org/officeDocument/2006/math">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𝜇</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3</m:t>
                        </m:r>
                        <m:r>
                          <a:rPr lang="it-IT" sz="1400" b="0" i="1" dirty="0" smtClean="0">
                            <a:latin typeface="Cambria Math" panose="02040503050406030204" pitchFamily="18" charset="0"/>
                          </a:rPr>
                          <m:t>.</m:t>
                        </m:r>
                        <m:r>
                          <a:rPr lang="it-IT" sz="1400" b="0" i="1" dirty="0" smtClean="0">
                            <a:latin typeface="Cambria Math" panose="02040503050406030204" pitchFamily="18" charset="0"/>
                          </a:rPr>
                          <m:t>55</m:t>
                        </m:r>
                        <m:r>
                          <a:rPr lang="it-IT" sz="1400" b="0" i="1" dirty="0" smtClean="0">
                            <a:latin typeface="Cambria Math" panose="02040503050406030204" pitchFamily="18" charset="0"/>
                          </a:rPr>
                          <m:t>, </m:t>
                        </m:r>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228</m:t>
                        </m:r>
                      </m:e>
                    </m:d>
                    <m:r>
                      <a:rPr lang="it-IT" sz="1400" b="0" i="1" dirty="0" smtClean="0">
                        <a:latin typeface="Cambria Math" panose="02040503050406030204" pitchFamily="18" charset="0"/>
                      </a:rPr>
                      <m:t>, </m:t>
                    </m:r>
                    <m:sSub>
                      <m:sSubPr>
                        <m:ctrlPr>
                          <a:rPr lang="it-IT" sz="1400" b="0" i="1" dirty="0" smtClean="0">
                            <a:latin typeface="Cambria Math" panose="02040503050406030204" pitchFamily="18" charset="0"/>
                          </a:rPr>
                        </m:ctrlPr>
                      </m:sSubPr>
                      <m:e>
                        <m:r>
                          <a:rPr lang="it-IT" sz="1400" b="0" i="1" dirty="0" smtClean="0">
                            <a:latin typeface="Cambria Math" panose="02040503050406030204" pitchFamily="18" charset="0"/>
                          </a:rPr>
                          <m:t>        </m:t>
                        </m:r>
                        <m:r>
                          <a:rPr lang="it-IT" sz="1400" b="0" i="1" dirty="0" smtClean="0">
                            <a:latin typeface="Cambria Math" panose="02040503050406030204" pitchFamily="18" charset="0"/>
                          </a:rPr>
                          <m:t>𝜎</m:t>
                        </m:r>
                      </m:e>
                      <m:sub>
                        <m:r>
                          <a:rPr lang="it-IT" sz="1400" b="0" i="1" dirty="0" smtClean="0">
                            <a:latin typeface="Cambria Math" panose="02040503050406030204" pitchFamily="18" charset="0"/>
                          </a:rPr>
                          <m:t>0</m:t>
                        </m:r>
                      </m:sub>
                    </m:sSub>
                    <m:r>
                      <a:rPr lang="it-IT" sz="1400" b="0" i="1" dirty="0" smtClean="0">
                        <a:latin typeface="Cambria Math" panose="02040503050406030204" pitchFamily="18" charset="0"/>
                      </a:rPr>
                      <m:t>=</m:t>
                    </m:r>
                    <m:d>
                      <m:dPr>
                        <m:begChr m:val="["/>
                        <m:endChr m:val="]"/>
                        <m:ctrlPr>
                          <a:rPr lang="it-IT" sz="1400" b="0" i="1" dirty="0" smtClean="0">
                            <a:latin typeface="Cambria Math" panose="02040503050406030204" pitchFamily="18" charset="0"/>
                          </a:rPr>
                        </m:ctrlPr>
                      </m:dPr>
                      <m:e>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987</m:t>
                        </m:r>
                        <m:r>
                          <a:rPr lang="it-IT" sz="1400" b="0" i="1" dirty="0" smtClean="0">
                            <a:latin typeface="Cambria Math" panose="02040503050406030204" pitchFamily="18" charset="0"/>
                          </a:rPr>
                          <m:t>, </m:t>
                        </m:r>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402</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it-IT" sz="1400" i="1" dirty="0">
                            <a:latin typeface="Cambria Math" panose="02040503050406030204" pitchFamily="18" charset="0"/>
                          </a:rPr>
                        </m:ctrlPr>
                      </m:sSubPr>
                      <m:e>
                        <m:r>
                          <a:rPr lang="it-IT" sz="1400" i="1" dirty="0">
                            <a:latin typeface="Cambria Math" panose="02040503050406030204" pitchFamily="18" charset="0"/>
                          </a:rPr>
                          <m:t>𝜇</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m:t>
                        </m:r>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174</m:t>
                        </m:r>
                        <m:r>
                          <a:rPr lang="it-IT" sz="1400" i="1" dirty="0">
                            <a:latin typeface="Cambria Math" panose="02040503050406030204" pitchFamily="18" charset="0"/>
                          </a:rPr>
                          <m:t>, </m:t>
                        </m:r>
                        <m:r>
                          <a:rPr lang="it-IT" sz="1400" i="1" dirty="0">
                            <a:latin typeface="Cambria Math" panose="02040503050406030204" pitchFamily="18" charset="0"/>
                          </a:rPr>
                          <m:t>0</m:t>
                        </m:r>
                        <m:r>
                          <a:rPr lang="it-IT" sz="1400" i="1" dirty="0">
                            <a:latin typeface="Cambria Math" panose="02040503050406030204" pitchFamily="18" charset="0"/>
                          </a:rPr>
                          <m:t>.</m:t>
                        </m:r>
                        <m:r>
                          <a:rPr lang="it-IT" sz="1400" b="0" i="1" dirty="0" smtClean="0">
                            <a:latin typeface="Cambria Math" panose="02040503050406030204" pitchFamily="18" charset="0"/>
                          </a:rPr>
                          <m:t>495</m:t>
                        </m:r>
                      </m:e>
                    </m:d>
                    <m:r>
                      <a:rPr lang="it-IT" sz="1400" i="1" dirty="0">
                        <a:latin typeface="Cambria Math" panose="02040503050406030204" pitchFamily="18" charset="0"/>
                      </a:rPr>
                      <m:t>, </m:t>
                    </m:r>
                    <m:sSub>
                      <m:sSubPr>
                        <m:ctrlPr>
                          <a:rPr lang="it-IT" sz="1400" i="1" dirty="0">
                            <a:latin typeface="Cambria Math" panose="02040503050406030204" pitchFamily="18" charset="0"/>
                          </a:rPr>
                        </m:ctrlPr>
                      </m:sSubPr>
                      <m:e>
                        <m:r>
                          <a:rPr lang="it-IT" sz="1400" b="0" i="1" dirty="0" smtClean="0">
                            <a:latin typeface="Cambria Math" panose="02040503050406030204" pitchFamily="18" charset="0"/>
                          </a:rPr>
                          <m:t>  </m:t>
                        </m:r>
                        <m:r>
                          <a:rPr lang="it-IT" sz="1400" i="1" dirty="0">
                            <a:latin typeface="Cambria Math" panose="02040503050406030204" pitchFamily="18" charset="0"/>
                          </a:rPr>
                          <m:t>𝜎</m:t>
                        </m:r>
                      </m:e>
                      <m:sub>
                        <m:r>
                          <a:rPr lang="it-IT" sz="1400" b="0" i="1" dirty="0" smtClean="0">
                            <a:latin typeface="Cambria Math" panose="02040503050406030204" pitchFamily="18" charset="0"/>
                          </a:rPr>
                          <m:t>1</m:t>
                        </m:r>
                      </m:sub>
                    </m:sSub>
                    <m:r>
                      <a:rPr lang="it-IT" sz="1400" i="1" dirty="0">
                        <a:latin typeface="Cambria Math" panose="02040503050406030204" pitchFamily="18" charset="0"/>
                      </a:rPr>
                      <m:t>=</m:t>
                    </m:r>
                    <m:d>
                      <m:dPr>
                        <m:begChr m:val="["/>
                        <m:endChr m:val="]"/>
                        <m:ctrlPr>
                          <a:rPr lang="it-IT" sz="1400" i="1" dirty="0">
                            <a:latin typeface="Cambria Math" panose="02040503050406030204" pitchFamily="18" charset="0"/>
                          </a:rPr>
                        </m:ctrlPr>
                      </m:dPr>
                      <m:e>
                        <m:r>
                          <a:rPr lang="it-IT" sz="1400" b="0" i="1" dirty="0" smtClean="0">
                            <a:latin typeface="Cambria Math" panose="02040503050406030204" pitchFamily="18" charset="0"/>
                          </a:rPr>
                          <m:t>1</m:t>
                        </m:r>
                        <m:r>
                          <a:rPr lang="it-IT" sz="1400" i="1" dirty="0">
                            <a:latin typeface="Cambria Math" panose="02040503050406030204" pitchFamily="18" charset="0"/>
                          </a:rPr>
                          <m:t>.</m:t>
                        </m:r>
                        <m:r>
                          <a:rPr lang="it-IT" sz="1400" b="0" i="1" dirty="0" smtClean="0">
                            <a:latin typeface="Cambria Math" panose="02040503050406030204" pitchFamily="18" charset="0"/>
                          </a:rPr>
                          <m:t>43</m:t>
                        </m:r>
                        <m:r>
                          <a:rPr lang="it-IT" sz="1400" i="1" dirty="0">
                            <a:latin typeface="Cambria Math" panose="02040503050406030204" pitchFamily="18" charset="0"/>
                          </a:rPr>
                          <m:t>, </m:t>
                        </m:r>
                        <m:r>
                          <a:rPr lang="it-IT" sz="1400" b="0" i="1" dirty="0" smtClean="0">
                            <a:latin typeface="Cambria Math" panose="02040503050406030204" pitchFamily="18" charset="0"/>
                          </a:rPr>
                          <m:t>0</m:t>
                        </m:r>
                        <m:r>
                          <a:rPr lang="it-IT" sz="1400" b="0" i="1" dirty="0" smtClean="0">
                            <a:latin typeface="Cambria Math" panose="02040503050406030204" pitchFamily="18" charset="0"/>
                          </a:rPr>
                          <m:t>.</m:t>
                        </m:r>
                        <m:r>
                          <a:rPr lang="it-IT" sz="1400" b="0" i="1" dirty="0" smtClean="0">
                            <a:latin typeface="Cambria Math" panose="02040503050406030204" pitchFamily="18" charset="0"/>
                          </a:rPr>
                          <m:t>692</m:t>
                        </m:r>
                      </m:e>
                    </m:d>
                  </m:oMath>
                </a14:m>
                <a:endParaRPr lang="it-IT" sz="1400" b="0" i="1" dirty="0">
                  <a:latin typeface="Cambria Math" panose="02040503050406030204" pitchFamily="18" charset="0"/>
                </a:endParaRPr>
              </a:p>
              <a:p>
                <a:pPr marL="285750" indent="-285750">
                  <a:buFont typeface="Arial" panose="020B0604020202020204" pitchFamily="34" charset="0"/>
                  <a:buChar char="•"/>
                </a:pPr>
                <a:endParaRPr lang="it-IT" sz="1400" i="1" dirty="0">
                  <a:latin typeface="Cambria Math" panose="02040503050406030204" pitchFamily="18" charset="0"/>
                </a:endParaRPr>
              </a:p>
              <a:p>
                <a:endParaRPr lang="it-IT" sz="1400" b="0" i="1" dirty="0">
                  <a:latin typeface="Cambria Math" panose="02040503050406030204" pitchFamily="18" charset="0"/>
                </a:endParaRPr>
              </a:p>
              <a:p>
                <a:endParaRPr lang="it-IT" sz="1400" b="0" i="1" dirty="0">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D4257B81-E847-8C39-A24F-11F27A170E69}"/>
                  </a:ext>
                </a:extLst>
              </p:cNvPr>
              <p:cNvSpPr txBox="1">
                <a:spLocks noRot="1" noChangeAspect="1" noMove="1" noResize="1" noEditPoints="1" noAdjustHandles="1" noChangeArrowheads="1" noChangeShapeType="1" noTextEdit="1"/>
              </p:cNvSpPr>
              <p:nvPr/>
            </p:nvSpPr>
            <p:spPr>
              <a:xfrm>
                <a:off x="1021766" y="4807428"/>
                <a:ext cx="3746300" cy="1523494"/>
              </a:xfrm>
              <a:prstGeom prst="rect">
                <a:avLst/>
              </a:prstGeom>
              <a:blipFill>
                <a:blip r:embed="rId4"/>
                <a:stretch>
                  <a:fillRect l="-651" t="-1600"/>
                </a:stretch>
              </a:blipFill>
            </p:spPr>
            <p:txBody>
              <a:bodyPr/>
              <a:lstStyle/>
              <a:p>
                <a:r>
                  <a:rPr lang="it-IT">
                    <a:noFill/>
                  </a:rPr>
                  <a:t> </a:t>
                </a:r>
              </a:p>
            </p:txBody>
          </p:sp>
        </mc:Fallback>
      </mc:AlternateContent>
      <p:sp>
        <p:nvSpPr>
          <p:cNvPr id="17" name="Title 1">
            <a:extLst>
              <a:ext uri="{FF2B5EF4-FFF2-40B4-BE49-F238E27FC236}">
                <a16:creationId xmlns:a16="http://schemas.microsoft.com/office/drawing/2014/main" id="{6554904B-CF92-E050-9C49-FC53FD7E9029}"/>
              </a:ext>
            </a:extLst>
          </p:cNvPr>
          <p:cNvSpPr>
            <a:spLocks noGrp="1"/>
          </p:cNvSpPr>
          <p:nvPr>
            <p:ph type="title"/>
          </p:nvPr>
        </p:nvSpPr>
        <p:spPr>
          <a:xfrm>
            <a:off x="700635" y="914400"/>
            <a:ext cx="10691265" cy="1307592"/>
          </a:xfrm>
        </p:spPr>
        <p:txBody>
          <a:bodyPr/>
          <a:lstStyle/>
          <a:p>
            <a:r>
              <a:rPr lang="it-IT" dirty="0">
                <a:solidFill>
                  <a:srgbClr val="FF0000"/>
                </a:solidFill>
              </a:rPr>
              <a:t>Fixed components. </a:t>
            </a:r>
          </a:p>
        </p:txBody>
      </p:sp>
      <p:sp>
        <p:nvSpPr>
          <p:cNvPr id="18" name="TextBox 17">
            <a:extLst>
              <a:ext uri="{FF2B5EF4-FFF2-40B4-BE49-F238E27FC236}">
                <a16:creationId xmlns:a16="http://schemas.microsoft.com/office/drawing/2014/main" id="{8E654EC8-9774-3796-12C5-15FDAB294839}"/>
              </a:ext>
            </a:extLst>
          </p:cNvPr>
          <p:cNvSpPr txBox="1"/>
          <p:nvPr/>
        </p:nvSpPr>
        <p:spPr>
          <a:xfrm>
            <a:off x="6621804" y="1198864"/>
            <a:ext cx="2007281" cy="369332"/>
          </a:xfrm>
          <a:prstGeom prst="rect">
            <a:avLst/>
          </a:prstGeom>
          <a:noFill/>
        </p:spPr>
        <p:txBody>
          <a:bodyPr wrap="none" rtlCol="0">
            <a:spAutoFit/>
          </a:bodyPr>
          <a:lstStyle/>
          <a:p>
            <a:r>
              <a:rPr lang="it-IT" dirty="0"/>
              <a:t>#Iterations = 1000</a:t>
            </a:r>
          </a:p>
        </p:txBody>
      </p:sp>
      <p:pic>
        <p:nvPicPr>
          <p:cNvPr id="3" name="Picture 2">
            <a:extLst>
              <a:ext uri="{FF2B5EF4-FFF2-40B4-BE49-F238E27FC236}">
                <a16:creationId xmlns:a16="http://schemas.microsoft.com/office/drawing/2014/main" id="{4914E560-CB41-2DC2-BE34-569889AE10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0635" y="1762453"/>
            <a:ext cx="4309708" cy="3064031"/>
          </a:xfrm>
          <a:prstGeom prst="rect">
            <a:avLst/>
          </a:prstGeom>
        </p:spPr>
      </p:pic>
      <p:pic>
        <p:nvPicPr>
          <p:cNvPr id="10" name="Picture 9">
            <a:extLst>
              <a:ext uri="{FF2B5EF4-FFF2-40B4-BE49-F238E27FC236}">
                <a16:creationId xmlns:a16="http://schemas.microsoft.com/office/drawing/2014/main" id="{E6F3A85F-1731-EDF2-17A2-21D210BB75C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60610" y="1762453"/>
            <a:ext cx="4309708" cy="306403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02AEC36-9E25-817B-729A-DBAE9E7E2A83}"/>
                  </a:ext>
                </a:extLst>
              </p:cNvPr>
              <p:cNvSpPr txBox="1"/>
              <p:nvPr/>
            </p:nvSpPr>
            <p:spPr>
              <a:xfrm>
                <a:off x="8803287" y="3294468"/>
                <a:ext cx="3055645" cy="923330"/>
              </a:xfrm>
              <a:prstGeom prst="rect">
                <a:avLst/>
              </a:prstGeom>
              <a:noFill/>
            </p:spPr>
            <p:txBody>
              <a:bodyPr wrap="none" rtlCol="0">
                <a:spAutoFit/>
              </a:bodyPr>
              <a:lstStyle/>
              <a:p>
                <a:pPr marL="342900" indent="-342900">
                  <a:buFont typeface="+mj-lt"/>
                  <a:buAutoNum type="arabicPeriod"/>
                </a:pPr>
                <a:r>
                  <a:rPr lang="it-IT" b="1" dirty="0">
                    <a:solidFill>
                      <a:schemeClr val="tx1"/>
                    </a:solidFill>
                  </a:rPr>
                  <a:t>Short GRB </a:t>
                </a:r>
                <a14:m>
                  <m:oMath xmlns:m="http://schemas.openxmlformats.org/officeDocument/2006/math">
                    <m:r>
                      <a:rPr lang="it-IT" b="1" i="1" smtClean="0">
                        <a:solidFill>
                          <a:schemeClr val="tx1"/>
                        </a:solidFill>
                        <a:latin typeface="Cambria Math" panose="02040503050406030204" pitchFamily="18" charset="0"/>
                      </a:rPr>
                      <m:t>→</m:t>
                    </m:r>
                  </m:oMath>
                </a14:m>
                <a:r>
                  <a:rPr lang="it-IT" b="1" dirty="0">
                    <a:solidFill>
                      <a:schemeClr val="tx1"/>
                    </a:solidFill>
                  </a:rPr>
                  <a:t> Hard GRB</a:t>
                </a:r>
              </a:p>
              <a:p>
                <a:pPr marL="342900" indent="-342900">
                  <a:buFont typeface="+mj-lt"/>
                  <a:buAutoNum type="arabicPeriod"/>
                </a:pPr>
                <a:r>
                  <a:rPr lang="it-IT" b="1" dirty="0">
                    <a:solidFill>
                      <a:schemeClr val="tx1"/>
                    </a:solidFill>
                  </a:rPr>
                  <a:t>Long GRB </a:t>
                </a:r>
                <a14:m>
                  <m:oMath xmlns:m="http://schemas.openxmlformats.org/officeDocument/2006/math">
                    <m:r>
                      <a:rPr lang="it-IT" b="1" i="1">
                        <a:solidFill>
                          <a:schemeClr val="tx1"/>
                        </a:solidFill>
                        <a:latin typeface="Cambria Math" panose="02040503050406030204" pitchFamily="18" charset="0"/>
                      </a:rPr>
                      <m:t>→</m:t>
                    </m:r>
                  </m:oMath>
                </a14:m>
                <a:r>
                  <a:rPr lang="it-IT" b="1" dirty="0">
                    <a:solidFill>
                      <a:schemeClr val="tx1"/>
                    </a:solidFill>
                  </a:rPr>
                  <a:t> Soft GRB</a:t>
                </a:r>
              </a:p>
              <a:p>
                <a:pPr marL="342900" indent="-342900">
                  <a:buFont typeface="+mj-lt"/>
                  <a:buAutoNum type="arabicPeriod"/>
                </a:pPr>
                <a:r>
                  <a:rPr lang="it-IT" b="1" dirty="0">
                    <a:solidFill>
                      <a:schemeClr val="tx1"/>
                    </a:solidFill>
                  </a:rPr>
                  <a:t>Outliers</a:t>
                </a:r>
              </a:p>
            </p:txBody>
          </p:sp>
        </mc:Choice>
        <mc:Fallback xmlns="">
          <p:sp>
            <p:nvSpPr>
              <p:cNvPr id="11" name="TextBox 10">
                <a:extLst>
                  <a:ext uri="{FF2B5EF4-FFF2-40B4-BE49-F238E27FC236}">
                    <a16:creationId xmlns:a16="http://schemas.microsoft.com/office/drawing/2014/main" id="{C02AEC36-9E25-817B-729A-DBAE9E7E2A83}"/>
                  </a:ext>
                </a:extLst>
              </p:cNvPr>
              <p:cNvSpPr txBox="1">
                <a:spLocks noRot="1" noChangeAspect="1" noMove="1" noResize="1" noEditPoints="1" noAdjustHandles="1" noChangeArrowheads="1" noChangeShapeType="1" noTextEdit="1"/>
              </p:cNvSpPr>
              <p:nvPr/>
            </p:nvSpPr>
            <p:spPr>
              <a:xfrm>
                <a:off x="8803287" y="3294468"/>
                <a:ext cx="3055645" cy="923330"/>
              </a:xfrm>
              <a:prstGeom prst="rect">
                <a:avLst/>
              </a:prstGeom>
              <a:blipFill>
                <a:blip r:embed="rId7"/>
                <a:stretch>
                  <a:fillRect l="-1397" t="-3289" r="-1397" b="-9211"/>
                </a:stretch>
              </a:blipFill>
            </p:spPr>
            <p:txBody>
              <a:bodyPr/>
              <a:lstStyle/>
              <a:p>
                <a:r>
                  <a:rPr lang="it-IT">
                    <a:noFill/>
                  </a:rPr>
                  <a:t> </a:t>
                </a:r>
              </a:p>
            </p:txBody>
          </p:sp>
        </mc:Fallback>
      </mc:AlternateContent>
    </p:spTree>
    <p:extLst>
      <p:ext uri="{BB962C8B-B14F-4D97-AF65-F5344CB8AC3E}">
        <p14:creationId xmlns:p14="http://schemas.microsoft.com/office/powerpoint/2010/main" val="21132764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8D92-F48B-5DB1-265B-BC098DFBC8BC}"/>
              </a:ext>
            </a:extLst>
          </p:cNvPr>
          <p:cNvSpPr>
            <a:spLocks noGrp="1"/>
          </p:cNvSpPr>
          <p:nvPr>
            <p:ph type="title"/>
          </p:nvPr>
        </p:nvSpPr>
        <p:spPr/>
        <p:txBody>
          <a:bodyPr/>
          <a:lstStyle/>
          <a:p>
            <a:r>
              <a:rPr lang="it-IT" dirty="0">
                <a:solidFill>
                  <a:srgbClr val="FF0000"/>
                </a:solidFill>
              </a:rPr>
              <a:t>REFERENCES</a:t>
            </a:r>
          </a:p>
        </p:txBody>
      </p:sp>
      <p:sp>
        <p:nvSpPr>
          <p:cNvPr id="3" name="Content Placeholder 2">
            <a:extLst>
              <a:ext uri="{FF2B5EF4-FFF2-40B4-BE49-F238E27FC236}">
                <a16:creationId xmlns:a16="http://schemas.microsoft.com/office/drawing/2014/main" id="{E04A5304-F523-7AC7-6C73-9234A6607E17}"/>
              </a:ext>
            </a:extLst>
          </p:cNvPr>
          <p:cNvSpPr>
            <a:spLocks noGrp="1"/>
          </p:cNvSpPr>
          <p:nvPr>
            <p:ph idx="1"/>
          </p:nvPr>
        </p:nvSpPr>
        <p:spPr>
          <a:xfrm>
            <a:off x="750367" y="1680308"/>
            <a:ext cx="10691265" cy="4398811"/>
          </a:xfrm>
        </p:spPr>
        <p:txBody>
          <a:bodyPr>
            <a:normAutofit fontScale="70000" lnSpcReduction="20000"/>
          </a:bodyPr>
          <a:lstStyle/>
          <a:p>
            <a:r>
              <a:rPr lang="it-IT" dirty="0"/>
              <a:t>Sivia, D. S., &amp; Skilling, J. (2006). </a:t>
            </a:r>
            <a:r>
              <a:rPr lang="it-IT" i="1" dirty="0"/>
              <a:t>Data analysis: A Bayesian tutorial</a:t>
            </a:r>
            <a:r>
              <a:rPr lang="it-IT" dirty="0"/>
              <a:t> (2nd ed.). Oxford University Press.</a:t>
            </a:r>
            <a:br>
              <a:rPr lang="it-IT" dirty="0"/>
            </a:br>
            <a:r>
              <a:rPr lang="it-IT" dirty="0">
                <a:hlinkClick r:id="rId2"/>
              </a:rPr>
              <a:t>https://global.oup.com/academic/product/data-analysis-9780198568322</a:t>
            </a:r>
            <a:endParaRPr lang="it-IT" dirty="0"/>
          </a:p>
          <a:p>
            <a:r>
              <a:rPr lang="it-IT" dirty="0"/>
              <a:t>Andrieu, C., &amp; Thoms, J. (2008). A tutorial on adaptive MCMC. </a:t>
            </a:r>
            <a:r>
              <a:rPr lang="it-IT" i="1" dirty="0"/>
              <a:t>Statistics and Computing, 18</a:t>
            </a:r>
            <a:r>
              <a:rPr lang="it-IT" dirty="0"/>
              <a:t>(4), 343–373.</a:t>
            </a:r>
            <a:br>
              <a:rPr lang="it-IT" dirty="0"/>
            </a:br>
            <a:r>
              <a:rPr lang="it-IT" dirty="0">
                <a:hlinkClick r:id="rId3"/>
              </a:rPr>
              <a:t>https://people.eecs.berkeley.edu/~jordan/sail/readings/andrieu-thoms.pdf</a:t>
            </a:r>
            <a:endParaRPr lang="it-IT" dirty="0"/>
          </a:p>
          <a:p>
            <a:r>
              <a:rPr lang="it-IT" dirty="0"/>
              <a:t>Shahmoradi, A. (2013). A multivariate fit luminosity function and world model for long gamma-ray bursts. </a:t>
            </a:r>
            <a:r>
              <a:rPr lang="it-IT" i="1" dirty="0"/>
              <a:t>The Astrophysical Journal</a:t>
            </a:r>
            <a:r>
              <a:rPr lang="it-IT" dirty="0"/>
              <a:t>.</a:t>
            </a:r>
            <a:br>
              <a:rPr lang="it-IT" dirty="0"/>
            </a:br>
            <a:r>
              <a:rPr lang="it-IT" dirty="0">
                <a:hlinkClick r:id="rId4"/>
              </a:rPr>
              <a:t>https://arxiv.org/abs/1209.4647</a:t>
            </a:r>
            <a:endParaRPr lang="it-IT" dirty="0"/>
          </a:p>
          <a:p>
            <a:r>
              <a:rPr lang="it-IT" dirty="0"/>
              <a:t>Kouveliotou, C., et al. (1993). Identification of two classes of gamma-ray bursts. </a:t>
            </a:r>
            <a:r>
              <a:rPr lang="it-IT" i="1" dirty="0"/>
              <a:t>The Astrophysical Journal Letters, 413</a:t>
            </a:r>
            <a:r>
              <a:rPr lang="it-IT" dirty="0"/>
              <a:t>, L101–L104.</a:t>
            </a:r>
            <a:br>
              <a:rPr lang="it-IT" dirty="0"/>
            </a:br>
            <a:r>
              <a:rPr lang="it-IT" dirty="0">
                <a:hlinkClick r:id="rId5"/>
              </a:rPr>
              <a:t>https://ui.adsabs.harvard.edu/abs/1993ApJ...413L.101K/abstract</a:t>
            </a:r>
            <a:endParaRPr lang="it-IT" dirty="0"/>
          </a:p>
          <a:p>
            <a:r>
              <a:rPr lang="it-IT" dirty="0"/>
              <a:t>Speagle, J. S. (2019). dynesty: A dynamic nested sampling package for estimating Bayesian posteriors and evidences.</a:t>
            </a:r>
            <a:br>
              <a:rPr lang="it-IT" dirty="0"/>
            </a:br>
            <a:r>
              <a:rPr lang="it-IT" dirty="0">
                <a:hlinkClick r:id="rId6"/>
              </a:rPr>
              <a:t>https://arxiv.org/abs/1904.02180</a:t>
            </a:r>
            <a:endParaRPr lang="it-IT" dirty="0"/>
          </a:p>
          <a:p>
            <a:r>
              <a:rPr lang="it-IT" dirty="0"/>
              <a:t>Buchner, J. (2021). Nested sampling methods.</a:t>
            </a:r>
            <a:br>
              <a:rPr lang="it-IT" dirty="0"/>
            </a:br>
            <a:r>
              <a:rPr lang="it-IT" dirty="0">
                <a:hlinkClick r:id="rId7"/>
              </a:rPr>
              <a:t>https://arxiv.org/abs/2101.09675</a:t>
            </a:r>
            <a:endParaRPr lang="it-IT" dirty="0"/>
          </a:p>
          <a:p>
            <a:r>
              <a:rPr lang="it-IT" dirty="0"/>
              <a:t>Li, Y. (2019). A tutorial on Dirichlet process mixture modeling.</a:t>
            </a:r>
            <a:br>
              <a:rPr lang="it-IT" dirty="0"/>
            </a:br>
            <a:r>
              <a:rPr lang="it-IT" dirty="0">
                <a:hlinkClick r:id="rId8"/>
              </a:rPr>
              <a:t>https://www.ncbi.nlm.nih.gov/pmc/articles/PMC6583910/</a:t>
            </a:r>
            <a:endParaRPr lang="it-IT" dirty="0"/>
          </a:p>
          <a:p>
            <a:r>
              <a:rPr lang="it-IT" dirty="0"/>
              <a:t>Hopper, T. D. Notes on Dirichlet processes.</a:t>
            </a:r>
            <a:br>
              <a:rPr lang="it-IT" dirty="0"/>
            </a:br>
            <a:r>
              <a:rPr lang="it-IT" dirty="0">
                <a:hlinkClick r:id="rId9"/>
              </a:rPr>
              <a:t>https://dp.tdhopper.com/</a:t>
            </a:r>
            <a:endParaRPr lang="it-IT" dirty="0"/>
          </a:p>
          <a:p>
            <a:endParaRPr lang="it-IT" dirty="0"/>
          </a:p>
        </p:txBody>
      </p:sp>
    </p:spTree>
    <p:extLst>
      <p:ext uri="{BB962C8B-B14F-4D97-AF65-F5344CB8AC3E}">
        <p14:creationId xmlns:p14="http://schemas.microsoft.com/office/powerpoint/2010/main" val="145835174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28ebfb0-2d4b-4df3-82cc-08e8bcf37d8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2AC16469E1CCD438E97AE3C13A18E79" ma:contentTypeVersion="14" ma:contentTypeDescription="Create a new document." ma:contentTypeScope="" ma:versionID="15a19c7df63c9b8d4dbf486173ed1633">
  <xsd:schema xmlns:xsd="http://www.w3.org/2001/XMLSchema" xmlns:xs="http://www.w3.org/2001/XMLSchema" xmlns:p="http://schemas.microsoft.com/office/2006/metadata/properties" xmlns:ns3="ba9024d0-dbc9-4365-b9b1-ee07d7b32cf5" xmlns:ns4="028ebfb0-2d4b-4df3-82cc-08e8bcf37d8d" targetNamespace="http://schemas.microsoft.com/office/2006/metadata/properties" ma:root="true" ma:fieldsID="06fa3720b13c75a4708695b714cf37a5" ns3:_="" ns4:_="">
    <xsd:import namespace="ba9024d0-dbc9-4365-b9b1-ee07d7b32cf5"/>
    <xsd:import namespace="028ebfb0-2d4b-4df3-82cc-08e8bcf37d8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_activity" minOccurs="0"/>
                <xsd:element ref="ns4:MediaServiceSearchProperties"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9024d0-dbc9-4365-b9b1-ee07d7b32cf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8ebfb0-2d4b-4df3-82cc-08e8bcf37d8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714F96-CA57-4389-BE24-15A497C302A4}">
  <ds:schemaRefs>
    <ds:schemaRef ds:uri="http://schemas.openxmlformats.org/package/2006/metadata/core-properties"/>
    <ds:schemaRef ds:uri="ba9024d0-dbc9-4365-b9b1-ee07d7b32cf5"/>
    <ds:schemaRef ds:uri="http://purl.org/dc/dcmitype/"/>
    <ds:schemaRef ds:uri="http://schemas.microsoft.com/office/2006/metadata/properties"/>
    <ds:schemaRef ds:uri="http://purl.org/dc/terms/"/>
    <ds:schemaRef ds:uri="http://purl.org/dc/elements/1.1/"/>
    <ds:schemaRef ds:uri="http://schemas.microsoft.com/office/2006/documentManagement/types"/>
    <ds:schemaRef ds:uri="http://schemas.microsoft.com/office/infopath/2007/PartnerControls"/>
    <ds:schemaRef ds:uri="028ebfb0-2d4b-4df3-82cc-08e8bcf37d8d"/>
    <ds:schemaRef ds:uri="http://www.w3.org/XML/1998/namespace"/>
  </ds:schemaRefs>
</ds:datastoreItem>
</file>

<file path=customXml/itemProps2.xml><?xml version="1.0" encoding="utf-8"?>
<ds:datastoreItem xmlns:ds="http://schemas.openxmlformats.org/officeDocument/2006/customXml" ds:itemID="{8815A314-04DF-40ED-BD4D-C624A9B073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9024d0-dbc9-4365-b9b1-ee07d7b32cf5"/>
    <ds:schemaRef ds:uri="028ebfb0-2d4b-4df3-82cc-08e8bcf37d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961C1F3-2FFC-4F90-B35B-AAF89705E6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6486</TotalTime>
  <Words>8631</Words>
  <Application>Microsoft Office PowerPoint</Application>
  <PresentationFormat>Widescreen</PresentationFormat>
  <Paragraphs>700</Paragraphs>
  <Slides>58</Slides>
  <Notes>34</Notes>
  <HiddenSlides>3</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7" baseType="lpstr">
      <vt:lpstr>Aptos</vt:lpstr>
      <vt:lpstr>Arial</vt:lpstr>
      <vt:lpstr>Bierstadt</vt:lpstr>
      <vt:lpstr>Calisto MT</vt:lpstr>
      <vt:lpstr>Cambria Math</vt:lpstr>
      <vt:lpstr>Consolas</vt:lpstr>
      <vt:lpstr>Univers Condensed</vt:lpstr>
      <vt:lpstr>ChronicleVTI</vt:lpstr>
      <vt:lpstr>Acrobat Document</vt:lpstr>
      <vt:lpstr>Gamma-ray burst classification </vt:lpstr>
      <vt:lpstr>Gamma-ray burst classification </vt:lpstr>
      <vt:lpstr>T90 distribution</vt:lpstr>
      <vt:lpstr>Problem 1A – parameter estimation</vt:lpstr>
      <vt:lpstr>Metropolis algorithm</vt:lpstr>
      <vt:lpstr>Bayes theorem</vt:lpstr>
      <vt:lpstr>Prior</vt:lpstr>
      <vt:lpstr>Adaptive proposal</vt:lpstr>
      <vt:lpstr>Adaptive covariance tuning (Warm-UP)</vt:lpstr>
      <vt:lpstr>PowerPoint Presentation</vt:lpstr>
      <vt:lpstr>Initial State</vt:lpstr>
      <vt:lpstr>ENSEMBLE</vt:lpstr>
      <vt:lpstr>PowerPoint Presentation</vt:lpstr>
      <vt:lpstr>Parameter values</vt:lpstr>
      <vt:lpstr>Parameter values</vt:lpstr>
      <vt:lpstr>Problem 1b - Gaussian uncertainties</vt:lpstr>
      <vt:lpstr>Method 1: completing the square</vt:lpstr>
      <vt:lpstr>Method 2: Fourier Trasform</vt:lpstr>
      <vt:lpstr>Gaussian mixture generalization</vt:lpstr>
      <vt:lpstr>ENSEMBLE - uncertainties </vt:lpstr>
      <vt:lpstr>PowerPoint Presentation</vt:lpstr>
      <vt:lpstr>Parameter values - uncertainties </vt:lpstr>
      <vt:lpstr>Parameter values - uncertainties </vt:lpstr>
      <vt:lpstr>Problem 2 and 3 - classification</vt:lpstr>
      <vt:lpstr>Short GRB Probability distribution</vt:lpstr>
      <vt:lpstr>PowerPoint Presentation</vt:lpstr>
      <vt:lpstr>Estimate Threshold</vt:lpstr>
      <vt:lpstr>Threshold distribution</vt:lpstr>
      <vt:lpstr>Problem 4 – model selection</vt:lpstr>
      <vt:lpstr>Nested sampling (1/2)</vt:lpstr>
      <vt:lpstr>Nested sampling (2/2)</vt:lpstr>
      <vt:lpstr>Library: Dynesty</vt:lpstr>
      <vt:lpstr>Prior</vt:lpstr>
      <vt:lpstr>bound</vt:lpstr>
      <vt:lpstr>SaMple</vt:lpstr>
      <vt:lpstr>RESULTS</vt:lpstr>
      <vt:lpstr>PowerPoint Presentation</vt:lpstr>
      <vt:lpstr>Problem 5 - clustering</vt:lpstr>
      <vt:lpstr>Gibbs sampling</vt:lpstr>
      <vt:lpstr>Gibbs sampling algorithm</vt:lpstr>
      <vt:lpstr>Conditional probabilities (1/2)</vt:lpstr>
      <vt:lpstr>Conditional probabilities (2/2)</vt:lpstr>
      <vt:lpstr>Results</vt:lpstr>
      <vt:lpstr>Collapsed gibbs sampling</vt:lpstr>
      <vt:lpstr>Marginalize over the weights</vt:lpstr>
      <vt:lpstr>Marginalize over μ_k  and σ_k^2 (1/3)</vt:lpstr>
      <vt:lpstr>Marginalize over μ_k  and σ_k^2 (2/3)</vt:lpstr>
      <vt:lpstr>Marginalize over μ_k  and σ_k^2 (3/3)</vt:lpstr>
      <vt:lpstr>Collapsed gibbs sampling algorithm</vt:lpstr>
      <vt:lpstr>Non-parametric Collapsed gibbs sampling</vt:lpstr>
      <vt:lpstr>Nonparametric algorithm</vt:lpstr>
      <vt:lpstr>Multidimensional generalization (1/3)</vt:lpstr>
      <vt:lpstr>Multidimensional generalization (2/3)</vt:lpstr>
      <vt:lpstr>Multidimensional generalization (3/3)</vt:lpstr>
      <vt:lpstr>Multidimensional algorithm</vt:lpstr>
      <vt:lpstr>variable α results. </vt:lpstr>
      <vt:lpstr>Fixed components.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Giuseppe Garibaldi</dc:creator>
  <cp:lastModifiedBy>Leonardo Caridi</cp:lastModifiedBy>
  <cp:revision>17</cp:revision>
  <dcterms:created xsi:type="dcterms:W3CDTF">2025-11-15T12:29:34Z</dcterms:created>
  <dcterms:modified xsi:type="dcterms:W3CDTF">2025-12-15T20:21:54Z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0x01010092AC16469E1CCD438E97AE3C13A18E79</vt:lpwstr>
  </property>
</Properties>
</file>